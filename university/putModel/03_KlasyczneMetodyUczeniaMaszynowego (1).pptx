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211" r:id="rId1"/>
    <p:sldMasterId id="2147484236" r:id="rId2"/>
  </p:sldMasterIdLst>
  <p:notesMasterIdLst>
    <p:notesMasterId r:id="rId20"/>
  </p:notesMasterIdLst>
  <p:handoutMasterIdLst>
    <p:handoutMasterId r:id="rId21"/>
  </p:handoutMasterIdLst>
  <p:sldIdLst>
    <p:sldId id="291" r:id="rId3"/>
    <p:sldId id="564" r:id="rId4"/>
    <p:sldId id="447" r:id="rId5"/>
    <p:sldId id="550" r:id="rId6"/>
    <p:sldId id="446" r:id="rId7"/>
    <p:sldId id="537" r:id="rId8"/>
    <p:sldId id="561" r:id="rId9"/>
    <p:sldId id="450" r:id="rId10"/>
    <p:sldId id="448" r:id="rId11"/>
    <p:sldId id="499" r:id="rId12"/>
    <p:sldId id="449" r:id="rId13"/>
    <p:sldId id="570" r:id="rId14"/>
    <p:sldId id="565" r:id="rId15"/>
    <p:sldId id="562" r:id="rId16"/>
    <p:sldId id="560" r:id="rId17"/>
    <p:sldId id="563" r:id="rId18"/>
    <p:sldId id="569" r:id="rId19"/>
  </p:sldIdLst>
  <p:sldSz cx="12192000" cy="6858000"/>
  <p:notesSz cx="7099300" cy="10234613"/>
  <p:defaultTextStyle>
    <a:defPPr>
      <a:defRPr lang="pl-PL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2474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Styl z motywem 1 — Ak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62" autoAdjust="0"/>
    <p:restoredTop sz="93824" autoAdjust="0"/>
  </p:normalViewPr>
  <p:slideViewPr>
    <p:cSldViewPr>
      <p:cViewPr varScale="1">
        <p:scale>
          <a:sx n="71" d="100"/>
          <a:sy n="71" d="100"/>
        </p:scale>
        <p:origin x="53" y="18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83" d="100"/>
          <a:sy n="83" d="100"/>
        </p:scale>
        <p:origin x="3072" y="-192"/>
      </p:cViewPr>
      <p:guideLst>
        <p:guide orient="horz" pos="3224"/>
        <p:guide pos="223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7099300" cy="545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 algn="ctr"/>
            <a:endParaRPr lang="pl-PL" dirty="0"/>
          </a:p>
        </p:txBody>
      </p:sp>
      <p:sp>
        <p:nvSpPr>
          <p:cNvPr id="450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19329"/>
            <a:ext cx="3075424" cy="513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pl-PL" dirty="0"/>
          </a:p>
        </p:txBody>
      </p:sp>
      <p:sp>
        <p:nvSpPr>
          <p:cNvPr id="450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528" y="9719329"/>
            <a:ext cx="3076599" cy="513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fld id="{5AEE7B2C-8B7B-4E41-9BE9-6DFEE0C05302}" type="slidenum">
              <a:rPr lang="pl-PL"/>
              <a:pPr/>
              <a:t>‹#›</a:t>
            </a:fld>
            <a:endParaRPr lang="pl-PL" dirty="0"/>
          </a:p>
        </p:txBody>
      </p:sp>
      <p:cxnSp>
        <p:nvCxnSpPr>
          <p:cNvPr id="6" name="Łącznik prosty 5"/>
          <p:cNvCxnSpPr/>
          <p:nvPr/>
        </p:nvCxnSpPr>
        <p:spPr>
          <a:xfrm>
            <a:off x="0" y="468313"/>
            <a:ext cx="70993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4"/>
          <p:cNvSpPr txBox="1">
            <a:spLocks noChangeArrowheads="1"/>
          </p:cNvSpPr>
          <p:nvPr/>
        </p:nvSpPr>
        <p:spPr bwMode="auto">
          <a:xfrm>
            <a:off x="0" y="9718675"/>
            <a:ext cx="7099300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000" dirty="0" smtClean="0">
                <a:latin typeface="+mn-lt"/>
                <a:cs typeface="+mn-cs"/>
              </a:defRPr>
            </a:lvl1pPr>
          </a:lstStyle>
          <a:p>
            <a:pPr lvl="0">
              <a:defRPr/>
            </a:pPr>
            <a:r>
              <a:rPr lang="pl-PL" dirty="0"/>
              <a:t>Copyright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© </a:t>
            </a:r>
            <a:r>
              <a:rPr kumimoji="0" lang="pl-PL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by Uniwersytet Ekonomiczny w Krakowie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l-PL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0" y="0"/>
            <a:ext cx="7099300" cy="544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b="1" dirty="0" smtClean="0">
                <a:latin typeface="+mn-lt"/>
                <a:cs typeface="+mn-cs"/>
              </a:defRPr>
            </a:lvl1pPr>
          </a:lstStyle>
          <a:p>
            <a:pPr lvl="0">
              <a:defRPr/>
            </a:pPr>
            <a:r>
              <a:rPr kumimoji="0" lang="pl-PL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Materiały dla studentów z przedmiotu</a:t>
            </a:r>
            <a: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lang="pl-PL" i="1" dirty="0"/>
              <a:t>Wprowadzenie do baz danych</a:t>
            </a:r>
            <a:endParaRPr kumimoji="0" lang="en-GB" sz="10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lvl="0">
              <a:defRPr/>
            </a:pPr>
            <a:r>
              <a:rPr kumimoji="0" lang="pl-PL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Wprowadzenie</a:t>
            </a: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5424" cy="513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pl-PL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528" y="0"/>
            <a:ext cx="3076599" cy="513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endParaRPr lang="pl-PL" dirty="0"/>
          </a:p>
        </p:txBody>
      </p:sp>
      <p:sp>
        <p:nvSpPr>
          <p:cNvPr id="491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42875" y="768350"/>
            <a:ext cx="6818313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0166" y="4861888"/>
            <a:ext cx="5678971" cy="46042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19329"/>
            <a:ext cx="3075424" cy="513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pl-PL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528" y="9719329"/>
            <a:ext cx="3076599" cy="513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fld id="{88C4402D-B936-4E91-8F17-ABB741B4E7D2}" type="slidenum">
              <a:rPr lang="pl-PL"/>
              <a:pPr/>
              <a:t>‹#›</a:t>
            </a:fld>
            <a:endParaRPr lang="pl-P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22B04B-58CA-482F-803E-0DD9291FA5FC}" type="slidenum">
              <a:rPr lang="pl-PL"/>
              <a:pPr/>
              <a:t>1</a:t>
            </a:fld>
            <a:endParaRPr lang="pl-PL" dirty="0"/>
          </a:p>
        </p:txBody>
      </p:sp>
      <p:sp>
        <p:nvSpPr>
          <p:cNvPr id="197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4463" y="768350"/>
            <a:ext cx="6819900" cy="3836988"/>
          </a:xfrm>
          <a:ln/>
        </p:spPr>
      </p:sp>
      <p:sp>
        <p:nvSpPr>
          <p:cNvPr id="197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7279" y="4859666"/>
            <a:ext cx="5204745" cy="4606464"/>
          </a:xfrm>
        </p:spPr>
        <p:txBody>
          <a:bodyPr/>
          <a:lstStyle/>
          <a:p>
            <a:endParaRPr lang="pl-PL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F8426-4085-4152-9678-ED60F051FDED}" type="datetime1">
              <a:rPr lang="pl-PL" smtClean="0"/>
              <a:t>04.04.2024</a:t>
            </a:fld>
            <a:endParaRPr lang="pl-PL" dirty="0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4B2D9-DB10-4EB9-B7A6-032A6D4E75AC}" type="slidenum">
              <a:rPr lang="pl-PL" smtClean="0"/>
              <a:pPr/>
              <a:t>‹#›</a:t>
            </a:fld>
            <a:endParaRPr lang="pl-P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2D777-68CC-442E-8E75-3B9A327DB870}" type="datetime1">
              <a:rPr lang="pl-PL" smtClean="0"/>
              <a:t>04.04.2024</a:t>
            </a:fld>
            <a:endParaRPr lang="pl-PL" dirty="0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4B2D9-DB10-4EB9-B7A6-032A6D4E75AC}" type="slidenum">
              <a:rPr lang="pl-PL" smtClean="0"/>
              <a:pPr/>
              <a:t>‹#›</a:t>
            </a:fld>
            <a:endParaRPr lang="pl-P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E1378-0DED-4CD8-A9CE-C774A2E99379}" type="datetime1">
              <a:rPr lang="pl-PL" smtClean="0"/>
              <a:t>04.04.2024</a:t>
            </a:fld>
            <a:endParaRPr lang="pl-PL" dirty="0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4B2D9-DB10-4EB9-B7A6-032A6D4E75AC}" type="slidenum">
              <a:rPr lang="pl-PL" smtClean="0"/>
              <a:pPr/>
              <a:t>‹#›</a:t>
            </a:fld>
            <a:endParaRPr lang="pl-P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0AE7C-3FC0-46F6-B6EF-CB275775028C}" type="datetime1">
              <a:rPr lang="pl-PL" smtClean="0"/>
              <a:t>04.04.2024</a:t>
            </a:fld>
            <a:endParaRPr lang="pl-PL" dirty="0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4B2D9-DB10-4EB9-B7A6-032A6D4E75AC}" type="slidenum">
              <a:rPr lang="pl-PL" smtClean="0"/>
              <a:pPr/>
              <a:t>‹#›</a:t>
            </a:fld>
            <a:endParaRPr lang="pl-P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3C85-C2EC-49A4-9238-8D5CAB1FE66C}" type="datetime1">
              <a:rPr lang="pl-PL" smtClean="0"/>
              <a:t>04.04.2024</a:t>
            </a:fld>
            <a:endParaRPr lang="pl-PL" dirty="0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4B2D9-DB10-4EB9-B7A6-032A6D4E75AC}" type="slidenum">
              <a:rPr lang="pl-PL" smtClean="0"/>
              <a:pPr/>
              <a:t>‹#›</a:t>
            </a:fld>
            <a:endParaRPr lang="pl-P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4F458-5DC7-42F4-B368-988BDC32B66D}" type="datetime1">
              <a:rPr lang="pl-PL" smtClean="0"/>
              <a:t>04.04.2024</a:t>
            </a:fld>
            <a:endParaRPr lang="pl-PL" dirty="0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4B2D9-DB10-4EB9-B7A6-032A6D4E75AC}" type="slidenum">
              <a:rPr lang="pl-PL" smtClean="0"/>
              <a:pPr/>
              <a:t>‹#›</a:t>
            </a:fld>
            <a:endParaRPr lang="pl-P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72F39-7664-423A-81D2-A3C7811F6345}" type="datetime1">
              <a:rPr lang="pl-PL" smtClean="0"/>
              <a:t>04.04.2024</a:t>
            </a:fld>
            <a:endParaRPr lang="pl-PL" dirty="0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4B2D9-DB10-4EB9-B7A6-032A6D4E75AC}" type="slidenum">
              <a:rPr lang="pl-PL" smtClean="0"/>
              <a:pPr/>
              <a:t>‹#›</a:t>
            </a:fld>
            <a:endParaRPr lang="pl-P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C616B-9D33-443E-A4BC-D4D8B755BE5F}" type="datetime1">
              <a:rPr lang="pl-PL" smtClean="0"/>
              <a:t>04.04.2024</a:t>
            </a:fld>
            <a:endParaRPr lang="pl-PL" dirty="0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4B2D9-DB10-4EB9-B7A6-032A6D4E75AC}" type="slidenum">
              <a:rPr lang="pl-PL" smtClean="0"/>
              <a:pPr/>
              <a:t>‹#›</a:t>
            </a:fld>
            <a:endParaRPr lang="pl-P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 dirty="0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A8EE7-A099-48DE-A6EC-DA7DFD8EC955}" type="datetime1">
              <a:rPr lang="pl-PL" smtClean="0"/>
              <a:t>04.04.2024</a:t>
            </a:fld>
            <a:endParaRPr lang="pl-PL" dirty="0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4B2D9-DB10-4EB9-B7A6-032A6D4E75AC}" type="slidenum">
              <a:rPr lang="pl-PL" smtClean="0"/>
              <a:pPr/>
              <a:t>‹#›</a:t>
            </a:fld>
            <a:endParaRPr lang="pl-P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6B700-0D8E-48DF-B15F-8AD7E79EECD4}" type="datetime1">
              <a:rPr lang="pl-PL" smtClean="0"/>
              <a:t>04.04.2024</a:t>
            </a:fld>
            <a:endParaRPr lang="pl-PL" dirty="0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4B2D9-DB10-4EB9-B7A6-032A6D4E75AC}" type="slidenum">
              <a:rPr lang="pl-PL" smtClean="0"/>
              <a:pPr/>
              <a:t>‹#›</a:t>
            </a:fld>
            <a:endParaRPr lang="pl-P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0EF2D-DD37-45C2-B490-8BB1B563B789}" type="datetime1">
              <a:rPr lang="pl-PL" smtClean="0"/>
              <a:t>04.04.2024</a:t>
            </a:fld>
            <a:endParaRPr lang="pl-PL" dirty="0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4B2D9-DB10-4EB9-B7A6-032A6D4E75AC}" type="slidenum">
              <a:rPr lang="pl-PL" smtClean="0"/>
              <a:pPr/>
              <a:t>‹#›</a:t>
            </a:fld>
            <a:endParaRPr lang="pl-PL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/>
          </p:cNvSpPr>
          <p:nvPr>
            <p:ph type="body" sz="half" idx="2"/>
          </p:nvPr>
        </p:nvSpPr>
        <p:spPr>
          <a:xfrm>
            <a:off x="7352715" y="1371600"/>
            <a:ext cx="4059936" cy="2930086"/>
          </a:xfrm>
        </p:spPr>
        <p:txBody>
          <a:bodyPr bIns="0" anchor="b">
            <a:normAutofit/>
          </a:bodyPr>
          <a:lstStyle>
            <a:lvl1pPr marL="0" marR="0" indent="0" algn="l">
              <a:buFontTx/>
              <a:buNone/>
              <a:defRPr sz="1300">
                <a:solidFill>
                  <a:schemeClr val="tx1">
                    <a:tint val="95000"/>
                  </a:schemeClr>
                </a:solidFill>
              </a:defRPr>
            </a:lvl1pPr>
            <a:lvl2pPr marL="460375" marR="0" indent="-112713">
              <a:buFontTx/>
              <a:buNone/>
              <a:defRPr sz="1200"/>
            </a:lvl2pPr>
            <a:lvl3pPr marL="914400" marR="0" indent="-117475">
              <a:buFontTx/>
              <a:buNone/>
              <a:defRPr sz="1000"/>
            </a:lvl3pPr>
            <a:lvl4pPr marL="1316038" marR="0" indent="-112713">
              <a:buFontTx/>
              <a:buNone/>
              <a:defRPr sz="900"/>
            </a:lvl4pPr>
            <a:lvl5pPr marL="1711325" marR="0" indent="-117475">
              <a:buFontTx/>
              <a:buNone/>
              <a:defRPr sz="900"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E179A1A-A0F5-4001-A6E3-A7675233E5F9}" type="slidenum">
              <a:rPr lang="pl-PL" smtClean="0"/>
              <a:pPr/>
              <a:t>‹#›</a:t>
            </a:fld>
            <a:endParaRPr lang="pl-PL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EDD0D-709D-4DDA-9D4C-9ECAB3ADA661}" type="datetime1">
              <a:rPr lang="pl-PL" smtClean="0"/>
              <a:t>04.04.2024</a:t>
            </a:fld>
            <a:endParaRPr lang="pl-PL" dirty="0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1CA4F-6684-461B-A968-23E3DD2ABA14}" type="slidenum">
              <a:rPr lang="pl-PL" smtClean="0"/>
              <a:pPr/>
              <a:t>‹#›</a:t>
            </a:fld>
            <a:endParaRPr lang="pl-PL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D3399-327D-42BA-A958-0E7BDFAD8300}" type="datetime1">
              <a:rPr lang="pl-PL" smtClean="0"/>
              <a:t>04.04.2024</a:t>
            </a:fld>
            <a:endParaRPr lang="pl-PL" dirty="0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1CA4F-6684-461B-A968-23E3DD2ABA14}" type="slidenum">
              <a:rPr lang="pl-PL" smtClean="0"/>
              <a:pPr/>
              <a:t>‹#›</a:t>
            </a:fld>
            <a:endParaRPr lang="pl-PL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E29C7-D880-4E30-8EE8-B393D0C69803}" type="datetime1">
              <a:rPr lang="pl-PL" smtClean="0"/>
              <a:t>04.04.2024</a:t>
            </a:fld>
            <a:endParaRPr lang="pl-PL" dirty="0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1CA4F-6684-461B-A968-23E3DD2ABA14}" type="slidenum">
              <a:rPr lang="pl-PL" smtClean="0"/>
              <a:pPr/>
              <a:t>‹#›</a:t>
            </a:fld>
            <a:endParaRPr lang="pl-PL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B8D79-1861-40E5-8F72-CB31B3CFD151}" type="datetime1">
              <a:rPr lang="pl-PL" smtClean="0"/>
              <a:t>04.04.2024</a:t>
            </a:fld>
            <a:endParaRPr lang="pl-PL" dirty="0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1CA4F-6684-461B-A968-23E3DD2ABA14}" type="slidenum">
              <a:rPr lang="pl-PL" smtClean="0"/>
              <a:pPr/>
              <a:t>‹#›</a:t>
            </a:fld>
            <a:endParaRPr lang="pl-PL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6B526-5DE9-4485-939A-060735463E6F}" type="datetime1">
              <a:rPr lang="pl-PL" smtClean="0"/>
              <a:t>04.04.2024</a:t>
            </a:fld>
            <a:endParaRPr lang="pl-PL" dirty="0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1CA4F-6684-461B-A968-23E3DD2ABA14}" type="slidenum">
              <a:rPr lang="pl-PL" smtClean="0"/>
              <a:pPr/>
              <a:t>‹#›</a:t>
            </a:fld>
            <a:endParaRPr lang="pl-PL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C53B6-752A-49EF-91B8-B01454185D02}" type="datetime1">
              <a:rPr lang="pl-PL" smtClean="0"/>
              <a:t>04.04.2024</a:t>
            </a:fld>
            <a:endParaRPr lang="pl-PL" dirty="0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1CA4F-6684-461B-A968-23E3DD2ABA14}" type="slidenum">
              <a:rPr lang="pl-PL" smtClean="0"/>
              <a:pPr/>
              <a:t>‹#›</a:t>
            </a:fld>
            <a:endParaRPr lang="pl-PL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0ADEC-94F6-466C-96E8-380859ABD0FC}" type="datetime1">
              <a:rPr lang="pl-PL" smtClean="0"/>
              <a:t>04.04.2024</a:t>
            </a:fld>
            <a:endParaRPr lang="pl-PL" dirty="0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1CA4F-6684-461B-A968-23E3DD2ABA14}" type="slidenum">
              <a:rPr lang="pl-PL" smtClean="0"/>
              <a:pPr/>
              <a:t>‹#›</a:t>
            </a:fld>
            <a:endParaRPr lang="pl-PL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9B978-172D-4D12-A927-77152D472CBF}" type="datetime1">
              <a:rPr lang="pl-PL" smtClean="0"/>
              <a:t>04.04.2024</a:t>
            </a:fld>
            <a:endParaRPr lang="pl-PL" dirty="0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1CA4F-6684-461B-A968-23E3DD2ABA14}" type="slidenum">
              <a:rPr lang="pl-PL" smtClean="0"/>
              <a:pPr/>
              <a:t>‹#›</a:t>
            </a:fld>
            <a:endParaRPr lang="pl-PL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 dirty="0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E89DF-7EA8-452F-AF88-78DE748BB068}" type="datetime1">
              <a:rPr lang="pl-PL" smtClean="0"/>
              <a:t>04.04.2024</a:t>
            </a:fld>
            <a:endParaRPr lang="pl-PL" dirty="0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1CA4F-6684-461B-A968-23E3DD2ABA14}" type="slidenum">
              <a:rPr lang="pl-PL" smtClean="0"/>
              <a:pPr/>
              <a:t>‹#›</a:t>
            </a:fld>
            <a:endParaRPr lang="pl-PL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72681-A5D9-42F1-A34B-9D4CA08F2816}" type="datetime1">
              <a:rPr lang="pl-PL" smtClean="0"/>
              <a:t>04.04.2024</a:t>
            </a:fld>
            <a:endParaRPr lang="pl-PL" dirty="0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1CA4F-6684-461B-A968-23E3DD2ABA14}" type="slidenum">
              <a:rPr lang="pl-PL" smtClean="0"/>
              <a:pPr/>
              <a:t>‹#›</a:t>
            </a:fld>
            <a:endParaRPr lang="pl-PL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529A7-9327-4034-BCAB-153D77F8EAD8}" type="datetime1">
              <a:rPr lang="pl-PL" smtClean="0"/>
              <a:t>04.04.2024</a:t>
            </a:fld>
            <a:endParaRPr lang="pl-PL" dirty="0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1CA4F-6684-461B-A968-23E3DD2ABA14}" type="slidenum">
              <a:rPr lang="pl-PL" smtClean="0"/>
              <a:pPr/>
              <a:t>‹#›</a:t>
            </a:fld>
            <a:endParaRPr lang="pl-P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608866-B86D-4167-AE55-BBC4BAC99BBC}" type="datetime1">
              <a:rPr lang="pl-PL" smtClean="0"/>
              <a:t>04.04.2024</a:t>
            </a:fld>
            <a:endParaRPr lang="pl-PL" dirty="0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 dirty="0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D4B2D9-DB10-4EB9-B7A6-032A6D4E75AC}" type="slidenum">
              <a:rPr lang="pl-PL" smtClean="0"/>
              <a:pPr/>
              <a:t>‹#›</a:t>
            </a:fld>
            <a:endParaRPr lang="pl-P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12" r:id="rId1"/>
    <p:sldLayoutId id="2147484213" r:id="rId2"/>
    <p:sldLayoutId id="2147484214" r:id="rId3"/>
    <p:sldLayoutId id="2147484215" r:id="rId4"/>
    <p:sldLayoutId id="2147484216" r:id="rId5"/>
    <p:sldLayoutId id="2147484217" r:id="rId6"/>
    <p:sldLayoutId id="2147484218" r:id="rId7"/>
    <p:sldLayoutId id="2147484219" r:id="rId8"/>
    <p:sldLayoutId id="2147484220" r:id="rId9"/>
    <p:sldLayoutId id="2147484221" r:id="rId10"/>
    <p:sldLayoutId id="2147484222" r:id="rId11"/>
    <p:sldLayoutId id="2147484233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E5E7B6-408A-4CCE-8CDF-767618FEAFBE}" type="datetime1">
              <a:rPr lang="pl-PL" smtClean="0"/>
              <a:t>04.04.2024</a:t>
            </a:fld>
            <a:endParaRPr lang="pl-PL" dirty="0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 dirty="0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C1CA4F-6684-461B-A968-23E3DD2ABA14}" type="slidenum">
              <a:rPr lang="pl-PL" smtClean="0"/>
              <a:pPr/>
              <a:t>‹#›</a:t>
            </a:fld>
            <a:endParaRPr lang="pl-P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37" r:id="rId1"/>
    <p:sldLayoutId id="2147484238" r:id="rId2"/>
    <p:sldLayoutId id="2147484239" r:id="rId3"/>
    <p:sldLayoutId id="2147484240" r:id="rId4"/>
    <p:sldLayoutId id="2147484241" r:id="rId5"/>
    <p:sldLayoutId id="2147484242" r:id="rId6"/>
    <p:sldLayoutId id="2147484243" r:id="rId7"/>
    <p:sldLayoutId id="2147484244" r:id="rId8"/>
    <p:sldLayoutId id="2147484245" r:id="rId9"/>
    <p:sldLayoutId id="2147484246" r:id="rId10"/>
    <p:sldLayoutId id="2147484247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981200" y="1905000"/>
            <a:ext cx="8229600" cy="3124200"/>
          </a:xfrm>
        </p:spPr>
        <p:txBody>
          <a:bodyPr anchor="t">
            <a:noAutofit/>
          </a:bodyPr>
          <a:lstStyle/>
          <a:p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cs typeface="Arial" panose="020B0604020202020204" pitchFamily="34" charset="0"/>
              </a:rPr>
              <a:t>Klasyczne metody uczenia maszynowego</a:t>
            </a:r>
            <a:endParaRPr lang="en-GB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</a:endParaRPr>
          </a:p>
        </p:txBody>
      </p:sp>
    </p:spTree>
  </p:cSld>
  <p:clrMapOvr>
    <a:masterClrMapping/>
  </p:clrMapOvr>
  <p:transition>
    <p:pull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4B2D9-DB10-4EB9-B7A6-032A6D4E75AC}" type="slidenum">
              <a:rPr lang="pl-PL" smtClean="0"/>
              <a:pPr/>
              <a:t>2</a:t>
            </a:fld>
            <a:endParaRPr lang="pl-PL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27FEB6-72F1-4E82-83CB-FA5429C2F1F6}"/>
              </a:ext>
            </a:extLst>
          </p:cNvPr>
          <p:cNvSpPr/>
          <p:nvPr/>
        </p:nvSpPr>
        <p:spPr>
          <a:xfrm>
            <a:off x="0" y="304800"/>
            <a:ext cx="1211580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sz="2000">
                <a:latin typeface="Arial Narrow" panose="020B0606020202030204" pitchFamily="34" charset="0"/>
              </a:rPr>
              <a:t>Klasyczne metody uczenia maszynowego to metody, które zostały opracowane przed erą uczenia głębokiego, czyli przed powszechnym rozwojem głębokich sieci neuronowych.</a:t>
            </a:r>
          </a:p>
          <a:p>
            <a:endParaRPr lang="pl-PL" sz="2000">
              <a:latin typeface="Arial Narrow" panose="020B0606020202030204" pitchFamily="34" charset="0"/>
            </a:endParaRPr>
          </a:p>
          <a:p>
            <a:r>
              <a:rPr lang="pl-PL" sz="2000">
                <a:latin typeface="Arial Narrow" panose="020B0606020202030204" pitchFamily="34" charset="0"/>
              </a:rPr>
              <a:t>Do klasycznych metod uczenia maszynowego należą:</a:t>
            </a:r>
          </a:p>
          <a:p>
            <a:pPr marL="273050" indent="-273050">
              <a:buAutoNum type="arabicPeriod"/>
            </a:pPr>
            <a:r>
              <a:rPr lang="pl-PL" sz="2000">
                <a:latin typeface="Arial Narrow" panose="020B0606020202030204" pitchFamily="34" charset="0"/>
              </a:rPr>
              <a:t>Metoda k-średnich – algorytm grupowania, który dzieli dane na klastry na podstawie ich podobieństwa </a:t>
            </a:r>
          </a:p>
          <a:p>
            <a:pPr marL="273050" indent="-273050">
              <a:buFontTx/>
              <a:buAutoNum type="arabicPeriod"/>
            </a:pPr>
            <a:r>
              <a:rPr lang="pl-PL" sz="2000">
                <a:latin typeface="Arial Narrow" panose="020B0606020202030204" pitchFamily="34" charset="0"/>
              </a:rPr>
              <a:t>Metoda k-najbliższych sąsiadów – algorytm klasyfikacji, który bazuje na odległości między danymi</a:t>
            </a:r>
          </a:p>
          <a:p>
            <a:pPr marL="273050" indent="-273050">
              <a:buAutoNum type="arabicPeriod"/>
            </a:pPr>
            <a:r>
              <a:rPr lang="pl-PL" sz="2000">
                <a:latin typeface="Arial Narrow" panose="020B0606020202030204" pitchFamily="34" charset="0"/>
              </a:rPr>
              <a:t>Drzewa decyzyjne – oparte na strukturze drzewa, w których węzły drzewa reprezentują testy na danych wejściowych, a liście drzewa reprezentują etykiety klas</a:t>
            </a:r>
          </a:p>
          <a:p>
            <a:pPr marL="273050" indent="-273050">
              <a:buAutoNum type="arabicPeriod"/>
            </a:pPr>
            <a:r>
              <a:rPr lang="pl-PL" sz="2000">
                <a:latin typeface="Arial Narrow" panose="020B0606020202030204" pitchFamily="34" charset="0"/>
              </a:rPr>
              <a:t>Lasy losowe – zbudowane z wielu drzew decyzyjnych</a:t>
            </a:r>
          </a:p>
          <a:p>
            <a:pPr marL="273050" indent="-273050">
              <a:buAutoNum type="arabicPeriod"/>
            </a:pPr>
            <a:r>
              <a:rPr lang="pl-PL" sz="2000">
                <a:latin typeface="Arial Narrow" panose="020B0606020202030204" pitchFamily="34" charset="0"/>
              </a:rPr>
              <a:t>Maszyna wektorów nośnych (SVM) – algorytm klasyfikacji, który ma na celu znalezienie hiperpłaszczyzny optymalnie separującej dane z różnych klas</a:t>
            </a:r>
          </a:p>
          <a:p>
            <a:pPr marL="273050" indent="-273050">
              <a:buAutoNum type="arabicPeriod"/>
            </a:pPr>
            <a:r>
              <a:rPr lang="pl-PL" sz="2000">
                <a:latin typeface="Arial Narrow" panose="020B0606020202030204" pitchFamily="34" charset="0"/>
              </a:rPr>
              <a:t>Naiwny klasyfikator Bayesa – algorytm klasyfikacji, który bazuje na statystyce Bayesa</a:t>
            </a:r>
          </a:p>
          <a:p>
            <a:pPr marL="273050" indent="-273050">
              <a:buFontTx/>
              <a:buAutoNum type="arabicPeriod"/>
            </a:pPr>
            <a:r>
              <a:rPr lang="pl-PL" sz="2000">
                <a:latin typeface="Arial Narrow" panose="020B0606020202030204" pitchFamily="34" charset="0"/>
              </a:rPr>
              <a:t>Regresja liniowa – opisuje liniową zależność między zmienną zależną a jedną lub wieloma zmiennymi niezależnymi</a:t>
            </a:r>
          </a:p>
          <a:p>
            <a:pPr marL="273050" indent="-273050">
              <a:buFontTx/>
              <a:buAutoNum type="arabicPeriod"/>
            </a:pPr>
            <a:r>
              <a:rPr lang="pl-PL" sz="2000">
                <a:latin typeface="Arial Narrow" panose="020B0606020202030204" pitchFamily="34" charset="0"/>
              </a:rPr>
              <a:t>Regresja logistyczna – polega na znalezieniu wzoru matematycznego reprezentowanego przez funkcję logistyczną (sigmoidalną), która przekształca dowolną wartość wejściową do wartości z przedziału (0;1)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0AA2884-D1C5-4782-82CC-E0F1624963B2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12186000" cy="3048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pl-PL" sz="1600">
                <a:latin typeface="Arial" pitchFamily="34" charset="0"/>
                <a:ea typeface="+mj-lt"/>
                <a:cs typeface="Arial" pitchFamily="34" charset="0"/>
              </a:rPr>
              <a:t>Klasyczne metody </a:t>
            </a:r>
            <a:r>
              <a:rPr lang="pl-PL" sz="1600" dirty="0">
                <a:latin typeface="Arial" pitchFamily="34" charset="0"/>
                <a:ea typeface="+mj-lt"/>
                <a:cs typeface="Arial" pitchFamily="34" charset="0"/>
              </a:rPr>
              <a:t>uczenia maszynowego</a:t>
            </a:r>
            <a:endParaRPr lang="en-GB" sz="4400" dirty="0">
              <a:latin typeface="Arial" pitchFamily="34" charset="0"/>
              <a:ea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527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95EC8460-6841-4B42-B728-5574D06F5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82602-3ACC-4341-B614-755528165B64}" type="slidenum">
              <a:rPr lang="pl-PL" smtClean="0"/>
              <a:pPr/>
              <a:t>3</a:t>
            </a:fld>
            <a:endParaRPr lang="pl-PL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27FEB6-72F1-4E82-83CB-FA5429C2F1F6}"/>
              </a:ext>
            </a:extLst>
          </p:cNvPr>
          <p:cNvSpPr/>
          <p:nvPr/>
        </p:nvSpPr>
        <p:spPr>
          <a:xfrm>
            <a:off x="0" y="304801"/>
            <a:ext cx="12186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b="1" dirty="0">
                <a:latin typeface="Arial Narrow" panose="020B0606020202030204" pitchFamily="34" charset="0"/>
              </a:rPr>
              <a:t>Metoda </a:t>
            </a:r>
            <a:r>
              <a:rPr lang="pl-PL" b="1">
                <a:latin typeface="Arial Narrow" panose="020B0606020202030204" pitchFamily="34" charset="0"/>
              </a:rPr>
              <a:t>k-średnich</a:t>
            </a:r>
            <a:r>
              <a:rPr lang="pl-PL">
                <a:latin typeface="Arial Narrow" panose="020B0606020202030204" pitchFamily="34" charset="0"/>
              </a:rPr>
              <a:t> (metoda najbliższego centroidu, </a:t>
            </a:r>
            <a:r>
              <a:rPr lang="pl-PL" i="1">
                <a:latin typeface="Arial Narrow" panose="020B0606020202030204" pitchFamily="34" charset="0"/>
              </a:rPr>
              <a:t>nearest centroid</a:t>
            </a:r>
            <a:r>
              <a:rPr lang="pl-PL">
                <a:latin typeface="Arial Narrow" panose="020B0606020202030204" pitchFamily="34" charset="0"/>
              </a:rPr>
              <a:t>) </a:t>
            </a:r>
            <a:r>
              <a:rPr lang="pl-PL" dirty="0">
                <a:latin typeface="Arial Narrow" panose="020B0606020202030204" pitchFamily="34" charset="0"/>
              </a:rPr>
              <a:t>– </a:t>
            </a:r>
          </a:p>
          <a:p>
            <a:r>
              <a:rPr lang="pl-PL" dirty="0">
                <a:latin typeface="Arial Narrow" panose="020B0606020202030204" pitchFamily="34" charset="0"/>
              </a:rPr>
              <a:t>jest to najpopularniejsza metoda grupowania. Dzieli populację na k różnych podzbiorów. W metodzie tej początkowo wybiera się k punktów (centroidów), z których każdy reprezentuje środek jednego z podzbiorów. Następnie dla każdego centroida wybierane są te punkty, które położone są bliżej niego, niż każdego innego centroida. W ten sposób tworzymy k podzbiorów. Następnie dla każdego podzbioru obliczamy nowe centrum i mamy k nowych centroidów i powtarzamy proces dla każdego punktu. Proces kontynuujemy aż położenie centroidów przestanie się </a:t>
            </a:r>
            <a:r>
              <a:rPr lang="pl-PL">
                <a:latin typeface="Arial Narrow" panose="020B0606020202030204" pitchFamily="34" charset="0"/>
              </a:rPr>
              <a:t>zmieniać.</a:t>
            </a:r>
            <a:endParaRPr lang="pl-PL" dirty="0">
              <a:latin typeface="Arial Narrow" panose="020B0606020202030204" pitchFamily="34" charset="0"/>
            </a:endParaRPr>
          </a:p>
        </p:txBody>
      </p:sp>
      <p:pic>
        <p:nvPicPr>
          <p:cNvPr id="2" name="Obraz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282" y="2559576"/>
            <a:ext cx="9419318" cy="315542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686EED0-BFB8-9627-9439-DCC6B00689DA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12186000" cy="3048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pl-PL" sz="1600">
                <a:latin typeface="Arial" pitchFamily="34" charset="0"/>
                <a:ea typeface="+mj-lt"/>
                <a:cs typeface="Arial" pitchFamily="34" charset="0"/>
              </a:rPr>
              <a:t>Klasyczne metody </a:t>
            </a:r>
            <a:r>
              <a:rPr lang="pl-PL" sz="1600" dirty="0">
                <a:latin typeface="Arial" pitchFamily="34" charset="0"/>
                <a:ea typeface="+mj-lt"/>
                <a:cs typeface="Arial" pitchFamily="34" charset="0"/>
              </a:rPr>
              <a:t>uczenia maszynowego</a:t>
            </a:r>
            <a:endParaRPr lang="en-GB" sz="4400" dirty="0">
              <a:latin typeface="Arial" pitchFamily="34" charset="0"/>
              <a:ea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2380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4B2D9-DB10-4EB9-B7A6-032A6D4E75AC}" type="slidenum">
              <a:rPr lang="pl-PL" smtClean="0"/>
              <a:pPr/>
              <a:t>4</a:t>
            </a:fld>
            <a:endParaRPr lang="pl-PL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27FEB6-72F1-4E82-83CB-FA5429C2F1F6}"/>
              </a:ext>
            </a:extLst>
          </p:cNvPr>
          <p:cNvSpPr/>
          <p:nvPr/>
        </p:nvSpPr>
        <p:spPr>
          <a:xfrm>
            <a:off x="0" y="304800"/>
            <a:ext cx="121860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b="1">
                <a:latin typeface="Arial Narrow" panose="020B0606020202030204" pitchFamily="34" charset="0"/>
              </a:rPr>
              <a:t>Metoda k-najbliższych sąsiadów</a:t>
            </a:r>
            <a:r>
              <a:rPr lang="pl-PL">
                <a:latin typeface="Arial Narrow" panose="020B0606020202030204" pitchFamily="34" charset="0"/>
              </a:rPr>
              <a:t> (</a:t>
            </a:r>
            <a:r>
              <a:rPr lang="pl-PL" i="1">
                <a:latin typeface="Arial Narrow" panose="020B0606020202030204" pitchFamily="34" charset="0"/>
              </a:rPr>
              <a:t>k-nearest neighbors</a:t>
            </a:r>
            <a:r>
              <a:rPr lang="pl-PL">
                <a:latin typeface="Arial Narrow" panose="020B0606020202030204" pitchFamily="34" charset="0"/>
              </a:rPr>
              <a:t>, KNN) – </a:t>
            </a:r>
          </a:p>
          <a:p>
            <a:r>
              <a:rPr lang="pl-PL">
                <a:latin typeface="Arial Narrow" panose="020B0606020202030204" pitchFamily="34" charset="0"/>
              </a:rPr>
              <a:t>polega na znalezieniu k najbliższych elementów ze zbioru uczącego i przypisaniu analizowanej próbce najczęściej występującej etykiety. Jeśli nie można rozstrzygnąć, do której klasy należy analizowana próbka (bo najbliżsi sąsiedzi należą do rozłącznych klas), przypisywanie odbywa się na zasadzie losowania, gdyż i tak prawdopodobieństwo przynależności próbki do każdej z klas jest jednakowe.</a:t>
            </a:r>
            <a:endParaRPr lang="pl-PL" dirty="0">
              <a:latin typeface="Arial Narrow" panose="020B0606020202030204" pitchFamily="34" charset="0"/>
            </a:endParaRPr>
          </a:p>
          <a:p>
            <a:endParaRPr lang="pl-PL">
              <a:latin typeface="Arial Narrow" panose="020B0606020202030204" pitchFamily="34" charset="0"/>
            </a:endParaRPr>
          </a:p>
          <a:p>
            <a:r>
              <a:rPr lang="pl-PL">
                <a:latin typeface="Arial Narrow" panose="020B0606020202030204" pitchFamily="34" charset="0"/>
              </a:rPr>
              <a:t>W poniższym przykładzie analizowana próbka zostanie zakwalifikowana jako czerwone wino, gdyż z pięciu najbliższych sąsiadów (k=5) cztery to wina czerwone a jedno białe.</a:t>
            </a:r>
            <a:endParaRPr lang="pl-PL" dirty="0">
              <a:latin typeface="Arial Narrow" panose="020B0606020202030204" pitchFamily="34" charset="0"/>
            </a:endParaRPr>
          </a:p>
        </p:txBody>
      </p:sp>
      <p:pic>
        <p:nvPicPr>
          <p:cNvPr id="8" name="Obraz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2743200"/>
            <a:ext cx="6896100" cy="3726464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C2845C64-8191-4D2D-6E1A-20212F10F8EF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12186000" cy="3048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pl-PL" sz="1600">
                <a:latin typeface="Arial" pitchFamily="34" charset="0"/>
                <a:ea typeface="+mj-lt"/>
                <a:cs typeface="Arial" pitchFamily="34" charset="0"/>
              </a:rPr>
              <a:t>Klasyczne metody </a:t>
            </a:r>
            <a:r>
              <a:rPr lang="pl-PL" sz="1600" dirty="0">
                <a:latin typeface="Arial" pitchFamily="34" charset="0"/>
                <a:ea typeface="+mj-lt"/>
                <a:cs typeface="Arial" pitchFamily="34" charset="0"/>
              </a:rPr>
              <a:t>uczenia maszynowego</a:t>
            </a:r>
            <a:endParaRPr lang="en-GB" sz="4400" dirty="0">
              <a:latin typeface="Arial" pitchFamily="34" charset="0"/>
              <a:ea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3629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1B6D16CD-0385-42C3-B218-D155E6D08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82602-3ACC-4341-B614-755528165B64}" type="slidenum">
              <a:rPr lang="pl-PL" smtClean="0"/>
              <a:pPr/>
              <a:t>5</a:t>
            </a:fld>
            <a:endParaRPr lang="pl-PL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1DFFF8-F13F-4A77-A11F-6D3911890EA1}"/>
              </a:ext>
            </a:extLst>
          </p:cNvPr>
          <p:cNvSpPr/>
          <p:nvPr/>
        </p:nvSpPr>
        <p:spPr>
          <a:xfrm>
            <a:off x="0" y="304800"/>
            <a:ext cx="121860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b="1" dirty="0">
                <a:latin typeface="Arial Narrow" panose="020B0606020202030204" pitchFamily="34" charset="0"/>
              </a:rPr>
              <a:t>Drzewa </a:t>
            </a:r>
            <a:r>
              <a:rPr lang="pl-PL" b="1">
                <a:latin typeface="Arial Narrow" panose="020B0606020202030204" pitchFamily="34" charset="0"/>
              </a:rPr>
              <a:t>decyzyjne</a:t>
            </a:r>
            <a:r>
              <a:rPr lang="pl-PL">
                <a:latin typeface="Arial Narrow" panose="020B0606020202030204" pitchFamily="34" charset="0"/>
              </a:rPr>
              <a:t> (</a:t>
            </a:r>
            <a:r>
              <a:rPr lang="pl-PL" i="1">
                <a:latin typeface="Arial Narrow" panose="020B0606020202030204" pitchFamily="34" charset="0"/>
              </a:rPr>
              <a:t>decision tree</a:t>
            </a:r>
            <a:r>
              <a:rPr lang="pl-PL">
                <a:latin typeface="Arial Narrow" panose="020B0606020202030204" pitchFamily="34" charset="0"/>
              </a:rPr>
              <a:t>, uczenie </a:t>
            </a:r>
            <a:r>
              <a:rPr lang="pl-PL" dirty="0">
                <a:latin typeface="Arial Narrow" panose="020B0606020202030204" pitchFamily="34" charset="0"/>
              </a:rPr>
              <a:t>nadzorowane) – drzewo decyzyjne składa się z węzłów decyzji, w których są wykonywane testy określonych atrybutów, oraz węzłów końcowych (liści), które wskazują wartości docelowego atrybutu. Drzewa decyzyjne to rodzaj klasyfikatorów, w których analiza rozpoczyna się od korzenia a następnie </a:t>
            </a:r>
            <a:r>
              <a:rPr lang="pl-PL">
                <a:latin typeface="Arial Narrow" panose="020B0606020202030204" pitchFamily="34" charset="0"/>
              </a:rPr>
              <a:t>jest wykonywany </a:t>
            </a:r>
            <a:r>
              <a:rPr lang="pl-PL" dirty="0">
                <a:latin typeface="Arial Narrow" panose="020B0606020202030204" pitchFamily="34" charset="0"/>
              </a:rPr>
              <a:t>ruch wzdłuż drzewa aż zostanie osiągnięty jeden z </a:t>
            </a:r>
            <a:r>
              <a:rPr lang="pl-PL">
                <a:latin typeface="Arial Narrow" panose="020B0606020202030204" pitchFamily="34" charset="0"/>
              </a:rPr>
              <a:t>liści.</a:t>
            </a:r>
          </a:p>
          <a:p>
            <a:r>
              <a:rPr lang="pl-PL">
                <a:latin typeface="Arial Narrow" panose="020B0606020202030204" pitchFamily="34" charset="0"/>
              </a:rPr>
              <a:t>Są stosowane zarówno w zadaniach klasyfikacji jak i regresji.</a:t>
            </a:r>
            <a:endParaRPr lang="pl-PL" dirty="0">
              <a:latin typeface="Arial Narrow" panose="020B0606020202030204" pitchFamily="34" charset="0"/>
            </a:endParaRPr>
          </a:p>
          <a:p>
            <a:endParaRPr lang="pl-PL" dirty="0">
              <a:latin typeface="Arial Narrow" panose="020B0606020202030204" pitchFamily="34" charset="0"/>
            </a:endParaRPr>
          </a:p>
          <a:p>
            <a:r>
              <a:rPr lang="pl-PL" dirty="0">
                <a:latin typeface="Arial Narrow" panose="020B0606020202030204" pitchFamily="34" charset="0"/>
              </a:rPr>
              <a:t>Przykład:</a:t>
            </a:r>
          </a:p>
          <a:p>
            <a:r>
              <a:rPr lang="pl-PL" dirty="0">
                <a:latin typeface="Arial Narrow" panose="020B0606020202030204" pitchFamily="34" charset="0"/>
              </a:rPr>
              <a:t>Gatunki irysów różnią się długością i szerokością kielichów oraz długością i szerokością płatków. Na podstawie różnych kombinacji tych cech można zbudować drzewo decyzyjne aby ustalić, do którego z trzech gatunków należy dany kwiat.</a:t>
            </a:r>
            <a:endParaRPr lang="en-US" dirty="0">
              <a:latin typeface="Arial Narrow" panose="020B060602020203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2890123"/>
            <a:ext cx="3086100" cy="3924300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89DCD239-29CE-BF51-D5E5-109B384EDF33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12186000" cy="3048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pl-PL" sz="1600">
                <a:latin typeface="Arial" pitchFamily="34" charset="0"/>
                <a:ea typeface="+mj-lt"/>
                <a:cs typeface="Arial" pitchFamily="34" charset="0"/>
              </a:rPr>
              <a:t>Klasyczne metody </a:t>
            </a:r>
            <a:r>
              <a:rPr lang="pl-PL" sz="1600" dirty="0">
                <a:latin typeface="Arial" pitchFamily="34" charset="0"/>
                <a:ea typeface="+mj-lt"/>
                <a:cs typeface="Arial" pitchFamily="34" charset="0"/>
              </a:rPr>
              <a:t>uczenia maszynowego</a:t>
            </a:r>
            <a:endParaRPr lang="en-GB" sz="4400" dirty="0">
              <a:latin typeface="Arial" pitchFamily="34" charset="0"/>
              <a:ea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0694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4B2D9-DB10-4EB9-B7A6-032A6D4E75AC}" type="slidenum">
              <a:rPr lang="pl-PL" smtClean="0"/>
              <a:pPr/>
              <a:t>6</a:t>
            </a:fld>
            <a:endParaRPr lang="pl-PL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1DFFF8-F13F-4A77-A11F-6D3911890EA1}"/>
              </a:ext>
            </a:extLst>
          </p:cNvPr>
          <p:cNvSpPr/>
          <p:nvPr/>
        </p:nvSpPr>
        <p:spPr>
          <a:xfrm>
            <a:off x="0" y="304801"/>
            <a:ext cx="12186000" cy="18312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b="1">
                <a:latin typeface="Arial Narrow" panose="020B0606020202030204" pitchFamily="34" charset="0"/>
              </a:rPr>
              <a:t>Lasy losowe</a:t>
            </a:r>
            <a:r>
              <a:rPr lang="pl-PL">
                <a:latin typeface="Arial Narrow" panose="020B0606020202030204" pitchFamily="34" charset="0"/>
              </a:rPr>
              <a:t> (</a:t>
            </a:r>
            <a:r>
              <a:rPr lang="pl-PL" i="1">
                <a:latin typeface="Arial Narrow" panose="020B0606020202030204" pitchFamily="34" charset="0"/>
              </a:rPr>
              <a:t>random forest</a:t>
            </a:r>
            <a:r>
              <a:rPr lang="pl-PL">
                <a:latin typeface="Arial Narrow" panose="020B0606020202030204" pitchFamily="34" charset="0"/>
              </a:rPr>
              <a:t>) </a:t>
            </a:r>
            <a:r>
              <a:rPr lang="pl-PL" dirty="0">
                <a:latin typeface="Arial Narrow" panose="020B0606020202030204" pitchFamily="34" charset="0"/>
              </a:rPr>
              <a:t>– w procesie uczenia tworzonych jest wiele drzew decyzyjnych</a:t>
            </a:r>
            <a:r>
              <a:rPr lang="pl-PL">
                <a:latin typeface="Arial Narrow" panose="020B0606020202030204" pitchFamily="34" charset="0"/>
              </a:rPr>
              <a:t>. Liczba cech uczących w każdym drzewie dobierana jest losowo, co zmniejsza korelację drzew i zwiększa odporność lasu. Ostateczna </a:t>
            </a:r>
            <a:r>
              <a:rPr lang="pl-PL" dirty="0">
                <a:latin typeface="Arial Narrow" panose="020B0606020202030204" pitchFamily="34" charset="0"/>
              </a:rPr>
              <a:t>decyzja jest taka, jaką wskazuje największa liczba drzew decyzyjnych.</a:t>
            </a:r>
          </a:p>
          <a:p>
            <a:pPr>
              <a:spcBef>
                <a:spcPts val="600"/>
              </a:spcBef>
            </a:pPr>
            <a:r>
              <a:rPr lang="pl-PL" dirty="0">
                <a:latin typeface="Arial Narrow" panose="020B0606020202030204" pitchFamily="34" charset="0"/>
              </a:rPr>
              <a:t>Przykład:</a:t>
            </a:r>
          </a:p>
          <a:p>
            <a:r>
              <a:rPr lang="pl-PL" dirty="0">
                <a:latin typeface="Arial Narrow" panose="020B0606020202030204" pitchFamily="34" charset="0"/>
              </a:rPr>
              <a:t>Predykcja jest wykonywana z użyciem każdego drzewa oddzielnie. Ponieważ jabłko jest wskazane przez większość drzew, powinna zostać podjęta decyzja, że na rysunku jest </a:t>
            </a:r>
            <a:r>
              <a:rPr lang="pl-PL">
                <a:latin typeface="Arial Narrow" panose="020B0606020202030204" pitchFamily="34" charset="0"/>
              </a:rPr>
              <a:t>jabłko.</a:t>
            </a:r>
            <a:endParaRPr lang="pl-PL" dirty="0">
              <a:latin typeface="Arial Narrow" panose="020B0606020202030204" pitchFamily="34" charset="0"/>
            </a:endParaRPr>
          </a:p>
        </p:txBody>
      </p:sp>
      <p:pic>
        <p:nvPicPr>
          <p:cNvPr id="9" name="Obraz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438400"/>
            <a:ext cx="9486895" cy="3505200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EEEF4A83-6725-A462-6179-9E74CAB26C0E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12186000" cy="3048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pl-PL" sz="1600">
                <a:latin typeface="Arial" pitchFamily="34" charset="0"/>
                <a:ea typeface="+mj-lt"/>
                <a:cs typeface="Arial" pitchFamily="34" charset="0"/>
              </a:rPr>
              <a:t>Klasyczne metody </a:t>
            </a:r>
            <a:r>
              <a:rPr lang="pl-PL" sz="1600" dirty="0">
                <a:latin typeface="Arial" pitchFamily="34" charset="0"/>
                <a:ea typeface="+mj-lt"/>
                <a:cs typeface="Arial" pitchFamily="34" charset="0"/>
              </a:rPr>
              <a:t>uczenia maszynowego</a:t>
            </a:r>
            <a:endParaRPr lang="en-GB" sz="4400" dirty="0">
              <a:latin typeface="Arial" pitchFamily="34" charset="0"/>
              <a:ea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709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4B2D9-DB10-4EB9-B7A6-032A6D4E75AC}" type="slidenum">
              <a:rPr lang="pl-PL" smtClean="0"/>
              <a:pPr/>
              <a:t>7</a:t>
            </a:fld>
            <a:endParaRPr lang="pl-PL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1DFFF8-F13F-4A77-A11F-6D3911890EA1}"/>
              </a:ext>
            </a:extLst>
          </p:cNvPr>
          <p:cNvSpPr/>
          <p:nvPr/>
        </p:nvSpPr>
        <p:spPr>
          <a:xfrm>
            <a:off x="0" y="304801"/>
            <a:ext cx="12115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>
                <a:latin typeface="Arial Narrow" panose="020B0606020202030204" pitchFamily="34" charset="0"/>
              </a:rPr>
              <a:t>W lasach losowych drzewa działają równolegle i niezależnie a decyzja jest podejmowana na zasadzie głosowania (jest to tzw. </a:t>
            </a:r>
            <a:r>
              <a:rPr lang="pl-PL" b="1" i="1">
                <a:latin typeface="Arial Narrow" panose="020B0606020202030204" pitchFamily="34" charset="0"/>
              </a:rPr>
              <a:t>bagging</a:t>
            </a:r>
            <a:r>
              <a:rPr lang="pl-PL">
                <a:latin typeface="Arial Narrow" panose="020B0606020202030204" pitchFamily="34" charset="0"/>
              </a:rPr>
              <a:t>).</a:t>
            </a:r>
            <a:endParaRPr lang="pl-PL" dirty="0">
              <a:latin typeface="Arial Narrow" panose="020B0606020202030204" pitchFamily="34" charset="0"/>
            </a:endParaRPr>
          </a:p>
        </p:txBody>
      </p:sp>
      <p:pic>
        <p:nvPicPr>
          <p:cNvPr id="7" name="Obraz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762000"/>
            <a:ext cx="8991600" cy="1969501"/>
          </a:xfrm>
          <a:prstGeom prst="rect">
            <a:avLst/>
          </a:prstGeom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EA1DFFF8-F13F-4A77-A11F-6D3911890EA1}"/>
              </a:ext>
            </a:extLst>
          </p:cNvPr>
          <p:cNvSpPr/>
          <p:nvPr/>
        </p:nvSpPr>
        <p:spPr>
          <a:xfrm>
            <a:off x="0" y="3200401"/>
            <a:ext cx="12186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>
                <a:latin typeface="Arial Narrow" panose="020B0606020202030204" pitchFamily="34" charset="0"/>
              </a:rPr>
              <a:t>Można zastosować inne rozwiązanie, w którym modele są wykorzystywane sekwencyjnie – każdy następny model bierze pod uwagę wynik działania poprzedniego klasyfikatora (jest to tzw. </a:t>
            </a:r>
            <a:r>
              <a:rPr lang="pl-PL" b="1" i="1">
                <a:latin typeface="Arial Narrow" panose="020B0606020202030204" pitchFamily="34" charset="0"/>
              </a:rPr>
              <a:t>boosting</a:t>
            </a:r>
            <a:r>
              <a:rPr lang="pl-PL">
                <a:latin typeface="Arial Narrow" panose="020B0606020202030204" pitchFamily="34" charset="0"/>
              </a:rPr>
              <a:t>).</a:t>
            </a:r>
            <a:endParaRPr lang="pl-PL" dirty="0">
              <a:latin typeface="Arial Narrow" panose="020B0606020202030204" pitchFamily="34" charset="0"/>
            </a:endParaRPr>
          </a:p>
        </p:txBody>
      </p:sp>
      <p:pic>
        <p:nvPicPr>
          <p:cNvPr id="9" name="Obraz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1" y="3856433"/>
            <a:ext cx="9067800" cy="2010967"/>
          </a:xfrm>
          <a:prstGeom prst="rect">
            <a:avLst/>
          </a:prstGeom>
        </p:spPr>
      </p:pic>
      <p:sp>
        <p:nvSpPr>
          <p:cNvPr id="10" name="Rectangle 4">
            <a:extLst>
              <a:ext uri="{FF2B5EF4-FFF2-40B4-BE49-F238E27FC236}">
                <a16:creationId xmlns:a16="http://schemas.microsoft.com/office/drawing/2014/main" id="{EA1DFFF8-F13F-4A77-A11F-6D3911890EA1}"/>
              </a:ext>
            </a:extLst>
          </p:cNvPr>
          <p:cNvSpPr/>
          <p:nvPr/>
        </p:nvSpPr>
        <p:spPr>
          <a:xfrm>
            <a:off x="0" y="5983070"/>
            <a:ext cx="10668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>
                <a:latin typeface="Arial Narrow" panose="020B0606020202030204" pitchFamily="34" charset="0"/>
              </a:rPr>
              <a:t>Do implementacji tej metody wykorzystywany jest algorytm </a:t>
            </a:r>
            <a:r>
              <a:rPr lang="pl-PL" b="1">
                <a:latin typeface="Arial Narrow" panose="020B0606020202030204" pitchFamily="34" charset="0"/>
              </a:rPr>
              <a:t>Gradient Boosting Decision Trees (GBD)</a:t>
            </a:r>
            <a:r>
              <a:rPr lang="pl-PL">
                <a:latin typeface="Arial Narrow" panose="020B0606020202030204" pitchFamily="34" charset="0"/>
              </a:rPr>
              <a:t>.</a:t>
            </a:r>
          </a:p>
          <a:p>
            <a:endParaRPr lang="pl-PL" dirty="0">
              <a:latin typeface="Arial Narrow" panose="020B0606020202030204" pitchFamily="34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EE0C619C-341B-C56C-8AD5-C36CB1333990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12186000" cy="3048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pl-PL" sz="1600">
                <a:latin typeface="Arial" pitchFamily="34" charset="0"/>
                <a:ea typeface="+mj-lt"/>
                <a:cs typeface="Arial" pitchFamily="34" charset="0"/>
              </a:rPr>
              <a:t>Klasyczne metody </a:t>
            </a:r>
            <a:r>
              <a:rPr lang="pl-PL" sz="1600" dirty="0">
                <a:latin typeface="Arial" pitchFamily="34" charset="0"/>
                <a:ea typeface="+mj-lt"/>
                <a:cs typeface="Arial" pitchFamily="34" charset="0"/>
              </a:rPr>
              <a:t>uczenia maszynowego</a:t>
            </a:r>
            <a:endParaRPr lang="en-GB" sz="4400" dirty="0">
              <a:latin typeface="Arial" pitchFamily="34" charset="0"/>
              <a:ea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3869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9CD5DBA1-9AA6-4826-AE9C-6449CAFB5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82602-3ACC-4341-B614-755528165B64}" type="slidenum">
              <a:rPr lang="pl-PL" smtClean="0"/>
              <a:pPr/>
              <a:t>8</a:t>
            </a:fld>
            <a:endParaRPr lang="pl-PL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AF3F40-5135-4052-A0E2-68347E44F158}"/>
              </a:ext>
            </a:extLst>
          </p:cNvPr>
          <p:cNvSpPr/>
          <p:nvPr/>
        </p:nvSpPr>
        <p:spPr>
          <a:xfrm>
            <a:off x="0" y="304800"/>
            <a:ext cx="121860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sz="2000" b="1">
                <a:latin typeface="Arial Narrow" panose="020B0606020202030204" pitchFamily="34" charset="0"/>
              </a:rPr>
              <a:t>Maszyny wektorów nośnych (wspierających)</a:t>
            </a:r>
            <a:r>
              <a:rPr lang="pl-PL" sz="2000">
                <a:latin typeface="Arial Narrow" panose="020B0606020202030204" pitchFamily="34" charset="0"/>
              </a:rPr>
              <a:t> (</a:t>
            </a:r>
            <a:r>
              <a:rPr lang="pl-PL" sz="2000" i="1">
                <a:latin typeface="Arial Narrow" panose="020B0606020202030204" pitchFamily="34" charset="0"/>
              </a:rPr>
              <a:t>support vector machines </a:t>
            </a:r>
            <a:r>
              <a:rPr lang="pl-PL" sz="2000">
                <a:latin typeface="Arial Narrow" panose="020B0606020202030204" pitchFamily="34" charset="0"/>
              </a:rPr>
              <a:t>– SVM)</a:t>
            </a:r>
            <a:endParaRPr lang="pl-PL" sz="2000" dirty="0">
              <a:latin typeface="Arial Narrow" panose="020B0606020202030204" pitchFamily="34" charset="0"/>
            </a:endParaRPr>
          </a:p>
          <a:p>
            <a:r>
              <a:rPr lang="pl-PL" sz="2000">
                <a:latin typeface="Arial Narrow" panose="020B0606020202030204" pitchFamily="34" charset="0"/>
              </a:rPr>
              <a:t>używane </a:t>
            </a:r>
            <a:r>
              <a:rPr lang="pl-PL" sz="2000" dirty="0">
                <a:latin typeface="Arial Narrow" panose="020B0606020202030204" pitchFamily="34" charset="0"/>
              </a:rPr>
              <a:t>głównie </a:t>
            </a:r>
            <a:r>
              <a:rPr lang="pl-PL" sz="2000">
                <a:latin typeface="Arial Narrow" panose="020B0606020202030204" pitchFamily="34" charset="0"/>
              </a:rPr>
              <a:t>do klasyfikacji, </a:t>
            </a:r>
            <a:r>
              <a:rPr lang="pl-PL" sz="2000" dirty="0">
                <a:latin typeface="Arial Narrow" panose="020B0606020202030204" pitchFamily="34" charset="0"/>
              </a:rPr>
              <a:t>ale można ją także wykorzystać w zadaniach regresji. </a:t>
            </a:r>
          </a:p>
          <a:p>
            <a:r>
              <a:rPr lang="pl-PL" sz="2000" dirty="0">
                <a:latin typeface="Arial Narrow" panose="020B0606020202030204" pitchFamily="34" charset="0"/>
              </a:rPr>
              <a:t>Dane są rozdzielane na klasy a podział jest realizowany przez znalezienie hiperpłaszczyzny rozdzielającej, która maksymalizuje margines oddzielający każdy punkt od </a:t>
            </a:r>
            <a:r>
              <a:rPr lang="pl-PL" sz="2000">
                <a:latin typeface="Arial Narrow" panose="020B0606020202030204" pitchFamily="34" charset="0"/>
              </a:rPr>
              <a:t>hiperpłaszczyzny.</a:t>
            </a:r>
          </a:p>
          <a:p>
            <a:r>
              <a:rPr lang="pl-PL" sz="2000">
                <a:solidFill>
                  <a:srgbClr val="FF0000"/>
                </a:solidFill>
                <a:latin typeface="Arial Narrow" panose="020B0606020202030204" pitchFamily="34" charset="0"/>
              </a:rPr>
              <a:t>Próby znajdujące się najbliżej hiperpłaszczyzny definiują margines, inaczej „niosą” margines, stąd nazwa maszyna wektorów nośnych.</a:t>
            </a:r>
          </a:p>
          <a:p>
            <a:endParaRPr lang="pl-PL" sz="2000" dirty="0">
              <a:latin typeface="Arial Narrow" panose="020B0606020202030204" pitchFamily="34" charset="0"/>
            </a:endParaRPr>
          </a:p>
          <a:p>
            <a:r>
              <a:rPr lang="pl-PL" sz="2000" dirty="0">
                <a:latin typeface="Arial Narrow" panose="020B0606020202030204" pitchFamily="34" charset="0"/>
              </a:rPr>
              <a:t>W celu dokonania klasyfikacji nowych elementów wystarczy sprawdzić, po której stronie granicy decyzyjnej się znajdują.</a:t>
            </a:r>
          </a:p>
        </p:txBody>
      </p:sp>
      <p:pic>
        <p:nvPicPr>
          <p:cNvPr id="3" name="Obraz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1" y="3028621"/>
            <a:ext cx="2657476" cy="3692856"/>
          </a:xfrm>
          <a:prstGeom prst="rect">
            <a:avLst/>
          </a:prstGeom>
        </p:spPr>
      </p:pic>
      <p:sp>
        <p:nvSpPr>
          <p:cNvPr id="7" name="pole tekstowe 6"/>
          <p:cNvSpPr txBox="1"/>
          <p:nvPr/>
        </p:nvSpPr>
        <p:spPr>
          <a:xfrm>
            <a:off x="5562600" y="3474900"/>
            <a:ext cx="5105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>
                <a:latin typeface="Arial Narrow" panose="020B0606020202030204" pitchFamily="34" charset="0"/>
              </a:rPr>
              <a:t>SVM – popularne do początku XXI wieku (przed nastaniem ery uczenia głębokiego).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6D18DA9B-A33B-190A-6CD5-B382117FFEA2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12186000" cy="3048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pl-PL" sz="1600">
                <a:latin typeface="Arial" pitchFamily="34" charset="0"/>
                <a:ea typeface="+mj-lt"/>
                <a:cs typeface="Arial" pitchFamily="34" charset="0"/>
              </a:rPr>
              <a:t>Klasyczne metody </a:t>
            </a:r>
            <a:r>
              <a:rPr lang="pl-PL" sz="1600" dirty="0">
                <a:latin typeface="Arial" pitchFamily="34" charset="0"/>
                <a:ea typeface="+mj-lt"/>
                <a:cs typeface="Arial" pitchFamily="34" charset="0"/>
              </a:rPr>
              <a:t>uczenia maszynowego</a:t>
            </a:r>
            <a:endParaRPr lang="en-GB" sz="4400" dirty="0">
              <a:latin typeface="Arial" pitchFamily="34" charset="0"/>
              <a:ea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5144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B00D6696-9647-49A7-8BBA-7089BF273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82602-3ACC-4341-B614-755528165B64}" type="slidenum">
              <a:rPr lang="pl-PL" smtClean="0"/>
              <a:pPr/>
              <a:t>9</a:t>
            </a:fld>
            <a:endParaRPr lang="pl-PL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972861-BA4C-4F2E-909D-2AB7520CF3D1}"/>
              </a:ext>
            </a:extLst>
          </p:cNvPr>
          <p:cNvSpPr/>
          <p:nvPr/>
        </p:nvSpPr>
        <p:spPr>
          <a:xfrm>
            <a:off x="0" y="304801"/>
            <a:ext cx="121158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b="1" dirty="0">
                <a:latin typeface="Arial Narrow" panose="020B0606020202030204" pitchFamily="34" charset="0"/>
              </a:rPr>
              <a:t>Naiwny algorytm </a:t>
            </a:r>
            <a:r>
              <a:rPr lang="pl-PL" b="1">
                <a:latin typeface="Arial Narrow" panose="020B0606020202030204" pitchFamily="34" charset="0"/>
              </a:rPr>
              <a:t>Bayesa</a:t>
            </a:r>
            <a:r>
              <a:rPr lang="pl-PL">
                <a:latin typeface="Arial Narrow" panose="020B0606020202030204" pitchFamily="34" charset="0"/>
              </a:rPr>
              <a:t> (twierdzenie Bayesa – 1763 rok)</a:t>
            </a:r>
          </a:p>
          <a:p>
            <a:r>
              <a:rPr lang="pl-PL">
                <a:latin typeface="Arial Narrow" panose="020B0606020202030204" pitchFamily="34" charset="0"/>
              </a:rPr>
              <a:t>często stosowany w przetwarzaniu języka naturalnego – </a:t>
            </a:r>
            <a:endParaRPr lang="pl-PL" dirty="0">
              <a:latin typeface="Arial Narrow" panose="020B0606020202030204" pitchFamily="34" charset="0"/>
            </a:endParaRPr>
          </a:p>
          <a:p>
            <a:r>
              <a:rPr lang="pl-PL" dirty="0">
                <a:latin typeface="Arial Narrow" panose="020B0606020202030204" pitchFamily="34" charset="0"/>
              </a:rPr>
              <a:t>w większości przypadków uczenia maszynowego dąży się do oceny prawdopodobieństwa jakiegoś zdarzenia Y dla podanych warunków X: </a:t>
            </a:r>
            <a:r>
              <a:rPr lang="pl-PL">
                <a:latin typeface="Arial Narrow" panose="020B0606020202030204" pitchFamily="34" charset="0"/>
              </a:rPr>
              <a:t>p(Y|X).</a:t>
            </a:r>
          </a:p>
          <a:p>
            <a:r>
              <a:rPr lang="pl-PL">
                <a:latin typeface="Arial Narrow" panose="020B0606020202030204" pitchFamily="34" charset="0"/>
              </a:rPr>
              <a:t>Np.</a:t>
            </a:r>
          </a:p>
          <a:p>
            <a:r>
              <a:rPr lang="pl-PL">
                <a:latin typeface="Arial Narrow" panose="020B0606020202030204" pitchFamily="34" charset="0"/>
              </a:rPr>
              <a:t>jakie jest prawdopodobieństwo, że osoba, która skończyła studia (X, X – zdarzenie wystąpiło) potrafi wykonać dane zadanie (Y)?</a:t>
            </a:r>
            <a:endParaRPr lang="pl-PL" dirty="0">
              <a:latin typeface="Arial Narrow" panose="020B0606020202030204" pitchFamily="34" charset="0"/>
            </a:endParaRPr>
          </a:p>
          <a:p>
            <a:endParaRPr lang="pl-PL" dirty="0">
              <a:latin typeface="Arial Narrow" panose="020B0606020202030204" pitchFamily="34" charset="0"/>
            </a:endParaRPr>
          </a:p>
          <a:p>
            <a:r>
              <a:rPr lang="pl-PL" dirty="0">
                <a:latin typeface="Arial Narrow" panose="020B0606020202030204" pitchFamily="34" charset="0"/>
              </a:rPr>
              <a:t>Czasami mamy sytuację odwrotną. Na podstawie wiedzy, że mamy do czynienia ze </a:t>
            </a:r>
            <a:r>
              <a:rPr lang="pl-PL">
                <a:latin typeface="Arial Narrow" panose="020B0606020202030204" pitchFamily="34" charset="0"/>
              </a:rPr>
              <a:t>zdarzeniem Y (mamy osobę, która potrafi wykonać zadanie), </a:t>
            </a:r>
            <a:r>
              <a:rPr lang="pl-PL" dirty="0">
                <a:latin typeface="Arial Narrow" panose="020B0606020202030204" pitchFamily="34" charset="0"/>
              </a:rPr>
              <a:t>chcemy określić prawdopodobieństwo, że nasza próbka </a:t>
            </a:r>
            <a:r>
              <a:rPr lang="pl-PL">
                <a:latin typeface="Arial Narrow" panose="020B0606020202030204" pitchFamily="34" charset="0"/>
              </a:rPr>
              <a:t>to X (osoba ta skończyła studia).</a:t>
            </a:r>
            <a:endParaRPr lang="pl-PL" dirty="0">
              <a:latin typeface="Arial Narrow" panose="020B0606020202030204" pitchFamily="34" charset="0"/>
            </a:endParaRPr>
          </a:p>
          <a:p>
            <a:r>
              <a:rPr lang="pl-PL" dirty="0">
                <a:latin typeface="Arial Narrow" panose="020B0606020202030204" pitchFamily="34" charset="0"/>
              </a:rPr>
              <a:t>Twierdzenie Bayesa mówi, że:</a:t>
            </a:r>
          </a:p>
          <a:p>
            <a:r>
              <a:rPr lang="pl-PL" dirty="0">
                <a:latin typeface="Arial Narrow" panose="020B0606020202030204" pitchFamily="34" charset="0"/>
              </a:rPr>
              <a:t>p(X|Y) = p(Y|X) * p(X) / p(Y)</a:t>
            </a:r>
          </a:p>
          <a:p>
            <a:r>
              <a:rPr lang="pl-PL" dirty="0">
                <a:latin typeface="Arial Narrow" panose="020B0606020202030204" pitchFamily="34" charset="0"/>
              </a:rPr>
              <a:t>gdzie p(X|Y) to prawdopodobieństwo wygenerowania wystąpienia X na podstawie Y (dlatego algorytm Bayesa nazywany jest algorytmem generatywnym).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E8CC120C-4534-4CD1-1192-0D28EDF6CED2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12186000" cy="3048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pl-PL" sz="1600">
                <a:latin typeface="Arial" pitchFamily="34" charset="0"/>
                <a:ea typeface="+mj-lt"/>
                <a:cs typeface="Arial" pitchFamily="34" charset="0"/>
              </a:rPr>
              <a:t>Klasyczne metody </a:t>
            </a:r>
            <a:r>
              <a:rPr lang="pl-PL" sz="1600" dirty="0">
                <a:latin typeface="Arial" pitchFamily="34" charset="0"/>
                <a:ea typeface="+mj-lt"/>
                <a:cs typeface="Arial" pitchFamily="34" charset="0"/>
              </a:rPr>
              <a:t>uczenia maszynowego</a:t>
            </a:r>
            <a:endParaRPr lang="en-GB" sz="4400" dirty="0">
              <a:latin typeface="Arial" pitchFamily="34" charset="0"/>
              <a:ea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1873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1972861-BA4C-4F2E-909D-2AB7520CF3D1}"/>
              </a:ext>
            </a:extLst>
          </p:cNvPr>
          <p:cNvSpPr/>
          <p:nvPr/>
        </p:nvSpPr>
        <p:spPr>
          <a:xfrm>
            <a:off x="0" y="304801"/>
            <a:ext cx="12186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b="1" dirty="0">
                <a:latin typeface="Arial Narrow" panose="020B0606020202030204" pitchFamily="34" charset="0"/>
              </a:rPr>
              <a:t>Naiwny algorytm Bayesa, c.d.</a:t>
            </a:r>
            <a:r>
              <a:rPr lang="pl-PL" dirty="0">
                <a:latin typeface="Arial Narrow" panose="020B0606020202030204" pitchFamily="34" charset="0"/>
              </a:rPr>
              <a:t> – </a:t>
            </a:r>
          </a:p>
          <a:p>
            <a:endParaRPr lang="pl-PL" dirty="0">
              <a:latin typeface="Arial Narrow" panose="020B0606020202030204" pitchFamily="34" charset="0"/>
            </a:endParaRPr>
          </a:p>
          <a:p>
            <a:r>
              <a:rPr lang="pl-PL" dirty="0">
                <a:latin typeface="Arial Narrow" panose="020B0606020202030204" pitchFamily="34" charset="0"/>
              </a:rPr>
              <a:t>Przykład:</a:t>
            </a:r>
          </a:p>
          <a:p>
            <a:r>
              <a:rPr lang="pl-PL" dirty="0">
                <a:latin typeface="Arial Narrow" panose="020B0606020202030204" pitchFamily="34" charset="0"/>
              </a:rPr>
              <a:t>Badamy pacjenta pod kątem określonej choroby (np. dżumy). Chcemy wiedzieć, jakie jest prawdopodobieństwo tego, że mamy do czynienia z konkretną chorobą, wiedząc, że wynik badania jest pozytywny.</a:t>
            </a:r>
          </a:p>
          <a:p>
            <a:r>
              <a:rPr lang="pl-PL" dirty="0">
                <a:latin typeface="Arial Narrow" panose="020B0606020202030204" pitchFamily="34" charset="0"/>
              </a:rPr>
              <a:t>Zgodnie z twierdzeniem Bayesa:</a:t>
            </a:r>
          </a:p>
          <a:p>
            <a:r>
              <a:rPr lang="pl-PL" dirty="0">
                <a:latin typeface="Arial Narrow" panose="020B0606020202030204" pitchFamily="34" charset="0"/>
              </a:rPr>
              <a:t>p(dżuma | test = pozytywny) = p(test=pozytywny | dżuma) * p(dżuma) / p(test=pozytywny)</a:t>
            </a:r>
          </a:p>
          <a:p>
            <a:endParaRPr lang="pl-PL" dirty="0">
              <a:latin typeface="Arial Narrow" panose="020B0606020202030204" pitchFamily="34" charset="0"/>
            </a:endParaRPr>
          </a:p>
          <a:p>
            <a:r>
              <a:rPr lang="pl-PL" dirty="0">
                <a:latin typeface="Arial Narrow" panose="020B0606020202030204" pitchFamily="34" charset="0"/>
              </a:rPr>
              <a:t>Załóżmy, że test jest wiarygodny w 98%, co oznacza, że w 98% przypadków rozpoznaje dżumę u osób chorych i wyklucza u osób zdrowych. Załóżmy też, że ta choroba ta występuje tylko u 2% ludzi poniżej 50 lat oraz test wykonany na osobach poniżej 50 lat daje wynik pozytywny tylko w 3,9% przypadków.</a:t>
            </a:r>
          </a:p>
          <a:p>
            <a:endParaRPr lang="pl-PL" dirty="0">
              <a:latin typeface="Arial Narrow" panose="020B0606020202030204" pitchFamily="34" charset="0"/>
            </a:endParaRPr>
          </a:p>
          <a:p>
            <a:r>
              <a:rPr lang="pl-PL" dirty="0">
                <a:latin typeface="Arial Narrow" panose="020B0606020202030204" pitchFamily="34" charset="0"/>
              </a:rPr>
              <a:t>Zadanie: </a:t>
            </a:r>
            <a:br>
              <a:rPr lang="pl-PL" dirty="0">
                <a:latin typeface="Arial Narrow" panose="020B0606020202030204" pitchFamily="34" charset="0"/>
              </a:rPr>
            </a:br>
            <a:r>
              <a:rPr lang="pl-PL" dirty="0">
                <a:latin typeface="Arial Narrow" panose="020B0606020202030204" pitchFamily="34" charset="0"/>
              </a:rPr>
              <a:t>jeśli test ma 98% dokładności, testowi poddał się 45-letni mężczyzna i wynik okazał się pozytywny, jakie jest prawdopodobieństwo, że ten mężczyzna jest chory na dżumę?</a:t>
            </a:r>
          </a:p>
          <a:p>
            <a:endParaRPr lang="pl-PL" dirty="0">
              <a:latin typeface="Arial Narrow" panose="020B0606020202030204" pitchFamily="34" charset="0"/>
            </a:endParaRPr>
          </a:p>
          <a:p>
            <a:r>
              <a:rPr lang="pl-PL" dirty="0">
                <a:latin typeface="Arial Narrow" panose="020B0606020202030204" pitchFamily="34" charset="0"/>
              </a:rPr>
              <a:t>Rozwiązanie:</a:t>
            </a:r>
          </a:p>
          <a:p>
            <a:r>
              <a:rPr lang="pl-PL" dirty="0">
                <a:latin typeface="Arial Narrow" panose="020B0606020202030204" pitchFamily="34" charset="0"/>
              </a:rPr>
              <a:t>p(dżuma | test=pozytywny) = 0,98 * 0,02 / 0,039 = 0,50</a:t>
            </a:r>
          </a:p>
          <a:p>
            <a:r>
              <a:rPr lang="pl-PL" dirty="0">
                <a:latin typeface="Arial Narrow" panose="020B0606020202030204" pitchFamily="34" charset="0"/>
              </a:rPr>
              <a:t>Dlatego, pomimo wysokiej dokładności testu, algorytm Bayesa mówi, że powinniśmy wziąć pod uwagę fakt, że dżuma występuje rzadko u osób poniżej 50 roku życia, więc sam pozytywny wynik testu nie oznacza choroby w 98%.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4B2D9-DB10-4EB9-B7A6-032A6D4E75AC}" type="slidenum">
              <a:rPr lang="pl-PL" smtClean="0"/>
              <a:pPr/>
              <a:t>10</a:t>
            </a:fld>
            <a:endParaRPr lang="pl-PL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6068E3EB-1C3F-2A83-C5FF-EE374D59963E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12186000" cy="3048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pl-PL" sz="1600">
                <a:latin typeface="Arial" pitchFamily="34" charset="0"/>
                <a:ea typeface="+mj-lt"/>
                <a:cs typeface="Arial" pitchFamily="34" charset="0"/>
              </a:rPr>
              <a:t>Klasyczne metody </a:t>
            </a:r>
            <a:r>
              <a:rPr lang="pl-PL" sz="1600" dirty="0">
                <a:latin typeface="Arial" pitchFamily="34" charset="0"/>
                <a:ea typeface="+mj-lt"/>
                <a:cs typeface="Arial" pitchFamily="34" charset="0"/>
              </a:rPr>
              <a:t>uczenia maszynowego</a:t>
            </a:r>
            <a:endParaRPr lang="en-GB" sz="4400" dirty="0">
              <a:latin typeface="Arial" pitchFamily="34" charset="0"/>
              <a:ea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03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BFB901AB-172D-4913-B8F7-B857ECF19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82602-3ACC-4341-B614-755528165B64}" type="slidenum">
              <a:rPr lang="pl-PL" smtClean="0"/>
              <a:pPr/>
              <a:t>11</a:t>
            </a:fld>
            <a:endParaRPr lang="pl-PL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06D526-6741-4765-B8AE-776121E48C35}"/>
              </a:ext>
            </a:extLst>
          </p:cNvPr>
          <p:cNvSpPr/>
          <p:nvPr/>
        </p:nvSpPr>
        <p:spPr>
          <a:xfrm>
            <a:off x="0" y="304801"/>
            <a:ext cx="121920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b="1" dirty="0">
                <a:latin typeface="Arial Narrow" panose="020B0606020202030204" pitchFamily="34" charset="0"/>
              </a:rPr>
              <a:t>Naiwny algorytm Bayesa, c.d.</a:t>
            </a:r>
            <a:r>
              <a:rPr lang="pl-PL" dirty="0">
                <a:latin typeface="Arial Narrow" panose="020B0606020202030204" pitchFamily="34" charset="0"/>
              </a:rPr>
              <a:t> – </a:t>
            </a:r>
          </a:p>
          <a:p>
            <a:r>
              <a:rPr lang="pl-PL">
                <a:latin typeface="Arial Narrow" panose="020B0606020202030204" pitchFamily="34" charset="0"/>
              </a:rPr>
              <a:t>Gdybyśmy </a:t>
            </a:r>
            <a:r>
              <a:rPr lang="pl-PL" dirty="0">
                <a:latin typeface="Arial Narrow" panose="020B0606020202030204" pitchFamily="34" charset="0"/>
              </a:rPr>
              <a:t>wykonali drugi test i jego wynik okazałby się pozytywny, równanie Bayesa przyjmuje postać:</a:t>
            </a:r>
          </a:p>
          <a:p>
            <a:r>
              <a:rPr lang="pl-PL" dirty="0">
                <a:latin typeface="Arial Narrow" panose="020B0606020202030204" pitchFamily="34" charset="0"/>
              </a:rPr>
              <a:t>p(test1 i test2 = pozytywny | dżuma) = </a:t>
            </a:r>
          </a:p>
          <a:p>
            <a:r>
              <a:rPr lang="pl-PL" dirty="0">
                <a:latin typeface="Arial Narrow" panose="020B0606020202030204" pitchFamily="34" charset="0"/>
              </a:rPr>
              <a:t>	p(test1=pozytywny | dżuma) * p (test2=pozytywny | dżuma)</a:t>
            </a:r>
          </a:p>
          <a:p>
            <a:r>
              <a:rPr lang="pl-PL" dirty="0">
                <a:latin typeface="Arial Narrow" panose="020B0606020202030204" pitchFamily="34" charset="0"/>
              </a:rPr>
              <a:t>To równanie nazywane jest prawdopodobieństwem L (</a:t>
            </a:r>
            <a:r>
              <a:rPr lang="pl-PL" i="1" dirty="0">
                <a:latin typeface="Arial Narrow" panose="020B0606020202030204" pitchFamily="34" charset="0"/>
              </a:rPr>
              <a:t>likelihood</a:t>
            </a:r>
            <a:r>
              <a:rPr lang="pl-PL" dirty="0">
                <a:latin typeface="Arial Narrow" panose="020B0606020202030204" pitchFamily="34" charset="0"/>
              </a:rPr>
              <a:t>) i mówi, że test1 i test2 dają wyniki pozytywne przy założeniu, że osoba poddana testom jest chora na dżumę.</a:t>
            </a:r>
          </a:p>
          <a:p>
            <a:endParaRPr lang="pl-PL" dirty="0">
              <a:latin typeface="Arial Narrow" panose="020B0606020202030204" pitchFamily="34" charset="0"/>
            </a:endParaRPr>
          </a:p>
          <a:p>
            <a:r>
              <a:rPr lang="pl-PL" dirty="0">
                <a:latin typeface="Arial Narrow" panose="020B0606020202030204" pitchFamily="34" charset="0"/>
              </a:rPr>
              <a:t>Zatem równanie Bayesa sprowadza się do postaci:</a:t>
            </a:r>
          </a:p>
          <a:p>
            <a:r>
              <a:rPr lang="pl-PL" dirty="0">
                <a:latin typeface="Arial Narrow" panose="020B0606020202030204" pitchFamily="34" charset="0"/>
              </a:rPr>
              <a:t>p(dżuma | test1 test2 = pozytywny) = </a:t>
            </a:r>
          </a:p>
          <a:p>
            <a:r>
              <a:rPr lang="pl-PL" dirty="0">
                <a:latin typeface="Arial Narrow" panose="020B0606020202030204" pitchFamily="34" charset="0"/>
              </a:rPr>
              <a:t>p(test1 test2 = pozytywny | dżuma) * p(dżuma) / p(test1 test2 = pozytywny) =</a:t>
            </a:r>
          </a:p>
          <a:p>
            <a:r>
              <a:rPr lang="pl-PL" dirty="0">
                <a:latin typeface="Arial Narrow" panose="020B0606020202030204" pitchFamily="34" charset="0"/>
              </a:rPr>
              <a:t>p(test1=pozytywny | dżuma) * p(test2=pozytywny | dżuma) * p(dżuma) / p(test1 test2 = pozytywny)</a:t>
            </a:r>
          </a:p>
          <a:p>
            <a:endParaRPr lang="pl-PL" dirty="0">
              <a:latin typeface="Arial Narrow" panose="020B0606020202030204" pitchFamily="34" charset="0"/>
            </a:endParaRPr>
          </a:p>
          <a:p>
            <a:endParaRPr lang="pl-PL" dirty="0">
              <a:latin typeface="Arial Narrow" panose="020B0606020202030204" pitchFamily="34" charset="0"/>
            </a:endParaRPr>
          </a:p>
          <a:p>
            <a:r>
              <a:rPr lang="pl-PL" dirty="0">
                <a:latin typeface="Arial Narrow" panose="020B0606020202030204" pitchFamily="34" charset="0"/>
              </a:rPr>
              <a:t>Algorytm ten nazywany jest naiwnym, gdyż przyjmuje się w nim założenie o wzajemnej niezależności zmiennych.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F2ADAEB6-4485-F045-973B-3BAA71C9A160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12186000" cy="3048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pl-PL" sz="1600">
                <a:latin typeface="Arial" pitchFamily="34" charset="0"/>
                <a:ea typeface="+mj-lt"/>
                <a:cs typeface="Arial" pitchFamily="34" charset="0"/>
              </a:rPr>
              <a:t>Klasyczne metody </a:t>
            </a:r>
            <a:r>
              <a:rPr lang="pl-PL" sz="1600" dirty="0">
                <a:latin typeface="Arial" pitchFamily="34" charset="0"/>
                <a:ea typeface="+mj-lt"/>
                <a:cs typeface="Arial" pitchFamily="34" charset="0"/>
              </a:rPr>
              <a:t>uczenia maszynowego</a:t>
            </a:r>
            <a:endParaRPr lang="en-GB" sz="4400" dirty="0">
              <a:latin typeface="Arial" pitchFamily="34" charset="0"/>
              <a:ea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9141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60A3CA-10A7-2C01-67BB-8AEA7D1D7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4B2D9-DB10-4EB9-B7A6-032A6D4E75AC}" type="slidenum">
              <a:rPr lang="pl-PL" smtClean="0"/>
              <a:pPr/>
              <a:t>12</a:t>
            </a:fld>
            <a:endParaRPr lang="pl-PL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765769-87CD-32FB-7A7A-966E9B7FEDE0}"/>
              </a:ext>
            </a:extLst>
          </p:cNvPr>
          <p:cNvSpPr/>
          <p:nvPr/>
        </p:nvSpPr>
        <p:spPr>
          <a:xfrm>
            <a:off x="0" y="304801"/>
            <a:ext cx="1218600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sz="2000" b="1">
                <a:latin typeface="Arial Narrow" panose="020B0606020202030204" pitchFamily="34" charset="0"/>
              </a:rPr>
              <a:t>Wersje naiwnego algorytmu Bayesa:</a:t>
            </a:r>
            <a:r>
              <a:rPr lang="pl-PL" sz="2000">
                <a:latin typeface="Arial Narrow" panose="020B0606020202030204" pitchFamily="34" charset="0"/>
              </a:rPr>
              <a:t> </a:t>
            </a:r>
            <a:endParaRPr lang="pl-PL" sz="2000" dirty="0">
              <a:latin typeface="Arial Narrow" panose="020B0606020202030204" pitchFamily="34" charset="0"/>
            </a:endParaRPr>
          </a:p>
          <a:p>
            <a:endParaRPr lang="pl-PL" sz="2000">
              <a:latin typeface="Arial Narrow" panose="020B0606020202030204" pitchFamily="34" charset="0"/>
            </a:endParaRPr>
          </a:p>
          <a:p>
            <a:r>
              <a:rPr lang="pl-PL" sz="2000" b="1">
                <a:latin typeface="Arial Narrow" panose="020B0606020202030204" pitchFamily="34" charset="0"/>
              </a:rPr>
              <a:t>GaussianNB – Gaussian Naive Bayes</a:t>
            </a:r>
          </a:p>
          <a:p>
            <a:r>
              <a:rPr lang="pl-PL" sz="2000">
                <a:latin typeface="Arial Narrow" panose="020B0606020202030204" pitchFamily="34" charset="0"/>
              </a:rPr>
              <a:t>Umożliwia aktualizację parametrów modelu w trybie online.</a:t>
            </a:r>
          </a:p>
          <a:p>
            <a:r>
              <a:rPr lang="pl-PL" sz="2000" b="1">
                <a:latin typeface="Arial Narrow" panose="020B0606020202030204" pitchFamily="34" charset="0"/>
              </a:rPr>
              <a:t>MultinomialNB</a:t>
            </a:r>
          </a:p>
          <a:p>
            <a:r>
              <a:rPr lang="pl-PL" sz="2000">
                <a:latin typeface="Arial Narrow" panose="020B0606020202030204" pitchFamily="34" charset="0"/>
              </a:rPr>
              <a:t>Klasyczny naiwny klasyfikator Bayesa dla modeli wielomianowych. </a:t>
            </a:r>
          </a:p>
          <a:p>
            <a:r>
              <a:rPr lang="pl-PL" sz="2000">
                <a:latin typeface="Arial Narrow" panose="020B0606020202030204" pitchFamily="34" charset="0"/>
              </a:rPr>
              <a:t>Jest odpowiedni do klasyfikacji z cechami dyskretnymi.</a:t>
            </a:r>
          </a:p>
          <a:p>
            <a:r>
              <a:rPr lang="pl-PL" sz="2000" b="1">
                <a:latin typeface="Arial Narrow" panose="020B0606020202030204" pitchFamily="34" charset="0"/>
              </a:rPr>
              <a:t>BernoulliNB</a:t>
            </a:r>
          </a:p>
          <a:p>
            <a:r>
              <a:rPr lang="pl-PL" sz="2000">
                <a:latin typeface="Arial Narrow" panose="020B0606020202030204" pitchFamily="34" charset="0"/>
              </a:rPr>
              <a:t>Naiwny klasyfikator Bayesa dla wielowymiarowych modeli Bernoulliego. </a:t>
            </a:r>
          </a:p>
          <a:p>
            <a:r>
              <a:rPr lang="pl-PL" sz="2000">
                <a:latin typeface="Arial Narrow" panose="020B0606020202030204" pitchFamily="34" charset="0"/>
              </a:rPr>
              <a:t>Podobnie jak MultinomialNB, klasyfikator ten jest odpowiedni dla danych dyskretnych. Różnica polega na tym, że podczas gdy MultinomialNB działa dla różnej liczby wystąpień, BernoulliNB jest przeznaczony do cech binarnych.</a:t>
            </a:r>
          </a:p>
          <a:p>
            <a:r>
              <a:rPr lang="pl-PL" sz="2000" b="1">
                <a:latin typeface="Arial Narrow" panose="020B0606020202030204" pitchFamily="34" charset="0"/>
              </a:rPr>
              <a:t>CategoricalNB</a:t>
            </a:r>
          </a:p>
          <a:p>
            <a:r>
              <a:rPr lang="pl-PL" sz="2000">
                <a:latin typeface="Arial Narrow" panose="020B0606020202030204" pitchFamily="34" charset="0"/>
              </a:rPr>
              <a:t>Naiwny klasyfikator Bayesa dla cech jakościowych.</a:t>
            </a:r>
          </a:p>
          <a:p>
            <a:r>
              <a:rPr lang="pl-PL" sz="2000" b="1">
                <a:latin typeface="Arial Narrow" panose="020B0606020202030204" pitchFamily="34" charset="0"/>
              </a:rPr>
              <a:t>ComplementNB</a:t>
            </a:r>
          </a:p>
          <a:p>
            <a:r>
              <a:rPr lang="pl-PL" sz="2000">
                <a:latin typeface="Arial Narrow" panose="020B0606020202030204" pitchFamily="34" charset="0"/>
              </a:rPr>
              <a:t>Został zaprojektowany w celu skorygowania restrykcyjnych założeń przyjętych przez standardowy klasyfikator MultinomialNB. Jest szczególnie przydatny w przypadku niezrównoważonych zestawów danych.</a:t>
            </a:r>
            <a:endParaRPr lang="pl-PL" sz="2000" dirty="0">
              <a:latin typeface="Arial Narrow" panose="020B0606020202030204" pitchFamily="34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2EA18E8-64C4-8276-E0C7-B7A0F2ED4ADF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12186000" cy="3048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pl-PL" sz="1600">
                <a:latin typeface="Arial" pitchFamily="34" charset="0"/>
                <a:ea typeface="+mj-lt"/>
                <a:cs typeface="Arial" pitchFamily="34" charset="0"/>
              </a:rPr>
              <a:t>Klasyczne metody </a:t>
            </a:r>
            <a:r>
              <a:rPr lang="pl-PL" sz="1600" dirty="0">
                <a:latin typeface="Arial" pitchFamily="34" charset="0"/>
                <a:ea typeface="+mj-lt"/>
                <a:cs typeface="Arial" pitchFamily="34" charset="0"/>
              </a:rPr>
              <a:t>uczenia maszynowego</a:t>
            </a:r>
            <a:endParaRPr lang="en-GB" sz="4400" dirty="0">
              <a:latin typeface="Arial" pitchFamily="34" charset="0"/>
              <a:ea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70388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4B2D9-DB10-4EB9-B7A6-032A6D4E75AC}" type="slidenum">
              <a:rPr lang="pl-PL" smtClean="0"/>
              <a:pPr/>
              <a:t>13</a:t>
            </a:fld>
            <a:endParaRPr lang="pl-PL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06D526-6741-4765-B8AE-776121E48C35}"/>
              </a:ext>
            </a:extLst>
          </p:cNvPr>
          <p:cNvSpPr/>
          <p:nvPr/>
        </p:nvSpPr>
        <p:spPr>
          <a:xfrm>
            <a:off x="0" y="304801"/>
            <a:ext cx="12186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sz="2000" b="1">
                <a:latin typeface="Arial Narrow" panose="020B0606020202030204" pitchFamily="34" charset="0"/>
              </a:rPr>
              <a:t>Regresja liniowa</a:t>
            </a:r>
            <a:endParaRPr lang="pl-PL" sz="2000" dirty="0">
              <a:latin typeface="Arial Narrow" panose="020B0606020202030204" pitchFamily="34" charset="0"/>
            </a:endParaRPr>
          </a:p>
          <a:p>
            <a:r>
              <a:rPr lang="pl-PL" sz="2000">
                <a:latin typeface="Arial Narrow" panose="020B0606020202030204" pitchFamily="34" charset="0"/>
              </a:rPr>
              <a:t>Służy do prognozowania wartości liczbowych na podstawie danych treningowych. Model budowany jest na podstawie równania regresji liniowej, które opisuje liniową zależność między zmienną zależną a jedną lub wieloma zmiennymi niezależnymi.</a:t>
            </a:r>
            <a:endParaRPr lang="pl-PL" sz="2000" dirty="0">
              <a:latin typeface="Arial Narrow" panose="020B0606020202030204" pitchFamily="34" charset="0"/>
            </a:endParaRPr>
          </a:p>
        </p:txBody>
      </p:sp>
      <p:pic>
        <p:nvPicPr>
          <p:cNvPr id="7" name="Obraz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1" y="1752601"/>
            <a:ext cx="4927263" cy="3825875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82644484-CF65-6467-BC74-84D3303BBECE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12186000" cy="3048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pl-PL" sz="1600">
                <a:latin typeface="Arial" pitchFamily="34" charset="0"/>
                <a:ea typeface="+mj-lt"/>
                <a:cs typeface="Arial" pitchFamily="34" charset="0"/>
              </a:rPr>
              <a:t>Klasyczne metody </a:t>
            </a:r>
            <a:r>
              <a:rPr lang="pl-PL" sz="1600" dirty="0">
                <a:latin typeface="Arial" pitchFamily="34" charset="0"/>
                <a:ea typeface="+mj-lt"/>
                <a:cs typeface="Arial" pitchFamily="34" charset="0"/>
              </a:rPr>
              <a:t>uczenia maszynowego</a:t>
            </a:r>
            <a:endParaRPr lang="en-GB" sz="4400" dirty="0">
              <a:latin typeface="Arial" pitchFamily="34" charset="0"/>
              <a:ea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61937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4B2D9-DB10-4EB9-B7A6-032A6D4E75AC}" type="slidenum">
              <a:rPr lang="pl-PL" smtClean="0"/>
              <a:pPr/>
              <a:t>14</a:t>
            </a:fld>
            <a:endParaRPr lang="pl-PL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06D526-6741-4765-B8AE-776121E48C35}"/>
              </a:ext>
            </a:extLst>
          </p:cNvPr>
          <p:cNvSpPr/>
          <p:nvPr/>
        </p:nvSpPr>
        <p:spPr>
          <a:xfrm>
            <a:off x="0" y="304801"/>
            <a:ext cx="121158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sz="2000" b="1">
                <a:latin typeface="Arial Narrow" panose="020B0606020202030204" pitchFamily="34" charset="0"/>
              </a:rPr>
              <a:t>Regresja logistyczna</a:t>
            </a:r>
            <a:endParaRPr lang="pl-PL" sz="2000" dirty="0">
              <a:latin typeface="Arial Narrow" panose="020B0606020202030204" pitchFamily="34" charset="0"/>
            </a:endParaRPr>
          </a:p>
          <a:p>
            <a:r>
              <a:rPr lang="pl-PL" sz="2000">
                <a:latin typeface="Arial Narrow" panose="020B0606020202030204" pitchFamily="34" charset="0"/>
              </a:rPr>
              <a:t>Jeden z najbardziej popularnych i podstawowych modeli uczenia maszynowego opartych na metodzie regresji do rozwiązywania zadania klasyfikacji binarnej.</a:t>
            </a:r>
          </a:p>
          <a:p>
            <a:endParaRPr lang="pl-PL" sz="2000">
              <a:latin typeface="Arial Narrow" panose="020B0606020202030204" pitchFamily="34" charset="0"/>
            </a:endParaRPr>
          </a:p>
          <a:p>
            <a:r>
              <a:rPr lang="pl-PL" sz="2000">
                <a:latin typeface="Arial Narrow" panose="020B0606020202030204" pitchFamily="34" charset="0"/>
              </a:rPr>
              <a:t>Regresja logistyczna polega na znalezieniu wzoru matematycznego, który opisuje zależność między wejściem a prawdopodobieństwem przynależności do jednej z dwóch klas. Wzór ten jest reprezentowany przez funkcję logistyczną (sigmoidalną).</a:t>
            </a:r>
            <a:endParaRPr lang="pl-PL" sz="2000" dirty="0">
              <a:latin typeface="Arial Narrow" panose="020B0606020202030204" pitchFamily="34" charset="0"/>
            </a:endParaRPr>
          </a:p>
        </p:txBody>
      </p:sp>
      <p:pic>
        <p:nvPicPr>
          <p:cNvPr id="3" name="Picture 2" descr="A green line graph with numbers and points&#10;&#10;Description automatically generated">
            <a:extLst>
              <a:ext uri="{FF2B5EF4-FFF2-40B4-BE49-F238E27FC236}">
                <a16:creationId xmlns:a16="http://schemas.microsoft.com/office/drawing/2014/main" id="{DBC0B50C-666E-0BA2-2CF5-788158D845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401" y="2819400"/>
            <a:ext cx="5465217" cy="3581400"/>
          </a:xfrm>
          <a:prstGeom prst="rect">
            <a:avLst/>
          </a:prstGeom>
        </p:spPr>
      </p:pic>
      <p:pic>
        <p:nvPicPr>
          <p:cNvPr id="8" name="Picture 7" descr="A black text with black letters&#10;&#10;Description automatically generated with medium confidence">
            <a:extLst>
              <a:ext uri="{FF2B5EF4-FFF2-40B4-BE49-F238E27FC236}">
                <a16:creationId xmlns:a16="http://schemas.microsoft.com/office/drawing/2014/main" id="{1E0722E8-58EB-5BFB-F696-6D9D1FA5ED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340" y="4691121"/>
            <a:ext cx="2216307" cy="91644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99F0F7D-24B6-A065-42BF-E8C2F4B51DF2}"/>
              </a:ext>
            </a:extLst>
          </p:cNvPr>
          <p:cNvSpPr txBox="1"/>
          <p:nvPr/>
        </p:nvSpPr>
        <p:spPr>
          <a:xfrm>
            <a:off x="1066800" y="3733801"/>
            <a:ext cx="4104861" cy="1033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000">
                <a:latin typeface="Arial Narrow" panose="020B0606020202030204" pitchFamily="34" charset="0"/>
              </a:rPr>
              <a:t>Logarytm naturalny z ilorazu prawdopodobieństwa wystąpienia danego zdarzenia i jego niewystąpienia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13F0945-7403-AB7C-BD19-506799E45074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12186000" cy="3048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pl-PL" sz="1600">
                <a:latin typeface="Arial" pitchFamily="34" charset="0"/>
                <a:ea typeface="+mj-lt"/>
                <a:cs typeface="Arial" pitchFamily="34" charset="0"/>
              </a:rPr>
              <a:t>Klasyczne metody </a:t>
            </a:r>
            <a:r>
              <a:rPr lang="pl-PL" sz="1600" dirty="0">
                <a:latin typeface="Arial" pitchFamily="34" charset="0"/>
                <a:ea typeface="+mj-lt"/>
                <a:cs typeface="Arial" pitchFamily="34" charset="0"/>
              </a:rPr>
              <a:t>uczenia maszynowego</a:t>
            </a:r>
            <a:endParaRPr lang="en-GB" sz="4400" dirty="0">
              <a:latin typeface="Arial" pitchFamily="34" charset="0"/>
              <a:ea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58846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4B2D9-DB10-4EB9-B7A6-032A6D4E75AC}" type="slidenum">
              <a:rPr lang="pl-PL" smtClean="0"/>
              <a:pPr/>
              <a:t>15</a:t>
            </a:fld>
            <a:endParaRPr lang="pl-PL" dirty="0"/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2495086"/>
              </p:ext>
            </p:extLst>
          </p:nvPr>
        </p:nvGraphicFramePr>
        <p:xfrm>
          <a:off x="304800" y="579120"/>
          <a:ext cx="1165859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8790">
                  <a:extLst>
                    <a:ext uri="{9D8B030D-6E8A-4147-A177-3AD203B41FA5}">
                      <a16:colId xmlns:a16="http://schemas.microsoft.com/office/drawing/2014/main" val="1093473468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3706602091"/>
                    </a:ext>
                  </a:extLst>
                </a:gridCol>
                <a:gridCol w="8355329">
                  <a:extLst>
                    <a:ext uri="{9D8B030D-6E8A-4147-A177-3AD203B41FA5}">
                      <a16:colId xmlns:a16="http://schemas.microsoft.com/office/drawing/2014/main" val="40351891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l-PL">
                          <a:latin typeface="Arial Narrow" panose="020B0606020202030204" pitchFamily="34" charset="0"/>
                        </a:rPr>
                        <a:t>Metoda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>
                          <a:latin typeface="Arial Narrow" panose="020B0606020202030204" pitchFamily="34" charset="0"/>
                        </a:rPr>
                        <a:t>Rodzaj </a:t>
                      </a:r>
                      <a:br>
                        <a:rPr lang="pl-PL">
                          <a:latin typeface="Arial Narrow" panose="020B0606020202030204" pitchFamily="34" charset="0"/>
                        </a:rPr>
                      </a:br>
                      <a:r>
                        <a:rPr lang="pl-PL">
                          <a:latin typeface="Arial Narrow" panose="020B0606020202030204" pitchFamily="34" charset="0"/>
                        </a:rPr>
                        <a:t>zadania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>
                          <a:latin typeface="Arial Narrow" panose="020B0606020202030204" pitchFamily="34" charset="0"/>
                        </a:rPr>
                        <a:t>Własności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1632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b="1">
                          <a:latin typeface="Arial Narrow" panose="020B0606020202030204" pitchFamily="34" charset="0"/>
                        </a:rPr>
                        <a:t>k-średnich</a:t>
                      </a:r>
                      <a:br>
                        <a:rPr lang="pl-PL" b="1">
                          <a:latin typeface="Arial Narrow" panose="020B0606020202030204" pitchFamily="34" charset="0"/>
                        </a:rPr>
                      </a:br>
                      <a:r>
                        <a:rPr lang="pl-PL" b="1">
                          <a:latin typeface="Arial Narrow" panose="020B0606020202030204" pitchFamily="34" charset="0"/>
                        </a:rPr>
                        <a:t>(najbliższego centroidu)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pl-PL">
                          <a:latin typeface="Arial Narrow" panose="020B0606020202030204" pitchFamily="34" charset="0"/>
                        </a:rPr>
                        <a:t>klasyfikacja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pl-PL">
                          <a:latin typeface="Arial Narrow" panose="020B0606020202030204" pitchFamily="34" charset="0"/>
                        </a:rPr>
                        <a:t>grupowanie</a:t>
                      </a:r>
                      <a:endParaRPr lang="pl-PL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4625" indent="-174625">
                        <a:buFont typeface="Arial" panose="020B0604020202020204" pitchFamily="34" charset="0"/>
                        <a:buChar char="•"/>
                      </a:pPr>
                      <a:r>
                        <a:rPr lang="pl-PL">
                          <a:latin typeface="Arial Narrow" panose="020B0606020202030204" pitchFamily="34" charset="0"/>
                        </a:rPr>
                        <a:t>szybka</a:t>
                      </a:r>
                    </a:p>
                    <a:p>
                      <a:pPr marL="174625" indent="-174625">
                        <a:buFont typeface="Arial" panose="020B0604020202020204" pitchFamily="34" charset="0"/>
                        <a:buChar char="•"/>
                      </a:pPr>
                      <a:r>
                        <a:rPr lang="pl-PL">
                          <a:latin typeface="Arial Narrow" panose="020B0606020202030204" pitchFamily="34" charset="0"/>
                        </a:rPr>
                        <a:t>liczba potrzebnych danych rośnie wykładniczo ze wzrostem liczby wymiarów (cech)</a:t>
                      </a:r>
                    </a:p>
                    <a:p>
                      <a:pPr marL="174625" indent="-174625">
                        <a:buFont typeface="Arial" panose="020B0604020202020204" pitchFamily="34" charset="0"/>
                        <a:buChar char="•"/>
                      </a:pPr>
                      <a:r>
                        <a:rPr lang="pl-PL">
                          <a:latin typeface="Arial Narrow" panose="020B0606020202030204" pitchFamily="34" charset="0"/>
                        </a:rPr>
                        <a:t>nie</a:t>
                      </a:r>
                      <a:r>
                        <a:rPr lang="pl-PL" baseline="0">
                          <a:latin typeface="Arial Narrow" panose="020B0606020202030204" pitchFamily="34" charset="0"/>
                        </a:rPr>
                        <a:t> sprawdza się, gdy dane nie tworzą wyraźnych, rozdzielnych grup</a:t>
                      </a:r>
                      <a:endParaRPr lang="pl-PL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6250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b="1">
                          <a:latin typeface="Arial Narrow" panose="020B0606020202030204" pitchFamily="34" charset="0"/>
                        </a:rPr>
                        <a:t>k-najbliższych sąsiadów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l-PL">
                          <a:latin typeface="Arial Narrow" panose="020B0606020202030204" pitchFamily="34" charset="0"/>
                        </a:rPr>
                        <a:t>klasyfikacja </a:t>
                      </a:r>
                      <a:br>
                        <a:rPr lang="pl-PL">
                          <a:latin typeface="Arial Narrow" panose="020B0606020202030204" pitchFamily="34" charset="0"/>
                        </a:rPr>
                      </a:br>
                      <a:r>
                        <a:rPr lang="pl-PL">
                          <a:latin typeface="Arial Narrow" panose="020B0606020202030204" pitchFamily="34" charset="0"/>
                        </a:rPr>
                        <a:t>regresja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pl-PL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4625" indent="-174625">
                        <a:buFont typeface="Arial" panose="020B0604020202020204" pitchFamily="34" charset="0"/>
                        <a:buChar char="•"/>
                      </a:pPr>
                      <a:r>
                        <a:rPr lang="pl-PL">
                          <a:latin typeface="Arial Narrow" panose="020B0606020202030204" pitchFamily="34" charset="0"/>
                        </a:rPr>
                        <a:t>odporniejsza od algorytmu</a:t>
                      </a:r>
                      <a:r>
                        <a:rPr lang="pl-PL" baseline="0">
                          <a:latin typeface="Arial Narrow" panose="020B0606020202030204" pitchFamily="34" charset="0"/>
                        </a:rPr>
                        <a:t> najbliższego centroidu na rozmyte (rozłączne) grupy klas</a:t>
                      </a:r>
                    </a:p>
                    <a:p>
                      <a:pPr marL="174625" marR="0" lvl="0" indent="-1746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l-PL">
                          <a:latin typeface="Arial Narrow" panose="020B0606020202030204" pitchFamily="34" charset="0"/>
                        </a:rPr>
                        <a:t>sprawdza się przy nieliniowych zależnościach między zmiennymi</a:t>
                      </a:r>
                      <a:endParaRPr lang="pl-PL" baseline="0">
                        <a:latin typeface="Arial Narrow" panose="020B0606020202030204" pitchFamily="34" charset="0"/>
                      </a:endParaRPr>
                    </a:p>
                    <a:p>
                      <a:pPr marL="174625" indent="-174625">
                        <a:buFont typeface="Arial" panose="020B0604020202020204" pitchFamily="34" charset="0"/>
                        <a:buChar char="•"/>
                      </a:pPr>
                      <a:r>
                        <a:rPr lang="pl-PL" baseline="0">
                          <a:latin typeface="Arial Narrow" panose="020B0606020202030204" pitchFamily="34" charset="0"/>
                        </a:rPr>
                        <a:t>daje dobre rezultaty, gdy liczba prób uczących jest duża w stosunku do przestrzeni cech</a:t>
                      </a:r>
                    </a:p>
                    <a:p>
                      <a:pPr marL="174625" marR="0" lvl="0" indent="-1746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l-PL">
                          <a:latin typeface="Arial Narrow" panose="020B0606020202030204" pitchFamily="34" charset="0"/>
                        </a:rPr>
                        <a:t>wydajność maleje ze wzrostem</a:t>
                      </a:r>
                      <a:r>
                        <a:rPr lang="pl-PL" baseline="0">
                          <a:latin typeface="Arial Narrow" panose="020B0606020202030204" pitchFamily="34" charset="0"/>
                        </a:rPr>
                        <a:t> zbioru próbek (im większy zbiór, tym więcej obliczeń trzeba wykonać)</a:t>
                      </a:r>
                      <a:endParaRPr lang="pl-PL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384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b="1">
                          <a:latin typeface="Arial Narrow" panose="020B0606020202030204" pitchFamily="34" charset="0"/>
                        </a:rPr>
                        <a:t>drzewa decyzyjne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pl-PL">
                          <a:latin typeface="Arial Narrow" panose="020B0606020202030204" pitchFamily="34" charset="0"/>
                        </a:rPr>
                        <a:t>klasyfikacja 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pl-PL">
                          <a:latin typeface="Arial Narrow" panose="020B0606020202030204" pitchFamily="34" charset="0"/>
                        </a:rPr>
                        <a:t>regresja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pl-PL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4625" indent="-174625">
                        <a:buFont typeface="Arial" panose="020B0604020202020204" pitchFamily="34" charset="0"/>
                        <a:buChar char="•"/>
                      </a:pPr>
                      <a:r>
                        <a:rPr lang="pl-PL">
                          <a:latin typeface="Arial Narrow" panose="020B0606020202030204" pitchFamily="34" charset="0"/>
                        </a:rPr>
                        <a:t>szybka</a:t>
                      </a:r>
                    </a:p>
                    <a:p>
                      <a:pPr marL="174625" indent="-174625">
                        <a:buFont typeface="Arial" panose="020B0604020202020204" pitchFamily="34" charset="0"/>
                        <a:buChar char="•"/>
                      </a:pPr>
                      <a:r>
                        <a:rPr lang="pl-PL">
                          <a:latin typeface="Arial Narrow" panose="020B0606020202030204" pitchFamily="34" charset="0"/>
                        </a:rPr>
                        <a:t>szerokie zastosowanie (klasyfikacja wieloklasowa, dane ciągłe</a:t>
                      </a:r>
                      <a:r>
                        <a:rPr lang="pl-PL" baseline="0">
                          <a:latin typeface="Arial Narrow" panose="020B0606020202030204" pitchFamily="34" charset="0"/>
                        </a:rPr>
                        <a:t> i dyskretne)</a:t>
                      </a:r>
                    </a:p>
                    <a:p>
                      <a:pPr marL="174625" indent="-174625">
                        <a:buFont typeface="Arial" panose="020B0604020202020204" pitchFamily="34" charset="0"/>
                        <a:buChar char="•"/>
                      </a:pPr>
                      <a:r>
                        <a:rPr lang="pl-PL">
                          <a:latin typeface="Arial Narrow" panose="020B0606020202030204" pitchFamily="34" charset="0"/>
                        </a:rPr>
                        <a:t>tendencja do przeuczenia</a:t>
                      </a:r>
                    </a:p>
                    <a:p>
                      <a:pPr marL="174625" indent="-174625">
                        <a:buFont typeface="Arial" panose="020B0604020202020204" pitchFamily="34" charset="0"/>
                        <a:buChar char="•"/>
                      </a:pPr>
                      <a:r>
                        <a:rPr lang="pl-PL">
                          <a:latin typeface="Arial Narrow" panose="020B0606020202030204" pitchFamily="34" charset="0"/>
                        </a:rPr>
                        <a:t>wrażliwa na szum</a:t>
                      </a:r>
                    </a:p>
                    <a:p>
                      <a:pPr marL="174625" indent="-174625">
                        <a:buFont typeface="Arial" panose="020B0604020202020204" pitchFamily="34" charset="0"/>
                        <a:buChar char="•"/>
                      </a:pPr>
                      <a:r>
                        <a:rPr lang="pl-PL" baseline="0">
                          <a:latin typeface="Arial Narrow" panose="020B0606020202030204" pitchFamily="34" charset="0"/>
                        </a:rPr>
                        <a:t>rozmiar drzew rośnie lawinowo wraz ze wzrostem liczby cech (ogranicza się to poprzez odpowiedni wybór głębokości drzewa)</a:t>
                      </a:r>
                      <a:endParaRPr lang="pl-PL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288596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00E28F66-C20A-0072-1E82-3546BBB08B11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12186000" cy="3048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pl-PL" sz="1600">
                <a:latin typeface="Arial" pitchFamily="34" charset="0"/>
                <a:ea typeface="+mj-lt"/>
                <a:cs typeface="Arial" pitchFamily="34" charset="0"/>
              </a:rPr>
              <a:t>Klasyczne metody </a:t>
            </a:r>
            <a:r>
              <a:rPr lang="pl-PL" sz="1600" dirty="0">
                <a:latin typeface="Arial" pitchFamily="34" charset="0"/>
                <a:ea typeface="+mj-lt"/>
                <a:cs typeface="Arial" pitchFamily="34" charset="0"/>
              </a:rPr>
              <a:t>uczenia maszynowego</a:t>
            </a:r>
            <a:endParaRPr lang="en-GB" sz="4400" dirty="0">
              <a:latin typeface="Arial" pitchFamily="34" charset="0"/>
              <a:ea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36321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4B2D9-DB10-4EB9-B7A6-032A6D4E75AC}" type="slidenum">
              <a:rPr lang="pl-PL" smtClean="0"/>
              <a:pPr/>
              <a:t>16</a:t>
            </a:fld>
            <a:endParaRPr lang="pl-PL" dirty="0"/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252490"/>
              </p:ext>
            </p:extLst>
          </p:nvPr>
        </p:nvGraphicFramePr>
        <p:xfrm>
          <a:off x="304800" y="381000"/>
          <a:ext cx="11658599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1781">
                  <a:extLst>
                    <a:ext uri="{9D8B030D-6E8A-4147-A177-3AD203B41FA5}">
                      <a16:colId xmlns:a16="http://schemas.microsoft.com/office/drawing/2014/main" val="1093473468"/>
                    </a:ext>
                  </a:extLst>
                </a:gridCol>
                <a:gridCol w="1492869">
                  <a:extLst>
                    <a:ext uri="{9D8B030D-6E8A-4147-A177-3AD203B41FA5}">
                      <a16:colId xmlns:a16="http://schemas.microsoft.com/office/drawing/2014/main" val="4073630836"/>
                    </a:ext>
                  </a:extLst>
                </a:gridCol>
                <a:gridCol w="8743949">
                  <a:extLst>
                    <a:ext uri="{9D8B030D-6E8A-4147-A177-3AD203B41FA5}">
                      <a16:colId xmlns:a16="http://schemas.microsoft.com/office/drawing/2014/main" val="40351891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l-PL">
                          <a:latin typeface="Arial Narrow" panose="020B0606020202030204" pitchFamily="34" charset="0"/>
                        </a:rPr>
                        <a:t>Metoda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>
                          <a:latin typeface="Arial Narrow" panose="020B0606020202030204" pitchFamily="34" charset="0"/>
                        </a:rPr>
                        <a:t>Rodzaj zadania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>
                          <a:latin typeface="Arial Narrow" panose="020B0606020202030204" pitchFamily="34" charset="0"/>
                        </a:rPr>
                        <a:t>Własności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1632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b="1">
                          <a:latin typeface="Arial Narrow" panose="020B0606020202030204" pitchFamily="34" charset="0"/>
                        </a:rPr>
                        <a:t>lasy losowe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pl-PL">
                          <a:latin typeface="Arial Narrow" panose="020B0606020202030204" pitchFamily="34" charset="0"/>
                        </a:rPr>
                        <a:t>klasyfikacja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pl-PL">
                          <a:latin typeface="Arial Narrow" panose="020B0606020202030204" pitchFamily="34" charset="0"/>
                        </a:rPr>
                        <a:t>regresja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4625" indent="-174625">
                        <a:buFont typeface="Arial" panose="020B0604020202020204" pitchFamily="34" charset="0"/>
                        <a:buChar char="•"/>
                      </a:pPr>
                      <a:r>
                        <a:rPr lang="pl-PL">
                          <a:latin typeface="Arial Narrow" panose="020B0606020202030204" pitchFamily="34" charset="0"/>
                        </a:rPr>
                        <a:t>odporna na różnice w skalach między cechami</a:t>
                      </a:r>
                    </a:p>
                    <a:p>
                      <a:pPr marL="174625" indent="-174625">
                        <a:buFont typeface="Arial" panose="020B0604020202020204" pitchFamily="34" charset="0"/>
                        <a:buChar char="•"/>
                      </a:pPr>
                      <a:r>
                        <a:rPr lang="pl-PL">
                          <a:latin typeface="Arial Narrow" panose="020B0606020202030204" pitchFamily="34" charset="0"/>
                        </a:rPr>
                        <a:t>wykorzystanie wielu drzew redukuje ryzyko przeuczenia</a:t>
                      </a:r>
                    </a:p>
                    <a:p>
                      <a:pPr marL="174625" indent="-174625">
                        <a:buFont typeface="Arial" panose="020B0604020202020204" pitchFamily="34" charset="0"/>
                        <a:buChar char="•"/>
                      </a:pPr>
                      <a:r>
                        <a:rPr lang="pl-PL">
                          <a:latin typeface="Arial Narrow" panose="020B0606020202030204" pitchFamily="34" charset="0"/>
                        </a:rPr>
                        <a:t>duża efektywność w przypadku dużej liczby danych</a:t>
                      </a:r>
                    </a:p>
                    <a:p>
                      <a:pPr marL="174625" indent="-174625">
                        <a:buFont typeface="Arial" panose="020B0604020202020204" pitchFamily="34" charset="0"/>
                        <a:buChar char="•"/>
                      </a:pPr>
                      <a:r>
                        <a:rPr lang="pl-PL">
                          <a:latin typeface="Arial Narrow" panose="020B0606020202030204" pitchFamily="34" charset="0"/>
                        </a:rPr>
                        <a:t>dobre rezultaty w przypadku dużej liczby brakujących danych</a:t>
                      </a:r>
                    </a:p>
                    <a:p>
                      <a:pPr marL="174625" indent="-174625">
                        <a:buFont typeface="Arial" panose="020B0604020202020204" pitchFamily="34" charset="0"/>
                        <a:buChar char="•"/>
                      </a:pPr>
                      <a:r>
                        <a:rPr lang="pl-PL">
                          <a:latin typeface="Arial Narrow" panose="020B0606020202030204" pitchFamily="34" charset="0"/>
                        </a:rPr>
                        <a:t>wydajność</a:t>
                      </a:r>
                      <a:r>
                        <a:rPr lang="pl-PL" baseline="0">
                          <a:latin typeface="Arial Narrow" panose="020B0606020202030204" pitchFamily="34" charset="0"/>
                        </a:rPr>
                        <a:t> maleje ze wzrostem liczby drzew</a:t>
                      </a:r>
                    </a:p>
                    <a:p>
                      <a:pPr marL="174625" indent="-174625">
                        <a:buFont typeface="Arial" panose="020B0604020202020204" pitchFamily="34" charset="0"/>
                        <a:buChar char="•"/>
                      </a:pPr>
                      <a:r>
                        <a:rPr lang="pl-PL" baseline="0">
                          <a:latin typeface="Arial Narrow" panose="020B0606020202030204" pitchFamily="34" charset="0"/>
                        </a:rPr>
                        <a:t>skuteczność zmienia się za każdym razem na tym samym zestawie danych (aby poznać ogólną skuteczność należy wytrenować las kilka razy)</a:t>
                      </a:r>
                      <a:endParaRPr lang="pl-PL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376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b="1">
                          <a:latin typeface="Arial Narrow" panose="020B0606020202030204" pitchFamily="34" charset="0"/>
                        </a:rPr>
                        <a:t>maszyny wektorów nośnych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pl-PL">
                          <a:latin typeface="Arial Narrow" panose="020B0606020202030204" pitchFamily="34" charset="0"/>
                        </a:rPr>
                        <a:t>klasyfikacja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pl-PL">
                          <a:latin typeface="Arial Narrow" panose="020B0606020202030204" pitchFamily="34" charset="0"/>
                        </a:rPr>
                        <a:t>regresja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4625" indent="-174625">
                        <a:buFont typeface="Arial" panose="020B0604020202020204" pitchFamily="34" charset="0"/>
                        <a:buChar char="•"/>
                      </a:pPr>
                      <a:r>
                        <a:rPr lang="pl-PL">
                          <a:latin typeface="Arial Narrow" panose="020B0606020202030204" pitchFamily="34" charset="0"/>
                        </a:rPr>
                        <a:t>odpowiednio dostrojone osiągają znakomite rezultaty</a:t>
                      </a:r>
                    </a:p>
                    <a:p>
                      <a:pPr marL="174625" indent="-174625">
                        <a:buFont typeface="Arial" panose="020B0604020202020204" pitchFamily="34" charset="0"/>
                        <a:buChar char="•"/>
                      </a:pPr>
                      <a:r>
                        <a:rPr lang="pl-PL">
                          <a:latin typeface="Arial Narrow" panose="020B0606020202030204" pitchFamily="34" charset="0"/>
                        </a:rPr>
                        <a:t>po</a:t>
                      </a:r>
                      <a:r>
                        <a:rPr lang="pl-PL" baseline="0">
                          <a:latin typeface="Arial Narrow" panose="020B0606020202030204" pitchFamily="34" charset="0"/>
                        </a:rPr>
                        <a:t> fazie uczenia wnioskowanie przebiega bardzo szybko</a:t>
                      </a:r>
                    </a:p>
                    <a:p>
                      <a:pPr marL="174625" indent="-174625">
                        <a:buFont typeface="Arial" panose="020B0604020202020204" pitchFamily="34" charset="0"/>
                        <a:buChar char="•"/>
                      </a:pPr>
                      <a:r>
                        <a:rPr lang="pl-PL">
                          <a:latin typeface="Arial Narrow" panose="020B0606020202030204" pitchFamily="34" charset="0"/>
                        </a:rPr>
                        <a:t>nie</a:t>
                      </a:r>
                      <a:r>
                        <a:rPr lang="pl-PL" baseline="0">
                          <a:latin typeface="Arial Narrow" panose="020B0606020202030204" pitchFamily="34" charset="0"/>
                        </a:rPr>
                        <a:t> mogą być bezpośrednio wykorzystane dla modeli wieloklasowych</a:t>
                      </a:r>
                    </a:p>
                    <a:p>
                      <a:pPr marL="174625" indent="-174625">
                        <a:buFont typeface="Arial" panose="020B0604020202020204" pitchFamily="34" charset="0"/>
                        <a:buChar char="•"/>
                      </a:pPr>
                      <a:r>
                        <a:rPr lang="pl-PL" baseline="0">
                          <a:latin typeface="Arial Narrow" panose="020B0606020202030204" pitchFamily="34" charset="0"/>
                        </a:rPr>
                        <a:t>skalowanie ma duże znaczenie</a:t>
                      </a:r>
                    </a:p>
                    <a:p>
                      <a:pPr marL="174625" indent="-174625">
                        <a:buFont typeface="Arial" panose="020B0604020202020204" pitchFamily="34" charset="0"/>
                        <a:buChar char="•"/>
                      </a:pPr>
                      <a:r>
                        <a:rPr lang="pl-PL" baseline="0">
                          <a:latin typeface="Arial Narrow" panose="020B0606020202030204" pitchFamily="34" charset="0"/>
                        </a:rPr>
                        <a:t>trudno je uczyć na dużych zestawach danych</a:t>
                      </a:r>
                      <a:endParaRPr lang="pl-PL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02926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b="1">
                          <a:latin typeface="Arial Narrow" panose="020B0606020202030204" pitchFamily="34" charset="0"/>
                        </a:rPr>
                        <a:t>naiwny klasyfikator Bayesa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l-PL">
                          <a:latin typeface="Arial Narrow" panose="020B0606020202030204" pitchFamily="34" charset="0"/>
                        </a:rPr>
                        <a:t>klasyfikacja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4625" indent="-174625">
                        <a:buFont typeface="Arial" panose="020B0604020202020204" pitchFamily="34" charset="0"/>
                        <a:buChar char="•"/>
                      </a:pPr>
                      <a:r>
                        <a:rPr lang="pl-PL">
                          <a:latin typeface="Arial Narrow" panose="020B0606020202030204" pitchFamily="34" charset="0"/>
                        </a:rPr>
                        <a:t>szybka</a:t>
                      </a:r>
                    </a:p>
                    <a:p>
                      <a:pPr marL="174625" marR="0" indent="-1746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l-PL">
                          <a:latin typeface="Arial Narrow" panose="020B0606020202030204" pitchFamily="34" charset="0"/>
                        </a:rPr>
                        <a:t>może być stosowana</a:t>
                      </a:r>
                      <a:r>
                        <a:rPr lang="pl-PL" baseline="0">
                          <a:latin typeface="Arial Narrow" panose="020B0606020202030204" pitchFamily="34" charset="0"/>
                        </a:rPr>
                        <a:t> zarówno do klasyfikacji binarnej jak i wieloklasowej</a:t>
                      </a:r>
                    </a:p>
                    <a:p>
                      <a:pPr marL="174625" indent="-174625">
                        <a:buFont typeface="Arial" panose="020B0604020202020204" pitchFamily="34" charset="0"/>
                        <a:buChar char="•"/>
                      </a:pPr>
                      <a:r>
                        <a:rPr lang="pl-PL">
                          <a:latin typeface="Arial Narrow" panose="020B0606020202030204" pitchFamily="34" charset="0"/>
                        </a:rPr>
                        <a:t>założenie o wzajemnej niezależności cech – w praktyce rzadko spełnione </a:t>
                      </a:r>
                      <a:br>
                        <a:rPr lang="pl-PL">
                          <a:latin typeface="Arial Narrow" panose="020B0606020202030204" pitchFamily="34" charset="0"/>
                        </a:rPr>
                      </a:br>
                      <a:r>
                        <a:rPr lang="pl-PL">
                          <a:latin typeface="Arial Narrow" panose="020B0606020202030204" pitchFamily="34" charset="0"/>
                        </a:rPr>
                        <a:t>(im bardziej cechy są skorelowane, tym gorsza skuteczność</a:t>
                      </a:r>
                      <a:r>
                        <a:rPr lang="pl-PL" baseline="0">
                          <a:latin typeface="Arial Narrow" panose="020B0606020202030204" pitchFamily="34" charset="0"/>
                        </a:rPr>
                        <a:t> modelu)</a:t>
                      </a:r>
                    </a:p>
                    <a:p>
                      <a:pPr marL="174625" indent="-174625">
                        <a:buFont typeface="Arial" panose="020B0604020202020204" pitchFamily="34" charset="0"/>
                        <a:buChar char="•"/>
                      </a:pPr>
                      <a:r>
                        <a:rPr lang="pl-PL">
                          <a:latin typeface="Arial Narrow" panose="020B0606020202030204" pitchFamily="34" charset="0"/>
                        </a:rPr>
                        <a:t>najlepiej sprawdza się przy dużym zbiorze danych</a:t>
                      </a:r>
                      <a:endParaRPr lang="pl-PL" baseline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5356778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654D72FF-B492-0B90-9AA2-B6F7BBB6A0F1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12186000" cy="3048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pl-PL" sz="1600">
                <a:latin typeface="Arial" pitchFamily="34" charset="0"/>
                <a:ea typeface="+mj-lt"/>
                <a:cs typeface="Arial" pitchFamily="34" charset="0"/>
              </a:rPr>
              <a:t>Klasyczne metody </a:t>
            </a:r>
            <a:r>
              <a:rPr lang="pl-PL" sz="1600" dirty="0">
                <a:latin typeface="Arial" pitchFamily="34" charset="0"/>
                <a:ea typeface="+mj-lt"/>
                <a:cs typeface="Arial" pitchFamily="34" charset="0"/>
              </a:rPr>
              <a:t>uczenia maszynowego</a:t>
            </a:r>
            <a:endParaRPr lang="en-GB" sz="4400" dirty="0">
              <a:latin typeface="Arial" pitchFamily="34" charset="0"/>
              <a:ea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54984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77B2B8-0040-C6E8-6AF0-BC5241E63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4B2D9-DB10-4EB9-B7A6-032A6D4E75AC}" type="slidenum">
              <a:rPr lang="pl-PL" smtClean="0"/>
              <a:pPr/>
              <a:t>17</a:t>
            </a:fld>
            <a:endParaRPr lang="pl-PL" dirty="0"/>
          </a:p>
        </p:txBody>
      </p:sp>
      <p:graphicFrame>
        <p:nvGraphicFramePr>
          <p:cNvPr id="7" name="Tabela 4">
            <a:extLst>
              <a:ext uri="{FF2B5EF4-FFF2-40B4-BE49-F238E27FC236}">
                <a16:creationId xmlns:a16="http://schemas.microsoft.com/office/drawing/2014/main" id="{B437C9B8-AB12-4488-5A1D-859CD9AB04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5233963"/>
              </p:ext>
            </p:extLst>
          </p:nvPr>
        </p:nvGraphicFramePr>
        <p:xfrm>
          <a:off x="152400" y="502920"/>
          <a:ext cx="11887199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9658">
                  <a:extLst>
                    <a:ext uri="{9D8B030D-6E8A-4147-A177-3AD203B41FA5}">
                      <a16:colId xmlns:a16="http://schemas.microsoft.com/office/drawing/2014/main" val="1093473468"/>
                    </a:ext>
                  </a:extLst>
                </a:gridCol>
                <a:gridCol w="1522142">
                  <a:extLst>
                    <a:ext uri="{9D8B030D-6E8A-4147-A177-3AD203B41FA5}">
                      <a16:colId xmlns:a16="http://schemas.microsoft.com/office/drawing/2014/main" val="4073630836"/>
                    </a:ext>
                  </a:extLst>
                </a:gridCol>
                <a:gridCol w="8915399">
                  <a:extLst>
                    <a:ext uri="{9D8B030D-6E8A-4147-A177-3AD203B41FA5}">
                      <a16:colId xmlns:a16="http://schemas.microsoft.com/office/drawing/2014/main" val="40351891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l-PL">
                          <a:latin typeface="Arial Narrow" panose="020B0606020202030204" pitchFamily="34" charset="0"/>
                        </a:rPr>
                        <a:t>Metoda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>
                          <a:latin typeface="Arial Narrow" panose="020B0606020202030204" pitchFamily="34" charset="0"/>
                        </a:rPr>
                        <a:t>Rodzaj zadania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>
                          <a:latin typeface="Arial Narrow" panose="020B0606020202030204" pitchFamily="34" charset="0"/>
                        </a:rPr>
                        <a:t>Własności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1632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b="1">
                          <a:latin typeface="Arial Narrow" panose="020B0606020202030204" pitchFamily="34" charset="0"/>
                        </a:rPr>
                        <a:t>regresja liniowa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pl-PL">
                          <a:latin typeface="Arial Narrow" panose="020B0606020202030204" pitchFamily="34" charset="0"/>
                        </a:rPr>
                        <a:t>regresja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9388" marR="0" lvl="0" indent="-1793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l-PL">
                          <a:latin typeface="Arial Narrow" panose="020B0606020202030204" pitchFamily="34" charset="0"/>
                        </a:rPr>
                        <a:t>zakłada liniową zależność między zmiennymi objaśniającymi i zmieną  objaśnianą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376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b="1">
                          <a:latin typeface="Arial Narrow" panose="020B0606020202030204" pitchFamily="34" charset="0"/>
                        </a:rPr>
                        <a:t>regresja logistyczna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pl-PL">
                          <a:latin typeface="Arial Narrow" panose="020B0606020202030204" pitchFamily="34" charset="0"/>
                        </a:rPr>
                        <a:t>klasyfikacja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9388" indent="-179388">
                        <a:buFont typeface="Arial" panose="020B0604020202020204" pitchFamily="34" charset="0"/>
                        <a:buChar char="•"/>
                      </a:pPr>
                      <a:r>
                        <a:rPr lang="pl-PL" sz="1800">
                          <a:latin typeface="Arial Narrow" panose="020B0606020202030204" pitchFamily="34" charset="0"/>
                        </a:rPr>
                        <a:t>zmienna zależna musi być binarna</a:t>
                      </a:r>
                    </a:p>
                    <a:p>
                      <a:pPr marL="179388" indent="-179388">
                        <a:buFont typeface="Arial" panose="020B0604020202020204" pitchFamily="34" charset="0"/>
                        <a:buChar char="•"/>
                      </a:pPr>
                      <a:r>
                        <a:rPr lang="pl-PL" sz="1800">
                          <a:latin typeface="Arial Narrow" panose="020B0606020202030204" pitchFamily="34" charset="0"/>
                        </a:rPr>
                        <a:t>nie może występować współliniowość między zmiennymi objaśniającymi</a:t>
                      </a:r>
                    </a:p>
                    <a:p>
                      <a:pPr marL="179388" indent="-179388">
                        <a:buFont typeface="Arial" panose="020B0604020202020204" pitchFamily="34" charset="0"/>
                        <a:buChar char="•"/>
                      </a:pPr>
                      <a:r>
                        <a:rPr lang="pl-PL" sz="1800">
                          <a:latin typeface="Arial Narrow" panose="020B0606020202030204" pitchFamily="34" charset="0"/>
                        </a:rPr>
                        <a:t>nie mogą występować wartości odstające</a:t>
                      </a:r>
                    </a:p>
                    <a:p>
                      <a:pPr marL="179388" indent="-179388">
                        <a:buFont typeface="Arial" panose="020B0604020202020204" pitchFamily="34" charset="0"/>
                        <a:buChar char="•"/>
                      </a:pPr>
                      <a:r>
                        <a:rPr lang="pl-PL" sz="1800">
                          <a:latin typeface="Arial Narrow" panose="020B0606020202030204" pitchFamily="34" charset="0"/>
                        </a:rPr>
                        <a:t>preferowany większy rozmiar próby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0292682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516D55F4-C75E-F926-3406-993110FFEB9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12186000" cy="3048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pl-PL" sz="1600">
                <a:latin typeface="Arial" pitchFamily="34" charset="0"/>
                <a:ea typeface="+mj-lt"/>
                <a:cs typeface="Arial" pitchFamily="34" charset="0"/>
              </a:rPr>
              <a:t>Klasyczne metody </a:t>
            </a:r>
            <a:r>
              <a:rPr lang="pl-PL" sz="1600" dirty="0">
                <a:latin typeface="Arial" pitchFamily="34" charset="0"/>
                <a:ea typeface="+mj-lt"/>
                <a:cs typeface="Arial" pitchFamily="34" charset="0"/>
              </a:rPr>
              <a:t>uczenia maszynowego</a:t>
            </a:r>
            <a:endParaRPr lang="en-GB" sz="4400" dirty="0">
              <a:latin typeface="Arial" pitchFamily="34" charset="0"/>
              <a:ea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8837229"/>
      </p:ext>
    </p:extLst>
  </p:cSld>
  <p:clrMapOvr>
    <a:masterClrMapping/>
  </p:clrMapOvr>
</p:sld>
</file>

<file path=ppt/theme/theme1.xml><?xml version="1.0" encoding="utf-8"?>
<a:theme xmlns:a="http://schemas.openxmlformats.org/drawingml/2006/main" name="Projekt niestandardowy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rojekt niestandardowy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yw pakietu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Motyw pakietu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EDI</Template>
  <TotalTime>11302</TotalTime>
  <Words>1896</Words>
  <Application>Microsoft Office PowerPoint</Application>
  <PresentationFormat>Widescreen</PresentationFormat>
  <Paragraphs>188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Arial Narrow</vt:lpstr>
      <vt:lpstr>Calibri</vt:lpstr>
      <vt:lpstr>Candara</vt:lpstr>
      <vt:lpstr>Garamond</vt:lpstr>
      <vt:lpstr>Projekt niestandardowy</vt:lpstr>
      <vt:lpstr>1_Projekt niestandardowy</vt:lpstr>
      <vt:lpstr>Klasyczne metody uczenia maszynowego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Dariusz Put</cp:lastModifiedBy>
  <cp:revision>1235</cp:revision>
  <cp:lastPrinted>1601-01-01T00:00:00Z</cp:lastPrinted>
  <dcterms:created xsi:type="dcterms:W3CDTF">1601-01-01T00:00:00Z</dcterms:created>
  <dcterms:modified xsi:type="dcterms:W3CDTF">2024-04-04T19:03:36Z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