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11" r:id="rId1"/>
    <p:sldMasterId id="2147484236" r:id="rId2"/>
  </p:sldMasterIdLst>
  <p:notesMasterIdLst>
    <p:notesMasterId r:id="rId48"/>
  </p:notesMasterIdLst>
  <p:handoutMasterIdLst>
    <p:handoutMasterId r:id="rId49"/>
  </p:handoutMasterIdLst>
  <p:sldIdLst>
    <p:sldId id="291" r:id="rId3"/>
    <p:sldId id="528" r:id="rId4"/>
    <p:sldId id="553" r:id="rId5"/>
    <p:sldId id="511" r:id="rId6"/>
    <p:sldId id="413" r:id="rId7"/>
    <p:sldId id="556" r:id="rId8"/>
    <p:sldId id="554" r:id="rId9"/>
    <p:sldId id="555" r:id="rId10"/>
    <p:sldId id="529" r:id="rId11"/>
    <p:sldId id="504" r:id="rId12"/>
    <p:sldId id="532" r:id="rId13"/>
    <p:sldId id="526" r:id="rId14"/>
    <p:sldId id="492" r:id="rId15"/>
    <p:sldId id="534" r:id="rId16"/>
    <p:sldId id="514" r:id="rId17"/>
    <p:sldId id="525" r:id="rId18"/>
    <p:sldId id="515" r:id="rId19"/>
    <p:sldId id="536" r:id="rId20"/>
    <p:sldId id="552" r:id="rId21"/>
    <p:sldId id="527" r:id="rId22"/>
    <p:sldId id="547" r:id="rId23"/>
    <p:sldId id="533" r:id="rId24"/>
    <p:sldId id="548" r:id="rId25"/>
    <p:sldId id="550" r:id="rId26"/>
    <p:sldId id="441" r:id="rId27"/>
    <p:sldId id="541" r:id="rId28"/>
    <p:sldId id="445" r:id="rId29"/>
    <p:sldId id="549" r:id="rId30"/>
    <p:sldId id="551" r:id="rId31"/>
    <p:sldId id="539" r:id="rId32"/>
    <p:sldId id="471" r:id="rId33"/>
    <p:sldId id="475" r:id="rId34"/>
    <p:sldId id="505" r:id="rId35"/>
    <p:sldId id="558" r:id="rId36"/>
    <p:sldId id="435" r:id="rId37"/>
    <p:sldId id="557" r:id="rId38"/>
    <p:sldId id="487" r:id="rId39"/>
    <p:sldId id="462" r:id="rId40"/>
    <p:sldId id="479" r:id="rId41"/>
    <p:sldId id="544" r:id="rId42"/>
    <p:sldId id="546" r:id="rId43"/>
    <p:sldId id="545" r:id="rId44"/>
    <p:sldId id="524" r:id="rId45"/>
    <p:sldId id="540" r:id="rId46"/>
    <p:sldId id="543" r:id="rId47"/>
  </p:sldIdLst>
  <p:sldSz cx="9144000" cy="6858000" type="screen4x3"/>
  <p:notesSz cx="7099300" cy="10234613"/>
  <p:defaultTextStyle>
    <a:defPPr>
      <a:defRPr lang="pl-PL"/>
    </a:defPPr>
    <a:lvl1pPr algn="l" rtl="0" fontAlgn="base">
      <a:spcBef>
        <a:spcPct val="0"/>
      </a:spcBef>
      <a:spcAft>
        <a:spcPct val="0"/>
      </a:spcAft>
      <a:defRPr kern="1200">
        <a:solidFill>
          <a:schemeClr val="tx1"/>
        </a:solidFill>
        <a:latin typeface="Garamond" pitchFamily="18" charset="0"/>
        <a:ea typeface="+mn-ea"/>
        <a:cs typeface="+mn-cs"/>
      </a:defRPr>
    </a:lvl1pPr>
    <a:lvl2pPr marL="457200" algn="l" rtl="0" fontAlgn="base">
      <a:spcBef>
        <a:spcPct val="0"/>
      </a:spcBef>
      <a:spcAft>
        <a:spcPct val="0"/>
      </a:spcAft>
      <a:defRPr kern="1200">
        <a:solidFill>
          <a:schemeClr val="tx1"/>
        </a:solidFill>
        <a:latin typeface="Garamond" pitchFamily="18" charset="0"/>
        <a:ea typeface="+mn-ea"/>
        <a:cs typeface="+mn-cs"/>
      </a:defRPr>
    </a:lvl2pPr>
    <a:lvl3pPr marL="914400" algn="l" rtl="0" fontAlgn="base">
      <a:spcBef>
        <a:spcPct val="0"/>
      </a:spcBef>
      <a:spcAft>
        <a:spcPct val="0"/>
      </a:spcAft>
      <a:defRPr kern="1200">
        <a:solidFill>
          <a:schemeClr val="tx1"/>
        </a:solidFill>
        <a:latin typeface="Garamond" pitchFamily="18" charset="0"/>
        <a:ea typeface="+mn-ea"/>
        <a:cs typeface="+mn-cs"/>
      </a:defRPr>
    </a:lvl3pPr>
    <a:lvl4pPr marL="1371600" algn="l" rtl="0" fontAlgn="base">
      <a:spcBef>
        <a:spcPct val="0"/>
      </a:spcBef>
      <a:spcAft>
        <a:spcPct val="0"/>
      </a:spcAft>
      <a:defRPr kern="1200">
        <a:solidFill>
          <a:schemeClr val="tx1"/>
        </a:solidFill>
        <a:latin typeface="Garamond" pitchFamily="18" charset="0"/>
        <a:ea typeface="+mn-ea"/>
        <a:cs typeface="+mn-cs"/>
      </a:defRPr>
    </a:lvl4pPr>
    <a:lvl5pPr marL="1828800" algn="l" rtl="0" fontAlgn="base">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2474"/>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Styl z motywem 1 — Ak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62" autoAdjust="0"/>
    <p:restoredTop sz="93824" autoAdjust="0"/>
  </p:normalViewPr>
  <p:slideViewPr>
    <p:cSldViewPr>
      <p:cViewPr varScale="1">
        <p:scale>
          <a:sx n="77" d="100"/>
          <a:sy n="77" d="100"/>
        </p:scale>
        <p:origin x="1421"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83" d="100"/>
          <a:sy n="83" d="100"/>
        </p:scale>
        <p:origin x="3072" y="-192"/>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bwMode="auto">
          <a:xfrm>
            <a:off x="0" y="0"/>
            <a:ext cx="7099300" cy="5453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lgn="ctr"/>
            <a:endParaRPr lang="pl-PL" dirty="0"/>
          </a:p>
        </p:txBody>
      </p:sp>
      <p:sp>
        <p:nvSpPr>
          <p:cNvPr id="45060" name="Rectangle 4"/>
          <p:cNvSpPr>
            <a:spLocks noGrp="1" noChangeArrowheads="1"/>
          </p:cNvSpPr>
          <p:nvPr>
            <p:ph type="ftr" sz="quarter" idx="2"/>
          </p:nvPr>
        </p:nvSpPr>
        <p:spPr bwMode="auto">
          <a:xfrm>
            <a:off x="0" y="9719329"/>
            <a:ext cx="3075424"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endParaRPr lang="pl-PL" dirty="0"/>
          </a:p>
        </p:txBody>
      </p:sp>
      <p:sp>
        <p:nvSpPr>
          <p:cNvPr id="45061" name="Rectangle 5"/>
          <p:cNvSpPr>
            <a:spLocks noGrp="1" noChangeArrowheads="1"/>
          </p:cNvSpPr>
          <p:nvPr>
            <p:ph type="sldNum" sz="quarter" idx="3"/>
          </p:nvPr>
        </p:nvSpPr>
        <p:spPr bwMode="auto">
          <a:xfrm>
            <a:off x="4021528" y="9719329"/>
            <a:ext cx="3076599"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5AEE7B2C-8B7B-4E41-9BE9-6DFEE0C05302}" type="slidenum">
              <a:rPr lang="pl-PL"/>
              <a:pPr/>
              <a:t>‹#›</a:t>
            </a:fld>
            <a:endParaRPr lang="pl-PL" dirty="0"/>
          </a:p>
        </p:txBody>
      </p:sp>
      <p:cxnSp>
        <p:nvCxnSpPr>
          <p:cNvPr id="6" name="Łącznik prosty 5"/>
          <p:cNvCxnSpPr/>
          <p:nvPr/>
        </p:nvCxnSpPr>
        <p:spPr>
          <a:xfrm>
            <a:off x="0" y="468313"/>
            <a:ext cx="70993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4"/>
          <p:cNvSpPr txBox="1">
            <a:spLocks noChangeArrowheads="1"/>
          </p:cNvSpPr>
          <p:nvPr/>
        </p:nvSpPr>
        <p:spPr bwMode="auto">
          <a:xfrm>
            <a:off x="0" y="9718675"/>
            <a:ext cx="7099300" cy="5143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000" dirty="0" smtClean="0">
                <a:latin typeface="+mn-lt"/>
                <a:cs typeface="+mn-cs"/>
              </a:defRPr>
            </a:lvl1pPr>
          </a:lstStyle>
          <a:p>
            <a:pPr lvl="0">
              <a:defRPr/>
            </a:pPr>
            <a:r>
              <a:rPr lang="pl-PL" dirty="0"/>
              <a:t>Copyright</a:t>
            </a:r>
            <a:r>
              <a:rPr kumimoji="0" lang="en-GB" sz="1000" b="0" i="0" u="none" strike="noStrike" kern="1200" cap="none" spc="0" normalizeH="0" baseline="0" noProof="0" dirty="0">
                <a:ln>
                  <a:noFill/>
                </a:ln>
                <a:solidFill>
                  <a:schemeClr val="tx1"/>
                </a:solidFill>
                <a:effectLst/>
                <a:uLnTx/>
                <a:uFillTx/>
                <a:latin typeface="+mn-lt"/>
                <a:ea typeface="+mn-ea"/>
                <a:cs typeface="+mn-cs"/>
              </a:rPr>
              <a:t> © </a:t>
            </a:r>
            <a:r>
              <a:rPr kumimoji="0" lang="pl-PL" sz="1000" b="0" i="0" u="none" strike="noStrike" kern="1200" cap="none" spc="0" normalizeH="0" baseline="0" noProof="0" dirty="0">
                <a:ln>
                  <a:noFill/>
                </a:ln>
                <a:solidFill>
                  <a:schemeClr val="tx1"/>
                </a:solidFill>
                <a:effectLst/>
                <a:uLnTx/>
                <a:uFillTx/>
                <a:latin typeface="+mn-lt"/>
                <a:ea typeface="+mn-ea"/>
                <a:cs typeface="+mn-cs"/>
              </a:rPr>
              <a:t>by Uniwersytet Ekonomiczny w Krakowie</a:t>
            </a:r>
            <a:endParaRPr kumimoji="0" lang="en-GB" sz="1000" b="0"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pl-PL" sz="10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Rectangle 2"/>
          <p:cNvSpPr txBox="1">
            <a:spLocks noChangeArrowheads="1"/>
          </p:cNvSpPr>
          <p:nvPr/>
        </p:nvSpPr>
        <p:spPr bwMode="auto">
          <a:xfrm>
            <a:off x="0" y="0"/>
            <a:ext cx="7099300" cy="544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b="1" dirty="0" smtClean="0">
                <a:latin typeface="+mn-lt"/>
                <a:cs typeface="+mn-cs"/>
              </a:defRPr>
            </a:lvl1pPr>
          </a:lstStyle>
          <a:p>
            <a:pPr lvl="0">
              <a:defRPr/>
            </a:pPr>
            <a:r>
              <a:rPr kumimoji="0" lang="pl-PL" sz="1000" b="1" i="0" u="none" strike="noStrike" kern="1200" cap="none" spc="0" normalizeH="0" baseline="0" noProof="0" dirty="0">
                <a:ln>
                  <a:noFill/>
                </a:ln>
                <a:solidFill>
                  <a:schemeClr val="tx1"/>
                </a:solidFill>
                <a:effectLst/>
                <a:uLnTx/>
                <a:uFillTx/>
                <a:latin typeface="+mn-lt"/>
                <a:ea typeface="+mn-ea"/>
                <a:cs typeface="+mn-cs"/>
              </a:rPr>
              <a:t>Materiały dla studentów z przedmiotu</a:t>
            </a:r>
            <a:r>
              <a:rPr kumimoji="0" lang="en-GB" sz="1000" b="1" i="0" u="none" strike="noStrike" kern="1200" cap="none" spc="0" normalizeH="0" baseline="0" noProof="0" dirty="0">
                <a:ln>
                  <a:noFill/>
                </a:ln>
                <a:solidFill>
                  <a:schemeClr val="tx1"/>
                </a:solidFill>
                <a:effectLst/>
                <a:uLnTx/>
                <a:uFillTx/>
                <a:latin typeface="+mn-lt"/>
                <a:ea typeface="+mn-ea"/>
                <a:cs typeface="+mn-cs"/>
              </a:rPr>
              <a:t> </a:t>
            </a:r>
            <a:r>
              <a:rPr lang="pl-PL" i="1" dirty="0"/>
              <a:t>Wprowadzenie do baz danych</a:t>
            </a:r>
            <a:endParaRPr kumimoji="0" lang="en-GB" sz="1000" b="1" i="1" u="none" strike="noStrike" kern="1200" cap="none" spc="0" normalizeH="0" baseline="0" noProof="0" dirty="0">
              <a:ln>
                <a:noFill/>
              </a:ln>
              <a:solidFill>
                <a:schemeClr val="tx1"/>
              </a:solidFill>
              <a:effectLst/>
              <a:uLnTx/>
              <a:uFillTx/>
              <a:latin typeface="+mn-lt"/>
              <a:ea typeface="+mn-ea"/>
              <a:cs typeface="+mn-cs"/>
            </a:endParaRPr>
          </a:p>
          <a:p>
            <a:pPr lvl="0">
              <a:defRPr/>
            </a:pPr>
            <a:r>
              <a:rPr kumimoji="0" lang="pl-PL" sz="1000" b="1" i="0" u="none" strike="noStrike" kern="1200" cap="none" spc="0" normalizeH="0" baseline="0" noProof="0" dirty="0">
                <a:ln>
                  <a:noFill/>
                </a:ln>
                <a:solidFill>
                  <a:schemeClr val="tx1"/>
                </a:solidFill>
                <a:effectLst/>
                <a:uLnTx/>
                <a:uFillTx/>
                <a:latin typeface="+mn-lt"/>
                <a:ea typeface="+mn-ea"/>
                <a:cs typeface="+mn-cs"/>
              </a:rPr>
              <a:t>Wprowadzenie</a:t>
            </a:r>
            <a:endParaRPr kumimoji="0" lang="en-GB" sz="1000" b="1"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3075424" cy="5130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endParaRPr lang="pl-PL" dirty="0"/>
          </a:p>
        </p:txBody>
      </p:sp>
      <p:sp>
        <p:nvSpPr>
          <p:cNvPr id="49155" name="Rectangle 3"/>
          <p:cNvSpPr>
            <a:spLocks noGrp="1" noChangeArrowheads="1"/>
          </p:cNvSpPr>
          <p:nvPr>
            <p:ph type="dt" idx="1"/>
          </p:nvPr>
        </p:nvSpPr>
        <p:spPr bwMode="auto">
          <a:xfrm>
            <a:off x="4021528" y="0"/>
            <a:ext cx="3076599" cy="51306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endParaRPr lang="pl-PL" dirty="0"/>
          </a:p>
        </p:txBody>
      </p:sp>
      <p:sp>
        <p:nvSpPr>
          <p:cNvPr id="49156" name="Rectangle 4"/>
          <p:cNvSpPr>
            <a:spLocks noGrp="1" noRot="1" noChangeAspect="1" noChangeArrowheads="1" noTextEdit="1"/>
          </p:cNvSpPr>
          <p:nvPr>
            <p:ph type="sldImg" idx="2"/>
          </p:nvPr>
        </p:nvSpPr>
        <p:spPr bwMode="auto">
          <a:xfrm>
            <a:off x="995363" y="768350"/>
            <a:ext cx="5113337" cy="3836988"/>
          </a:xfrm>
          <a:prstGeom prst="rect">
            <a:avLst/>
          </a:prstGeom>
          <a:noFill/>
          <a:ln w="9525">
            <a:solidFill>
              <a:srgbClr val="000000"/>
            </a:solidFill>
            <a:miter lim="800000"/>
            <a:headEnd/>
            <a:tailEnd/>
          </a:ln>
          <a:effectLst/>
        </p:spPr>
      </p:sp>
      <p:sp>
        <p:nvSpPr>
          <p:cNvPr id="49157" name="Rectangle 5"/>
          <p:cNvSpPr>
            <a:spLocks noGrp="1" noChangeArrowheads="1"/>
          </p:cNvSpPr>
          <p:nvPr>
            <p:ph type="body" sz="quarter" idx="3"/>
          </p:nvPr>
        </p:nvSpPr>
        <p:spPr bwMode="auto">
          <a:xfrm>
            <a:off x="710166" y="4861888"/>
            <a:ext cx="5678971" cy="460424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9158" name="Rectangle 6"/>
          <p:cNvSpPr>
            <a:spLocks noGrp="1" noChangeArrowheads="1"/>
          </p:cNvSpPr>
          <p:nvPr>
            <p:ph type="ftr" sz="quarter" idx="4"/>
          </p:nvPr>
        </p:nvSpPr>
        <p:spPr bwMode="auto">
          <a:xfrm>
            <a:off x="0" y="9719329"/>
            <a:ext cx="3075424"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endParaRPr lang="pl-PL" dirty="0"/>
          </a:p>
        </p:txBody>
      </p:sp>
      <p:sp>
        <p:nvSpPr>
          <p:cNvPr id="49159" name="Rectangle 7"/>
          <p:cNvSpPr>
            <a:spLocks noGrp="1" noChangeArrowheads="1"/>
          </p:cNvSpPr>
          <p:nvPr>
            <p:ph type="sldNum" sz="quarter" idx="5"/>
          </p:nvPr>
        </p:nvSpPr>
        <p:spPr bwMode="auto">
          <a:xfrm>
            <a:off x="4021528" y="9719329"/>
            <a:ext cx="3076599" cy="513064"/>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fld id="{88C4402D-B936-4E91-8F17-ABB741B4E7D2}" type="slidenum">
              <a:rPr lang="pl-PL"/>
              <a:pPr/>
              <a:t>‹#›</a:t>
            </a:fld>
            <a:endParaRPr lang="pl-PL"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22B04B-58CA-482F-803E-0DD9291FA5FC}" type="slidenum">
              <a:rPr lang="pl-PL"/>
              <a:pPr/>
              <a:t>1</a:t>
            </a:fld>
            <a:endParaRPr lang="pl-PL" dirty="0"/>
          </a:p>
        </p:txBody>
      </p:sp>
      <p:sp>
        <p:nvSpPr>
          <p:cNvPr id="197634" name="Rectangle 2"/>
          <p:cNvSpPr>
            <a:spLocks noGrp="1" noRot="1" noChangeAspect="1" noChangeArrowheads="1" noTextEdit="1"/>
          </p:cNvSpPr>
          <p:nvPr>
            <p:ph type="sldImg"/>
          </p:nvPr>
        </p:nvSpPr>
        <p:spPr>
          <a:xfrm>
            <a:off x="996950" y="768350"/>
            <a:ext cx="5114925" cy="3836988"/>
          </a:xfrm>
          <a:ln/>
        </p:spPr>
      </p:sp>
      <p:sp>
        <p:nvSpPr>
          <p:cNvPr id="197635" name="Rectangle 3"/>
          <p:cNvSpPr>
            <a:spLocks noGrp="1" noChangeArrowheads="1"/>
          </p:cNvSpPr>
          <p:nvPr>
            <p:ph type="body" idx="1"/>
          </p:nvPr>
        </p:nvSpPr>
        <p:spPr>
          <a:xfrm>
            <a:off x="947279" y="4859666"/>
            <a:ext cx="5204745" cy="4606464"/>
          </a:xfrm>
        </p:spPr>
        <p:txBody>
          <a:bodyPr/>
          <a:lstStyle/>
          <a:p>
            <a:endParaRPr lang="pl-PL"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normAutofit/>
          </a:bodyPr>
          <a:lstStyle/>
          <a:p>
            <a:endParaRPr lang="pl-PL" dirty="0"/>
          </a:p>
        </p:txBody>
      </p:sp>
      <p:sp>
        <p:nvSpPr>
          <p:cNvPr id="4" name="Symbol zastępczy numeru slajdu 3"/>
          <p:cNvSpPr>
            <a:spLocks noGrp="1"/>
          </p:cNvSpPr>
          <p:nvPr>
            <p:ph type="sldNum" sz="quarter" idx="10"/>
          </p:nvPr>
        </p:nvSpPr>
        <p:spPr/>
        <p:txBody>
          <a:bodyPr/>
          <a:lstStyle/>
          <a:p>
            <a:fld id="{88C4402D-B936-4E91-8F17-ABB741B4E7D2}" type="slidenum">
              <a:rPr lang="pl-PL" smtClean="0"/>
              <a:pPr/>
              <a:t>5</a:t>
            </a:fld>
            <a:endParaRPr lang="pl-PL"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pl-PL" sz="1200">
                <a:solidFill>
                  <a:srgbClr val="000000"/>
                </a:solidFill>
                <a:latin typeface="Arial Narrow" panose="020B0606020202030204" pitchFamily="34" charset="0"/>
                <a:cs typeface="Calibri" panose="020F0502020204030204" pitchFamily="34" charset="0"/>
              </a:rPr>
              <a:t>(</a:t>
            </a:r>
            <a:r>
              <a:rPr lang="pl-PL" sz="1200" i="1">
                <a:solidFill>
                  <a:srgbClr val="000000"/>
                </a:solidFill>
                <a:latin typeface="Arial Narrow" panose="020B0606020202030204" pitchFamily="34" charset="0"/>
                <a:cs typeface="Calibri" panose="020F0502020204030204" pitchFamily="34" charset="0"/>
              </a:rPr>
              <a:t>reshape</a:t>
            </a:r>
            <a:r>
              <a:rPr lang="pl-PL" sz="1200">
                <a:solidFill>
                  <a:srgbClr val="000000"/>
                </a:solidFill>
                <a:latin typeface="Arial Narrow" panose="020B0606020202030204" pitchFamily="34" charset="0"/>
                <a:cs typeface="Calibri" panose="020F0502020204030204" pitchFamily="34" charset="0"/>
              </a:rPr>
              <a:t>) polega na przemodelowaniu wierszy i kolumn przy zachowaniu kształtu (rangi). Tensor przekształcony ma taką samą liczbę współczynników jak początkowy.</a:t>
            </a:r>
            <a:br>
              <a:rPr lang="pl-PL" sz="1200">
                <a:solidFill>
                  <a:srgbClr val="000000"/>
                </a:solidFill>
                <a:latin typeface="Arial Narrow" panose="020B0606020202030204" pitchFamily="34" charset="0"/>
                <a:cs typeface="Calibri" panose="020F0502020204030204" pitchFamily="34" charset="0"/>
              </a:rPr>
            </a:br>
            <a:r>
              <a:rPr lang="pl-PL" sz="1200">
                <a:solidFill>
                  <a:srgbClr val="000000"/>
                </a:solidFill>
                <a:latin typeface="Arial Narrow" panose="020B0606020202030204" pitchFamily="34" charset="0"/>
                <a:cs typeface="Calibri" panose="020F0502020204030204" pitchFamily="34" charset="0"/>
              </a:rPr>
              <a:t>Przykład:</a:t>
            </a:r>
            <a:br>
              <a:rPr lang="pl-PL" sz="1200">
                <a:solidFill>
                  <a:srgbClr val="000000"/>
                </a:solidFill>
                <a:latin typeface="Arial Narrow" panose="020B0606020202030204" pitchFamily="34" charset="0"/>
                <a:cs typeface="Calibri" panose="020F0502020204030204" pitchFamily="34" charset="0"/>
              </a:rPr>
            </a:br>
            <a:r>
              <a:rPr lang="pl-PL" sz="1200">
                <a:solidFill>
                  <a:srgbClr val="000000"/>
                </a:solidFill>
                <a:latin typeface="Arial Narrow" panose="020B0606020202030204" pitchFamily="34" charset="0"/>
                <a:cs typeface="Calibri" panose="020F0502020204030204" pitchFamily="34" charset="0"/>
              </a:rPr>
              <a:t>tensor o kształcie (8, 4) może zostać zamieniony na tensor o kształcie (16, 2).</a:t>
            </a:r>
            <a:br>
              <a:rPr lang="pl-PL" sz="1200">
                <a:solidFill>
                  <a:srgbClr val="000000"/>
                </a:solidFill>
                <a:latin typeface="Arial Narrow" panose="020B0606020202030204" pitchFamily="34" charset="0"/>
                <a:cs typeface="Calibri" panose="020F0502020204030204" pitchFamily="34" charset="0"/>
              </a:rPr>
            </a:br>
            <a:r>
              <a:rPr lang="pl-PL" sz="1200">
                <a:solidFill>
                  <a:srgbClr val="000000"/>
                </a:solidFill>
                <a:latin typeface="Arial Narrow" panose="020B0606020202030204" pitchFamily="34" charset="0"/>
                <a:cs typeface="Calibri" panose="020F0502020204030204" pitchFamily="34" charset="0"/>
              </a:rPr>
              <a:t>Przykładem zmiany kształtu tensora jest też transponowanie macierzy.</a:t>
            </a:r>
          </a:p>
          <a:p>
            <a:endParaRPr lang="pl-PL"/>
          </a:p>
        </p:txBody>
      </p:sp>
      <p:sp>
        <p:nvSpPr>
          <p:cNvPr id="4" name="Slide Number Placeholder 3"/>
          <p:cNvSpPr>
            <a:spLocks noGrp="1"/>
          </p:cNvSpPr>
          <p:nvPr>
            <p:ph type="sldNum" sz="quarter" idx="5"/>
          </p:nvPr>
        </p:nvSpPr>
        <p:spPr/>
        <p:txBody>
          <a:bodyPr/>
          <a:lstStyle/>
          <a:p>
            <a:fld id="{88C4402D-B936-4E91-8F17-ABB741B4E7D2}" type="slidenum">
              <a:rPr lang="pl-PL" smtClean="0"/>
              <a:pPr/>
              <a:t>18</a:t>
            </a:fld>
            <a:endParaRPr lang="pl-PL" dirty="0"/>
          </a:p>
        </p:txBody>
      </p:sp>
    </p:spTree>
    <p:extLst>
      <p:ext uri="{BB962C8B-B14F-4D97-AF65-F5344CB8AC3E}">
        <p14:creationId xmlns:p14="http://schemas.microsoft.com/office/powerpoint/2010/main" val="3651154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a:t>CUDA: </a:t>
            </a:r>
            <a:r>
              <a:rPr lang="en-GB" sz="1200" b="0" i="0" kern="1200">
                <a:solidFill>
                  <a:schemeClr val="tx1"/>
                </a:solidFill>
                <a:effectLst/>
                <a:latin typeface="Arial" charset="0"/>
                <a:ea typeface="+mn-ea"/>
                <a:cs typeface="+mn-cs"/>
              </a:rPr>
              <a:t>Compute Unified Device Architecture</a:t>
            </a:r>
            <a:endParaRPr lang="pl-PL"/>
          </a:p>
        </p:txBody>
      </p:sp>
      <p:sp>
        <p:nvSpPr>
          <p:cNvPr id="4" name="Symbol zastępczy numeru slajdu 3"/>
          <p:cNvSpPr>
            <a:spLocks noGrp="1"/>
          </p:cNvSpPr>
          <p:nvPr>
            <p:ph type="sldNum" sz="quarter" idx="10"/>
          </p:nvPr>
        </p:nvSpPr>
        <p:spPr/>
        <p:txBody>
          <a:bodyPr/>
          <a:lstStyle/>
          <a:p>
            <a:fld id="{88C4402D-B936-4E91-8F17-ABB741B4E7D2}" type="slidenum">
              <a:rPr lang="pl-PL" smtClean="0"/>
              <a:pPr/>
              <a:t>38</a:t>
            </a:fld>
            <a:endParaRPr lang="pl-PL" dirty="0"/>
          </a:p>
        </p:txBody>
      </p:sp>
    </p:spTree>
    <p:extLst>
      <p:ext uri="{BB962C8B-B14F-4D97-AF65-F5344CB8AC3E}">
        <p14:creationId xmlns:p14="http://schemas.microsoft.com/office/powerpoint/2010/main" val="3646176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685800" y="2130425"/>
            <a:ext cx="7772400" cy="1470025"/>
          </a:xfrm>
        </p:spPr>
        <p:txBody>
          <a:bodyPr/>
          <a:lstStyle/>
          <a:p>
            <a:r>
              <a:rPr lang="pl-PL"/>
              <a:t>Kliknij, aby edytować styl</a:t>
            </a:r>
          </a:p>
        </p:txBody>
      </p:sp>
      <p:sp>
        <p:nvSpPr>
          <p:cNvPr id="3" name="Podtytuł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p>
            <a:fld id="{2F5F8426-4085-4152-9678-ED60F051FDED}" type="datetime1">
              <a:rPr lang="pl-PL" smtClean="0"/>
              <a:t>29.02.2024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0DB2D777-68CC-442E-8E75-3B9A327DB870}" type="datetime1">
              <a:rPr lang="pl-PL" smtClean="0"/>
              <a:t>29.02.2024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E58E1378-0DED-4CD8-A9CE-C774A2E99379}" type="datetime1">
              <a:rPr lang="pl-PL" smtClean="0"/>
              <a:t>29.02.2024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6AD0AE7C-3FC0-46F6-B6EF-CB275775028C}" type="datetime1">
              <a:rPr lang="pl-PL" smtClean="0"/>
              <a:t>29.02.2024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88113C85-C2EC-49A4-9238-8D5CAB1FE66C}" type="datetime1">
              <a:rPr lang="pl-PL" smtClean="0"/>
              <a:t>29.02.2024</a:t>
            </a:fld>
            <a:endParaRPr lang="pl-PL" dirty="0"/>
          </a:p>
        </p:txBody>
      </p:sp>
      <p:sp>
        <p:nvSpPr>
          <p:cNvPr id="8" name="Symbol zastępczy stopki 7"/>
          <p:cNvSpPr>
            <a:spLocks noGrp="1"/>
          </p:cNvSpPr>
          <p:nvPr>
            <p:ph type="ftr" sz="quarter" idx="11"/>
          </p:nvPr>
        </p:nvSpPr>
        <p:spPr/>
        <p:txBody>
          <a:bodyPr/>
          <a:lstStyle/>
          <a:p>
            <a:endParaRPr lang="pl-PL" dirty="0"/>
          </a:p>
        </p:txBody>
      </p:sp>
      <p:sp>
        <p:nvSpPr>
          <p:cNvPr id="9" name="Symbol zastępczy numeru slajdu 8"/>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EFC4F458-5DC7-42F4-B368-988BDC32B66D}" type="datetime1">
              <a:rPr lang="pl-PL" smtClean="0"/>
              <a:t>29.02.2024</a:t>
            </a:fld>
            <a:endParaRPr lang="pl-PL" dirty="0"/>
          </a:p>
        </p:txBody>
      </p:sp>
      <p:sp>
        <p:nvSpPr>
          <p:cNvPr id="4" name="Symbol zastępczy stopki 3"/>
          <p:cNvSpPr>
            <a:spLocks noGrp="1"/>
          </p:cNvSpPr>
          <p:nvPr>
            <p:ph type="ftr" sz="quarter" idx="11"/>
          </p:nvPr>
        </p:nvSpPr>
        <p:spPr/>
        <p:txBody>
          <a:bodyPr/>
          <a:lstStyle/>
          <a:p>
            <a:endParaRPr lang="pl-PL" dirty="0"/>
          </a:p>
        </p:txBody>
      </p:sp>
      <p:sp>
        <p:nvSpPr>
          <p:cNvPr id="5" name="Symbol zastępczy numeru slajdu 4"/>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BB672F39-7664-423A-81D2-A3C7811F6345}" type="datetime1">
              <a:rPr lang="pl-PL" smtClean="0"/>
              <a:t>29.02.2024</a:t>
            </a:fld>
            <a:endParaRPr lang="pl-PL" dirty="0"/>
          </a:p>
        </p:txBody>
      </p:sp>
      <p:sp>
        <p:nvSpPr>
          <p:cNvPr id="3" name="Symbol zastępczy stopki 2"/>
          <p:cNvSpPr>
            <a:spLocks noGrp="1"/>
          </p:cNvSpPr>
          <p:nvPr>
            <p:ph type="ftr" sz="quarter" idx="11"/>
          </p:nvPr>
        </p:nvSpPr>
        <p:spPr/>
        <p:txBody>
          <a:bodyPr/>
          <a:lstStyle/>
          <a:p>
            <a:endParaRPr lang="pl-PL" dirty="0"/>
          </a:p>
        </p:txBody>
      </p:sp>
      <p:sp>
        <p:nvSpPr>
          <p:cNvPr id="4" name="Symbol zastępczy numeru slajdu 3"/>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327C616B-9D33-443E-A4BC-D4D8B755BE5F}" type="datetime1">
              <a:rPr lang="pl-PL" smtClean="0"/>
              <a:t>29.02.2024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dirty="0"/>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7F2A8EE7-A099-48DE-A6EC-DA7DFD8EC955}" type="datetime1">
              <a:rPr lang="pl-PL" smtClean="0"/>
              <a:t>29.02.2024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0216B700-0D8E-48DF-B15F-8AD7E79EECD4}" type="datetime1">
              <a:rPr lang="pl-PL" smtClean="0"/>
              <a:t>29.02.2024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4638"/>
            <a:ext cx="20574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4638"/>
            <a:ext cx="60198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8460EF2D-DD37-45C2-B490-8BB1B563B789}" type="datetime1">
              <a:rPr lang="pl-PL" smtClean="0"/>
              <a:t>29.02.2024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20D4B2D9-DB10-4EB9-B7A6-032A6D4E75AC}" type="slidenum">
              <a:rPr lang="pl-PL" smtClean="0"/>
              <a:pPr/>
              <a:t>‹#›</a:t>
            </a:fld>
            <a:endParaRPr lang="pl-PL"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Obraz z podpisem">
    <p:spTree>
      <p:nvGrpSpPr>
        <p:cNvPr id="1" name=""/>
        <p:cNvGrpSpPr/>
        <p:nvPr/>
      </p:nvGrpSpPr>
      <p:grpSpPr>
        <a:xfrm>
          <a:off x="0" y="0"/>
          <a:ext cx="0" cy="0"/>
          <a:chOff x="0" y="0"/>
          <a:chExt cx="0" cy="0"/>
        </a:xfrm>
      </p:grpSpPr>
      <p:sp>
        <p:nvSpPr>
          <p:cNvPr id="4" name="Rectangle 4"/>
          <p:cNvSpPr>
            <a:spLocks noGrp="1"/>
          </p:cNvSpPr>
          <p:nvPr>
            <p:ph type="body" sz="half" idx="2"/>
          </p:nvPr>
        </p:nvSpPr>
        <p:spPr>
          <a:xfrm>
            <a:off x="5514536" y="1371600"/>
            <a:ext cx="3044952" cy="2930086"/>
          </a:xfrm>
        </p:spPr>
        <p:txBody>
          <a:bodyPr bIns="0" anchor="b">
            <a:normAutofit/>
          </a:bodyPr>
          <a:lstStyle>
            <a:lvl1pPr marL="0" marR="0" indent="0" algn="l">
              <a:buFontTx/>
              <a:buNone/>
              <a:defRPr sz="1300">
                <a:solidFill>
                  <a:schemeClr val="tx1">
                    <a:tint val="95000"/>
                  </a:schemeClr>
                </a:solidFill>
              </a:defRPr>
            </a:lvl1pPr>
            <a:lvl2pPr marL="460375" marR="0" indent="-112713">
              <a:buFontTx/>
              <a:buNone/>
              <a:defRPr sz="1200"/>
            </a:lvl2pPr>
            <a:lvl3pPr marL="914400" marR="0" indent="-117475">
              <a:buFontTx/>
              <a:buNone/>
              <a:defRPr sz="1000"/>
            </a:lvl3pPr>
            <a:lvl4pPr marL="1316038" marR="0" indent="-112713">
              <a:buFontTx/>
              <a:buNone/>
              <a:defRPr sz="900"/>
            </a:lvl4pPr>
            <a:lvl5pPr marL="1711325" marR="0" indent="-117475">
              <a:buFontTx/>
              <a:buNone/>
              <a:defRPr sz="900"/>
            </a:lvl5pPr>
          </a:lstStyle>
          <a:p>
            <a:pPr lvl="0"/>
            <a:r>
              <a:rPr lang="pl-PL"/>
              <a:t>Kliknij, aby edytować style wzorca tekstu</a:t>
            </a:r>
          </a:p>
        </p:txBody>
      </p:sp>
      <p:sp>
        <p:nvSpPr>
          <p:cNvPr id="9" name="Footer Placeholder 8"/>
          <p:cNvSpPr>
            <a:spLocks noGrp="1"/>
          </p:cNvSpPr>
          <p:nvPr>
            <p:ph type="ftr" sz="quarter" idx="10"/>
          </p:nvPr>
        </p:nvSpPr>
        <p:spPr/>
        <p:txBody>
          <a:bodyPr/>
          <a:lstStyle/>
          <a:p>
            <a:endParaRPr lang="pl-PL" dirty="0"/>
          </a:p>
        </p:txBody>
      </p:sp>
      <p:sp>
        <p:nvSpPr>
          <p:cNvPr id="10" name="Slide Number Placeholder 9"/>
          <p:cNvSpPr>
            <a:spLocks noGrp="1"/>
          </p:cNvSpPr>
          <p:nvPr>
            <p:ph type="sldNum" sz="quarter" idx="11"/>
          </p:nvPr>
        </p:nvSpPr>
        <p:spPr/>
        <p:txBody>
          <a:bodyPr/>
          <a:lstStyle/>
          <a:p>
            <a:fld id="{7E179A1A-A0F5-4001-A6E3-A7675233E5F9}" type="slidenum">
              <a:rPr lang="pl-PL" smtClean="0"/>
              <a:pPr/>
              <a:t>‹#›</a:t>
            </a:fld>
            <a:endParaRPr lang="pl-PL"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p:cNvSpPr>
            <a:spLocks noGrp="1"/>
          </p:cNvSpPr>
          <p:nvPr>
            <p:ph type="ctrTitle"/>
          </p:nvPr>
        </p:nvSpPr>
        <p:spPr>
          <a:xfrm>
            <a:off x="685800" y="2130425"/>
            <a:ext cx="7772400" cy="1470025"/>
          </a:xfrm>
        </p:spPr>
        <p:txBody>
          <a:bodyPr/>
          <a:lstStyle/>
          <a:p>
            <a:r>
              <a:rPr lang="pl-PL"/>
              <a:t>Kliknij, aby edytować styl</a:t>
            </a:r>
          </a:p>
        </p:txBody>
      </p:sp>
      <p:sp>
        <p:nvSpPr>
          <p:cNvPr id="3" name="Podtytuł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a:t>Kliknij, aby edytować styl wzorca podtytułu</a:t>
            </a:r>
          </a:p>
        </p:txBody>
      </p:sp>
      <p:sp>
        <p:nvSpPr>
          <p:cNvPr id="4" name="Symbol zastępczy daty 3"/>
          <p:cNvSpPr>
            <a:spLocks noGrp="1"/>
          </p:cNvSpPr>
          <p:nvPr>
            <p:ph type="dt" sz="half" idx="10"/>
          </p:nvPr>
        </p:nvSpPr>
        <p:spPr/>
        <p:txBody>
          <a:bodyPr/>
          <a:lstStyle/>
          <a:p>
            <a:fld id="{9B6EDD0D-709D-4DDA-9D4C-9ECAB3ADA661}" type="datetime1">
              <a:rPr lang="pl-PL" smtClean="0"/>
              <a:t>29.02.2024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E10D3399-327D-42BA-A958-0E7BDFAD8300}" type="datetime1">
              <a:rPr lang="pl-PL" smtClean="0"/>
              <a:t>29.02.2024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a:t>Kliknij, aby edytować style wzorca tekstu</a:t>
            </a:r>
          </a:p>
        </p:txBody>
      </p:sp>
      <p:sp>
        <p:nvSpPr>
          <p:cNvPr id="4" name="Symbol zastępczy daty 3"/>
          <p:cNvSpPr>
            <a:spLocks noGrp="1"/>
          </p:cNvSpPr>
          <p:nvPr>
            <p:ph type="dt" sz="half" idx="10"/>
          </p:nvPr>
        </p:nvSpPr>
        <p:spPr/>
        <p:txBody>
          <a:bodyPr/>
          <a:lstStyle/>
          <a:p>
            <a:fld id="{23BE29C7-D880-4E30-8EE8-B393D0C69803}" type="datetime1">
              <a:rPr lang="pl-PL" smtClean="0"/>
              <a:t>29.02.2024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p:cNvSpPr>
            <a:spLocks noGrp="1"/>
          </p:cNvSpPr>
          <p:nvPr>
            <p:ph type="dt" sz="half" idx="10"/>
          </p:nvPr>
        </p:nvSpPr>
        <p:spPr/>
        <p:txBody>
          <a:bodyPr/>
          <a:lstStyle/>
          <a:p>
            <a:fld id="{FDCB8D79-1861-40E5-8F72-CB31B3CFD151}" type="datetime1">
              <a:rPr lang="pl-PL" smtClean="0"/>
              <a:t>29.02.2024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p:cNvSpPr>
            <a:spLocks noGrp="1"/>
          </p:cNvSpPr>
          <p:nvPr>
            <p:ph type="dt" sz="half" idx="10"/>
          </p:nvPr>
        </p:nvSpPr>
        <p:spPr/>
        <p:txBody>
          <a:bodyPr/>
          <a:lstStyle/>
          <a:p>
            <a:fld id="{DD46B526-5DE9-4485-939A-060735463E6F}" type="datetime1">
              <a:rPr lang="pl-PL" smtClean="0"/>
              <a:t>29.02.2024</a:t>
            </a:fld>
            <a:endParaRPr lang="pl-PL" dirty="0"/>
          </a:p>
        </p:txBody>
      </p:sp>
      <p:sp>
        <p:nvSpPr>
          <p:cNvPr id="8" name="Symbol zastępczy stopki 7"/>
          <p:cNvSpPr>
            <a:spLocks noGrp="1"/>
          </p:cNvSpPr>
          <p:nvPr>
            <p:ph type="ftr" sz="quarter" idx="11"/>
          </p:nvPr>
        </p:nvSpPr>
        <p:spPr/>
        <p:txBody>
          <a:bodyPr/>
          <a:lstStyle/>
          <a:p>
            <a:endParaRPr lang="pl-PL" dirty="0"/>
          </a:p>
        </p:txBody>
      </p:sp>
      <p:sp>
        <p:nvSpPr>
          <p:cNvPr id="9" name="Symbol zastępczy numeru slajdu 8"/>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daty 2"/>
          <p:cNvSpPr>
            <a:spLocks noGrp="1"/>
          </p:cNvSpPr>
          <p:nvPr>
            <p:ph type="dt" sz="half" idx="10"/>
          </p:nvPr>
        </p:nvSpPr>
        <p:spPr/>
        <p:txBody>
          <a:bodyPr/>
          <a:lstStyle/>
          <a:p>
            <a:fld id="{F93C53B6-752A-49EF-91B8-B01454185D02}" type="datetime1">
              <a:rPr lang="pl-PL" smtClean="0"/>
              <a:t>29.02.2024</a:t>
            </a:fld>
            <a:endParaRPr lang="pl-PL" dirty="0"/>
          </a:p>
        </p:txBody>
      </p:sp>
      <p:sp>
        <p:nvSpPr>
          <p:cNvPr id="4" name="Symbol zastępczy stopki 3"/>
          <p:cNvSpPr>
            <a:spLocks noGrp="1"/>
          </p:cNvSpPr>
          <p:nvPr>
            <p:ph type="ftr" sz="quarter" idx="11"/>
          </p:nvPr>
        </p:nvSpPr>
        <p:spPr/>
        <p:txBody>
          <a:bodyPr/>
          <a:lstStyle/>
          <a:p>
            <a:endParaRPr lang="pl-PL" dirty="0"/>
          </a:p>
        </p:txBody>
      </p:sp>
      <p:sp>
        <p:nvSpPr>
          <p:cNvPr id="5" name="Symbol zastępczy numeru slajdu 4"/>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p:cNvSpPr>
            <a:spLocks noGrp="1"/>
          </p:cNvSpPr>
          <p:nvPr>
            <p:ph type="dt" sz="half" idx="10"/>
          </p:nvPr>
        </p:nvSpPr>
        <p:spPr/>
        <p:txBody>
          <a:bodyPr/>
          <a:lstStyle/>
          <a:p>
            <a:fld id="{AE60ADEC-94F6-466C-96E8-380859ABD0FC}" type="datetime1">
              <a:rPr lang="pl-PL" smtClean="0"/>
              <a:t>29.02.2024</a:t>
            </a:fld>
            <a:endParaRPr lang="pl-PL" dirty="0"/>
          </a:p>
        </p:txBody>
      </p:sp>
      <p:sp>
        <p:nvSpPr>
          <p:cNvPr id="3" name="Symbol zastępczy stopki 2"/>
          <p:cNvSpPr>
            <a:spLocks noGrp="1"/>
          </p:cNvSpPr>
          <p:nvPr>
            <p:ph type="ftr" sz="quarter" idx="11"/>
          </p:nvPr>
        </p:nvSpPr>
        <p:spPr/>
        <p:txBody>
          <a:bodyPr/>
          <a:lstStyle/>
          <a:p>
            <a:endParaRPr lang="pl-PL" dirty="0"/>
          </a:p>
        </p:txBody>
      </p:sp>
      <p:sp>
        <p:nvSpPr>
          <p:cNvPr id="4" name="Symbol zastępczy numeru slajdu 3"/>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3ED9B978-172D-4D12-A927-77152D472CBF}" type="datetime1">
              <a:rPr lang="pl-PL" smtClean="0"/>
              <a:t>29.02.2024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dirty="0"/>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Symbol zastępczy daty 4"/>
          <p:cNvSpPr>
            <a:spLocks noGrp="1"/>
          </p:cNvSpPr>
          <p:nvPr>
            <p:ph type="dt" sz="half" idx="10"/>
          </p:nvPr>
        </p:nvSpPr>
        <p:spPr/>
        <p:txBody>
          <a:bodyPr/>
          <a:lstStyle/>
          <a:p>
            <a:fld id="{9C6E89DF-7EA8-452F-AF88-78DE748BB068}" type="datetime1">
              <a:rPr lang="pl-PL" smtClean="0"/>
              <a:t>29.02.2024</a:t>
            </a:fld>
            <a:endParaRPr lang="pl-PL" dirty="0"/>
          </a:p>
        </p:txBody>
      </p:sp>
      <p:sp>
        <p:nvSpPr>
          <p:cNvPr id="6" name="Symbol zastępczy stopki 5"/>
          <p:cNvSpPr>
            <a:spLocks noGrp="1"/>
          </p:cNvSpPr>
          <p:nvPr>
            <p:ph type="ftr" sz="quarter" idx="11"/>
          </p:nvPr>
        </p:nvSpPr>
        <p:spPr/>
        <p:txBody>
          <a:bodyPr/>
          <a:lstStyle/>
          <a:p>
            <a:endParaRPr lang="pl-PL" dirty="0"/>
          </a:p>
        </p:txBody>
      </p:sp>
      <p:sp>
        <p:nvSpPr>
          <p:cNvPr id="7" name="Symbol zastępczy numeru slajdu 6"/>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65F72681-A5D9-42F1-A34B-9D4CA08F2816}" type="datetime1">
              <a:rPr lang="pl-PL" smtClean="0"/>
              <a:t>29.02.2024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4638"/>
            <a:ext cx="2057400" cy="5851525"/>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4638"/>
            <a:ext cx="6019800" cy="5851525"/>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10"/>
          </p:nvPr>
        </p:nvSpPr>
        <p:spPr/>
        <p:txBody>
          <a:bodyPr/>
          <a:lstStyle/>
          <a:p>
            <a:fld id="{965529A7-9327-4034-BCAB-153D77F8EAD8}" type="datetime1">
              <a:rPr lang="pl-PL" smtClean="0"/>
              <a:t>29.02.2024</a:t>
            </a:fld>
            <a:endParaRPr lang="pl-PL" dirty="0"/>
          </a:p>
        </p:txBody>
      </p:sp>
      <p:sp>
        <p:nvSpPr>
          <p:cNvPr id="5" name="Symbol zastępczy stopki 4"/>
          <p:cNvSpPr>
            <a:spLocks noGrp="1"/>
          </p:cNvSpPr>
          <p:nvPr>
            <p:ph type="ftr" sz="quarter" idx="11"/>
          </p:nvPr>
        </p:nvSpPr>
        <p:spPr/>
        <p:txBody>
          <a:bodyPr/>
          <a:lstStyle/>
          <a:p>
            <a:endParaRPr lang="pl-PL" dirty="0"/>
          </a:p>
        </p:txBody>
      </p:sp>
      <p:sp>
        <p:nvSpPr>
          <p:cNvPr id="6" name="Symbol zastępczy numeru slajdu 5"/>
          <p:cNvSpPr>
            <a:spLocks noGrp="1"/>
          </p:cNvSpPr>
          <p:nvPr>
            <p:ph type="sldNum" sz="quarter" idx="12"/>
          </p:nvPr>
        </p:nvSpPr>
        <p:spPr/>
        <p:txBody>
          <a:bodyPr/>
          <a:lstStyle/>
          <a:p>
            <a:fld id="{A0C1CA4F-6684-461B-A968-23E3DD2ABA14}" type="slidenum">
              <a:rPr lang="pl-PL" smtClean="0"/>
              <a:pPr/>
              <a:t>‹#›</a:t>
            </a:fld>
            <a:endParaRPr lang="pl-PL"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08866-B86D-4167-AE55-BBC4BAC99BBC}" type="datetime1">
              <a:rPr lang="pl-PL" smtClean="0"/>
              <a:t>29.02.2024</a:t>
            </a:fld>
            <a:endParaRPr lang="pl-PL" dirty="0"/>
          </a:p>
        </p:txBody>
      </p:sp>
      <p:sp>
        <p:nvSpPr>
          <p:cNvPr id="5" name="Symbol zastępczy stop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dirty="0"/>
          </a:p>
        </p:txBody>
      </p:sp>
      <p:sp>
        <p:nvSpPr>
          <p:cNvPr id="6" name="Symbol zastępczy numeru slajd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D4B2D9-DB10-4EB9-B7A6-032A6D4E75AC}" type="slidenum">
              <a:rPr lang="pl-PL" smtClean="0"/>
              <a:pPr/>
              <a:t>‹#›</a:t>
            </a:fld>
            <a:endParaRPr lang="pl-PL" dirty="0"/>
          </a:p>
        </p:txBody>
      </p:sp>
    </p:spTree>
  </p:cSld>
  <p:clrMap bg1="lt1" tx1="dk1" bg2="lt2" tx2="dk2" accent1="accent1" accent2="accent2" accent3="accent3" accent4="accent4" accent5="accent5" accent6="accent6" hlink="hlink" folHlink="folHlink"/>
  <p:sldLayoutIdLst>
    <p:sldLayoutId id="2147484212" r:id="rId1"/>
    <p:sldLayoutId id="2147484213" r:id="rId2"/>
    <p:sldLayoutId id="2147484214" r:id="rId3"/>
    <p:sldLayoutId id="2147484215" r:id="rId4"/>
    <p:sldLayoutId id="2147484216" r:id="rId5"/>
    <p:sldLayoutId id="2147484217" r:id="rId6"/>
    <p:sldLayoutId id="2147484218" r:id="rId7"/>
    <p:sldLayoutId id="2147484219" r:id="rId8"/>
    <p:sldLayoutId id="2147484220" r:id="rId9"/>
    <p:sldLayoutId id="2147484221" r:id="rId10"/>
    <p:sldLayoutId id="2147484222" r:id="rId11"/>
    <p:sldLayoutId id="2147484233"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Symbol zastępczy tytuł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5E7B6-408A-4CCE-8CDF-767618FEAFBE}" type="datetime1">
              <a:rPr lang="pl-PL" smtClean="0"/>
              <a:t>29.02.2024</a:t>
            </a:fld>
            <a:endParaRPr lang="pl-PL" dirty="0"/>
          </a:p>
        </p:txBody>
      </p:sp>
      <p:sp>
        <p:nvSpPr>
          <p:cNvPr id="5" name="Symbol zastępczy stopki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dirty="0"/>
          </a:p>
        </p:txBody>
      </p:sp>
      <p:sp>
        <p:nvSpPr>
          <p:cNvPr id="6" name="Symbol zastępczy numeru slajd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C1CA4F-6684-461B-A968-23E3DD2ABA14}" type="slidenum">
              <a:rPr lang="pl-PL" smtClean="0"/>
              <a:pPr/>
              <a:t>‹#›</a:t>
            </a:fld>
            <a:endParaRPr lang="pl-PL" dirty="0"/>
          </a:p>
        </p:txBody>
      </p:sp>
    </p:spTree>
  </p:cSld>
  <p:clrMap bg1="lt1" tx1="dk1" bg2="lt2" tx2="dk2" accent1="accent1" accent2="accent2" accent3="accent3" accent4="accent4" accent5="accent5" accent6="accent6" hlink="hlink" folHlink="folHlink"/>
  <p:sldLayoutIdLst>
    <p:sldLayoutId id="2147484237" r:id="rId1"/>
    <p:sldLayoutId id="2147484238" r:id="rId2"/>
    <p:sldLayoutId id="2147484239" r:id="rId3"/>
    <p:sldLayoutId id="2147484240" r:id="rId4"/>
    <p:sldLayoutId id="2147484241" r:id="rId5"/>
    <p:sldLayoutId id="2147484242" r:id="rId6"/>
    <p:sldLayoutId id="2147484243" r:id="rId7"/>
    <p:sldLayoutId id="2147484244" r:id="rId8"/>
    <p:sldLayoutId id="2147484245" r:id="rId9"/>
    <p:sldLayoutId id="2147484246" r:id="rId10"/>
    <p:sldLayoutId id="214748424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archive.ics.uci.edu/datasets" TargetMode="External"/><Relationship Id="rId3" Type="http://schemas.openxmlformats.org/officeDocument/2006/relationships/hyperlink" Target="http://scikit-learn.org/stable/user_guide.html" TargetMode="External"/><Relationship Id="rId7" Type="http://schemas.openxmlformats.org/officeDocument/2006/relationships/hyperlink" Target="https://www.kaggle.com/" TargetMode="External"/><Relationship Id="rId2" Type="http://schemas.openxmlformats.org/officeDocument/2006/relationships/hyperlink" Target="http://www.coursera.org/learn/machine-learning" TargetMode="External"/><Relationship Id="rId1" Type="http://schemas.openxmlformats.org/officeDocument/2006/relationships/slideLayout" Target="../slideLayouts/slideLayout2.xml"/><Relationship Id="rId6" Type="http://schemas.openxmlformats.org/officeDocument/2006/relationships/hyperlink" Target="https://www.tensorflow.org/datasets/catalog/overview?hl=pl" TargetMode="External"/><Relationship Id="rId5" Type="http://schemas.openxmlformats.org/officeDocument/2006/relationships/hyperlink" Target="https://scikit-learn.org/stable/datasets.html" TargetMode="External"/><Relationship Id="rId10" Type="http://schemas.openxmlformats.org/officeDocument/2006/relationships/hyperlink" Target="https://www.kdnuggets.com/datasets/index.html" TargetMode="External"/><Relationship Id="rId4" Type="http://schemas.openxmlformats.org/officeDocument/2006/relationships/hyperlink" Target="https://www.dataquest.io/" TargetMode="External"/><Relationship Id="rId9" Type="http://schemas.openxmlformats.org/officeDocument/2006/relationships/hyperlink" Target="https://www.gapminder.org/dat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ctrTitle"/>
          </p:nvPr>
        </p:nvSpPr>
        <p:spPr>
          <a:xfrm>
            <a:off x="457200" y="1905000"/>
            <a:ext cx="8229600" cy="3124200"/>
          </a:xfrm>
        </p:spPr>
        <p:txBody>
          <a:bodyPr anchor="t">
            <a:noAutofit/>
          </a:bodyPr>
          <a:lstStyle/>
          <a:p>
            <a:r>
              <a:rPr lang="pl-PL" sz="4400" b="1" dirty="0">
                <a:solidFill>
                  <a:srgbClr val="0000FF"/>
                </a:solidFill>
                <a:effectLst>
                  <a:outerShdw blurRad="38100" dist="38100" dir="2700000" algn="tl">
                    <a:srgbClr val="000000">
                      <a:alpha val="43137"/>
                    </a:srgbClr>
                  </a:outerShdw>
                </a:effectLst>
                <a:latin typeface="Candara" panose="020E0502030303020204" pitchFamily="34" charset="0"/>
                <a:cs typeface="Arial" panose="020B0604020202020204" pitchFamily="34" charset="0"/>
              </a:rPr>
              <a:t>Modele uczenia maszynowego</a:t>
            </a:r>
            <a:br>
              <a:rPr lang="pl-PL" sz="4400" b="1" dirty="0">
                <a:solidFill>
                  <a:srgbClr val="0000FF"/>
                </a:solidFill>
                <a:latin typeface="Candara" panose="020E0502030303020204" pitchFamily="34" charset="0"/>
              </a:rPr>
            </a:br>
            <a:br>
              <a:rPr lang="pl-PL" sz="4400" dirty="0"/>
            </a:br>
            <a:r>
              <a:rPr lang="pl-PL" sz="2800" b="1" dirty="0">
                <a:effectLst>
                  <a:outerShdw blurRad="38100" dist="38100" dir="2700000" algn="tl">
                    <a:srgbClr val="000000">
                      <a:alpha val="43137"/>
                    </a:srgbClr>
                  </a:outerShdw>
                </a:effectLst>
                <a:latin typeface="Candara" panose="020E0502030303020204" pitchFamily="34" charset="0"/>
              </a:rPr>
              <a:t>Dariusz Put</a:t>
            </a:r>
            <a:endParaRPr lang="en-GB" b="1" dirty="0">
              <a:effectLst>
                <a:outerShdw blurRad="38100" dist="38100" dir="2700000" algn="tl">
                  <a:srgbClr val="000000">
                    <a:alpha val="43137"/>
                  </a:srgbClr>
                </a:outerShdw>
              </a:effectLst>
              <a:latin typeface="Candara" panose="020E0502030303020204" pitchFamily="34" charset="0"/>
            </a:endParaRPr>
          </a:p>
        </p:txBody>
      </p:sp>
    </p:spTree>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2</a:t>
            </a:fld>
            <a:endParaRPr lang="pl-PL" dirty="0"/>
          </a:p>
        </p:txBody>
      </p:sp>
      <p:sp>
        <p:nvSpPr>
          <p:cNvPr id="5" name="TextBox 5"/>
          <p:cNvSpPr txBox="1"/>
          <p:nvPr/>
        </p:nvSpPr>
        <p:spPr>
          <a:xfrm>
            <a:off x="0" y="304800"/>
            <a:ext cx="9144000" cy="4191000"/>
          </a:xfrm>
          <a:prstGeom prst="rect">
            <a:avLst/>
          </a:prstGeom>
          <a:noFill/>
        </p:spPr>
        <p:txBody>
          <a:bodyPr wrap="square" lIns="36000" tIns="36000" rIns="36000" bIns="36000" rtlCol="0">
            <a:noAutofit/>
          </a:bodyPr>
          <a:lstStyle/>
          <a:p>
            <a:r>
              <a:rPr lang="pl-PL" sz="2000" b="1" dirty="0">
                <a:solidFill>
                  <a:srgbClr val="0000FF"/>
                </a:solidFill>
                <a:latin typeface="Arial Narrow" panose="020B0606020202030204" pitchFamily="34" charset="0"/>
              </a:rPr>
              <a:t>Plan przedmiotu</a:t>
            </a:r>
          </a:p>
          <a:p>
            <a:pPr marL="357188" indent="-357188">
              <a:buFont typeface="+mj-lt"/>
              <a:buAutoNum type="arabicPeriod"/>
            </a:pPr>
            <a:r>
              <a:rPr lang="pl-PL" sz="2000" dirty="0">
                <a:latin typeface="Arial Narrow" panose="020B0606020202030204" pitchFamily="34" charset="0"/>
              </a:rPr>
              <a:t>Wybrane pojęcia związane z </a:t>
            </a:r>
            <a:r>
              <a:rPr lang="pl-PL" sz="2000">
                <a:latin typeface="Arial Narrow" panose="020B0606020202030204" pitchFamily="34" charset="0"/>
              </a:rPr>
              <a:t>uczeniem maszynowym</a:t>
            </a:r>
          </a:p>
          <a:p>
            <a:pPr marL="357188" indent="-357188">
              <a:buFont typeface="+mj-lt"/>
              <a:buAutoNum type="arabicPeriod"/>
            </a:pPr>
            <a:r>
              <a:rPr lang="pl-PL" sz="2000">
                <a:latin typeface="Arial Narrow" panose="020B0606020202030204" pitchFamily="34" charset="0"/>
              </a:rPr>
              <a:t>Klasyczne metody uczenia maszynowego</a:t>
            </a:r>
          </a:p>
          <a:p>
            <a:pPr marL="357188" indent="-357188">
              <a:buFont typeface="+mj-lt"/>
              <a:buAutoNum type="arabicPeriod"/>
            </a:pPr>
            <a:r>
              <a:rPr lang="pl-PL" sz="2000">
                <a:latin typeface="Arial Narrow" panose="020B0606020202030204" pitchFamily="34" charset="0"/>
              </a:rPr>
              <a:t>Sieci neuronowe (w tym konwolucyjne)</a:t>
            </a:r>
          </a:p>
          <a:p>
            <a:pPr marL="357188" indent="-357188">
              <a:buFont typeface="+mj-lt"/>
              <a:buAutoNum type="arabicPeriod"/>
            </a:pPr>
            <a:r>
              <a:rPr lang="pl-PL" sz="2000">
                <a:latin typeface="Arial Narrow" panose="020B0606020202030204" pitchFamily="34" charset="0"/>
              </a:rPr>
              <a:t>Uczenie zespołowe</a:t>
            </a:r>
          </a:p>
          <a:p>
            <a:pPr marL="357188" indent="-357188">
              <a:buFont typeface="+mj-lt"/>
              <a:buAutoNum type="arabicPeriod"/>
            </a:pPr>
            <a:r>
              <a:rPr lang="pl-PL" sz="2000">
                <a:latin typeface="Arial Narrow" panose="020B0606020202030204" pitchFamily="34" charset="0"/>
              </a:rPr>
              <a:t>Przetwarzanie tekstu</a:t>
            </a:r>
          </a:p>
          <a:p>
            <a:pPr marL="357188" indent="-357188">
              <a:buFont typeface="+mj-lt"/>
              <a:buAutoNum type="arabicPeriod"/>
            </a:pPr>
            <a:r>
              <a:rPr lang="pl-PL" sz="2000">
                <a:latin typeface="Arial Narrow" panose="020B0606020202030204" pitchFamily="34" charset="0"/>
              </a:rPr>
              <a:t>Przetwarzanie szeregów czasowych</a:t>
            </a:r>
            <a:endParaRPr lang="pl-PL" sz="2000" dirty="0">
              <a:latin typeface="Arial Narrow" panose="020B0606020202030204" pitchFamily="34" charset="0"/>
            </a:endParaRPr>
          </a:p>
          <a:p>
            <a:endParaRPr lang="pl-PL" sz="2000" b="1" dirty="0">
              <a:latin typeface="Arial Narrow" panose="020B0606020202030204" pitchFamily="34" charset="0"/>
            </a:endParaRPr>
          </a:p>
        </p:txBody>
      </p:sp>
    </p:spTree>
    <p:extLst>
      <p:ext uri="{BB962C8B-B14F-4D97-AF65-F5344CB8AC3E}">
        <p14:creationId xmlns:p14="http://schemas.microsoft.com/office/powerpoint/2010/main" val="1025810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3</a:t>
            </a:fld>
            <a:endParaRPr lang="pl-PL" dirty="0"/>
          </a:p>
        </p:txBody>
      </p:sp>
      <p:sp>
        <p:nvSpPr>
          <p:cNvPr id="5" name="pole tekstowe 4"/>
          <p:cNvSpPr txBox="1"/>
          <p:nvPr/>
        </p:nvSpPr>
        <p:spPr>
          <a:xfrm>
            <a:off x="-8106" y="0"/>
            <a:ext cx="9152106" cy="6247864"/>
          </a:xfrm>
          <a:prstGeom prst="rect">
            <a:avLst/>
          </a:prstGeom>
          <a:noFill/>
        </p:spPr>
        <p:txBody>
          <a:bodyPr wrap="square" rtlCol="0">
            <a:spAutoFit/>
          </a:bodyPr>
          <a:lstStyle/>
          <a:p>
            <a:r>
              <a:rPr lang="pl-PL" sz="2000" b="1" dirty="0">
                <a:latin typeface="Arial Narrow" panose="020B0606020202030204" pitchFamily="34" charset="0"/>
              </a:rPr>
              <a:t>Wybrane zasoby Internetu związane z uczeniem maszynowym</a:t>
            </a:r>
          </a:p>
          <a:p>
            <a:endParaRPr lang="pl-PL" sz="2000" dirty="0">
              <a:latin typeface="Arial Narrow" panose="020B0606020202030204" pitchFamily="34" charset="0"/>
            </a:endParaRPr>
          </a:p>
          <a:p>
            <a:r>
              <a:rPr lang="pl-PL" sz="2000" dirty="0">
                <a:latin typeface="Arial Narrow" panose="020B0606020202030204" pitchFamily="34" charset="0"/>
              </a:rPr>
              <a:t>Serwis Coursera. Kurs ML autorstwa Andrew </a:t>
            </a:r>
            <a:r>
              <a:rPr lang="pl-PL" sz="2000" dirty="0" err="1">
                <a:latin typeface="Arial Narrow" panose="020B0606020202030204" pitchFamily="34" charset="0"/>
              </a:rPr>
              <a:t>Ng</a:t>
            </a:r>
            <a:endParaRPr lang="pl-PL" sz="2000" dirty="0">
              <a:latin typeface="Arial Narrow" panose="020B0606020202030204" pitchFamily="34" charset="0"/>
            </a:endParaRPr>
          </a:p>
          <a:p>
            <a:r>
              <a:rPr lang="pl-PL" sz="2000" dirty="0">
                <a:latin typeface="Arial Narrow" panose="020B0606020202030204" pitchFamily="34" charset="0"/>
                <a:hlinkClick r:id="rId2"/>
              </a:rPr>
              <a:t>www.coursera.org/learn/machine-learning</a:t>
            </a:r>
            <a:endParaRPr lang="pl-PL" sz="2000" dirty="0">
              <a:latin typeface="Arial Narrow" panose="020B0606020202030204" pitchFamily="34" charset="0"/>
            </a:endParaRPr>
          </a:p>
          <a:p>
            <a:endParaRPr lang="pl-PL" sz="2000" dirty="0">
              <a:latin typeface="Arial Narrow" panose="020B0606020202030204" pitchFamily="34" charset="0"/>
            </a:endParaRPr>
          </a:p>
          <a:p>
            <a:r>
              <a:rPr lang="pl-PL" sz="2000" dirty="0">
                <a:latin typeface="Arial Narrow" panose="020B0606020202030204" pitchFamily="34" charset="0"/>
              </a:rPr>
              <a:t>Podręcznik użytkownika biblioteki scikit-learn</a:t>
            </a:r>
          </a:p>
          <a:p>
            <a:r>
              <a:rPr lang="pl-PL" sz="2000" dirty="0">
                <a:latin typeface="Arial Narrow" panose="020B0606020202030204" pitchFamily="34" charset="0"/>
                <a:hlinkClick r:id="rId3"/>
              </a:rPr>
              <a:t>http://scikit-learn.org/stable/user_guide.html</a:t>
            </a:r>
            <a:endParaRPr lang="pl-PL" sz="2000" dirty="0">
              <a:latin typeface="Arial Narrow" panose="020B0606020202030204" pitchFamily="34" charset="0"/>
            </a:endParaRPr>
          </a:p>
          <a:p>
            <a:endParaRPr lang="pl-PL" sz="2000" dirty="0">
              <a:latin typeface="Arial Narrow" panose="020B0606020202030204" pitchFamily="34" charset="0"/>
            </a:endParaRPr>
          </a:p>
          <a:p>
            <a:r>
              <a:rPr lang="pl-PL" sz="2000" dirty="0">
                <a:latin typeface="Arial Narrow" panose="020B0606020202030204" pitchFamily="34" charset="0"/>
              </a:rPr>
              <a:t>Interaktywne samouczki dotyczące różnych tematów związanych z przetwarzaniem danych:</a:t>
            </a:r>
          </a:p>
          <a:p>
            <a:r>
              <a:rPr lang="pl-PL" sz="2000" dirty="0">
                <a:latin typeface="Arial Narrow" panose="020B0606020202030204" pitchFamily="34" charset="0"/>
                <a:hlinkClick r:id="rId4"/>
              </a:rPr>
              <a:t>https://www.dataquest.io</a:t>
            </a:r>
            <a:endParaRPr lang="pl-PL" sz="2000" dirty="0">
              <a:latin typeface="Arial Narrow" panose="020B0606020202030204" pitchFamily="34" charset="0"/>
            </a:endParaRPr>
          </a:p>
          <a:p>
            <a:endParaRPr lang="pl-PL" sz="2000" dirty="0">
              <a:latin typeface="Arial Narrow" panose="020B0606020202030204" pitchFamily="34" charset="0"/>
            </a:endParaRPr>
          </a:p>
          <a:p>
            <a:r>
              <a:rPr lang="pl-PL" sz="2000" b="1" dirty="0">
                <a:latin typeface="Arial Narrow" panose="020B0606020202030204" pitchFamily="34" charset="0"/>
              </a:rPr>
              <a:t>Zbiory danych</a:t>
            </a:r>
            <a:r>
              <a:rPr lang="pl-PL" sz="2000" dirty="0">
                <a:latin typeface="Arial Narrow" panose="020B0606020202030204" pitchFamily="34" charset="0"/>
              </a:rPr>
              <a:t> można znaleźć w bibliotekach scikit-learn i tensorflow:</a:t>
            </a:r>
          </a:p>
          <a:p>
            <a:r>
              <a:rPr lang="pl-PL" sz="2000" dirty="0">
                <a:latin typeface="Arial Narrow" panose="020B0606020202030204" pitchFamily="34" charset="0"/>
                <a:hlinkClick r:id="rId5"/>
              </a:rPr>
              <a:t>https://scikit-learn.org/stable/datasets.html</a:t>
            </a:r>
            <a:endParaRPr lang="pl-PL" sz="2000" dirty="0">
              <a:latin typeface="Arial Narrow" panose="020B0606020202030204" pitchFamily="34" charset="0"/>
            </a:endParaRPr>
          </a:p>
          <a:p>
            <a:r>
              <a:rPr lang="pl-PL" sz="2000" dirty="0">
                <a:latin typeface="Arial Narrow" panose="020B0606020202030204" pitchFamily="34" charset="0"/>
                <a:hlinkClick r:id="rId6"/>
              </a:rPr>
              <a:t>https://www.tensorflow.org/datasets/catalog/overview?hl=pl</a:t>
            </a:r>
            <a:endParaRPr lang="pl-PL" sz="2000" dirty="0">
              <a:latin typeface="Arial Narrow" panose="020B0606020202030204" pitchFamily="34" charset="0"/>
            </a:endParaRPr>
          </a:p>
          <a:p>
            <a:r>
              <a:rPr lang="pl-PL" sz="2000" dirty="0">
                <a:latin typeface="Arial Narrow" panose="020B0606020202030204" pitchFamily="34" charset="0"/>
              </a:rPr>
              <a:t>oraz np. na stronie kaggle, na której publikowane są często zadania:</a:t>
            </a:r>
          </a:p>
          <a:p>
            <a:r>
              <a:rPr lang="pl-PL" sz="2000" dirty="0">
                <a:latin typeface="Arial Narrow" panose="020B0606020202030204" pitchFamily="34" charset="0"/>
                <a:hlinkClick r:id="rId7"/>
              </a:rPr>
              <a:t>https://www.kaggle.com/</a:t>
            </a:r>
            <a:endParaRPr lang="pl-PL" sz="2000" dirty="0">
              <a:latin typeface="Arial Narrow" panose="020B0606020202030204" pitchFamily="34" charset="0"/>
            </a:endParaRPr>
          </a:p>
          <a:p>
            <a:r>
              <a:rPr lang="pl-PL" sz="2000" dirty="0">
                <a:latin typeface="Arial Narrow" panose="020B0606020202030204" pitchFamily="34" charset="0"/>
              </a:rPr>
              <a:t>lub innych stronach, m.</a:t>
            </a:r>
            <a:r>
              <a:rPr lang="pl-PL" sz="2000">
                <a:latin typeface="Arial Narrow" panose="020B0606020202030204" pitchFamily="34" charset="0"/>
              </a:rPr>
              <a:t>in.:</a:t>
            </a:r>
            <a:endParaRPr lang="pl-PL" sz="2000" dirty="0">
              <a:latin typeface="Arial Narrow" panose="020B0606020202030204" pitchFamily="34" charset="0"/>
            </a:endParaRPr>
          </a:p>
          <a:p>
            <a:r>
              <a:rPr lang="pl-PL" sz="2000">
                <a:latin typeface="Arial Narrow" panose="020B0606020202030204" pitchFamily="34" charset="0"/>
                <a:hlinkClick r:id="rId8"/>
              </a:rPr>
              <a:t>https://archive.ics.uci.edu/datasets</a:t>
            </a:r>
            <a:endParaRPr lang="pl-PL" sz="2000">
              <a:latin typeface="Arial Narrow" panose="020B0606020202030204" pitchFamily="34" charset="0"/>
            </a:endParaRPr>
          </a:p>
          <a:p>
            <a:r>
              <a:rPr lang="pl-PL" sz="2000">
                <a:latin typeface="Arial Narrow" panose="020B0606020202030204" pitchFamily="34" charset="0"/>
                <a:hlinkClick r:id="rId9"/>
              </a:rPr>
              <a:t>https://www.gapminder.org/data/</a:t>
            </a:r>
            <a:endParaRPr lang="pl-PL" sz="2000">
              <a:latin typeface="Arial Narrow" panose="020B0606020202030204" pitchFamily="34" charset="0"/>
            </a:endParaRPr>
          </a:p>
          <a:p>
            <a:r>
              <a:rPr lang="pl-PL" sz="2000">
                <a:latin typeface="Arial Narrow" panose="020B0606020202030204" pitchFamily="34" charset="0"/>
                <a:hlinkClick r:id="rId10"/>
              </a:rPr>
              <a:t>https://www.kdnuggets.com/datasets/index.html</a:t>
            </a:r>
            <a:endParaRPr lang="pl-PL" sz="2000">
              <a:latin typeface="Arial Narrow" panose="020B0606020202030204" pitchFamily="34" charset="0"/>
            </a:endParaRPr>
          </a:p>
        </p:txBody>
      </p:sp>
    </p:spTree>
    <p:extLst>
      <p:ext uri="{BB962C8B-B14F-4D97-AF65-F5344CB8AC3E}">
        <p14:creationId xmlns:p14="http://schemas.microsoft.com/office/powerpoint/2010/main" val="3435381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0D4B2D9-DB10-4EB9-B7A6-032A6D4E75AC}" type="slidenum">
              <a:rPr lang="pl-PL" smtClean="0"/>
              <a:pPr/>
              <a:t>4</a:t>
            </a:fld>
            <a:endParaRPr lang="pl-PL" dirty="0"/>
          </a:p>
        </p:txBody>
      </p:sp>
      <p:sp>
        <p:nvSpPr>
          <p:cNvPr id="6" name="TextBox 5"/>
          <p:cNvSpPr txBox="1"/>
          <p:nvPr/>
        </p:nvSpPr>
        <p:spPr>
          <a:xfrm>
            <a:off x="0" y="304800"/>
            <a:ext cx="9144000" cy="4191000"/>
          </a:xfrm>
          <a:prstGeom prst="rect">
            <a:avLst/>
          </a:prstGeom>
          <a:noFill/>
        </p:spPr>
        <p:txBody>
          <a:bodyPr wrap="square" lIns="36000" tIns="36000" rIns="36000" bIns="36000" rtlCol="0">
            <a:noAutofit/>
          </a:bodyPr>
          <a:lstStyle/>
          <a:p>
            <a:r>
              <a:rPr lang="pl-PL" sz="2000" b="1" dirty="0">
                <a:solidFill>
                  <a:srgbClr val="0000FF"/>
                </a:solidFill>
                <a:latin typeface="Arial Narrow" panose="020B0606020202030204" pitchFamily="34" charset="0"/>
              </a:rPr>
              <a:t>Plan prezentacji</a:t>
            </a:r>
          </a:p>
          <a:p>
            <a:pPr marL="269875" indent="-269875">
              <a:buFont typeface="+mj-lt"/>
              <a:buAutoNum type="arabicPeriod"/>
            </a:pPr>
            <a:r>
              <a:rPr lang="pl-PL" sz="2000" dirty="0">
                <a:latin typeface="Arial Narrow" panose="020B0606020202030204" pitchFamily="34" charset="0"/>
              </a:rPr>
              <a:t>Wybrane pojęcia związane z uczeniem maszynowym</a:t>
            </a:r>
          </a:p>
          <a:p>
            <a:pPr marL="269875" indent="-269875">
              <a:buFont typeface="+mj-lt"/>
              <a:buAutoNum type="arabicPeriod"/>
            </a:pPr>
            <a:r>
              <a:rPr lang="pl-PL" sz="2000" dirty="0">
                <a:latin typeface="Arial Narrow" panose="020B0606020202030204" pitchFamily="34" charset="0"/>
              </a:rPr>
              <a:t>Rodzaje zadań uczenia maszynowego</a:t>
            </a:r>
          </a:p>
          <a:p>
            <a:pPr marL="269875" indent="-269875">
              <a:buFont typeface="+mj-lt"/>
              <a:buAutoNum type="arabicPeriod"/>
            </a:pPr>
            <a:r>
              <a:rPr lang="pl-PL" sz="2000" dirty="0">
                <a:latin typeface="Arial Narrow" panose="020B0606020202030204" pitchFamily="34" charset="0"/>
              </a:rPr>
              <a:t>Klasyfikacja metod ze względu na sposób uczenia</a:t>
            </a:r>
          </a:p>
          <a:p>
            <a:pPr marL="269875" indent="-269875">
              <a:buFont typeface="+mj-lt"/>
              <a:buAutoNum type="arabicPeriod"/>
            </a:pPr>
            <a:r>
              <a:rPr lang="pl-PL" sz="2000" dirty="0">
                <a:latin typeface="Arial Narrow" panose="020B0606020202030204" pitchFamily="34" charset="0"/>
              </a:rPr>
              <a:t>Przygotowanie danych</a:t>
            </a:r>
          </a:p>
          <a:p>
            <a:pPr marL="269875" indent="-269875">
              <a:buFont typeface="+mj-lt"/>
              <a:buAutoNum type="arabicPeriod"/>
            </a:pPr>
            <a:r>
              <a:rPr lang="pl-PL" sz="2000" dirty="0">
                <a:latin typeface="Arial Narrow" panose="020B0606020202030204" pitchFamily="34" charset="0"/>
              </a:rPr>
              <a:t>GPU a CPU</a:t>
            </a:r>
          </a:p>
          <a:p>
            <a:pPr marL="269875" indent="-269875">
              <a:buFont typeface="+mj-lt"/>
              <a:buAutoNum type="arabicPeriod"/>
            </a:pPr>
            <a:r>
              <a:rPr lang="pl-PL" sz="2000" dirty="0">
                <a:latin typeface="Arial Narrow" panose="020B0606020202030204" pitchFamily="34" charset="0"/>
              </a:rPr>
              <a:t>Biblioteki do uczenia maszynowego</a:t>
            </a:r>
          </a:p>
        </p:txBody>
      </p:sp>
    </p:spTree>
    <p:extLst>
      <p:ext uri="{BB962C8B-B14F-4D97-AF65-F5344CB8AC3E}">
        <p14:creationId xmlns:p14="http://schemas.microsoft.com/office/powerpoint/2010/main" val="2725003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83D82602-3ACC-4341-B614-755528165B64}" type="slidenum">
              <a:rPr lang="pl-PL" smtClean="0"/>
              <a:pPr/>
              <a:t>5</a:t>
            </a:fld>
            <a:endParaRPr lang="pl-PL" dirty="0"/>
          </a:p>
        </p:txBody>
      </p:sp>
      <p:sp>
        <p:nvSpPr>
          <p:cNvPr id="6" name="TextBox 5"/>
          <p:cNvSpPr txBox="1"/>
          <p:nvPr/>
        </p:nvSpPr>
        <p:spPr>
          <a:xfrm>
            <a:off x="0" y="304800"/>
            <a:ext cx="9144000" cy="2514600"/>
          </a:xfrm>
          <a:prstGeom prst="rect">
            <a:avLst/>
          </a:prstGeom>
          <a:noFill/>
        </p:spPr>
        <p:txBody>
          <a:bodyPr wrap="square" lIns="18000" tIns="18000" rIns="18000" bIns="18000" rtlCol="0">
            <a:noAutofit/>
          </a:bodyPr>
          <a:lstStyle/>
          <a:p>
            <a:r>
              <a:rPr lang="pl-PL" sz="2000" b="1" dirty="0">
                <a:latin typeface="Arial Narrow" panose="020B0606020202030204" pitchFamily="34" charset="0"/>
              </a:rPr>
              <a:t>Sztuczna inteligencja (Artificial Intelligence – AI) –</a:t>
            </a:r>
          </a:p>
          <a:p>
            <a:r>
              <a:rPr lang="pl-PL" sz="2000" dirty="0">
                <a:latin typeface="Arial Narrow" panose="020B0606020202030204" pitchFamily="34" charset="0"/>
              </a:rPr>
              <a:t>zbiór metod mających na celu automatyzację procesu myślowego standardowo wykonywanego przez </a:t>
            </a:r>
            <a:r>
              <a:rPr lang="pl-PL" sz="2000">
                <a:latin typeface="Arial Narrow" panose="020B0606020202030204" pitchFamily="34" charset="0"/>
              </a:rPr>
              <a:t>ludzi. AI przetwarza dane w celu podejmowania decyzji i formułowania prognoz.</a:t>
            </a:r>
            <a:endParaRPr lang="pl-PL" sz="2000" dirty="0">
              <a:latin typeface="Arial Narrow" panose="020B0606020202030204" pitchFamily="34" charset="0"/>
            </a:endParaRPr>
          </a:p>
          <a:p>
            <a:endParaRPr lang="pl-PL" sz="2000" dirty="0">
              <a:latin typeface="Arial Narrow" panose="020B0606020202030204" pitchFamily="34" charset="0"/>
            </a:endParaRPr>
          </a:p>
          <a:p>
            <a:r>
              <a:rPr lang="pl-PL" sz="2000" dirty="0">
                <a:latin typeface="Arial Narrow" panose="020B0606020202030204" pitchFamily="34" charset="0"/>
              </a:rPr>
              <a:t>Obecnie AI to szybko rozwijająca się dziedzina, mająca wiele praktycznych zastosowań, m. in.:</a:t>
            </a:r>
          </a:p>
          <a:p>
            <a:pPr marL="174625" indent="-174625">
              <a:buFont typeface="Arial" panose="020B0604020202020204" pitchFamily="34" charset="0"/>
              <a:buChar char="•"/>
            </a:pPr>
            <a:r>
              <a:rPr lang="pl-PL" sz="2000" dirty="0">
                <a:latin typeface="Arial Narrow" panose="020B0606020202030204" pitchFamily="34" charset="0"/>
              </a:rPr>
              <a:t>optymalizacja i automatyzacja procesów,</a:t>
            </a:r>
          </a:p>
          <a:p>
            <a:pPr marL="174625" indent="-174625">
              <a:buFont typeface="Arial" panose="020B0604020202020204" pitchFamily="34" charset="0"/>
              <a:buChar char="•"/>
            </a:pPr>
            <a:r>
              <a:rPr lang="pl-PL" sz="2000" dirty="0">
                <a:latin typeface="Arial Narrow" panose="020B0606020202030204" pitchFamily="34" charset="0"/>
              </a:rPr>
              <a:t>rozpoznawanie tekstu, obrazów, obiektów, mowy,</a:t>
            </a:r>
          </a:p>
          <a:p>
            <a:pPr marL="174625" indent="-174625">
              <a:buFont typeface="Arial" panose="020B0604020202020204" pitchFamily="34" charset="0"/>
              <a:buChar char="•"/>
            </a:pPr>
            <a:r>
              <a:rPr lang="pl-PL" sz="2000" dirty="0">
                <a:latin typeface="Arial Narrow" panose="020B0606020202030204" pitchFamily="34" charset="0"/>
              </a:rPr>
              <a:t>wspomaganie decyzji,</a:t>
            </a:r>
          </a:p>
          <a:p>
            <a:pPr marL="174625" indent="-174625">
              <a:buFont typeface="Arial" panose="020B0604020202020204" pitchFamily="34" charset="0"/>
              <a:buChar char="•"/>
            </a:pPr>
            <a:r>
              <a:rPr lang="pl-PL" sz="2000" dirty="0">
                <a:latin typeface="Arial Narrow" panose="020B0606020202030204" pitchFamily="34" charset="0"/>
              </a:rPr>
              <a:t>analiza transakcji i wyłudzeń finansowych,</a:t>
            </a:r>
          </a:p>
          <a:p>
            <a:pPr marL="174625" indent="-174625">
              <a:buFont typeface="Arial" panose="020B0604020202020204" pitchFamily="34" charset="0"/>
              <a:buChar char="•"/>
            </a:pPr>
            <a:r>
              <a:rPr lang="pl-PL" sz="2000" dirty="0">
                <a:latin typeface="Arial Narrow" panose="020B0606020202030204" pitchFamily="34" charset="0"/>
              </a:rPr>
              <a:t>segmentacja rynku,</a:t>
            </a:r>
          </a:p>
          <a:p>
            <a:pPr marL="174625" indent="-174625">
              <a:buFont typeface="Arial" panose="020B0604020202020204" pitchFamily="34" charset="0"/>
              <a:buChar char="•"/>
            </a:pPr>
            <a:r>
              <a:rPr lang="pl-PL" sz="2000">
                <a:latin typeface="Arial Narrow" panose="020B0606020202030204" pitchFamily="34" charset="0"/>
              </a:rPr>
              <a:t>prognozowanie.</a:t>
            </a:r>
          </a:p>
          <a:p>
            <a:endParaRPr lang="pl-PL" sz="2000">
              <a:latin typeface="Arial Narrow" panose="020B0606020202030204" pitchFamily="34" charset="0"/>
            </a:endParaRPr>
          </a:p>
        </p:txBody>
      </p:sp>
      <p:sp>
        <p:nvSpPr>
          <p:cNvPr id="1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8079C6-BB95-390F-ED38-FA319B06C9F4}"/>
              </a:ext>
            </a:extLst>
          </p:cNvPr>
          <p:cNvSpPr>
            <a:spLocks noGrp="1"/>
          </p:cNvSpPr>
          <p:nvPr>
            <p:ph type="sldNum" sz="quarter" idx="12"/>
          </p:nvPr>
        </p:nvSpPr>
        <p:spPr/>
        <p:txBody>
          <a:bodyPr/>
          <a:lstStyle/>
          <a:p>
            <a:fld id="{20D4B2D9-DB10-4EB9-B7A6-032A6D4E75AC}" type="slidenum">
              <a:rPr lang="pl-PL" smtClean="0"/>
              <a:pPr/>
              <a:t>6</a:t>
            </a:fld>
            <a:endParaRPr lang="pl-PL" dirty="0"/>
          </a:p>
        </p:txBody>
      </p:sp>
      <p:sp>
        <p:nvSpPr>
          <p:cNvPr id="5" name="TextBox 4">
            <a:extLst>
              <a:ext uri="{FF2B5EF4-FFF2-40B4-BE49-F238E27FC236}">
                <a16:creationId xmlns:a16="http://schemas.microsoft.com/office/drawing/2014/main" id="{CED8F797-2F09-05C0-D42F-F8ED5C07D92E}"/>
              </a:ext>
            </a:extLst>
          </p:cNvPr>
          <p:cNvSpPr txBox="1"/>
          <p:nvPr/>
        </p:nvSpPr>
        <p:spPr>
          <a:xfrm>
            <a:off x="0" y="304800"/>
            <a:ext cx="9144000" cy="2514600"/>
          </a:xfrm>
          <a:prstGeom prst="rect">
            <a:avLst/>
          </a:prstGeom>
          <a:noFill/>
        </p:spPr>
        <p:txBody>
          <a:bodyPr wrap="square" lIns="18000" tIns="18000" rIns="18000" bIns="18000" rtlCol="0">
            <a:noAutofit/>
          </a:bodyPr>
          <a:lstStyle/>
          <a:p>
            <a:r>
              <a:rPr lang="pl-PL" sz="2000">
                <a:latin typeface="Arial Narrow" panose="020B0606020202030204" pitchFamily="34" charset="0"/>
              </a:rPr>
              <a:t>Sztuczna inteligencja jest kategorią nadrzędną wobec wszystkich podzbiorów uczenia maszynowego. Pierwszy podzbiór stanowi uczenie maszynowe, kolejnym w jego obrębie jest głębokie uczenie, a wewnątrz niego znajdują się sieci neuronowe. </a:t>
            </a:r>
          </a:p>
          <a:p>
            <a:endParaRPr lang="pl-PL" sz="2000">
              <a:latin typeface="Arial Narrow" panose="020B0606020202030204" pitchFamily="34" charset="0"/>
            </a:endParaRPr>
          </a:p>
          <a:p>
            <a:r>
              <a:rPr lang="pl-PL" sz="2000">
                <a:latin typeface="Arial Narrow" panose="020B0606020202030204" pitchFamily="34" charset="0"/>
              </a:rPr>
              <a:t>Algorytmy </a:t>
            </a:r>
            <a:r>
              <a:rPr lang="pl-PL" sz="2000" b="1">
                <a:latin typeface="Arial Narrow" panose="020B0606020202030204" pitchFamily="34" charset="0"/>
              </a:rPr>
              <a:t>uczenia maszynowego</a:t>
            </a:r>
            <a:r>
              <a:rPr lang="pl-PL" sz="2000">
                <a:latin typeface="Arial Narrow" panose="020B0606020202030204" pitchFamily="34" charset="0"/>
              </a:rPr>
              <a:t> pozwalają AI uczyć się na podstawie danych i rozwijać inteligencję bez konieczności stosowania dodatkowego oprogramowania. </a:t>
            </a:r>
          </a:p>
          <a:p>
            <a:endParaRPr lang="pl-PL" sz="2000" dirty="0">
              <a:latin typeface="Arial Narrow" panose="020B0606020202030204" pitchFamily="34" charset="0"/>
            </a:endParaRPr>
          </a:p>
        </p:txBody>
      </p:sp>
      <p:sp>
        <p:nvSpPr>
          <p:cNvPr id="6" name="Rectangle 2">
            <a:extLst>
              <a:ext uri="{FF2B5EF4-FFF2-40B4-BE49-F238E27FC236}">
                <a16:creationId xmlns:a16="http://schemas.microsoft.com/office/drawing/2014/main" id="{5259AE8F-19C6-449D-4870-6B78227F2DC5}"/>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pic>
        <p:nvPicPr>
          <p:cNvPr id="7" name="Obraz 6">
            <a:extLst>
              <a:ext uri="{FF2B5EF4-FFF2-40B4-BE49-F238E27FC236}">
                <a16:creationId xmlns:a16="http://schemas.microsoft.com/office/drawing/2014/main" id="{833F0A2C-8BAC-360F-9529-80210C18B070}"/>
              </a:ext>
            </a:extLst>
          </p:cNvPr>
          <p:cNvPicPr>
            <a:picLocks noChangeAspect="1"/>
          </p:cNvPicPr>
          <p:nvPr/>
        </p:nvPicPr>
        <p:blipFill>
          <a:blip r:embed="rId2"/>
          <a:stretch>
            <a:fillRect/>
          </a:stretch>
        </p:blipFill>
        <p:spPr>
          <a:xfrm>
            <a:off x="2133600" y="2483006"/>
            <a:ext cx="4104861" cy="4146394"/>
          </a:xfrm>
          <a:prstGeom prst="rect">
            <a:avLst/>
          </a:prstGeom>
        </p:spPr>
      </p:pic>
    </p:spTree>
    <p:extLst>
      <p:ext uri="{BB962C8B-B14F-4D97-AF65-F5344CB8AC3E}">
        <p14:creationId xmlns:p14="http://schemas.microsoft.com/office/powerpoint/2010/main" val="2943540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5CF9B3-CB0D-8362-9813-93B1E6FA116C}"/>
              </a:ext>
            </a:extLst>
          </p:cNvPr>
          <p:cNvSpPr>
            <a:spLocks noGrp="1"/>
          </p:cNvSpPr>
          <p:nvPr>
            <p:ph type="sldNum" sz="quarter" idx="12"/>
          </p:nvPr>
        </p:nvSpPr>
        <p:spPr/>
        <p:txBody>
          <a:bodyPr/>
          <a:lstStyle/>
          <a:p>
            <a:fld id="{20D4B2D9-DB10-4EB9-B7A6-032A6D4E75AC}" type="slidenum">
              <a:rPr lang="pl-PL" smtClean="0"/>
              <a:pPr/>
              <a:t>7</a:t>
            </a:fld>
            <a:endParaRPr lang="pl-PL" dirty="0"/>
          </a:p>
        </p:txBody>
      </p:sp>
      <p:sp>
        <p:nvSpPr>
          <p:cNvPr id="5" name="TextBox 4">
            <a:extLst>
              <a:ext uri="{FF2B5EF4-FFF2-40B4-BE49-F238E27FC236}">
                <a16:creationId xmlns:a16="http://schemas.microsoft.com/office/drawing/2014/main" id="{FE560808-9921-A95F-923F-F6563A67227E}"/>
              </a:ext>
            </a:extLst>
          </p:cNvPr>
          <p:cNvSpPr txBox="1"/>
          <p:nvPr/>
        </p:nvSpPr>
        <p:spPr>
          <a:xfrm>
            <a:off x="0" y="304800"/>
            <a:ext cx="9144000" cy="4191000"/>
          </a:xfrm>
          <a:prstGeom prst="rect">
            <a:avLst/>
          </a:prstGeom>
          <a:noFill/>
        </p:spPr>
        <p:txBody>
          <a:bodyPr wrap="square" lIns="18000" tIns="18000" rIns="18000" bIns="18000" rtlCol="0">
            <a:noAutofit/>
          </a:bodyPr>
          <a:lstStyle/>
          <a:p>
            <a:pPr algn="l"/>
            <a:r>
              <a:rPr lang="pl-PL" sz="2000" b="1" i="0" u="none" strike="noStrike" baseline="0">
                <a:latin typeface="Arial Narrow" panose="020B0606020202030204" pitchFamily="34" charset="0"/>
              </a:rPr>
              <a:t>Uczenie maszynowe (Machine Learning, ML) </a:t>
            </a:r>
            <a:r>
              <a:rPr lang="pl-PL" sz="2000" i="0" u="none" strike="noStrike" baseline="0">
                <a:latin typeface="Arial Narrow" panose="020B0606020202030204" pitchFamily="34" charset="0"/>
              </a:rPr>
              <a:t>to poddziedzina sztucznej inteligencji. Koncentruje się na opracowywaniu algorytmów i modeli umożliwiających komputerom uczenie się i przewidywanie lub podejmowanie decyzji bez konieczności programowania.</a:t>
            </a:r>
          </a:p>
          <a:p>
            <a:pPr algn="l"/>
            <a:r>
              <a:rPr lang="pl-PL" sz="2000" i="0" u="none" strike="noStrike" baseline="0">
                <a:latin typeface="Arial Narrow" panose="020B0606020202030204" pitchFamily="34" charset="0"/>
              </a:rPr>
              <a:t>Jest to narzędzie, które może zrewolucjonizować różne branże poprzez automatyzację procesów, wyciąganie wniosków z dużych zbiorów danych i usprawnianie procesu podejmowania decyzji.</a:t>
            </a:r>
          </a:p>
          <a:p>
            <a:pPr algn="l"/>
            <a:endParaRPr lang="pl-PL" sz="2000">
              <a:latin typeface="Arial Narrow" panose="020B0606020202030204" pitchFamily="34" charset="0"/>
            </a:endParaRPr>
          </a:p>
          <a:p>
            <a:pPr algn="l"/>
            <a:endParaRPr lang="pl-PL" sz="2000" i="0" u="none" strike="noStrike" baseline="0">
              <a:latin typeface="Arial Narrow" panose="020B0606020202030204" pitchFamily="34" charset="0"/>
            </a:endParaRPr>
          </a:p>
          <a:p>
            <a:pPr algn="l"/>
            <a:endParaRPr lang="pl-PL" sz="2000" b="1">
              <a:latin typeface="Arial Narrow" panose="020B0606020202030204" pitchFamily="34" charset="0"/>
            </a:endParaRPr>
          </a:p>
          <a:p>
            <a:pPr algn="l"/>
            <a:endParaRPr lang="pl-PL" sz="2000" b="1" i="0" u="none" strike="noStrike" baseline="0">
              <a:latin typeface="Arial Narrow" panose="020B0606020202030204" pitchFamily="34" charset="0"/>
            </a:endParaRPr>
          </a:p>
          <a:p>
            <a:pPr algn="l"/>
            <a:endParaRPr lang="pl-PL" sz="2000" b="1">
              <a:latin typeface="Arial Narrow" panose="020B0606020202030204" pitchFamily="34" charset="0"/>
            </a:endParaRPr>
          </a:p>
          <a:p>
            <a:pPr algn="l"/>
            <a:r>
              <a:rPr lang="en-US" sz="2000" b="1" i="0" u="none" strike="noStrike" baseline="0">
                <a:solidFill>
                  <a:schemeClr val="bg1">
                    <a:lumMod val="50000"/>
                  </a:schemeClr>
                </a:solidFill>
                <a:latin typeface="Arial Narrow" panose="020B0606020202030204" pitchFamily="34" charset="0"/>
              </a:rPr>
              <a:t>Machine learning</a:t>
            </a:r>
            <a:r>
              <a:rPr lang="en-US" sz="2000" b="0" i="0" u="none" strike="noStrike" baseline="0">
                <a:solidFill>
                  <a:schemeClr val="bg1">
                    <a:lumMod val="50000"/>
                  </a:schemeClr>
                </a:solidFill>
                <a:latin typeface="Arial Narrow" panose="020B0606020202030204" pitchFamily="34" charset="0"/>
              </a:rPr>
              <a:t> is a subfield of artificial intelligence that focuses on the development of algorithms and models</a:t>
            </a:r>
            <a:r>
              <a:rPr lang="pl-PL" sz="2000" b="0" i="0" u="none" strike="noStrike" baseline="0">
                <a:solidFill>
                  <a:schemeClr val="bg1">
                    <a:lumMod val="50000"/>
                  </a:schemeClr>
                </a:solidFill>
                <a:latin typeface="Arial Narrow" panose="020B0606020202030204" pitchFamily="34" charset="0"/>
              </a:rPr>
              <a:t> </a:t>
            </a:r>
            <a:r>
              <a:rPr lang="en-US" sz="2000" b="0" i="0" u="none" strike="noStrike" baseline="0">
                <a:solidFill>
                  <a:schemeClr val="bg1">
                    <a:lumMod val="50000"/>
                  </a:schemeClr>
                </a:solidFill>
                <a:latin typeface="Arial Narrow" panose="020B0606020202030204" pitchFamily="34" charset="0"/>
              </a:rPr>
              <a:t>that enable computers to learn and make predictions or decisions without being explicitly programmed. </a:t>
            </a:r>
            <a:endParaRPr lang="pl-PL" sz="2000" b="0" i="0" u="none" strike="noStrike" baseline="0">
              <a:solidFill>
                <a:schemeClr val="bg1">
                  <a:lumMod val="50000"/>
                </a:schemeClr>
              </a:solidFill>
              <a:latin typeface="Arial Narrow" panose="020B0606020202030204" pitchFamily="34" charset="0"/>
            </a:endParaRPr>
          </a:p>
          <a:p>
            <a:pPr algn="l"/>
            <a:r>
              <a:rPr lang="en-US" sz="2000" b="0" i="0" u="none" strike="noStrike" baseline="0">
                <a:solidFill>
                  <a:schemeClr val="bg1">
                    <a:lumMod val="50000"/>
                  </a:schemeClr>
                </a:solidFill>
                <a:latin typeface="Arial Narrow" panose="020B0606020202030204" pitchFamily="34" charset="0"/>
              </a:rPr>
              <a:t>It is a</a:t>
            </a:r>
            <a:r>
              <a:rPr lang="pl-PL" sz="2000" b="0" i="0" u="none" strike="noStrike" baseline="0">
                <a:solidFill>
                  <a:schemeClr val="bg1">
                    <a:lumMod val="50000"/>
                  </a:schemeClr>
                </a:solidFill>
                <a:latin typeface="Arial Narrow" panose="020B0606020202030204" pitchFamily="34" charset="0"/>
              </a:rPr>
              <a:t> </a:t>
            </a:r>
            <a:r>
              <a:rPr lang="en-US" sz="2000" b="0" i="0" u="none" strike="noStrike" baseline="0">
                <a:solidFill>
                  <a:schemeClr val="bg1">
                    <a:lumMod val="50000"/>
                  </a:schemeClr>
                </a:solidFill>
                <a:latin typeface="Arial Narrow" panose="020B0606020202030204" pitchFamily="34" charset="0"/>
              </a:rPr>
              <a:t>powerful tool that has the potential to revolutionize various industries by automating processes, extracting</a:t>
            </a:r>
            <a:r>
              <a:rPr lang="pl-PL" sz="2000" b="0" i="0" u="none" strike="noStrike" baseline="0">
                <a:solidFill>
                  <a:schemeClr val="bg1">
                    <a:lumMod val="50000"/>
                  </a:schemeClr>
                </a:solidFill>
                <a:latin typeface="Arial Narrow" panose="020B0606020202030204" pitchFamily="34" charset="0"/>
              </a:rPr>
              <a:t> </a:t>
            </a:r>
            <a:r>
              <a:rPr lang="en-US" sz="2000" b="0" i="0" u="none" strike="noStrike" baseline="0">
                <a:solidFill>
                  <a:schemeClr val="bg1">
                    <a:lumMod val="50000"/>
                  </a:schemeClr>
                </a:solidFill>
                <a:latin typeface="Arial Narrow" panose="020B0606020202030204" pitchFamily="34" charset="0"/>
              </a:rPr>
              <a:t>insights from large datasets, and improving decision-making.</a:t>
            </a:r>
            <a:endParaRPr lang="pl-PL" sz="2000" dirty="0">
              <a:solidFill>
                <a:schemeClr val="bg1">
                  <a:lumMod val="50000"/>
                </a:schemeClr>
              </a:solidFill>
              <a:latin typeface="Arial Narrow" panose="020B0606020202030204" pitchFamily="34" charset="0"/>
            </a:endParaRPr>
          </a:p>
        </p:txBody>
      </p:sp>
      <p:sp>
        <p:nvSpPr>
          <p:cNvPr id="6" name="Rectangle 2">
            <a:extLst>
              <a:ext uri="{FF2B5EF4-FFF2-40B4-BE49-F238E27FC236}">
                <a16:creationId xmlns:a16="http://schemas.microsoft.com/office/drawing/2014/main" id="{468DC22F-DCEA-9367-BE9E-97513ADEE063}"/>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692265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585944C-E745-42E6-8893-BCA143753ECD}"/>
              </a:ext>
            </a:extLst>
          </p:cNvPr>
          <p:cNvSpPr>
            <a:spLocks noGrp="1"/>
          </p:cNvSpPr>
          <p:nvPr>
            <p:ph type="sldNum" sz="quarter" idx="12"/>
          </p:nvPr>
        </p:nvSpPr>
        <p:spPr/>
        <p:txBody>
          <a:bodyPr/>
          <a:lstStyle/>
          <a:p>
            <a:fld id="{20D4B2D9-DB10-4EB9-B7A6-032A6D4E75AC}" type="slidenum">
              <a:rPr lang="pl-PL" smtClean="0"/>
              <a:pPr/>
              <a:t>8</a:t>
            </a:fld>
            <a:endParaRPr lang="pl-PL" dirty="0"/>
          </a:p>
        </p:txBody>
      </p:sp>
      <p:sp>
        <p:nvSpPr>
          <p:cNvPr id="5" name="TextBox 4">
            <a:extLst>
              <a:ext uri="{FF2B5EF4-FFF2-40B4-BE49-F238E27FC236}">
                <a16:creationId xmlns:a16="http://schemas.microsoft.com/office/drawing/2014/main" id="{67A6A3A8-B263-F09A-1D78-C9FE88A7E87F}"/>
              </a:ext>
            </a:extLst>
          </p:cNvPr>
          <p:cNvSpPr txBox="1"/>
          <p:nvPr/>
        </p:nvSpPr>
        <p:spPr>
          <a:xfrm>
            <a:off x="0" y="304800"/>
            <a:ext cx="9144000" cy="5867400"/>
          </a:xfrm>
          <a:prstGeom prst="rect">
            <a:avLst/>
          </a:prstGeom>
          <a:noFill/>
        </p:spPr>
        <p:txBody>
          <a:bodyPr wrap="square" lIns="18000" tIns="18000" rIns="18000" bIns="18000" rtlCol="0">
            <a:noAutofit/>
          </a:bodyPr>
          <a:lstStyle/>
          <a:p>
            <a:pPr algn="l"/>
            <a:r>
              <a:rPr lang="en-US" sz="2000" b="1" i="0" u="none" strike="noStrike" baseline="0">
                <a:latin typeface="Arial Narrow" panose="020B0606020202030204" pitchFamily="34" charset="0"/>
              </a:rPr>
              <a:t>Machine learning</a:t>
            </a:r>
            <a:r>
              <a:rPr lang="en-US" sz="2000" b="0" i="0" u="none" strike="noStrike" baseline="0">
                <a:latin typeface="Arial Narrow" panose="020B0606020202030204" pitchFamily="34" charset="0"/>
              </a:rPr>
              <a:t> </a:t>
            </a:r>
            <a:r>
              <a:rPr lang="pl-PL" sz="2000" b="0" i="0" u="none" strike="noStrike" baseline="0">
                <a:latin typeface="Arial Narrow" panose="020B0606020202030204" pitchFamily="34" charset="0"/>
              </a:rPr>
              <a:t>process:</a:t>
            </a:r>
          </a:p>
          <a:p>
            <a:pPr algn="ctr"/>
            <a:r>
              <a:rPr lang="pl-PL" sz="2000" b="1">
                <a:latin typeface="Arial Narrow" panose="020B0606020202030204" pitchFamily="34" charset="0"/>
              </a:rPr>
              <a:t>1. Zdefiniowanie problemu</a:t>
            </a:r>
            <a:br>
              <a:rPr lang="pl-PL" sz="2000">
                <a:latin typeface="Arial Narrow" panose="020B0606020202030204" pitchFamily="34" charset="0"/>
              </a:rPr>
            </a:br>
            <a:r>
              <a:rPr lang="pl-PL">
                <a:latin typeface="Arial Narrow" panose="020B0606020202030204" pitchFamily="34" charset="0"/>
              </a:rPr>
              <a:t>(czego model ma się nauczyć, do czego będzie wykorzystywany?)</a:t>
            </a:r>
            <a:endParaRPr lang="pl-PL" sz="2000">
              <a:latin typeface="Arial Narrow" panose="020B0606020202030204" pitchFamily="34" charset="0"/>
            </a:endParaRPr>
          </a:p>
          <a:p>
            <a:pPr algn="ctr"/>
            <a:endParaRPr lang="pl-PL" sz="2000">
              <a:latin typeface="Arial Narrow" panose="020B0606020202030204" pitchFamily="34" charset="0"/>
            </a:endParaRPr>
          </a:p>
          <a:p>
            <a:pPr algn="ctr"/>
            <a:r>
              <a:rPr lang="pl-PL" sz="2000" b="1">
                <a:latin typeface="Arial Narrow" panose="020B0606020202030204" pitchFamily="34" charset="0"/>
              </a:rPr>
              <a:t>2. Zgromadzenie i przygotowanie danych </a:t>
            </a:r>
            <a:br>
              <a:rPr lang="pl-PL" sz="2000">
                <a:latin typeface="Arial Narrow" panose="020B0606020202030204" pitchFamily="34" charset="0"/>
              </a:rPr>
            </a:br>
            <a:r>
              <a:rPr lang="pl-PL" sz="2000">
                <a:latin typeface="Arial Narrow" panose="020B0606020202030204" pitchFamily="34" charset="0"/>
              </a:rPr>
              <a:t>(dane muszą mieć wysoką jakość, być reprezentatywne, spójne i wolne od szumu)</a:t>
            </a:r>
          </a:p>
          <a:p>
            <a:pPr algn="ctr"/>
            <a:endParaRPr lang="pl-PL" sz="2000">
              <a:latin typeface="Arial Narrow" panose="020B0606020202030204" pitchFamily="34" charset="0"/>
            </a:endParaRPr>
          </a:p>
          <a:p>
            <a:pPr algn="ctr"/>
            <a:r>
              <a:rPr lang="pl-PL" sz="2000" b="1">
                <a:latin typeface="Arial Narrow" panose="020B0606020202030204" pitchFamily="34" charset="0"/>
              </a:rPr>
              <a:t>3. Podział danych na treningowe i testowe</a:t>
            </a:r>
          </a:p>
          <a:p>
            <a:pPr algn="ctr"/>
            <a:endParaRPr lang="pl-PL" sz="2000" b="1">
              <a:latin typeface="Arial Narrow" panose="020B0606020202030204" pitchFamily="34" charset="0"/>
            </a:endParaRPr>
          </a:p>
          <a:p>
            <a:pPr algn="ctr"/>
            <a:r>
              <a:rPr lang="pl-PL" sz="2000" b="1">
                <a:latin typeface="Arial Narrow" panose="020B0606020202030204" pitchFamily="34" charset="0"/>
              </a:rPr>
              <a:t>4. Wybór algorytmu trenowania modelu (lub kilku modeli)</a:t>
            </a:r>
            <a:br>
              <a:rPr lang="pl-PL" sz="2000">
                <a:latin typeface="Arial Narrow" panose="020B0606020202030204" pitchFamily="34" charset="0"/>
              </a:rPr>
            </a:br>
            <a:r>
              <a:rPr lang="pl-PL" sz="2000">
                <a:latin typeface="Arial Narrow" panose="020B0606020202030204" pitchFamily="34" charset="0"/>
              </a:rPr>
              <a:t>(algorytm musi być dostosowany do typu problemu i formy posiadanych danych)</a:t>
            </a:r>
          </a:p>
          <a:p>
            <a:pPr algn="ctr"/>
            <a:endParaRPr lang="pl-PL" sz="2000">
              <a:latin typeface="Arial Narrow" panose="020B0606020202030204" pitchFamily="34" charset="0"/>
            </a:endParaRPr>
          </a:p>
          <a:p>
            <a:pPr algn="ctr"/>
            <a:r>
              <a:rPr lang="pl-PL" sz="2000" b="1">
                <a:latin typeface="Arial Narrow" panose="020B0606020202030204" pitchFamily="34" charset="0"/>
              </a:rPr>
              <a:t>5. Wytrenowanie modelu</a:t>
            </a:r>
            <a:br>
              <a:rPr lang="pl-PL" sz="2000">
                <a:latin typeface="Arial Narrow" panose="020B0606020202030204" pitchFamily="34" charset="0"/>
              </a:rPr>
            </a:br>
            <a:r>
              <a:rPr lang="pl-PL" sz="2000">
                <a:latin typeface="Arial Narrow" panose="020B0606020202030204" pitchFamily="34" charset="0"/>
              </a:rPr>
              <a:t>(trenowanie polega na zmniejszaniu błędu i zwiększaniu dokładności predykcji)</a:t>
            </a:r>
          </a:p>
          <a:p>
            <a:pPr algn="ctr"/>
            <a:endParaRPr lang="pl-PL" sz="2000">
              <a:latin typeface="Arial Narrow" panose="020B0606020202030204" pitchFamily="34" charset="0"/>
            </a:endParaRPr>
          </a:p>
          <a:p>
            <a:pPr algn="ctr"/>
            <a:r>
              <a:rPr lang="pl-PL" sz="2000" b="1">
                <a:latin typeface="Arial Narrow" panose="020B0606020202030204" pitchFamily="34" charset="0"/>
              </a:rPr>
              <a:t>6. Oszacowanie poprawności działania modelu i, jeśli to konieczne, </a:t>
            </a:r>
            <a:br>
              <a:rPr lang="pl-PL" sz="2000" b="1">
                <a:latin typeface="Arial Narrow" panose="020B0606020202030204" pitchFamily="34" charset="0"/>
              </a:rPr>
            </a:br>
            <a:r>
              <a:rPr lang="pl-PL" sz="2000" b="1">
                <a:latin typeface="Arial Narrow" panose="020B0606020202030204" pitchFamily="34" charset="0"/>
              </a:rPr>
              <a:t>dostrojenie i powrót do punktu 5 (lub nawet 4)</a:t>
            </a:r>
            <a:endParaRPr lang="pl-PL" sz="2000">
              <a:latin typeface="Arial Narrow" panose="020B0606020202030204" pitchFamily="34" charset="0"/>
            </a:endParaRPr>
          </a:p>
          <a:p>
            <a:pPr algn="ctr"/>
            <a:endParaRPr lang="pl-PL" sz="2000">
              <a:latin typeface="Arial Narrow" panose="020B0606020202030204" pitchFamily="34" charset="0"/>
            </a:endParaRPr>
          </a:p>
          <a:p>
            <a:pPr algn="ctr"/>
            <a:r>
              <a:rPr lang="pl-PL" sz="2000" b="1">
                <a:latin typeface="Arial Narrow" panose="020B0606020202030204" pitchFamily="34" charset="0"/>
              </a:rPr>
              <a:t>7. Wdrożenie i monitorowanie działania modelu</a:t>
            </a:r>
            <a:endParaRPr lang="pl-PL" sz="2000">
              <a:latin typeface="Arial Narrow" panose="020B0606020202030204" pitchFamily="34" charset="0"/>
            </a:endParaRPr>
          </a:p>
        </p:txBody>
      </p:sp>
      <p:sp>
        <p:nvSpPr>
          <p:cNvPr id="6" name="Arrow: Down 5">
            <a:extLst>
              <a:ext uri="{FF2B5EF4-FFF2-40B4-BE49-F238E27FC236}">
                <a16:creationId xmlns:a16="http://schemas.microsoft.com/office/drawing/2014/main" id="{8AE3684E-61C7-AF89-0CE4-B0318318F6FA}"/>
              </a:ext>
            </a:extLst>
          </p:cNvPr>
          <p:cNvSpPr/>
          <p:nvPr/>
        </p:nvSpPr>
        <p:spPr>
          <a:xfrm>
            <a:off x="4419600" y="1237146"/>
            <a:ext cx="304800" cy="381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Arrow: Down 6">
            <a:extLst>
              <a:ext uri="{FF2B5EF4-FFF2-40B4-BE49-F238E27FC236}">
                <a16:creationId xmlns:a16="http://schemas.microsoft.com/office/drawing/2014/main" id="{6356B177-2797-A6CD-1604-5DCC8D218FDC}"/>
              </a:ext>
            </a:extLst>
          </p:cNvPr>
          <p:cNvSpPr/>
          <p:nvPr/>
        </p:nvSpPr>
        <p:spPr>
          <a:xfrm>
            <a:off x="4419600" y="2131668"/>
            <a:ext cx="304800" cy="381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Arrow: Down 7">
            <a:extLst>
              <a:ext uri="{FF2B5EF4-FFF2-40B4-BE49-F238E27FC236}">
                <a16:creationId xmlns:a16="http://schemas.microsoft.com/office/drawing/2014/main" id="{EE0009A1-1429-8318-F0BC-AD03C5F216BD}"/>
              </a:ext>
            </a:extLst>
          </p:cNvPr>
          <p:cNvSpPr/>
          <p:nvPr/>
        </p:nvSpPr>
        <p:spPr>
          <a:xfrm>
            <a:off x="4419600" y="3669196"/>
            <a:ext cx="304800" cy="381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Arrow: Down 8">
            <a:extLst>
              <a:ext uri="{FF2B5EF4-FFF2-40B4-BE49-F238E27FC236}">
                <a16:creationId xmlns:a16="http://schemas.microsoft.com/office/drawing/2014/main" id="{D303ED05-BBB3-B80A-DC89-6FECBDD7CCAF}"/>
              </a:ext>
            </a:extLst>
          </p:cNvPr>
          <p:cNvSpPr/>
          <p:nvPr/>
        </p:nvSpPr>
        <p:spPr>
          <a:xfrm>
            <a:off x="4419600" y="4580007"/>
            <a:ext cx="304800" cy="381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Arrow: Down 9">
            <a:extLst>
              <a:ext uri="{FF2B5EF4-FFF2-40B4-BE49-F238E27FC236}">
                <a16:creationId xmlns:a16="http://schemas.microsoft.com/office/drawing/2014/main" id="{8113ECD6-8152-F7D1-D5C2-ECA41877D2F2}"/>
              </a:ext>
            </a:extLst>
          </p:cNvPr>
          <p:cNvSpPr/>
          <p:nvPr/>
        </p:nvSpPr>
        <p:spPr>
          <a:xfrm>
            <a:off x="4419600" y="5486400"/>
            <a:ext cx="304800" cy="381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Arrow: Down 10">
            <a:extLst>
              <a:ext uri="{FF2B5EF4-FFF2-40B4-BE49-F238E27FC236}">
                <a16:creationId xmlns:a16="http://schemas.microsoft.com/office/drawing/2014/main" id="{2271696C-1C7E-DE59-DEF6-1B956A6A3B89}"/>
              </a:ext>
            </a:extLst>
          </p:cNvPr>
          <p:cNvSpPr/>
          <p:nvPr/>
        </p:nvSpPr>
        <p:spPr>
          <a:xfrm>
            <a:off x="4419600" y="2735332"/>
            <a:ext cx="304800" cy="3810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 name="Rectangle 2">
            <a:extLst>
              <a:ext uri="{FF2B5EF4-FFF2-40B4-BE49-F238E27FC236}">
                <a16:creationId xmlns:a16="http://schemas.microsoft.com/office/drawing/2014/main" id="{49D5BFF9-71A7-4E1F-EF89-EA4B10899BBF}"/>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4239566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a:extLst>
              <a:ext uri="{FF2B5EF4-FFF2-40B4-BE49-F238E27FC236}">
                <a16:creationId xmlns:a16="http://schemas.microsoft.com/office/drawing/2014/main" id="{FE61B7AA-55BA-45D2-8266-E09340708314}"/>
              </a:ext>
            </a:extLst>
          </p:cNvPr>
          <p:cNvSpPr>
            <a:spLocks noGrp="1"/>
          </p:cNvSpPr>
          <p:nvPr>
            <p:ph type="sldNum" sz="quarter" idx="12"/>
          </p:nvPr>
        </p:nvSpPr>
        <p:spPr/>
        <p:txBody>
          <a:bodyPr/>
          <a:lstStyle/>
          <a:p>
            <a:fld id="{20D4B2D9-DB10-4EB9-B7A6-032A6D4E75AC}" type="slidenum">
              <a:rPr lang="pl-PL" smtClean="0"/>
              <a:pPr/>
              <a:t>9</a:t>
            </a:fld>
            <a:endParaRPr lang="pl-PL" dirty="0"/>
          </a:p>
        </p:txBody>
      </p:sp>
      <p:sp>
        <p:nvSpPr>
          <p:cNvPr id="5" name="TextBox 5">
            <a:extLst>
              <a:ext uri="{FF2B5EF4-FFF2-40B4-BE49-F238E27FC236}">
                <a16:creationId xmlns:a16="http://schemas.microsoft.com/office/drawing/2014/main" id="{AB572517-9A7D-438C-A30E-B58B88934D26}"/>
              </a:ext>
            </a:extLst>
          </p:cNvPr>
          <p:cNvSpPr txBox="1"/>
          <p:nvPr/>
        </p:nvSpPr>
        <p:spPr>
          <a:xfrm>
            <a:off x="0" y="304800"/>
            <a:ext cx="9144000" cy="1323582"/>
          </a:xfrm>
          <a:prstGeom prst="rect">
            <a:avLst/>
          </a:prstGeom>
          <a:noFill/>
        </p:spPr>
        <p:txBody>
          <a:bodyPr wrap="square" lIns="18000" tIns="18000" rIns="18000" bIns="18000" rtlCol="0">
            <a:noAutofit/>
          </a:bodyPr>
          <a:lstStyle/>
          <a:p>
            <a:r>
              <a:rPr lang="pl-PL" sz="2000" b="1">
                <a:latin typeface="Arial Narrow" panose="020B0606020202030204" pitchFamily="34" charset="0"/>
              </a:rPr>
              <a:t>Uczenie maszynowe:</a:t>
            </a:r>
            <a:endParaRPr lang="pl-PL" sz="2000" b="1" dirty="0">
              <a:latin typeface="Arial Narrow" panose="020B0606020202030204" pitchFamily="34" charset="0"/>
            </a:endParaRPr>
          </a:p>
          <a:p>
            <a:r>
              <a:rPr lang="pl-PL" sz="2000" dirty="0">
                <a:latin typeface="Arial Narrow" panose="020B0606020202030204" pitchFamily="34" charset="0"/>
              </a:rPr>
              <a:t>Człowiek wprowadza dane oraz oczekiwane odpowiedzi a komputer ma utworzyć reguły pozwalające na ich uzyskanie – system uczenia maszynowego jest </a:t>
            </a:r>
            <a:r>
              <a:rPr lang="pl-PL" sz="2000" b="1" dirty="0">
                <a:latin typeface="Arial Narrow" panose="020B0606020202030204" pitchFamily="34" charset="0"/>
              </a:rPr>
              <a:t>trenowany</a:t>
            </a:r>
            <a:r>
              <a:rPr lang="pl-PL" sz="2000" dirty="0">
                <a:latin typeface="Arial Narrow" panose="020B0606020202030204" pitchFamily="34" charset="0"/>
              </a:rPr>
              <a:t>, służy do odkrywania </a:t>
            </a:r>
            <a:r>
              <a:rPr lang="pl-PL" sz="2000" b="1" dirty="0">
                <a:solidFill>
                  <a:srgbClr val="00B050"/>
                </a:solidFill>
                <a:latin typeface="Arial Narrow" panose="020B0606020202030204" pitchFamily="34" charset="0"/>
              </a:rPr>
              <a:t>reguł</a:t>
            </a:r>
            <a:r>
              <a:rPr lang="pl-PL" sz="2000" dirty="0">
                <a:latin typeface="Arial Narrow" panose="020B0606020202030204" pitchFamily="34" charset="0"/>
              </a:rPr>
              <a:t>.</a:t>
            </a:r>
          </a:p>
        </p:txBody>
      </p:sp>
      <p:sp>
        <p:nvSpPr>
          <p:cNvPr id="6" name="Rectangle 2">
            <a:extLst>
              <a:ext uri="{FF2B5EF4-FFF2-40B4-BE49-F238E27FC236}">
                <a16:creationId xmlns:a16="http://schemas.microsoft.com/office/drawing/2014/main" id="{FB4D9347-6981-4D5E-8FF4-9197C04D05AC}"/>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7" name="TextBox 1">
            <a:extLst>
              <a:ext uri="{FF2B5EF4-FFF2-40B4-BE49-F238E27FC236}">
                <a16:creationId xmlns:a16="http://schemas.microsoft.com/office/drawing/2014/main" id="{A66DF784-8830-4D03-947C-083E9DBD2285}"/>
              </a:ext>
            </a:extLst>
          </p:cNvPr>
          <p:cNvSpPr txBox="1"/>
          <p:nvPr/>
        </p:nvSpPr>
        <p:spPr>
          <a:xfrm>
            <a:off x="2008274" y="1784860"/>
            <a:ext cx="1676400" cy="830997"/>
          </a:xfrm>
          <a:prstGeom prst="rect">
            <a:avLst/>
          </a:prstGeom>
          <a:noFill/>
          <a:ln>
            <a:solidFill>
              <a:schemeClr val="tx1"/>
            </a:solidFill>
          </a:ln>
        </p:spPr>
        <p:txBody>
          <a:bodyPr wrap="square" rtlCol="0">
            <a:spAutoFit/>
          </a:bodyPr>
          <a:lstStyle/>
          <a:p>
            <a:endParaRPr lang="pl-PL" sz="1400" dirty="0">
              <a:latin typeface="Arial Narrow" panose="020B0606020202030204" pitchFamily="34" charset="0"/>
            </a:endParaRPr>
          </a:p>
          <a:p>
            <a:pPr algn="ctr"/>
            <a:r>
              <a:rPr lang="pl-PL" sz="2000" dirty="0">
                <a:latin typeface="Arial Narrow" panose="020B0606020202030204" pitchFamily="34" charset="0"/>
              </a:rPr>
              <a:t>programowanie </a:t>
            </a:r>
          </a:p>
          <a:p>
            <a:endParaRPr lang="en-US" sz="1400" dirty="0">
              <a:latin typeface="Arial Narrow" panose="020B0606020202030204" pitchFamily="34" charset="0"/>
            </a:endParaRPr>
          </a:p>
        </p:txBody>
      </p:sp>
      <p:sp>
        <p:nvSpPr>
          <p:cNvPr id="8" name="TextBox 2">
            <a:extLst>
              <a:ext uri="{FF2B5EF4-FFF2-40B4-BE49-F238E27FC236}">
                <a16:creationId xmlns:a16="http://schemas.microsoft.com/office/drawing/2014/main" id="{72BF69B0-E5D9-454D-BE30-9A33E582E97E}"/>
              </a:ext>
            </a:extLst>
          </p:cNvPr>
          <p:cNvSpPr txBox="1"/>
          <p:nvPr/>
        </p:nvSpPr>
        <p:spPr>
          <a:xfrm>
            <a:off x="191312" y="2181807"/>
            <a:ext cx="753732" cy="369332"/>
          </a:xfrm>
          <a:prstGeom prst="rect">
            <a:avLst/>
          </a:prstGeom>
          <a:noFill/>
        </p:spPr>
        <p:txBody>
          <a:bodyPr wrap="none" rtlCol="0">
            <a:spAutoFit/>
          </a:bodyPr>
          <a:lstStyle/>
          <a:p>
            <a:r>
              <a:rPr lang="pl-PL" b="1" dirty="0">
                <a:solidFill>
                  <a:srgbClr val="00B050"/>
                </a:solidFill>
                <a:latin typeface="Arial Narrow" panose="020B0606020202030204" pitchFamily="34" charset="0"/>
              </a:rPr>
              <a:t>reguły</a:t>
            </a:r>
            <a:endParaRPr lang="en-US" b="1" dirty="0">
              <a:solidFill>
                <a:srgbClr val="00B050"/>
              </a:solidFill>
              <a:latin typeface="Arial Narrow" panose="020B0606020202030204" pitchFamily="34" charset="0"/>
            </a:endParaRPr>
          </a:p>
        </p:txBody>
      </p:sp>
      <p:sp>
        <p:nvSpPr>
          <p:cNvPr id="9" name="TextBox 17">
            <a:extLst>
              <a:ext uri="{FF2B5EF4-FFF2-40B4-BE49-F238E27FC236}">
                <a16:creationId xmlns:a16="http://schemas.microsoft.com/office/drawing/2014/main" id="{75C8DE92-2420-4D6B-AE5C-CE732239E766}"/>
              </a:ext>
            </a:extLst>
          </p:cNvPr>
          <p:cNvSpPr txBox="1"/>
          <p:nvPr/>
        </p:nvSpPr>
        <p:spPr>
          <a:xfrm>
            <a:off x="308724" y="1752600"/>
            <a:ext cx="627095" cy="369332"/>
          </a:xfrm>
          <a:prstGeom prst="rect">
            <a:avLst/>
          </a:prstGeom>
          <a:noFill/>
        </p:spPr>
        <p:txBody>
          <a:bodyPr wrap="none" rtlCol="0">
            <a:spAutoFit/>
          </a:bodyPr>
          <a:lstStyle/>
          <a:p>
            <a:r>
              <a:rPr lang="pl-PL" dirty="0">
                <a:latin typeface="Arial Narrow" panose="020B0606020202030204" pitchFamily="34" charset="0"/>
              </a:rPr>
              <a:t>dane</a:t>
            </a:r>
            <a:endParaRPr lang="en-US" dirty="0">
              <a:latin typeface="Arial Narrow" panose="020B0606020202030204" pitchFamily="34" charset="0"/>
            </a:endParaRPr>
          </a:p>
        </p:txBody>
      </p:sp>
      <p:sp>
        <p:nvSpPr>
          <p:cNvPr id="10" name="TextBox 18">
            <a:extLst>
              <a:ext uri="{FF2B5EF4-FFF2-40B4-BE49-F238E27FC236}">
                <a16:creationId xmlns:a16="http://schemas.microsoft.com/office/drawing/2014/main" id="{DBFC176D-550C-48AC-968E-6DEAED759952}"/>
              </a:ext>
            </a:extLst>
          </p:cNvPr>
          <p:cNvSpPr txBox="1"/>
          <p:nvPr/>
        </p:nvSpPr>
        <p:spPr>
          <a:xfrm>
            <a:off x="4775587" y="1999559"/>
            <a:ext cx="699230" cy="369332"/>
          </a:xfrm>
          <a:prstGeom prst="rect">
            <a:avLst/>
          </a:prstGeom>
          <a:noFill/>
        </p:spPr>
        <p:txBody>
          <a:bodyPr wrap="none" rtlCol="0">
            <a:spAutoFit/>
          </a:bodyPr>
          <a:lstStyle/>
          <a:p>
            <a:r>
              <a:rPr lang="pl-PL" dirty="0">
                <a:latin typeface="Arial Narrow" panose="020B0606020202030204" pitchFamily="34" charset="0"/>
              </a:rPr>
              <a:t>wyniki</a:t>
            </a:r>
            <a:endParaRPr lang="en-US" dirty="0">
              <a:latin typeface="Arial Narrow" panose="020B0606020202030204" pitchFamily="34" charset="0"/>
            </a:endParaRPr>
          </a:p>
        </p:txBody>
      </p:sp>
      <p:cxnSp>
        <p:nvCxnSpPr>
          <p:cNvPr id="11" name="Straight Arrow Connector 7">
            <a:extLst>
              <a:ext uri="{FF2B5EF4-FFF2-40B4-BE49-F238E27FC236}">
                <a16:creationId xmlns:a16="http://schemas.microsoft.com/office/drawing/2014/main" id="{123B1DC0-ED95-466F-AC10-D50ABA469299}"/>
              </a:ext>
            </a:extLst>
          </p:cNvPr>
          <p:cNvCxnSpPr/>
          <p:nvPr/>
        </p:nvCxnSpPr>
        <p:spPr>
          <a:xfrm>
            <a:off x="865274" y="1981200"/>
            <a:ext cx="1143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9">
            <a:extLst>
              <a:ext uri="{FF2B5EF4-FFF2-40B4-BE49-F238E27FC236}">
                <a16:creationId xmlns:a16="http://schemas.microsoft.com/office/drawing/2014/main" id="{454AA6EB-ABF1-4939-BFB0-FC719CA52BD5}"/>
              </a:ext>
            </a:extLst>
          </p:cNvPr>
          <p:cNvCxnSpPr/>
          <p:nvPr/>
        </p:nvCxnSpPr>
        <p:spPr>
          <a:xfrm>
            <a:off x="865274" y="2398739"/>
            <a:ext cx="1143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20">
            <a:extLst>
              <a:ext uri="{FF2B5EF4-FFF2-40B4-BE49-F238E27FC236}">
                <a16:creationId xmlns:a16="http://schemas.microsoft.com/office/drawing/2014/main" id="{63C07BC7-5112-4191-BD2B-32EA8EBFFD85}"/>
              </a:ext>
            </a:extLst>
          </p:cNvPr>
          <p:cNvCxnSpPr/>
          <p:nvPr/>
        </p:nvCxnSpPr>
        <p:spPr>
          <a:xfrm>
            <a:off x="3696249" y="2207375"/>
            <a:ext cx="1143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21">
            <a:extLst>
              <a:ext uri="{FF2B5EF4-FFF2-40B4-BE49-F238E27FC236}">
                <a16:creationId xmlns:a16="http://schemas.microsoft.com/office/drawing/2014/main" id="{12011F8E-86A4-40B0-AFBC-B8CC5FB0667E}"/>
              </a:ext>
            </a:extLst>
          </p:cNvPr>
          <p:cNvSpPr txBox="1"/>
          <p:nvPr/>
        </p:nvSpPr>
        <p:spPr>
          <a:xfrm>
            <a:off x="2008274" y="3449967"/>
            <a:ext cx="1676400" cy="828000"/>
          </a:xfrm>
          <a:prstGeom prst="rect">
            <a:avLst/>
          </a:prstGeom>
          <a:noFill/>
          <a:ln>
            <a:solidFill>
              <a:schemeClr val="tx1"/>
            </a:solidFill>
          </a:ln>
        </p:spPr>
        <p:txBody>
          <a:bodyPr wrap="square" rtlCol="0" anchor="ctr" anchorCtr="0">
            <a:spAutoFit/>
          </a:bodyPr>
          <a:lstStyle/>
          <a:p>
            <a:pPr algn="ctr"/>
            <a:r>
              <a:rPr lang="pl-PL" sz="2000" dirty="0">
                <a:latin typeface="Arial Narrow" panose="020B0606020202030204" pitchFamily="34" charset="0"/>
              </a:rPr>
              <a:t>uczenie maszynowe </a:t>
            </a:r>
          </a:p>
        </p:txBody>
      </p:sp>
      <p:sp>
        <p:nvSpPr>
          <p:cNvPr id="15" name="TextBox 22">
            <a:extLst>
              <a:ext uri="{FF2B5EF4-FFF2-40B4-BE49-F238E27FC236}">
                <a16:creationId xmlns:a16="http://schemas.microsoft.com/office/drawing/2014/main" id="{21131AE4-BFF3-4125-9355-4843F8E90C53}"/>
              </a:ext>
            </a:extLst>
          </p:cNvPr>
          <p:cNvSpPr txBox="1"/>
          <p:nvPr/>
        </p:nvSpPr>
        <p:spPr>
          <a:xfrm>
            <a:off x="0" y="3874725"/>
            <a:ext cx="930063" cy="369332"/>
          </a:xfrm>
          <a:prstGeom prst="rect">
            <a:avLst/>
          </a:prstGeom>
          <a:noFill/>
        </p:spPr>
        <p:txBody>
          <a:bodyPr wrap="none" rtlCol="0">
            <a:spAutoFit/>
          </a:bodyPr>
          <a:lstStyle/>
          <a:p>
            <a:r>
              <a:rPr lang="pl-PL" dirty="0">
                <a:latin typeface="Arial Narrow" panose="020B0606020202030204" pitchFamily="34" charset="0"/>
              </a:rPr>
              <a:t>wyniki(?)</a:t>
            </a:r>
            <a:endParaRPr lang="en-US" dirty="0">
              <a:latin typeface="Arial Narrow" panose="020B0606020202030204" pitchFamily="34" charset="0"/>
            </a:endParaRPr>
          </a:p>
        </p:txBody>
      </p:sp>
      <p:sp>
        <p:nvSpPr>
          <p:cNvPr id="16" name="TextBox 23">
            <a:extLst>
              <a:ext uri="{FF2B5EF4-FFF2-40B4-BE49-F238E27FC236}">
                <a16:creationId xmlns:a16="http://schemas.microsoft.com/office/drawing/2014/main" id="{D7A5FA6F-D3E4-42EE-8D93-E3C17A365EB6}"/>
              </a:ext>
            </a:extLst>
          </p:cNvPr>
          <p:cNvSpPr txBox="1"/>
          <p:nvPr/>
        </p:nvSpPr>
        <p:spPr>
          <a:xfrm>
            <a:off x="308724" y="3410338"/>
            <a:ext cx="627095" cy="369332"/>
          </a:xfrm>
          <a:prstGeom prst="rect">
            <a:avLst/>
          </a:prstGeom>
          <a:noFill/>
        </p:spPr>
        <p:txBody>
          <a:bodyPr wrap="none" rtlCol="0">
            <a:spAutoFit/>
          </a:bodyPr>
          <a:lstStyle/>
          <a:p>
            <a:r>
              <a:rPr lang="pl-PL" dirty="0">
                <a:latin typeface="Arial Narrow" panose="020B0606020202030204" pitchFamily="34" charset="0"/>
              </a:rPr>
              <a:t>dane</a:t>
            </a:r>
            <a:endParaRPr lang="en-US" dirty="0">
              <a:latin typeface="Arial Narrow" panose="020B0606020202030204" pitchFamily="34" charset="0"/>
            </a:endParaRPr>
          </a:p>
        </p:txBody>
      </p:sp>
      <p:sp>
        <p:nvSpPr>
          <p:cNvPr id="17" name="TextBox 24">
            <a:extLst>
              <a:ext uri="{FF2B5EF4-FFF2-40B4-BE49-F238E27FC236}">
                <a16:creationId xmlns:a16="http://schemas.microsoft.com/office/drawing/2014/main" id="{73C55C27-964E-4772-AB37-1F40F84FA815}"/>
              </a:ext>
            </a:extLst>
          </p:cNvPr>
          <p:cNvSpPr txBox="1"/>
          <p:nvPr/>
        </p:nvSpPr>
        <p:spPr>
          <a:xfrm>
            <a:off x="4775587" y="3638938"/>
            <a:ext cx="753732" cy="369332"/>
          </a:xfrm>
          <a:prstGeom prst="rect">
            <a:avLst/>
          </a:prstGeom>
          <a:noFill/>
        </p:spPr>
        <p:txBody>
          <a:bodyPr wrap="none" rtlCol="0">
            <a:spAutoFit/>
          </a:bodyPr>
          <a:lstStyle/>
          <a:p>
            <a:r>
              <a:rPr lang="pl-PL" b="1" dirty="0">
                <a:solidFill>
                  <a:srgbClr val="00B050"/>
                </a:solidFill>
                <a:latin typeface="Arial Narrow" panose="020B0606020202030204" pitchFamily="34" charset="0"/>
              </a:rPr>
              <a:t>reguły</a:t>
            </a:r>
            <a:endParaRPr lang="en-US" b="1" dirty="0">
              <a:solidFill>
                <a:srgbClr val="00B050"/>
              </a:solidFill>
              <a:latin typeface="Arial Narrow" panose="020B0606020202030204" pitchFamily="34" charset="0"/>
            </a:endParaRPr>
          </a:p>
        </p:txBody>
      </p:sp>
      <p:cxnSp>
        <p:nvCxnSpPr>
          <p:cNvPr id="18" name="Straight Arrow Connector 25">
            <a:extLst>
              <a:ext uri="{FF2B5EF4-FFF2-40B4-BE49-F238E27FC236}">
                <a16:creationId xmlns:a16="http://schemas.microsoft.com/office/drawing/2014/main" id="{92796427-FD91-4290-99A2-1E12A91A9198}"/>
              </a:ext>
            </a:extLst>
          </p:cNvPr>
          <p:cNvCxnSpPr/>
          <p:nvPr/>
        </p:nvCxnSpPr>
        <p:spPr>
          <a:xfrm>
            <a:off x="865274" y="3638938"/>
            <a:ext cx="1143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26">
            <a:extLst>
              <a:ext uri="{FF2B5EF4-FFF2-40B4-BE49-F238E27FC236}">
                <a16:creationId xmlns:a16="http://schemas.microsoft.com/office/drawing/2014/main" id="{77B5C1C4-23A1-4F62-B543-2B6B8F0F6B31}"/>
              </a:ext>
            </a:extLst>
          </p:cNvPr>
          <p:cNvCxnSpPr/>
          <p:nvPr/>
        </p:nvCxnSpPr>
        <p:spPr>
          <a:xfrm>
            <a:off x="865274" y="4091657"/>
            <a:ext cx="1143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27">
            <a:extLst>
              <a:ext uri="{FF2B5EF4-FFF2-40B4-BE49-F238E27FC236}">
                <a16:creationId xmlns:a16="http://schemas.microsoft.com/office/drawing/2014/main" id="{EEF566A1-2AED-4CCF-9A48-C9BFCF4E362E}"/>
              </a:ext>
            </a:extLst>
          </p:cNvPr>
          <p:cNvCxnSpPr/>
          <p:nvPr/>
        </p:nvCxnSpPr>
        <p:spPr>
          <a:xfrm>
            <a:off x="3696249" y="3846754"/>
            <a:ext cx="11430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8">
            <a:extLst>
              <a:ext uri="{FF2B5EF4-FFF2-40B4-BE49-F238E27FC236}">
                <a16:creationId xmlns:a16="http://schemas.microsoft.com/office/drawing/2014/main" id="{E84012ED-C19B-4096-9C22-C1E45B8E1014}"/>
              </a:ext>
            </a:extLst>
          </p:cNvPr>
          <p:cNvSpPr txBox="1"/>
          <p:nvPr/>
        </p:nvSpPr>
        <p:spPr>
          <a:xfrm>
            <a:off x="6580657" y="1988613"/>
            <a:ext cx="2460930" cy="2031325"/>
          </a:xfrm>
          <a:prstGeom prst="rect">
            <a:avLst/>
          </a:prstGeom>
          <a:noFill/>
        </p:spPr>
        <p:txBody>
          <a:bodyPr wrap="none" rtlCol="0">
            <a:spAutoFit/>
          </a:bodyPr>
          <a:lstStyle/>
          <a:p>
            <a:r>
              <a:rPr lang="pl-PL" dirty="0">
                <a:latin typeface="Arial Narrow" panose="020B0606020202030204" pitchFamily="34" charset="0"/>
              </a:rPr>
              <a:t>podejście deterministyczne</a:t>
            </a:r>
          </a:p>
          <a:p>
            <a:endParaRPr lang="pl-PL" dirty="0">
              <a:latin typeface="Arial Narrow" panose="020B0606020202030204" pitchFamily="34" charset="0"/>
            </a:endParaRPr>
          </a:p>
          <a:p>
            <a:endParaRPr lang="pl-PL" dirty="0">
              <a:latin typeface="Arial Narrow" panose="020B0606020202030204" pitchFamily="34" charset="0"/>
            </a:endParaRPr>
          </a:p>
          <a:p>
            <a:endParaRPr lang="pl-PL" dirty="0">
              <a:latin typeface="Arial Narrow" panose="020B0606020202030204" pitchFamily="34" charset="0"/>
            </a:endParaRPr>
          </a:p>
          <a:p>
            <a:endParaRPr lang="pl-PL" dirty="0">
              <a:latin typeface="Arial Narrow" panose="020B0606020202030204" pitchFamily="34" charset="0"/>
            </a:endParaRPr>
          </a:p>
          <a:p>
            <a:endParaRPr lang="pl-PL" dirty="0">
              <a:latin typeface="Arial Narrow" panose="020B0606020202030204" pitchFamily="34" charset="0"/>
            </a:endParaRPr>
          </a:p>
          <a:p>
            <a:r>
              <a:rPr lang="pl-PL" dirty="0">
                <a:latin typeface="Arial Narrow" panose="020B0606020202030204" pitchFamily="34" charset="0"/>
              </a:rPr>
              <a:t>podejście probabilistyczne</a:t>
            </a:r>
            <a:endParaRPr lang="en-US" dirty="0">
              <a:latin typeface="Arial Narrow" panose="020B0606020202030204" pitchFamily="34" charset="0"/>
            </a:endParaRPr>
          </a:p>
        </p:txBody>
      </p:sp>
      <p:sp>
        <p:nvSpPr>
          <p:cNvPr id="22" name="TextBox 5">
            <a:extLst>
              <a:ext uri="{FF2B5EF4-FFF2-40B4-BE49-F238E27FC236}">
                <a16:creationId xmlns:a16="http://schemas.microsoft.com/office/drawing/2014/main" id="{AB572517-9A7D-438C-A30E-B58B88934D26}"/>
              </a:ext>
            </a:extLst>
          </p:cNvPr>
          <p:cNvSpPr txBox="1"/>
          <p:nvPr/>
        </p:nvSpPr>
        <p:spPr>
          <a:xfrm>
            <a:off x="0" y="4772418"/>
            <a:ext cx="9144000" cy="1323582"/>
          </a:xfrm>
          <a:prstGeom prst="rect">
            <a:avLst/>
          </a:prstGeom>
          <a:noFill/>
        </p:spPr>
        <p:txBody>
          <a:bodyPr wrap="square" lIns="18000" tIns="18000" rIns="18000" bIns="18000" rtlCol="0">
            <a:noAutofit/>
          </a:bodyPr>
          <a:lstStyle/>
          <a:p>
            <a:r>
              <a:rPr lang="pl-PL" sz="2000" b="1" dirty="0">
                <a:latin typeface="Arial Narrow" panose="020B0606020202030204" pitchFamily="34" charset="0"/>
              </a:rPr>
              <a:t>Proces uczenia maszynowego (prof. Tom Mitchel)</a:t>
            </a:r>
            <a:r>
              <a:rPr lang="pl-PL" sz="2000" dirty="0">
                <a:latin typeface="Arial Narrow" panose="020B0606020202030204" pitchFamily="34" charset="0"/>
              </a:rPr>
              <a:t>:</a:t>
            </a:r>
            <a:endParaRPr lang="pl-PL" sz="2000" b="1" dirty="0">
              <a:latin typeface="Arial Narrow" panose="020B0606020202030204" pitchFamily="34" charset="0"/>
            </a:endParaRPr>
          </a:p>
          <a:p>
            <a:r>
              <a:rPr lang="pl-PL" sz="2000" dirty="0">
                <a:latin typeface="Arial Narrow" panose="020B0606020202030204" pitchFamily="34" charset="0"/>
              </a:rPr>
              <a:t>Program komputerowy uczy się na podstawie doświadczenia (E) w odniesieniu do pewnej klasy zadań (T) i miary efektywności (P), jeśli jego efektywność wykonywania zadania T mierzona za pomocą P poprawia się wraz z doświadczeniem E.</a:t>
            </a:r>
          </a:p>
        </p:txBody>
      </p:sp>
    </p:spTree>
    <p:extLst>
      <p:ext uri="{BB962C8B-B14F-4D97-AF65-F5344CB8AC3E}">
        <p14:creationId xmlns:p14="http://schemas.microsoft.com/office/powerpoint/2010/main" val="30084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76800" y="5148496"/>
            <a:ext cx="3505200" cy="1219200"/>
          </a:xfrm>
          <a:prstGeom prst="rect">
            <a:avLst/>
          </a:prstGeom>
          <a:noFill/>
        </p:spPr>
        <p:txBody>
          <a:bodyPr wrap="square" lIns="18000" tIns="18000" rIns="18000" bIns="18000" rtlCol="0">
            <a:noAutofit/>
          </a:bodyPr>
          <a:lstStyle/>
          <a:p>
            <a:endParaRPr lang="en-GB" dirty="0">
              <a:latin typeface="Arial Narrow" panose="020B0606020202030204" pitchFamily="34" charset="0"/>
            </a:endParaRPr>
          </a:p>
        </p:txBody>
      </p:sp>
      <p:sp>
        <p:nvSpPr>
          <p:cNvPr id="10" name="Slide Number Placeholder 9"/>
          <p:cNvSpPr>
            <a:spLocks noGrp="1"/>
          </p:cNvSpPr>
          <p:nvPr>
            <p:ph type="sldNum" sz="quarter" idx="12"/>
          </p:nvPr>
        </p:nvSpPr>
        <p:spPr/>
        <p:txBody>
          <a:bodyPr/>
          <a:lstStyle/>
          <a:p>
            <a:fld id="{20D4B2D9-DB10-4EB9-B7A6-032A6D4E75AC}" type="slidenum">
              <a:rPr lang="pl-PL" smtClean="0"/>
              <a:pPr/>
              <a:t>10</a:t>
            </a:fld>
            <a:endParaRPr lang="pl-PL" dirty="0"/>
          </a:p>
        </p:txBody>
      </p:sp>
      <p:sp>
        <p:nvSpPr>
          <p:cNvPr id="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7" name="TextBox 1"/>
          <p:cNvSpPr txBox="1"/>
          <p:nvPr/>
        </p:nvSpPr>
        <p:spPr>
          <a:xfrm>
            <a:off x="0" y="304800"/>
            <a:ext cx="9144000" cy="5562600"/>
          </a:xfrm>
          <a:prstGeom prst="rect">
            <a:avLst/>
          </a:prstGeom>
          <a:noFill/>
        </p:spPr>
        <p:txBody>
          <a:bodyPr wrap="square" lIns="36000" tIns="36000" rIns="36000" bIns="36000" rtlCol="0">
            <a:noAutofit/>
          </a:bodyPr>
          <a:lstStyle/>
          <a:p>
            <a:r>
              <a:rPr lang="pl-PL" sz="2000" b="1" dirty="0">
                <a:latin typeface="Arial Narrow" panose="020B0606020202030204" pitchFamily="34" charset="0"/>
              </a:rPr>
              <a:t>Próbka</a:t>
            </a:r>
            <a:r>
              <a:rPr lang="pl-PL" sz="2000" dirty="0">
                <a:latin typeface="Arial Narrow" panose="020B0606020202030204" pitchFamily="34" charset="0"/>
              </a:rPr>
              <a:t> (ang. </a:t>
            </a:r>
            <a:r>
              <a:rPr lang="pl-PL" sz="2000" i="1" dirty="0">
                <a:latin typeface="Arial Narrow" panose="020B0606020202030204" pitchFamily="34" charset="0"/>
              </a:rPr>
              <a:t>sample</a:t>
            </a:r>
            <a:r>
              <a:rPr lang="pl-PL" sz="2000" dirty="0">
                <a:latin typeface="Arial Narrow" panose="020B0606020202030204" pitchFamily="34" charset="0"/>
              </a:rPr>
              <a:t>) – element zbioru danych przetwarzany przez model </a:t>
            </a:r>
            <a:br>
              <a:rPr lang="pl-PL" sz="2000" dirty="0">
                <a:latin typeface="Arial Narrow" panose="020B0606020202030204" pitchFamily="34" charset="0"/>
              </a:rPr>
            </a:br>
            <a:r>
              <a:rPr lang="pl-PL" sz="2000" dirty="0">
                <a:latin typeface="Arial Narrow" panose="020B0606020202030204" pitchFamily="34" charset="0"/>
              </a:rPr>
              <a:t>(</a:t>
            </a:r>
            <a:r>
              <a:rPr lang="pl-PL" sz="2000">
                <a:latin typeface="Arial Narrow" panose="020B0606020202030204" pitchFamily="34" charset="0"/>
              </a:rPr>
              <a:t>np</a:t>
            </a:r>
            <a:r>
              <a:rPr lang="pl-PL" sz="2000" dirty="0">
                <a:latin typeface="Arial Narrow" panose="020B0606020202030204" pitchFamily="34" charset="0"/>
              </a:rPr>
              <a:t>. zdjęcie, dane o kredytobiorcy, analizowany tekst).</a:t>
            </a:r>
          </a:p>
          <a:p>
            <a:endParaRPr lang="pl-PL" sz="2000" b="1" dirty="0">
              <a:latin typeface="Arial Narrow" panose="020B0606020202030204" pitchFamily="34" charset="0"/>
            </a:endParaRPr>
          </a:p>
          <a:p>
            <a:r>
              <a:rPr lang="pl-PL" sz="2000" b="1" dirty="0">
                <a:latin typeface="Arial Narrow" panose="020B0606020202030204" pitchFamily="34" charset="0"/>
              </a:rPr>
              <a:t>Klasa</a:t>
            </a:r>
            <a:r>
              <a:rPr lang="pl-PL" sz="2000" dirty="0">
                <a:latin typeface="Arial Narrow" panose="020B0606020202030204" pitchFamily="34" charset="0"/>
              </a:rPr>
              <a:t> (</a:t>
            </a:r>
            <a:r>
              <a:rPr lang="pl-PL" sz="2000" i="1" dirty="0">
                <a:latin typeface="Arial Narrow" panose="020B0606020202030204" pitchFamily="34" charset="0"/>
              </a:rPr>
              <a:t>class</a:t>
            </a:r>
            <a:r>
              <a:rPr lang="pl-PL" sz="2000" dirty="0">
                <a:latin typeface="Arial Narrow" panose="020B0606020202030204" pitchFamily="34" charset="0"/>
              </a:rPr>
              <a:t>)– zbiór etykiet w problemie klasyfikacji.</a:t>
            </a:r>
          </a:p>
          <a:p>
            <a:r>
              <a:rPr lang="pl-PL" sz="2000" b="1" dirty="0">
                <a:latin typeface="Arial Narrow" panose="020B0606020202030204" pitchFamily="34" charset="0"/>
              </a:rPr>
              <a:t>Etykieta</a:t>
            </a:r>
            <a:r>
              <a:rPr lang="pl-PL" sz="2000" dirty="0">
                <a:latin typeface="Arial Narrow" panose="020B0606020202030204" pitchFamily="34" charset="0"/>
              </a:rPr>
              <a:t> (</a:t>
            </a:r>
            <a:r>
              <a:rPr lang="pl-PL" sz="2000" i="1" dirty="0">
                <a:latin typeface="Arial Narrow" panose="020B0606020202030204" pitchFamily="34" charset="0"/>
              </a:rPr>
              <a:t>label</a:t>
            </a:r>
            <a:r>
              <a:rPr lang="pl-PL" sz="2000" dirty="0">
                <a:latin typeface="Arial Narrow" panose="020B0606020202030204" pitchFamily="34" charset="0"/>
              </a:rPr>
              <a:t>) – instancja klasy w problemie klasyfikacji, </a:t>
            </a:r>
            <a:r>
              <a:rPr lang="pl-PL" sz="2000">
                <a:latin typeface="Arial Narrow" panose="020B0606020202030204" pitchFamily="34" charset="0"/>
              </a:rPr>
              <a:t>np</a:t>
            </a:r>
            <a:r>
              <a:rPr lang="pl-PL" sz="2000" dirty="0">
                <a:latin typeface="Arial Narrow" panose="020B0606020202030204" pitchFamily="34" charset="0"/>
              </a:rPr>
              <a:t>. w zadaniu klasyfikacji zdjęć na te, które przedstawiają psy i koty występują dwie etykiety: pies i kot, a klasa to zbiór składający się z dwóch etykiet {pies, kot}.</a:t>
            </a:r>
          </a:p>
          <a:p>
            <a:endParaRPr lang="pl-PL" sz="2000" b="1" dirty="0">
              <a:latin typeface="Arial Narrow" panose="020B0606020202030204" pitchFamily="34" charset="0"/>
            </a:endParaRPr>
          </a:p>
          <a:p>
            <a:r>
              <a:rPr lang="pl-PL" sz="2000" b="1" dirty="0">
                <a:latin typeface="Arial Narrow" panose="020B0606020202030204" pitchFamily="34" charset="0"/>
              </a:rPr>
              <a:t>Wsad</a:t>
            </a:r>
            <a:r>
              <a:rPr lang="pl-PL" sz="2000" dirty="0">
                <a:latin typeface="Arial Narrow" panose="020B0606020202030204" pitchFamily="34" charset="0"/>
              </a:rPr>
              <a:t> (</a:t>
            </a:r>
            <a:r>
              <a:rPr lang="pl-PL" sz="2000" i="1" dirty="0">
                <a:latin typeface="Arial Narrow" panose="020B0606020202030204" pitchFamily="34" charset="0"/>
              </a:rPr>
              <a:t>batch</a:t>
            </a:r>
            <a:r>
              <a:rPr lang="pl-PL" sz="2000" dirty="0">
                <a:latin typeface="Arial Narrow" panose="020B0606020202030204" pitchFamily="34" charset="0"/>
              </a:rPr>
              <a:t>) – zbiór próbek jednocześnie przetwarzanych przez model. Najczęściej liczba próbek jest potęgą liczby 2. Wsad jest używany do wyznaczenia jednej aktualizacji wag modelu. </a:t>
            </a:r>
          </a:p>
          <a:p>
            <a:endParaRPr lang="pl-PL" sz="2000" b="1" dirty="0">
              <a:latin typeface="Arial Narrow" panose="020B0606020202030204" pitchFamily="34" charset="0"/>
            </a:endParaRPr>
          </a:p>
          <a:p>
            <a:r>
              <a:rPr lang="pl-PL" sz="2000" b="1" dirty="0">
                <a:latin typeface="Arial Narrow" panose="020B0606020202030204" pitchFamily="34" charset="0"/>
              </a:rPr>
              <a:t>Epoka </a:t>
            </a:r>
            <a:r>
              <a:rPr lang="pl-PL" sz="2000" dirty="0">
                <a:latin typeface="Arial Narrow" panose="020B0606020202030204" pitchFamily="34" charset="0"/>
              </a:rPr>
              <a:t>(</a:t>
            </a:r>
            <a:r>
              <a:rPr lang="pl-PL" sz="2000" i="1" dirty="0">
                <a:latin typeface="Arial Narrow" panose="020B0606020202030204" pitchFamily="34" charset="0"/>
              </a:rPr>
              <a:t>epoch</a:t>
            </a:r>
            <a:r>
              <a:rPr lang="pl-PL" sz="2000" dirty="0">
                <a:latin typeface="Arial Narrow" panose="020B0606020202030204" pitchFamily="34" charset="0"/>
              </a:rPr>
              <a:t>) – pojedyncze przetworzenie całego zbioru danych.</a:t>
            </a:r>
          </a:p>
          <a:p>
            <a:endParaRPr lang="pl-PL" sz="2000" b="1" dirty="0">
              <a:latin typeface="Arial Narrow" panose="020B0606020202030204" pitchFamily="34" charset="0"/>
            </a:endParaRPr>
          </a:p>
          <a:p>
            <a:r>
              <a:rPr lang="pl-PL" sz="2000" b="1" dirty="0">
                <a:latin typeface="Arial Narrow" panose="020B0606020202030204" pitchFamily="34" charset="0"/>
              </a:rPr>
              <a:t>Wagi</a:t>
            </a:r>
            <a:r>
              <a:rPr lang="pl-PL" sz="2000" dirty="0">
                <a:latin typeface="Arial Narrow" panose="020B0606020202030204" pitchFamily="34" charset="0"/>
              </a:rPr>
              <a:t> (</a:t>
            </a:r>
            <a:r>
              <a:rPr lang="pl-PL" sz="2000" b="1" dirty="0">
                <a:latin typeface="Arial Narrow" panose="020B0606020202030204" pitchFamily="34" charset="0"/>
              </a:rPr>
              <a:t>parametry</a:t>
            </a:r>
            <a:r>
              <a:rPr lang="pl-PL" sz="2000" dirty="0">
                <a:latin typeface="Arial Narrow" panose="020B0606020202030204" pitchFamily="34" charset="0"/>
              </a:rPr>
              <a:t> warstwy, </a:t>
            </a:r>
            <a:r>
              <a:rPr lang="pl-PL" sz="2000" i="1" dirty="0">
                <a:latin typeface="Arial Narrow" panose="020B0606020202030204" pitchFamily="34" charset="0"/>
              </a:rPr>
              <a:t>parameters</a:t>
            </a:r>
            <a:r>
              <a:rPr lang="pl-PL" sz="2000" dirty="0">
                <a:latin typeface="Arial Narrow" panose="020B0606020202030204" pitchFamily="34" charset="0"/>
              </a:rPr>
              <a:t>) to zbiór liczb. Uczenie maszynowe polega na znajdowaniu wartości wag tak, aby sieć poprawnie mapowała dane wejściowe na wyjściowe.</a:t>
            </a:r>
          </a:p>
          <a:p>
            <a:r>
              <a:rPr lang="pl-PL" sz="2000" dirty="0">
                <a:latin typeface="Arial Narrow" panose="020B0606020202030204" pitchFamily="34" charset="0"/>
              </a:rPr>
              <a:t>Wagi nazywane są parametrami modelu. </a:t>
            </a:r>
          </a:p>
          <a:p>
            <a:r>
              <a:rPr lang="pl-PL" sz="2000" b="1">
                <a:latin typeface="Arial Narrow" panose="020B0606020202030204" pitchFamily="34" charset="0"/>
              </a:rPr>
              <a:t>Hiperparametry</a:t>
            </a:r>
            <a:r>
              <a:rPr lang="pl-PL" sz="2000" dirty="0">
                <a:latin typeface="Arial Narrow" panose="020B0606020202030204" pitchFamily="34" charset="0"/>
              </a:rPr>
              <a:t> (</a:t>
            </a:r>
            <a:r>
              <a:rPr lang="pl-PL" sz="2000" i="1" dirty="0">
                <a:latin typeface="Arial Narrow" panose="020B0606020202030204" pitchFamily="34" charset="0"/>
              </a:rPr>
              <a:t>hyperparameters</a:t>
            </a:r>
            <a:r>
              <a:rPr lang="pl-PL" sz="2000" dirty="0">
                <a:latin typeface="Arial Narrow" panose="020B0606020202030204" pitchFamily="34" charset="0"/>
              </a:rPr>
              <a:t>) – atrybuty modelu dostrajane przez ekspertów (twórców modelu).</a:t>
            </a:r>
          </a:p>
          <a:p>
            <a:endParaRPr lang="pl-PL" sz="2000" dirty="0">
              <a:latin typeface="Arial Narrow" panose="020B0606020202030204" pitchFamily="34" charset="0"/>
            </a:endParaRPr>
          </a:p>
          <a:p>
            <a:r>
              <a:rPr lang="pl-PL" sz="2000" dirty="0">
                <a:latin typeface="Arial Narrow" panose="020B0606020202030204" pitchFamily="34" charset="0"/>
              </a:rPr>
              <a:t>Wagi (parametry) są dostrajane automatycznie w procesie uczenia, hiperparametry przez ekspertów lub dobierane przy pomocy znanych metod.</a:t>
            </a:r>
            <a:endParaRPr lang="en-GB" sz="2000" dirty="0">
              <a:latin typeface="Arial Narrow" panose="020B0606020202030204" pitchFamily="34" charset="0"/>
            </a:endParaRPr>
          </a:p>
        </p:txBody>
      </p:sp>
    </p:spTree>
    <p:extLst>
      <p:ext uri="{BB962C8B-B14F-4D97-AF65-F5344CB8AC3E}">
        <p14:creationId xmlns:p14="http://schemas.microsoft.com/office/powerpoint/2010/main" val="312579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additive="base">
                                        <p:cTn id="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anim calcmode="lin" valueType="num">
                                      <p:cBhvr additive="base">
                                        <p:cTn id="11"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anim calcmode="lin" valueType="num">
                                      <p:cBhvr additive="base">
                                        <p:cTn id="1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anim calcmode="lin" valueType="num">
                                      <p:cBhvr additive="base">
                                        <p:cTn id="23"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anim calcmode="lin" valueType="num">
                                      <p:cBhvr additive="base">
                                        <p:cTn id="29"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7">
                                            <p:txEl>
                                              <p:pRg st="10" end="10"/>
                                            </p:txEl>
                                          </p:spTgt>
                                        </p:tgtEl>
                                        <p:attrNameLst>
                                          <p:attrName>style.visibility</p:attrName>
                                        </p:attrNameLst>
                                      </p:cBhvr>
                                      <p:to>
                                        <p:strVal val="visible"/>
                                      </p:to>
                                    </p:set>
                                    <p:anim calcmode="lin" valueType="num">
                                      <p:cBhvr additive="base">
                                        <p:cTn id="33"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txEl>
                                              <p:pRg st="10" end="10"/>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7">
                                            <p:txEl>
                                              <p:pRg st="11" end="11"/>
                                            </p:txEl>
                                          </p:spTgt>
                                        </p:tgtEl>
                                        <p:attrNameLst>
                                          <p:attrName>style.visibility</p:attrName>
                                        </p:attrNameLst>
                                      </p:cBhvr>
                                      <p:to>
                                        <p:strVal val="visible"/>
                                      </p:to>
                                    </p:set>
                                    <p:anim calcmode="lin" valueType="num">
                                      <p:cBhvr additive="base">
                                        <p:cTn id="37"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11" end="11"/>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
                                            <p:txEl>
                                              <p:pRg st="13" end="13"/>
                                            </p:txEl>
                                          </p:spTgt>
                                        </p:tgtEl>
                                        <p:attrNameLst>
                                          <p:attrName>style.visibility</p:attrName>
                                        </p:attrNameLst>
                                      </p:cBhvr>
                                      <p:to>
                                        <p:strVal val="visible"/>
                                      </p:to>
                                    </p:set>
                                    <p:anim calcmode="lin" valueType="num">
                                      <p:cBhvr additive="base">
                                        <p:cTn id="41" dur="500" fill="hold"/>
                                        <p:tgtEl>
                                          <p:spTgt spid="7">
                                            <p:txEl>
                                              <p:pRg st="13" end="13"/>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7">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11</a:t>
            </a:fld>
            <a:endParaRPr lang="pl-PL" dirty="0"/>
          </a:p>
        </p:txBody>
      </p:sp>
      <p:sp>
        <p:nvSpPr>
          <p:cNvPr id="3"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4" name="TextBox 1"/>
          <p:cNvSpPr txBox="1"/>
          <p:nvPr/>
        </p:nvSpPr>
        <p:spPr>
          <a:xfrm>
            <a:off x="0" y="304800"/>
            <a:ext cx="9144000" cy="3581400"/>
          </a:xfrm>
          <a:prstGeom prst="rect">
            <a:avLst/>
          </a:prstGeom>
          <a:noFill/>
        </p:spPr>
        <p:txBody>
          <a:bodyPr wrap="square" lIns="36000" tIns="36000" rIns="36000" bIns="36000" rtlCol="0">
            <a:noAutofit/>
          </a:bodyPr>
          <a:lstStyle/>
          <a:p>
            <a:r>
              <a:rPr lang="pl-PL" sz="2000" dirty="0">
                <a:latin typeface="Arial Narrow" panose="020B0606020202030204" pitchFamily="34" charset="0"/>
              </a:rPr>
              <a:t>Jednym z wyzwań uczenia maszynowego jest </a:t>
            </a:r>
            <a:r>
              <a:rPr lang="pl-PL" sz="2000" b="1" dirty="0">
                <a:latin typeface="Arial Narrow" panose="020B0606020202030204" pitchFamily="34" charset="0"/>
              </a:rPr>
              <a:t>zautomatyzowanie procesu dostrajania hiperparametrów</a:t>
            </a:r>
            <a:r>
              <a:rPr lang="pl-PL" sz="2000" dirty="0">
                <a:latin typeface="Arial Narrow" panose="020B0606020202030204" pitchFamily="34" charset="0"/>
              </a:rPr>
              <a:t> modelu. Podejmowano takie próby, jednak w praktyce okazało się, że wiązało się to z dużymi problemami z wydajnością.</a:t>
            </a:r>
          </a:p>
          <a:p>
            <a:r>
              <a:rPr lang="pl-PL" sz="2000" dirty="0">
                <a:latin typeface="Arial Narrow" panose="020B0606020202030204" pitchFamily="34" charset="0"/>
              </a:rPr>
              <a:t>Ostatnie prace wykazały, że przy dużej mocy obliczeniowej algorytmy mogą przewyższać w dostrajaniu modeli wydajność uzyskiwaną przez </a:t>
            </a:r>
            <a:r>
              <a:rPr lang="pl-PL" sz="2000">
                <a:latin typeface="Arial Narrow" panose="020B0606020202030204" pitchFamily="34" charset="0"/>
              </a:rPr>
              <a:t>ekspertów.</a:t>
            </a:r>
            <a:endParaRPr lang="pl-PL" sz="2000" dirty="0">
              <a:latin typeface="Arial Narrow" panose="020B0606020202030204" pitchFamily="34" charset="0"/>
            </a:endParaRPr>
          </a:p>
          <a:p>
            <a:endParaRPr lang="pl-PL" sz="2000" dirty="0">
              <a:latin typeface="Arial Narrow" panose="020B0606020202030204" pitchFamily="34" charset="0"/>
            </a:endParaRPr>
          </a:p>
          <a:p>
            <a:r>
              <a:rPr lang="pl-PL" sz="2000" dirty="0">
                <a:latin typeface="Arial Narrow" panose="020B0606020202030204" pitchFamily="34" charset="0"/>
              </a:rPr>
              <a:t>Dostrajania hiperparametrów modeli to umiejętność charakteryzująca ekspertów w dziedzinie uczenia maszynowego.</a:t>
            </a:r>
            <a:endParaRPr lang="en-GB" sz="2000" dirty="0">
              <a:latin typeface="Arial Narrow" panose="020B0606020202030204" pitchFamily="34" charset="0"/>
            </a:endParaRPr>
          </a:p>
        </p:txBody>
      </p:sp>
    </p:spTree>
    <p:extLst>
      <p:ext uri="{BB962C8B-B14F-4D97-AF65-F5344CB8AC3E}">
        <p14:creationId xmlns:p14="http://schemas.microsoft.com/office/powerpoint/2010/main" val="1810429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12</a:t>
            </a:fld>
            <a:endParaRPr lang="pl-PL" dirty="0"/>
          </a:p>
        </p:txBody>
      </p:sp>
      <p:sp>
        <p:nvSpPr>
          <p:cNvPr id="3"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4" name="TextBox 1"/>
          <p:cNvSpPr txBox="1"/>
          <p:nvPr/>
        </p:nvSpPr>
        <p:spPr>
          <a:xfrm>
            <a:off x="0" y="304800"/>
            <a:ext cx="9144000" cy="2286000"/>
          </a:xfrm>
          <a:prstGeom prst="rect">
            <a:avLst/>
          </a:prstGeom>
          <a:noFill/>
        </p:spPr>
        <p:txBody>
          <a:bodyPr wrap="square" lIns="36000" tIns="36000" rIns="36000" bIns="36000" rtlCol="0">
            <a:noAutofit/>
          </a:bodyPr>
          <a:lstStyle/>
          <a:p>
            <a:r>
              <a:rPr lang="pl-PL" sz="2000" b="1" dirty="0">
                <a:latin typeface="Arial Narrow" panose="020B0606020202030204" pitchFamily="34" charset="0"/>
              </a:rPr>
              <a:t>Dane wejściowe</a:t>
            </a:r>
            <a:r>
              <a:rPr lang="pl-PL" sz="2000" dirty="0">
                <a:latin typeface="Arial Narrow" panose="020B0606020202030204" pitchFamily="34" charset="0"/>
              </a:rPr>
              <a:t> – dane dostarczane do modelu (</a:t>
            </a:r>
            <a:r>
              <a:rPr lang="pl-PL" sz="2400" dirty="0">
                <a:latin typeface="Arial Narrow" panose="020B0606020202030204" pitchFamily="34" charset="0"/>
              </a:rPr>
              <a:t>x</a:t>
            </a:r>
            <a:r>
              <a:rPr lang="pl-PL" sz="2400" baseline="-25000" dirty="0">
                <a:latin typeface="Arial Narrow" panose="020B0606020202030204" pitchFamily="34" charset="0"/>
              </a:rPr>
              <a:t>i</a:t>
            </a:r>
            <a:r>
              <a:rPr lang="pl-PL" sz="2000" dirty="0">
                <a:latin typeface="Arial Narrow" panose="020B0606020202030204" pitchFamily="34" charset="0"/>
              </a:rPr>
              <a:t>).</a:t>
            </a:r>
            <a:endParaRPr lang="pl-PL" sz="2000" b="1" dirty="0">
              <a:latin typeface="Arial Narrow" panose="020B0606020202030204" pitchFamily="34" charset="0"/>
            </a:endParaRPr>
          </a:p>
          <a:p>
            <a:endParaRPr lang="pl-PL" sz="2000" b="1" dirty="0">
              <a:latin typeface="Arial Narrow" panose="020B0606020202030204" pitchFamily="34" charset="0"/>
            </a:endParaRPr>
          </a:p>
          <a:p>
            <a:r>
              <a:rPr lang="pl-PL" sz="2000" b="1">
                <a:solidFill>
                  <a:srgbClr val="0070C0"/>
                </a:solidFill>
                <a:latin typeface="Arial Narrow" panose="020B0606020202030204" pitchFamily="34" charset="0"/>
              </a:rPr>
              <a:t>● </a:t>
            </a:r>
            <a:r>
              <a:rPr lang="pl-PL" sz="2000" b="1">
                <a:latin typeface="Arial Narrow" panose="020B0606020202030204" pitchFamily="34" charset="0"/>
              </a:rPr>
              <a:t>Dane </a:t>
            </a:r>
            <a:r>
              <a:rPr lang="pl-PL" sz="2000" b="1" dirty="0">
                <a:latin typeface="Arial Narrow" panose="020B0606020202030204" pitchFamily="34" charset="0"/>
              </a:rPr>
              <a:t>docelowe</a:t>
            </a:r>
            <a:r>
              <a:rPr lang="pl-PL" sz="2000" dirty="0">
                <a:latin typeface="Arial Narrow" panose="020B0606020202030204" pitchFamily="34" charset="0"/>
              </a:rPr>
              <a:t> – rzeczywiste wartości, które zostałyby przewidziane przez model idealny (</a:t>
            </a:r>
            <a:r>
              <a:rPr lang="pl-PL" sz="2400" dirty="0">
                <a:latin typeface="Arial Narrow" panose="020B0606020202030204" pitchFamily="34" charset="0"/>
              </a:rPr>
              <a:t>y</a:t>
            </a:r>
            <a:r>
              <a:rPr lang="pl-PL" sz="2400" baseline="-25000" dirty="0">
                <a:latin typeface="Arial Narrow" panose="020B0606020202030204" pitchFamily="34" charset="0"/>
              </a:rPr>
              <a:t>i</a:t>
            </a:r>
            <a:r>
              <a:rPr lang="pl-PL" sz="2000" dirty="0">
                <a:latin typeface="Arial Narrow" panose="020B0606020202030204" pitchFamily="34" charset="0"/>
              </a:rPr>
              <a:t>).</a:t>
            </a:r>
          </a:p>
          <a:p>
            <a:r>
              <a:rPr lang="pl-PL" sz="2000" b="1">
                <a:solidFill>
                  <a:srgbClr val="FF0000"/>
                </a:solidFill>
                <a:latin typeface="Arial Narrow" panose="020B0606020202030204" pitchFamily="34" charset="0"/>
              </a:rPr>
              <a:t>● </a:t>
            </a:r>
            <a:r>
              <a:rPr lang="pl-PL" sz="2000" b="1">
                <a:latin typeface="Arial Narrow" panose="020B0606020202030204" pitchFamily="34" charset="0"/>
              </a:rPr>
              <a:t>Dane </a:t>
            </a:r>
            <a:r>
              <a:rPr lang="pl-PL" sz="2000" b="1" dirty="0">
                <a:latin typeface="Arial Narrow" panose="020B0606020202030204" pitchFamily="34" charset="0"/>
              </a:rPr>
              <a:t>wyjściowe</a:t>
            </a:r>
            <a:r>
              <a:rPr lang="pl-PL" sz="2000" dirty="0">
                <a:latin typeface="Arial Narrow" panose="020B0606020202030204" pitchFamily="34" charset="0"/>
              </a:rPr>
              <a:t> (przewidywane) – wyniki generowane przez model (</a:t>
            </a:r>
            <a:r>
              <a:rPr lang="cy-GB" sz="2400">
                <a:latin typeface="Arial Narrow" panose="020B0606020202030204" pitchFamily="34" charset="0"/>
              </a:rPr>
              <a:t>ŷ</a:t>
            </a:r>
            <a:r>
              <a:rPr lang="pl-PL" sz="2400" baseline="-25000" dirty="0">
                <a:latin typeface="Arial Narrow" panose="020B0606020202030204" pitchFamily="34" charset="0"/>
              </a:rPr>
              <a:t>i</a:t>
            </a:r>
            <a:r>
              <a:rPr lang="pl-PL" sz="2000" dirty="0">
                <a:latin typeface="Arial Narrow" panose="020B0606020202030204" pitchFamily="34" charset="0"/>
              </a:rPr>
              <a:t>). </a:t>
            </a:r>
          </a:p>
          <a:p>
            <a:endParaRPr lang="pl-PL" sz="2000" b="1" dirty="0">
              <a:latin typeface="Arial Narrow" panose="020B0606020202030204" pitchFamily="34" charset="0"/>
            </a:endParaRPr>
          </a:p>
          <a:p>
            <a:r>
              <a:rPr lang="pl-PL" sz="2000" b="1" dirty="0">
                <a:latin typeface="Arial Narrow" panose="020B0606020202030204" pitchFamily="34" charset="0"/>
              </a:rPr>
              <a:t>Wartość straty</a:t>
            </a:r>
            <a:r>
              <a:rPr lang="pl-PL" sz="2000" dirty="0">
                <a:latin typeface="Arial Narrow" panose="020B0606020202030204" pitchFamily="34" charset="0"/>
              </a:rPr>
              <a:t> (błąd przewidywań) – miara odległości między wartościami wyjściowymi a docelowymi (</a:t>
            </a:r>
            <a:r>
              <a:rPr lang="pl-PL" sz="2400" dirty="0">
                <a:latin typeface="Arial Narrow" panose="020B0606020202030204" pitchFamily="34" charset="0"/>
              </a:rPr>
              <a:t>y</a:t>
            </a:r>
            <a:r>
              <a:rPr lang="pl-PL" sz="2400" baseline="-25000" dirty="0">
                <a:latin typeface="Arial Narrow" panose="020B0606020202030204" pitchFamily="34" charset="0"/>
              </a:rPr>
              <a:t>i</a:t>
            </a:r>
            <a:r>
              <a:rPr lang="pl-PL" sz="2400" dirty="0">
                <a:latin typeface="Arial Narrow" panose="020B0606020202030204" pitchFamily="34" charset="0"/>
              </a:rPr>
              <a:t> – </a:t>
            </a:r>
            <a:r>
              <a:rPr lang="cy-GB" sz="2400">
                <a:latin typeface="Arial Narrow" panose="020B0606020202030204" pitchFamily="34" charset="0"/>
              </a:rPr>
              <a:t>ŷ</a:t>
            </a:r>
            <a:r>
              <a:rPr lang="pl-PL" sz="2400" baseline="-25000" dirty="0">
                <a:latin typeface="Arial Narrow" panose="020B0606020202030204" pitchFamily="34" charset="0"/>
              </a:rPr>
              <a:t>i</a:t>
            </a:r>
            <a:r>
              <a:rPr lang="pl-PL" sz="2000" dirty="0">
                <a:latin typeface="Arial Narrow" panose="020B0606020202030204" pitchFamily="34" charset="0"/>
              </a:rPr>
              <a:t>)</a:t>
            </a:r>
          </a:p>
        </p:txBody>
      </p:sp>
      <p:pic>
        <p:nvPicPr>
          <p:cNvPr id="5" name="Obraz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6937" y="2895600"/>
            <a:ext cx="4927263" cy="3825875"/>
          </a:xfrm>
          <a:prstGeom prst="rect">
            <a:avLst/>
          </a:prstGeom>
        </p:spPr>
      </p:pic>
    </p:spTree>
    <p:extLst>
      <p:ext uri="{BB962C8B-B14F-4D97-AF65-F5344CB8AC3E}">
        <p14:creationId xmlns:p14="http://schemas.microsoft.com/office/powerpoint/2010/main" val="2269852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2" name="Slide Number Placeholder 1"/>
          <p:cNvSpPr>
            <a:spLocks noGrp="1"/>
          </p:cNvSpPr>
          <p:nvPr>
            <p:ph type="sldNum" sz="quarter" idx="12"/>
          </p:nvPr>
        </p:nvSpPr>
        <p:spPr/>
        <p:txBody>
          <a:bodyPr/>
          <a:lstStyle/>
          <a:p>
            <a:fld id="{20D4B2D9-DB10-4EB9-B7A6-032A6D4E75AC}" type="slidenum">
              <a:rPr lang="pl-PL" smtClean="0"/>
              <a:pPr/>
              <a:t>13</a:t>
            </a:fld>
            <a:endParaRPr lang="pl-PL" dirty="0"/>
          </a:p>
        </p:txBody>
      </p:sp>
      <p:sp>
        <p:nvSpPr>
          <p:cNvPr id="5" name="Rectangle 5">
            <a:extLst>
              <a:ext uri="{FF2B5EF4-FFF2-40B4-BE49-F238E27FC236}">
                <a16:creationId xmlns:a16="http://schemas.microsoft.com/office/drawing/2014/main" id="{288C6A27-2280-49D6-928B-FD164CEED3E4}"/>
              </a:ext>
            </a:extLst>
          </p:cNvPr>
          <p:cNvSpPr/>
          <p:nvPr/>
        </p:nvSpPr>
        <p:spPr>
          <a:xfrm>
            <a:off x="0" y="304800"/>
            <a:ext cx="9144000" cy="1938992"/>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Tensor</a:t>
            </a:r>
            <a:r>
              <a:rPr lang="pl-PL" sz="2000" dirty="0">
                <a:solidFill>
                  <a:srgbClr val="000000"/>
                </a:solidFill>
                <a:latin typeface="Arial Narrow" panose="020B0606020202030204" pitchFamily="34" charset="0"/>
                <a:cs typeface="Calibri" panose="020F0502020204030204" pitchFamily="34" charset="0"/>
              </a:rPr>
              <a:t> – podstawowa struktura danych w systemach uczenia maszynowego.</a:t>
            </a:r>
          </a:p>
          <a:p>
            <a:r>
              <a:rPr lang="pl-PL" sz="2000" dirty="0">
                <a:solidFill>
                  <a:srgbClr val="000000"/>
                </a:solidFill>
                <a:latin typeface="Arial Narrow" panose="020B0606020202030204" pitchFamily="34" charset="0"/>
                <a:cs typeface="Calibri" panose="020F0502020204030204" pitchFamily="34" charset="0"/>
              </a:rPr>
              <a:t>Tensor to uogólnienie macierzy:</a:t>
            </a:r>
          </a:p>
          <a:p>
            <a:pPr marL="177800" indent="-177800">
              <a:buFont typeface="Arial" panose="020B0604020202020204" pitchFamily="34" charset="0"/>
              <a:buChar char="•"/>
            </a:pPr>
            <a:r>
              <a:rPr lang="pl-PL" sz="2000" dirty="0">
                <a:latin typeface="Arial Narrow" panose="020B0606020202030204" pitchFamily="34" charset="0"/>
              </a:rPr>
              <a:t>tensor </a:t>
            </a:r>
            <a:r>
              <a:rPr lang="pl-PL" sz="2000">
                <a:latin typeface="Arial Narrow" panose="020B0606020202030204" pitchFamily="34" charset="0"/>
              </a:rPr>
              <a:t>zerowymiarowy</a:t>
            </a:r>
            <a:r>
              <a:rPr lang="pl-PL" sz="2000" dirty="0">
                <a:latin typeface="Arial Narrow" panose="020B0606020202030204" pitchFamily="34" charset="0"/>
              </a:rPr>
              <a:t> to skalar, </a:t>
            </a:r>
            <a:r>
              <a:rPr lang="pl-PL" sz="2000">
                <a:latin typeface="Arial Narrow" panose="020B0606020202030204" pitchFamily="34" charset="0"/>
              </a:rPr>
              <a:t>np</a:t>
            </a:r>
            <a:r>
              <a:rPr lang="pl-PL" sz="2000" dirty="0">
                <a:latin typeface="Arial Narrow" panose="020B0606020202030204" pitchFamily="34" charset="0"/>
              </a:rPr>
              <a:t>. 3.56</a:t>
            </a:r>
          </a:p>
          <a:p>
            <a:pPr marL="177800" indent="-177800">
              <a:buFont typeface="Arial" panose="020B0604020202020204" pitchFamily="34" charset="0"/>
              <a:buChar char="•"/>
            </a:pPr>
            <a:r>
              <a:rPr lang="pl-PL" sz="2000" dirty="0">
                <a:latin typeface="Arial Narrow" panose="020B0606020202030204" pitchFamily="34" charset="0"/>
              </a:rPr>
              <a:t>tensor jednowymiarowy to wektor, </a:t>
            </a:r>
            <a:r>
              <a:rPr lang="pl-PL" sz="2000">
                <a:latin typeface="Arial Narrow" panose="020B0606020202030204" pitchFamily="34" charset="0"/>
              </a:rPr>
              <a:t>np</a:t>
            </a:r>
            <a:r>
              <a:rPr lang="pl-PL" sz="2000" dirty="0">
                <a:latin typeface="Arial Narrow" panose="020B0606020202030204" pitchFamily="34" charset="0"/>
              </a:rPr>
              <a:t>. [3, 5, 6, 2, 56, 21]</a:t>
            </a:r>
          </a:p>
          <a:p>
            <a:pPr marL="177800" indent="-177800">
              <a:buFont typeface="Arial" panose="020B0604020202020204" pitchFamily="34" charset="0"/>
              <a:buChar char="•"/>
            </a:pPr>
            <a:r>
              <a:rPr lang="pl-PL" sz="2000" dirty="0">
                <a:latin typeface="Arial Narrow" panose="020B0606020202030204" pitchFamily="34" charset="0"/>
              </a:rPr>
              <a:t>tensor dwuwymiarowy to macierz</a:t>
            </a:r>
          </a:p>
          <a:p>
            <a:pPr marL="177800" indent="-177800">
              <a:buFont typeface="Arial" panose="020B0604020202020204" pitchFamily="34" charset="0"/>
              <a:buChar char="•"/>
            </a:pPr>
            <a:r>
              <a:rPr lang="pl-PL" sz="2000" dirty="0">
                <a:latin typeface="Arial Narrow" panose="020B0606020202030204" pitchFamily="34" charset="0"/>
              </a:rPr>
              <a:t>tensory wielowymiarowe</a:t>
            </a:r>
          </a:p>
        </p:txBody>
      </p:sp>
    </p:spTree>
    <p:extLst>
      <p:ext uri="{BB962C8B-B14F-4D97-AF65-F5344CB8AC3E}">
        <p14:creationId xmlns:p14="http://schemas.microsoft.com/office/powerpoint/2010/main" val="4122340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14</a:t>
            </a:fld>
            <a:endParaRPr lang="pl-PL" dirty="0"/>
          </a:p>
        </p:txBody>
      </p:sp>
      <p:sp>
        <p:nvSpPr>
          <p:cNvPr id="5"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6" name="Rectangle 5">
            <a:extLst>
              <a:ext uri="{FF2B5EF4-FFF2-40B4-BE49-F238E27FC236}">
                <a16:creationId xmlns:a16="http://schemas.microsoft.com/office/drawing/2014/main" id="{288C6A27-2280-49D6-928B-FD164CEED3E4}"/>
              </a:ext>
            </a:extLst>
          </p:cNvPr>
          <p:cNvSpPr/>
          <p:nvPr/>
        </p:nvSpPr>
        <p:spPr>
          <a:xfrm>
            <a:off x="0" y="304800"/>
            <a:ext cx="9144000" cy="5632311"/>
          </a:xfrm>
          <a:prstGeom prst="rect">
            <a:avLst/>
          </a:prstGeom>
        </p:spPr>
        <p:txBody>
          <a:bodyPr wrap="square">
            <a:spAutoFit/>
          </a:bodyPr>
          <a:lstStyle/>
          <a:p>
            <a:r>
              <a:rPr lang="pl-PL" sz="2000" dirty="0">
                <a:latin typeface="Arial Narrow" panose="020B0606020202030204" pitchFamily="34" charset="0"/>
              </a:rPr>
              <a:t>Atrybuty tensorów:</a:t>
            </a:r>
          </a:p>
          <a:p>
            <a:pPr marL="177800" indent="-177800">
              <a:buFont typeface="Arial" panose="020B0604020202020204" pitchFamily="34" charset="0"/>
              <a:buChar char="•"/>
            </a:pPr>
            <a:r>
              <a:rPr lang="pl-PL" sz="2000" dirty="0">
                <a:latin typeface="Arial Narrow" panose="020B0606020202030204" pitchFamily="34" charset="0"/>
              </a:rPr>
              <a:t>liczba osi (ranga) – </a:t>
            </a:r>
            <a:r>
              <a:rPr lang="pl-PL" sz="2000">
                <a:latin typeface="Arial Narrow" panose="020B0606020202030204" pitchFamily="34" charset="0"/>
              </a:rPr>
              <a:t>np</a:t>
            </a:r>
            <a:r>
              <a:rPr lang="pl-PL" sz="2000" dirty="0">
                <a:latin typeface="Arial Narrow" panose="020B0606020202030204" pitchFamily="34" charset="0"/>
              </a:rPr>
              <a:t>. macierz ma dwie osie – jest to tensor o randze 2,</a:t>
            </a:r>
          </a:p>
          <a:p>
            <a:pPr marL="177800" indent="-177800">
              <a:buFont typeface="Arial" panose="020B0604020202020204" pitchFamily="34" charset="0"/>
              <a:buChar char="•"/>
            </a:pPr>
            <a:r>
              <a:rPr lang="pl-PL" sz="2000" dirty="0">
                <a:latin typeface="Arial Narrow" panose="020B0606020202030204" pitchFamily="34" charset="0"/>
              </a:rPr>
              <a:t>kształt – krotka wartości całkowitoliczbowych określających liczbę wymiarów poszczególnych osi tensora. </a:t>
            </a:r>
            <a:r>
              <a:rPr lang="pl-PL" sz="2000">
                <a:latin typeface="Arial Narrow" panose="020B0606020202030204" pitchFamily="34" charset="0"/>
              </a:rPr>
              <a:t>Np</a:t>
            </a:r>
            <a:r>
              <a:rPr lang="pl-PL" sz="2000" dirty="0">
                <a:latin typeface="Arial Narrow" panose="020B0606020202030204" pitchFamily="34" charset="0"/>
              </a:rPr>
              <a:t>. </a:t>
            </a:r>
          </a:p>
          <a:p>
            <a:pPr marL="354013" lvl="1" indent="-176213">
              <a:buFont typeface="Arial Narrow" panose="020B0606020202030204" pitchFamily="34" charset="0"/>
              <a:buChar char="–"/>
            </a:pPr>
            <a:r>
              <a:rPr lang="pl-PL" sz="2000" dirty="0">
                <a:latin typeface="Arial Narrow" panose="020B0606020202030204" pitchFamily="34" charset="0"/>
              </a:rPr>
              <a:t>skalar (tensor zerowymiarowy) opisuje pusta krotka kształtu ()</a:t>
            </a:r>
          </a:p>
          <a:p>
            <a:pPr marL="354013" lvl="1" indent="-176213">
              <a:buFont typeface="Arial Narrow" panose="020B0606020202030204" pitchFamily="34" charset="0"/>
              <a:buChar char="–"/>
            </a:pPr>
            <a:r>
              <a:rPr lang="pl-PL" sz="2000" dirty="0">
                <a:latin typeface="Arial Narrow" panose="020B0606020202030204" pitchFamily="34" charset="0"/>
              </a:rPr>
              <a:t>wektor (tensor o randze 1) ma kształt (m, ), </a:t>
            </a:r>
            <a:r>
              <a:rPr lang="pl-PL" sz="2000">
                <a:latin typeface="Arial Narrow" panose="020B0606020202030204" pitchFamily="34" charset="0"/>
              </a:rPr>
              <a:t>np</a:t>
            </a:r>
            <a:r>
              <a:rPr lang="pl-PL" sz="2000" dirty="0">
                <a:latin typeface="Arial Narrow" panose="020B0606020202030204" pitchFamily="34" charset="0"/>
              </a:rPr>
              <a:t>. wektor [3, 5, 6, 2, 56, 21] ma kształt (6,)</a:t>
            </a:r>
          </a:p>
          <a:p>
            <a:pPr marL="354013" lvl="1" indent="-176213">
              <a:buFont typeface="Arial Narrow" panose="020B0606020202030204" pitchFamily="34" charset="0"/>
              <a:buChar char="–"/>
            </a:pPr>
            <a:r>
              <a:rPr lang="pl-PL" sz="2000" dirty="0">
                <a:latin typeface="Arial Narrow" panose="020B0606020202030204" pitchFamily="34" charset="0"/>
              </a:rPr>
              <a:t>macierz ma kształt (n, m)</a:t>
            </a:r>
          </a:p>
          <a:p>
            <a:pPr marL="177800" indent="-177800">
              <a:buFont typeface="Arial" panose="020B0604020202020204" pitchFamily="34" charset="0"/>
              <a:buChar char="•"/>
            </a:pPr>
            <a:r>
              <a:rPr lang="pl-PL" sz="2000" dirty="0">
                <a:latin typeface="Arial Narrow" panose="020B0606020202030204" pitchFamily="34" charset="0"/>
              </a:rPr>
              <a:t>typ danych, zwykle rzeczywisty (</a:t>
            </a:r>
            <a:r>
              <a:rPr lang="pl-PL" sz="2000">
                <a:latin typeface="Arial Narrow" panose="020B0606020202030204" pitchFamily="34" charset="0"/>
              </a:rPr>
              <a:t>np</a:t>
            </a:r>
            <a:r>
              <a:rPr lang="pl-PL" sz="2000" dirty="0">
                <a:latin typeface="Arial Narrow" panose="020B0606020202030204" pitchFamily="34" charset="0"/>
              </a:rPr>
              <a:t>. float, a w numpy float32, float64),</a:t>
            </a:r>
            <a:br>
              <a:rPr lang="pl-PL" sz="2000" dirty="0">
                <a:latin typeface="Arial Narrow" panose="020B0606020202030204" pitchFamily="34" charset="0"/>
              </a:rPr>
            </a:br>
            <a:r>
              <a:rPr lang="pl-PL" sz="2000" dirty="0">
                <a:latin typeface="Arial Narrow" panose="020B0606020202030204" pitchFamily="34" charset="0"/>
              </a:rPr>
              <a:t>może być całkowity (int; int8, int32, int64) </a:t>
            </a:r>
            <a:br>
              <a:rPr lang="pl-PL" sz="2000" dirty="0">
                <a:latin typeface="Arial Narrow" panose="020B0606020202030204" pitchFamily="34" charset="0"/>
              </a:rPr>
            </a:br>
            <a:r>
              <a:rPr lang="pl-PL" sz="2000" dirty="0">
                <a:latin typeface="Arial Narrow" panose="020B0606020202030204" pitchFamily="34" charset="0"/>
              </a:rPr>
              <a:t>lub tekstowy (string) </a:t>
            </a:r>
          </a:p>
          <a:p>
            <a:pPr marL="177800" indent="-177800">
              <a:buFont typeface="Arial" panose="020B0604020202020204" pitchFamily="34" charset="0"/>
              <a:buChar char="•"/>
            </a:pPr>
            <a:endParaRPr lang="pl-PL" sz="2000" b="1" dirty="0">
              <a:solidFill>
                <a:srgbClr val="000000"/>
              </a:solidFill>
              <a:latin typeface="Arial Narrow" panose="020B0606020202030204" pitchFamily="34" charset="0"/>
              <a:cs typeface="Calibri" panose="020F0502020204030204" pitchFamily="34" charset="0"/>
            </a:endParaRPr>
          </a:p>
          <a:p>
            <a:r>
              <a:rPr lang="pl-PL" sz="2000" b="1" dirty="0">
                <a:solidFill>
                  <a:srgbClr val="000000"/>
                </a:solidFill>
                <a:latin typeface="Arial Narrow" panose="020B0606020202030204" pitchFamily="34" charset="0"/>
                <a:cs typeface="Calibri" panose="020F0502020204030204" pitchFamily="34" charset="0"/>
              </a:rPr>
              <a:t>Przykład:</a:t>
            </a:r>
            <a:endParaRPr lang="pl-PL" sz="2000" dirty="0">
              <a:latin typeface="Arial Narrow" panose="020B0606020202030204" pitchFamily="34" charset="0"/>
            </a:endParaRPr>
          </a:p>
          <a:p>
            <a:pPr>
              <a:tabLst>
                <a:tab pos="622300" algn="l"/>
                <a:tab pos="1166813" algn="l"/>
              </a:tabLst>
            </a:pPr>
            <a:r>
              <a:rPr lang="pl-PL" sz="2000" dirty="0">
                <a:latin typeface="Arial Narrow" panose="020B0606020202030204" pitchFamily="34" charset="0"/>
              </a:rPr>
              <a:t> 2.3	4.2	3.3</a:t>
            </a:r>
          </a:p>
          <a:p>
            <a:pPr>
              <a:tabLst>
                <a:tab pos="622300" algn="l"/>
                <a:tab pos="1166813" algn="l"/>
              </a:tabLst>
            </a:pPr>
            <a:r>
              <a:rPr lang="pl-PL" sz="2000" dirty="0">
                <a:latin typeface="Arial Narrow" panose="020B0606020202030204" pitchFamily="34" charset="0"/>
              </a:rPr>
              <a:t> 4.1	4.6	0.2</a:t>
            </a:r>
          </a:p>
          <a:p>
            <a:r>
              <a:rPr lang="pl-PL" sz="2000" dirty="0">
                <a:latin typeface="Arial Narrow" panose="020B0606020202030204" pitchFamily="34" charset="0"/>
              </a:rPr>
              <a:t>Jest tensorem: </a:t>
            </a:r>
          </a:p>
          <a:p>
            <a:r>
              <a:rPr lang="pl-PL" sz="2000" dirty="0">
                <a:latin typeface="Arial Narrow" panose="020B0606020202030204" pitchFamily="34" charset="0"/>
              </a:rPr>
              <a:t>o randze (liczbie osi)? </a:t>
            </a:r>
          </a:p>
          <a:p>
            <a:r>
              <a:rPr lang="pl-PL" sz="2000" dirty="0">
                <a:latin typeface="Arial Narrow" panose="020B0606020202030204" pitchFamily="34" charset="0"/>
              </a:rPr>
              <a:t>ma kształt?</a:t>
            </a:r>
          </a:p>
          <a:p>
            <a:r>
              <a:rPr lang="pl-PL" sz="2000" dirty="0">
                <a:latin typeface="Arial Narrow" panose="020B0606020202030204" pitchFamily="34" charset="0"/>
              </a:rPr>
              <a:t>dane są liczbami typu?</a:t>
            </a:r>
          </a:p>
        </p:txBody>
      </p:sp>
      <p:sp>
        <p:nvSpPr>
          <p:cNvPr id="2" name="Prostokąt 1"/>
          <p:cNvSpPr/>
          <p:nvPr/>
        </p:nvSpPr>
        <p:spPr>
          <a:xfrm>
            <a:off x="2321664" y="4880921"/>
            <a:ext cx="762000" cy="1015663"/>
          </a:xfrm>
          <a:prstGeom prst="rect">
            <a:avLst/>
          </a:prstGeom>
        </p:spPr>
        <p:txBody>
          <a:bodyPr wrap="square">
            <a:spAutoFit/>
          </a:bodyPr>
          <a:lstStyle/>
          <a:p>
            <a:r>
              <a:rPr lang="pl-PL" sz="2000" dirty="0">
                <a:latin typeface="Arial Narrow" panose="020B0606020202030204" pitchFamily="34" charset="0"/>
              </a:rPr>
              <a:t>2 </a:t>
            </a:r>
          </a:p>
          <a:p>
            <a:r>
              <a:rPr lang="pl-PL" sz="2000" dirty="0">
                <a:latin typeface="Arial Narrow" panose="020B0606020202030204" pitchFamily="34" charset="0"/>
              </a:rPr>
              <a:t>(2,3) </a:t>
            </a:r>
          </a:p>
          <a:p>
            <a:r>
              <a:rPr lang="pl-PL" sz="2000" dirty="0">
                <a:latin typeface="Arial Narrow" panose="020B0606020202030204" pitchFamily="34" charset="0"/>
              </a:rPr>
              <a:t>float</a:t>
            </a:r>
          </a:p>
        </p:txBody>
      </p:sp>
    </p:spTree>
    <p:extLst>
      <p:ext uri="{BB962C8B-B14F-4D97-AF65-F5344CB8AC3E}">
        <p14:creationId xmlns:p14="http://schemas.microsoft.com/office/powerpoint/2010/main" val="218698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8" end="8"/>
                                            </p:txEl>
                                          </p:spTgt>
                                        </p:tgtEl>
                                        <p:attrNameLst>
                                          <p:attrName>style.visibility</p:attrName>
                                        </p:attrNameLst>
                                      </p:cBhvr>
                                      <p:to>
                                        <p:strVal val="visible"/>
                                      </p:to>
                                    </p:set>
                                    <p:anim calcmode="lin" valueType="num">
                                      <p:cBhvr additive="base">
                                        <p:cTn id="7"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9" end="9"/>
                                            </p:txEl>
                                          </p:spTgt>
                                        </p:tgtEl>
                                        <p:attrNameLst>
                                          <p:attrName>style.visibility</p:attrName>
                                        </p:attrNameLst>
                                      </p:cBhvr>
                                      <p:to>
                                        <p:strVal val="visible"/>
                                      </p:to>
                                    </p:set>
                                    <p:anim calcmode="lin" valueType="num">
                                      <p:cBhvr additive="base">
                                        <p:cTn id="11" dur="500" fill="hold"/>
                                        <p:tgtEl>
                                          <p:spTgt spid="6">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9" end="9"/>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10" end="10"/>
                                            </p:txEl>
                                          </p:spTgt>
                                        </p:tgtEl>
                                        <p:attrNameLst>
                                          <p:attrName>style.visibility</p:attrName>
                                        </p:attrNameLst>
                                      </p:cBhvr>
                                      <p:to>
                                        <p:strVal val="visible"/>
                                      </p:to>
                                    </p:set>
                                    <p:anim calcmode="lin" valueType="num">
                                      <p:cBhvr additive="base">
                                        <p:cTn id="15" dur="500" fill="hold"/>
                                        <p:tgtEl>
                                          <p:spTgt spid="6">
                                            <p:txEl>
                                              <p:pRg st="10" end="1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10" end="10"/>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
                                            <p:txEl>
                                              <p:pRg st="11" end="11"/>
                                            </p:txEl>
                                          </p:spTgt>
                                        </p:tgtEl>
                                        <p:attrNameLst>
                                          <p:attrName>style.visibility</p:attrName>
                                        </p:attrNameLst>
                                      </p:cBhvr>
                                      <p:to>
                                        <p:strVal val="visible"/>
                                      </p:to>
                                    </p:set>
                                    <p:anim calcmode="lin" valueType="num">
                                      <p:cBhvr additive="base">
                                        <p:cTn id="19" dur="500" fill="hold"/>
                                        <p:tgtEl>
                                          <p:spTgt spid="6">
                                            <p:txEl>
                                              <p:pRg st="11" end="1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1" end="11"/>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6">
                                            <p:txEl>
                                              <p:pRg st="12" end="12"/>
                                            </p:txEl>
                                          </p:spTgt>
                                        </p:tgtEl>
                                        <p:attrNameLst>
                                          <p:attrName>style.visibility</p:attrName>
                                        </p:attrNameLst>
                                      </p:cBhvr>
                                      <p:to>
                                        <p:strVal val="visible"/>
                                      </p:to>
                                    </p:set>
                                    <p:anim calcmode="lin" valueType="num">
                                      <p:cBhvr additive="base">
                                        <p:cTn id="23" dur="500" fill="hold"/>
                                        <p:tgtEl>
                                          <p:spTgt spid="6">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12" end="12"/>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
                                            <p:txEl>
                                              <p:pRg st="13" end="13"/>
                                            </p:txEl>
                                          </p:spTgt>
                                        </p:tgtEl>
                                        <p:attrNameLst>
                                          <p:attrName>style.visibility</p:attrName>
                                        </p:attrNameLst>
                                      </p:cBhvr>
                                      <p:to>
                                        <p:strVal val="visible"/>
                                      </p:to>
                                    </p:set>
                                    <p:anim calcmode="lin" valueType="num">
                                      <p:cBhvr additive="base">
                                        <p:cTn id="27" dur="500" fill="hold"/>
                                        <p:tgtEl>
                                          <p:spTgt spid="6">
                                            <p:txEl>
                                              <p:pRg st="13" end="1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13" end="13"/>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xEl>
                                              <p:pRg st="14" end="14"/>
                                            </p:txEl>
                                          </p:spTgt>
                                        </p:tgtEl>
                                        <p:attrNameLst>
                                          <p:attrName>style.visibility</p:attrName>
                                        </p:attrNameLst>
                                      </p:cBhvr>
                                      <p:to>
                                        <p:strVal val="visible"/>
                                      </p:to>
                                    </p:set>
                                    <p:anim calcmode="lin" valueType="num">
                                      <p:cBhvr additive="base">
                                        <p:cTn id="31" dur="500" fill="hold"/>
                                        <p:tgtEl>
                                          <p:spTgt spid="6">
                                            <p:txEl>
                                              <p:pRg st="14" end="1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0D4B2D9-DB10-4EB9-B7A6-032A6D4E75AC}" type="slidenum">
              <a:rPr lang="pl-PL" smtClean="0"/>
              <a:pPr/>
              <a:t>15</a:t>
            </a:fld>
            <a:endParaRPr lang="pl-PL" dirty="0"/>
          </a:p>
        </p:txBody>
      </p:sp>
      <p:sp>
        <p:nvSpPr>
          <p:cNvPr id="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7" name="Rectangle 5">
            <a:extLst>
              <a:ext uri="{FF2B5EF4-FFF2-40B4-BE49-F238E27FC236}">
                <a16:creationId xmlns:a16="http://schemas.microsoft.com/office/drawing/2014/main" id="{288C6A27-2280-49D6-928B-FD164CEED3E4}"/>
              </a:ext>
            </a:extLst>
          </p:cNvPr>
          <p:cNvSpPr/>
          <p:nvPr/>
        </p:nvSpPr>
        <p:spPr>
          <a:xfrm>
            <a:off x="0" y="304800"/>
            <a:ext cx="9144000" cy="5632311"/>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Przykłady tensorów danych:</a:t>
            </a:r>
          </a:p>
          <a:p>
            <a:endParaRPr lang="pl-PL" sz="2000" dirty="0">
              <a:solidFill>
                <a:srgbClr val="000000"/>
              </a:solidFill>
              <a:latin typeface="Arial Narrow" panose="020B0606020202030204" pitchFamily="34" charset="0"/>
              <a:cs typeface="Calibri" panose="020F0502020204030204" pitchFamily="34" charset="0"/>
            </a:endParaRPr>
          </a:p>
          <a:p>
            <a:r>
              <a:rPr lang="pl-PL" sz="2000" b="1" dirty="0">
                <a:solidFill>
                  <a:srgbClr val="000000"/>
                </a:solidFill>
                <a:latin typeface="Arial Narrow" panose="020B0606020202030204" pitchFamily="34" charset="0"/>
                <a:cs typeface="Calibri" panose="020F0502020204030204" pitchFamily="34" charset="0"/>
              </a:rPr>
              <a:t>Tensory dwuwymiarowe</a:t>
            </a:r>
            <a:r>
              <a:rPr lang="pl-PL" sz="2000" dirty="0">
                <a:solidFill>
                  <a:srgbClr val="000000"/>
                </a:solidFill>
                <a:latin typeface="Arial Narrow" panose="020B0606020202030204" pitchFamily="34" charset="0"/>
                <a:cs typeface="Calibri" panose="020F0502020204030204" pitchFamily="34" charset="0"/>
              </a:rPr>
              <a:t> (próbki, cechy) – najczęściej wykorzystywane.</a:t>
            </a:r>
          </a:p>
          <a:p>
            <a:r>
              <a:rPr lang="pl-PL" sz="2000" dirty="0">
                <a:solidFill>
                  <a:srgbClr val="000000"/>
                </a:solidFill>
                <a:latin typeface="Arial Narrow" panose="020B0606020202030204" pitchFamily="34" charset="0"/>
                <a:cs typeface="Calibri" panose="020F0502020204030204" pitchFamily="34" charset="0"/>
              </a:rPr>
              <a:t>Przykład:</a:t>
            </a:r>
          </a:p>
          <a:p>
            <a:r>
              <a:rPr lang="pl-PL" sz="2000" dirty="0">
                <a:solidFill>
                  <a:srgbClr val="000000"/>
                </a:solidFill>
                <a:latin typeface="Arial Narrow" panose="020B0606020202030204" pitchFamily="34" charset="0"/>
                <a:cs typeface="Calibri" panose="020F0502020204030204" pitchFamily="34" charset="0"/>
              </a:rPr>
              <a:t>zbiór danych o 100 tys. osób (próbek), z których każda jest charakteryzowana przez trzy atrybuty (wiek, wzrost, waga) będzie zapisany w postaci tensora o kształcie(?)</a:t>
            </a:r>
          </a:p>
          <a:p>
            <a:r>
              <a:rPr lang="pl-PL" sz="2000" dirty="0">
                <a:solidFill>
                  <a:srgbClr val="000000"/>
                </a:solidFill>
                <a:latin typeface="Arial Narrow" panose="020B0606020202030204" pitchFamily="34" charset="0"/>
                <a:cs typeface="Calibri" panose="020F0502020204030204" pitchFamily="34" charset="0"/>
              </a:rPr>
              <a:t>(100</a:t>
            </a:r>
            <a:r>
              <a:rPr lang="pl-PL" sz="2000" dirty="0">
                <a:solidFill>
                  <a:srgbClr val="7030A0"/>
                </a:solidFill>
                <a:latin typeface="Arial Narrow" panose="020B0606020202030204" pitchFamily="34" charset="0"/>
                <a:cs typeface="Calibri" panose="020F0502020204030204" pitchFamily="34" charset="0"/>
              </a:rPr>
              <a:t>000</a:t>
            </a:r>
            <a:r>
              <a:rPr lang="pl-PL" sz="2000" dirty="0">
                <a:solidFill>
                  <a:srgbClr val="000000"/>
                </a:solidFill>
                <a:latin typeface="Arial Narrow" panose="020B0606020202030204" pitchFamily="34" charset="0"/>
                <a:cs typeface="Calibri" panose="020F0502020204030204" pitchFamily="34" charset="0"/>
              </a:rPr>
              <a:t>, 3).</a:t>
            </a:r>
          </a:p>
          <a:p>
            <a:r>
              <a:rPr lang="pl-PL" sz="2000" dirty="0">
                <a:solidFill>
                  <a:srgbClr val="000000"/>
                </a:solidFill>
                <a:latin typeface="Arial Narrow" panose="020B0606020202030204" pitchFamily="34" charset="0"/>
                <a:cs typeface="Calibri" panose="020F0502020204030204" pitchFamily="34" charset="0"/>
              </a:rPr>
              <a:t>Liczba osi (ranga) tego tensora jest równa(?)</a:t>
            </a:r>
          </a:p>
          <a:p>
            <a:r>
              <a:rPr lang="pl-PL" sz="2000" dirty="0">
                <a:solidFill>
                  <a:srgbClr val="000000"/>
                </a:solidFill>
                <a:latin typeface="Arial Narrow" panose="020B0606020202030204" pitchFamily="34" charset="0"/>
                <a:cs typeface="Calibri" panose="020F0502020204030204" pitchFamily="34" charset="0"/>
              </a:rPr>
              <a:t>2.</a:t>
            </a:r>
          </a:p>
          <a:p>
            <a:endParaRPr lang="pl-PL" sz="2000" dirty="0">
              <a:solidFill>
                <a:srgbClr val="000000"/>
              </a:solidFill>
              <a:latin typeface="Arial Narrow" panose="020B0606020202030204" pitchFamily="34" charset="0"/>
              <a:cs typeface="Calibri" panose="020F0502020204030204" pitchFamily="34" charset="0"/>
            </a:endParaRPr>
          </a:p>
          <a:p>
            <a:r>
              <a:rPr lang="pl-PL" sz="2000" b="1" dirty="0">
                <a:solidFill>
                  <a:srgbClr val="000000"/>
                </a:solidFill>
                <a:latin typeface="Arial Narrow" panose="020B0606020202030204" pitchFamily="34" charset="0"/>
                <a:cs typeface="Calibri" panose="020F0502020204030204" pitchFamily="34" charset="0"/>
              </a:rPr>
              <a:t>Tensory trójwymiarowe</a:t>
            </a:r>
            <a:r>
              <a:rPr lang="pl-PL" sz="2000" dirty="0">
                <a:solidFill>
                  <a:srgbClr val="000000"/>
                </a:solidFill>
                <a:latin typeface="Arial Narrow" panose="020B0606020202030204" pitchFamily="34" charset="0"/>
                <a:cs typeface="Calibri" panose="020F0502020204030204" pitchFamily="34" charset="0"/>
              </a:rPr>
              <a:t> (próbki, cechy, czas) – do analizy szeregów czasowych.</a:t>
            </a:r>
          </a:p>
          <a:p>
            <a:r>
              <a:rPr lang="pl-PL" sz="2000" dirty="0">
                <a:solidFill>
                  <a:srgbClr val="000000"/>
                </a:solidFill>
                <a:latin typeface="Arial Narrow" panose="020B0606020202030204" pitchFamily="34" charset="0"/>
                <a:cs typeface="Calibri" panose="020F0502020204030204" pitchFamily="34" charset="0"/>
              </a:rPr>
              <a:t>Przykład:</a:t>
            </a:r>
          </a:p>
          <a:p>
            <a:r>
              <a:rPr lang="pl-PL" sz="2000" dirty="0">
                <a:solidFill>
                  <a:srgbClr val="000000"/>
                </a:solidFill>
                <a:latin typeface="Arial Narrow" panose="020B0606020202030204" pitchFamily="34" charset="0"/>
                <a:cs typeface="Calibri" panose="020F0502020204030204" pitchFamily="34" charset="0"/>
              </a:rPr>
              <a:t>co minutę zapisywana jest cena minimalna i maksymalna akcji w postaci wektora (czas, cena minimalna, cena maksymalna),</a:t>
            </a:r>
          </a:p>
          <a:p>
            <a:r>
              <a:rPr lang="pl-PL" sz="2000" dirty="0">
                <a:solidFill>
                  <a:srgbClr val="000000"/>
                </a:solidFill>
                <a:latin typeface="Arial Narrow" panose="020B0606020202030204" pitchFamily="34" charset="0"/>
                <a:cs typeface="Calibri" panose="020F0502020204030204" pitchFamily="34" charset="0"/>
              </a:rPr>
              <a:t>dane z całego dnia (480 minut) zapisywane będą w postaci tensora dwuwymiarowego (480, 3)</a:t>
            </a:r>
          </a:p>
          <a:p>
            <a:r>
              <a:rPr lang="pl-PL" sz="2000" dirty="0">
                <a:solidFill>
                  <a:srgbClr val="000000"/>
                </a:solidFill>
                <a:latin typeface="Arial Narrow" panose="020B0606020202030204" pitchFamily="34" charset="0"/>
                <a:cs typeface="Calibri" panose="020F0502020204030204" pitchFamily="34" charset="0"/>
              </a:rPr>
              <a:t>a z całego roku, przy założeniu, że w roku jest 250 dni, w których giełda jest otwarta, zapiszemy w postaci tensora o kształcie(?)</a:t>
            </a:r>
          </a:p>
          <a:p>
            <a:r>
              <a:rPr lang="pl-PL" sz="2000" dirty="0">
                <a:solidFill>
                  <a:srgbClr val="000000"/>
                </a:solidFill>
                <a:latin typeface="Arial Narrow" panose="020B0606020202030204" pitchFamily="34" charset="0"/>
                <a:cs typeface="Calibri" panose="020F0502020204030204" pitchFamily="34" charset="0"/>
              </a:rPr>
              <a:t>(250, 480, 3)</a:t>
            </a:r>
          </a:p>
        </p:txBody>
      </p:sp>
    </p:spTree>
    <p:extLst>
      <p:ext uri="{BB962C8B-B14F-4D97-AF65-F5344CB8AC3E}">
        <p14:creationId xmlns:p14="http://schemas.microsoft.com/office/powerpoint/2010/main" val="373556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 calcmode="lin" valueType="num">
                                      <p:cBhvr additive="base">
                                        <p:cTn id="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 calcmode="lin" valueType="num">
                                      <p:cBhvr additive="base">
                                        <p:cTn id="11"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anim calcmode="lin" valueType="num">
                                      <p:cBhvr additive="base">
                                        <p:cTn id="17"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anim calcmode="lin" valueType="num">
                                      <p:cBhvr additive="base">
                                        <p:cTn id="23"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9" end="9"/>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anim calcmode="lin" valueType="num">
                                      <p:cBhvr additive="base">
                                        <p:cTn id="27"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xEl>
                                              <p:pRg st="11" end="11"/>
                                            </p:txEl>
                                          </p:spTgt>
                                        </p:tgtEl>
                                        <p:attrNameLst>
                                          <p:attrName>style.visibility</p:attrName>
                                        </p:attrNameLst>
                                      </p:cBhvr>
                                      <p:to>
                                        <p:strVal val="visible"/>
                                      </p:to>
                                    </p:set>
                                    <p:anim calcmode="lin" valueType="num">
                                      <p:cBhvr additive="base">
                                        <p:cTn id="31"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11" end="1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
                                            <p:txEl>
                                              <p:pRg st="12" end="12"/>
                                            </p:txEl>
                                          </p:spTgt>
                                        </p:tgtEl>
                                        <p:attrNameLst>
                                          <p:attrName>style.visibility</p:attrName>
                                        </p:attrNameLst>
                                      </p:cBhvr>
                                      <p:to>
                                        <p:strVal val="visible"/>
                                      </p:to>
                                    </p:set>
                                    <p:anim calcmode="lin" valueType="num">
                                      <p:cBhvr additive="base">
                                        <p:cTn id="35" dur="500" fill="hold"/>
                                        <p:tgtEl>
                                          <p:spTgt spid="7">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12" end="1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
                                            <p:txEl>
                                              <p:pRg st="13" end="13"/>
                                            </p:txEl>
                                          </p:spTgt>
                                        </p:tgtEl>
                                        <p:attrNameLst>
                                          <p:attrName>style.visibility</p:attrName>
                                        </p:attrNameLst>
                                      </p:cBhvr>
                                      <p:to>
                                        <p:strVal val="visible"/>
                                      </p:to>
                                    </p:set>
                                    <p:anim calcmode="lin" valueType="num">
                                      <p:cBhvr additive="base">
                                        <p:cTn id="39" dur="500" fill="hold"/>
                                        <p:tgtEl>
                                          <p:spTgt spid="7">
                                            <p:txEl>
                                              <p:pRg st="13" end="1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7">
                                            <p:txEl>
                                              <p:pRg st="14" end="14"/>
                                            </p:txEl>
                                          </p:spTgt>
                                        </p:tgtEl>
                                        <p:attrNameLst>
                                          <p:attrName>style.visibility</p:attrName>
                                        </p:attrNameLst>
                                      </p:cBhvr>
                                      <p:to>
                                        <p:strVal val="visible"/>
                                      </p:to>
                                    </p:set>
                                    <p:anim calcmode="lin" valueType="num">
                                      <p:cBhvr additive="base">
                                        <p:cTn id="45" dur="500" fill="hold"/>
                                        <p:tgtEl>
                                          <p:spTgt spid="7">
                                            <p:txEl>
                                              <p:pRg st="14" end="14"/>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16</a:t>
            </a:fld>
            <a:endParaRPr lang="pl-PL" dirty="0"/>
          </a:p>
        </p:txBody>
      </p:sp>
      <p:sp>
        <p:nvSpPr>
          <p:cNvPr id="5" name="Rectangle 5">
            <a:extLst>
              <a:ext uri="{FF2B5EF4-FFF2-40B4-BE49-F238E27FC236}">
                <a16:creationId xmlns:a16="http://schemas.microsoft.com/office/drawing/2014/main" id="{288C6A27-2280-49D6-928B-FD164CEED3E4}"/>
              </a:ext>
            </a:extLst>
          </p:cNvPr>
          <p:cNvSpPr/>
          <p:nvPr/>
        </p:nvSpPr>
        <p:spPr>
          <a:xfrm>
            <a:off x="0" y="304800"/>
            <a:ext cx="9144000" cy="1938992"/>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Przykłady tensorów danych, c.d.:</a:t>
            </a:r>
          </a:p>
          <a:p>
            <a:endParaRPr lang="pl-PL" sz="2000" dirty="0">
              <a:solidFill>
                <a:srgbClr val="000000"/>
              </a:solidFill>
              <a:latin typeface="Arial Narrow" panose="020B0606020202030204" pitchFamily="34" charset="0"/>
              <a:cs typeface="Calibri" panose="020F0502020204030204" pitchFamily="34" charset="0"/>
            </a:endParaRPr>
          </a:p>
          <a:p>
            <a:r>
              <a:rPr lang="pl-PL" sz="2000" b="1" dirty="0">
                <a:solidFill>
                  <a:srgbClr val="000000"/>
                </a:solidFill>
                <a:latin typeface="Arial Narrow" panose="020B0606020202030204" pitchFamily="34" charset="0"/>
                <a:cs typeface="Calibri" panose="020F0502020204030204" pitchFamily="34" charset="0"/>
              </a:rPr>
              <a:t>Tensory czterowymiarowe</a:t>
            </a:r>
            <a:r>
              <a:rPr lang="pl-PL" sz="2000" dirty="0">
                <a:solidFill>
                  <a:srgbClr val="000000"/>
                </a:solidFill>
                <a:latin typeface="Arial Narrow" panose="020B0606020202030204" pitchFamily="34" charset="0"/>
                <a:cs typeface="Calibri" panose="020F0502020204030204" pitchFamily="34" charset="0"/>
              </a:rPr>
              <a:t> (próbki, wysokość, szerokość, głębia koloru) – do rozpoznawania obrazów, </a:t>
            </a:r>
            <a:r>
              <a:rPr lang="pl-PL" sz="2000">
                <a:solidFill>
                  <a:srgbClr val="000000"/>
                </a:solidFill>
                <a:latin typeface="Arial Narrow" panose="020B0606020202030204" pitchFamily="34" charset="0"/>
                <a:cs typeface="Calibri" panose="020F0502020204030204" pitchFamily="34" charset="0"/>
              </a:rPr>
              <a:t>np</a:t>
            </a:r>
            <a:r>
              <a:rPr lang="pl-PL" sz="2000" dirty="0">
                <a:solidFill>
                  <a:srgbClr val="000000"/>
                </a:solidFill>
                <a:latin typeface="Arial Narrow" panose="020B0606020202030204" pitchFamily="34" charset="0"/>
                <a:cs typeface="Calibri" panose="020F0502020204030204" pitchFamily="34" charset="0"/>
              </a:rPr>
              <a:t>. dla 500 obrazów kolorowych o rozmiarze 50x60 pikseli konieczny jest tensor o kształcie(?)</a:t>
            </a:r>
          </a:p>
          <a:p>
            <a:r>
              <a:rPr lang="pl-PL" sz="2000" dirty="0">
                <a:solidFill>
                  <a:srgbClr val="000000"/>
                </a:solidFill>
                <a:latin typeface="Arial Narrow" panose="020B0606020202030204" pitchFamily="34" charset="0"/>
                <a:cs typeface="Calibri" panose="020F0502020204030204" pitchFamily="34" charset="0"/>
              </a:rPr>
              <a:t>(500, 50, 60, 3) – gdzie ostatnia oś (o wymiarze 3) wskazuje nasycenie kolorami (RGB).</a:t>
            </a:r>
            <a:endParaRPr lang="pl-PL" sz="2000" dirty="0">
              <a:latin typeface="Arial Narrow" panose="020B0606020202030204" pitchFamily="34" charset="0"/>
            </a:endParaRPr>
          </a:p>
        </p:txBody>
      </p:sp>
      <p:sp>
        <p:nvSpPr>
          <p:cNvPr id="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25469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 calcmode="lin" valueType="num">
                                      <p:cBhvr additive="base">
                                        <p:cTn id="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0D4B2D9-DB10-4EB9-B7A6-032A6D4E75AC}" type="slidenum">
              <a:rPr lang="pl-PL" smtClean="0"/>
              <a:pPr/>
              <a:t>17</a:t>
            </a:fld>
            <a:endParaRPr lang="pl-PL" dirty="0"/>
          </a:p>
        </p:txBody>
      </p:sp>
      <p:sp>
        <p:nvSpPr>
          <p:cNvPr id="7" name="Rectangle 5">
            <a:extLst>
              <a:ext uri="{FF2B5EF4-FFF2-40B4-BE49-F238E27FC236}">
                <a16:creationId xmlns:a16="http://schemas.microsoft.com/office/drawing/2014/main" id="{288C6A27-2280-49D6-928B-FD164CEED3E4}"/>
              </a:ext>
            </a:extLst>
          </p:cNvPr>
          <p:cNvSpPr/>
          <p:nvPr/>
        </p:nvSpPr>
        <p:spPr>
          <a:xfrm>
            <a:off x="0" y="304800"/>
            <a:ext cx="9144000" cy="2554545"/>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Przykłady tensorów danych, c.d.:</a:t>
            </a:r>
          </a:p>
          <a:p>
            <a:endParaRPr lang="pl-PL" sz="2000" dirty="0">
              <a:solidFill>
                <a:srgbClr val="000000"/>
              </a:solidFill>
              <a:latin typeface="Arial Narrow" panose="020B0606020202030204" pitchFamily="34" charset="0"/>
              <a:cs typeface="Calibri" panose="020F0502020204030204" pitchFamily="34" charset="0"/>
            </a:endParaRPr>
          </a:p>
          <a:p>
            <a:r>
              <a:rPr lang="pl-PL" sz="2000" b="1" dirty="0">
                <a:solidFill>
                  <a:srgbClr val="000000"/>
                </a:solidFill>
                <a:latin typeface="Arial Narrow" panose="020B0606020202030204" pitchFamily="34" charset="0"/>
                <a:cs typeface="Calibri" panose="020F0502020204030204" pitchFamily="34" charset="0"/>
              </a:rPr>
              <a:t>Tensory pięciowymiarowe</a:t>
            </a:r>
            <a:r>
              <a:rPr lang="pl-PL" sz="2000" dirty="0">
                <a:solidFill>
                  <a:srgbClr val="000000"/>
                </a:solidFill>
                <a:latin typeface="Arial Narrow" panose="020B0606020202030204" pitchFamily="34" charset="0"/>
                <a:cs typeface="Calibri" panose="020F0502020204030204" pitchFamily="34" charset="0"/>
              </a:rPr>
              <a:t> (próbki, klatki, wysokość, szerokość, głębia koloru).</a:t>
            </a:r>
          </a:p>
          <a:p>
            <a:r>
              <a:rPr lang="pl-PL" sz="2000" dirty="0">
                <a:solidFill>
                  <a:srgbClr val="000000"/>
                </a:solidFill>
                <a:latin typeface="Arial Narrow" panose="020B0606020202030204" pitchFamily="34" charset="0"/>
                <a:cs typeface="Calibri" panose="020F0502020204030204" pitchFamily="34" charset="0"/>
              </a:rPr>
              <a:t>Przykład:</a:t>
            </a:r>
          </a:p>
          <a:p>
            <a:r>
              <a:rPr lang="pl-PL" sz="2000" dirty="0">
                <a:solidFill>
                  <a:srgbClr val="000000"/>
                </a:solidFill>
                <a:latin typeface="Arial Narrow" panose="020B0606020202030204" pitchFamily="34" charset="0"/>
                <a:cs typeface="Calibri" panose="020F0502020204030204" pitchFamily="34" charset="0"/>
              </a:rPr>
              <a:t>film o rozdzielczości 144x256 trwający 60 sekund, o częstotliwości 4 klatek na sekundę składałby się z 240 klatek (4*60).</a:t>
            </a:r>
          </a:p>
          <a:p>
            <a:r>
              <a:rPr lang="pl-PL" sz="2000" dirty="0">
                <a:solidFill>
                  <a:srgbClr val="000000"/>
                </a:solidFill>
                <a:latin typeface="Arial Narrow" panose="020B0606020202030204" pitchFamily="34" charset="0"/>
                <a:cs typeface="Calibri" panose="020F0502020204030204" pitchFamily="34" charset="0"/>
              </a:rPr>
              <a:t>Próbkę pięciu filmów można zapisać w tensorze o kształcie(?)</a:t>
            </a:r>
          </a:p>
          <a:p>
            <a:r>
              <a:rPr lang="pl-PL" sz="2000" dirty="0">
                <a:solidFill>
                  <a:srgbClr val="000000"/>
                </a:solidFill>
                <a:latin typeface="Arial Narrow" panose="020B0606020202030204" pitchFamily="34" charset="0"/>
                <a:cs typeface="Calibri" panose="020F0502020204030204" pitchFamily="34" charset="0"/>
              </a:rPr>
              <a:t>(5, 240, 144, 256, 3)</a:t>
            </a:r>
          </a:p>
        </p:txBody>
      </p:sp>
      <p:sp>
        <p:nvSpPr>
          <p:cNvPr id="8"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92780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anim calcmode="lin" valueType="num">
                                      <p:cBhvr additive="base">
                                        <p:cTn id="7"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18</a:t>
            </a:fld>
            <a:endParaRPr lang="pl-PL" dirty="0"/>
          </a:p>
        </p:txBody>
      </p:sp>
      <p:sp>
        <p:nvSpPr>
          <p:cNvPr id="5" name="Rectangle 5">
            <a:extLst>
              <a:ext uri="{FF2B5EF4-FFF2-40B4-BE49-F238E27FC236}">
                <a16:creationId xmlns:a16="http://schemas.microsoft.com/office/drawing/2014/main" id="{288C6A27-2280-49D6-928B-FD164CEED3E4}"/>
              </a:ext>
            </a:extLst>
          </p:cNvPr>
          <p:cNvSpPr/>
          <p:nvPr/>
        </p:nvSpPr>
        <p:spPr>
          <a:xfrm>
            <a:off x="0" y="304800"/>
            <a:ext cx="9144000" cy="5324535"/>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Wybrane operacje na tensorach:</a:t>
            </a:r>
          </a:p>
          <a:p>
            <a:pPr marL="177800" indent="-177800">
              <a:spcBef>
                <a:spcPts val="1200"/>
              </a:spcBef>
              <a:buFont typeface="Arial" panose="020B0604020202020204" pitchFamily="34" charset="0"/>
              <a:buChar char="•"/>
              <a:tabLst>
                <a:tab pos="177800" algn="l"/>
              </a:tabLst>
            </a:pPr>
            <a:r>
              <a:rPr lang="pl-PL" sz="2000" b="1">
                <a:solidFill>
                  <a:srgbClr val="000000"/>
                </a:solidFill>
                <a:latin typeface="Arial Narrow" panose="020B0606020202030204" pitchFamily="34" charset="0"/>
                <a:cs typeface="Calibri" panose="020F0502020204030204" pitchFamily="34" charset="0"/>
              </a:rPr>
              <a:t>zmiana kształtu tensora (reshape) </a:t>
            </a:r>
            <a:r>
              <a:rPr lang="pl-PL" sz="2000">
                <a:solidFill>
                  <a:srgbClr val="000000"/>
                </a:solidFill>
                <a:latin typeface="Arial Narrow" panose="020B0606020202030204" pitchFamily="34" charset="0"/>
                <a:cs typeface="Calibri" panose="020F0502020204030204" pitchFamily="34" charset="0"/>
              </a:rPr>
              <a:t>– </a:t>
            </a:r>
            <a:r>
              <a:rPr lang="pl-PL" sz="2000" dirty="0">
                <a:solidFill>
                  <a:srgbClr val="000000"/>
                </a:solidFill>
                <a:latin typeface="Arial Narrow" panose="020B0606020202030204" pitchFamily="34" charset="0"/>
                <a:cs typeface="Calibri" panose="020F0502020204030204" pitchFamily="34" charset="0"/>
              </a:rPr>
              <a:t>zmiana rozmiaru (liczby osi, rangi) tensora, </a:t>
            </a:r>
            <a:r>
              <a:rPr lang="pl-PL" sz="2000">
                <a:solidFill>
                  <a:srgbClr val="000000"/>
                </a:solidFill>
                <a:latin typeface="Arial Narrow" panose="020B0606020202030204" pitchFamily="34" charset="0"/>
                <a:cs typeface="Calibri" panose="020F0502020204030204" pitchFamily="34" charset="0"/>
              </a:rPr>
              <a:t>np</a:t>
            </a:r>
            <a:r>
              <a:rPr lang="pl-PL" sz="2000" dirty="0">
                <a:solidFill>
                  <a:srgbClr val="000000"/>
                </a:solidFill>
                <a:latin typeface="Arial Narrow" panose="020B0606020202030204" pitchFamily="34" charset="0"/>
                <a:cs typeface="Calibri" panose="020F0502020204030204" pitchFamily="34" charset="0"/>
              </a:rPr>
              <a:t>. tensor jednowymiarowy może zostać przekształcony na dwuwymiarowy. Tensor przekształcony ma taką samą </a:t>
            </a:r>
            <a:r>
              <a:rPr lang="pl-PL" sz="2000">
                <a:solidFill>
                  <a:srgbClr val="000000"/>
                </a:solidFill>
                <a:latin typeface="Arial Narrow" panose="020B0606020202030204" pitchFamily="34" charset="0"/>
                <a:cs typeface="Calibri" panose="020F0502020204030204" pitchFamily="34" charset="0"/>
              </a:rPr>
              <a:t>liczbę elementów </a:t>
            </a:r>
            <a:r>
              <a:rPr lang="pl-PL" sz="2000" dirty="0">
                <a:solidFill>
                  <a:srgbClr val="000000"/>
                </a:solidFill>
                <a:latin typeface="Arial Narrow" panose="020B0606020202030204" pitchFamily="34" charset="0"/>
                <a:cs typeface="Calibri" panose="020F0502020204030204" pitchFamily="34" charset="0"/>
              </a:rPr>
              <a:t>jak początkowy.</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Przykład:</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tensor (24,) może zostać zamieniony na (8,3) lub (</a:t>
            </a:r>
            <a:r>
              <a:rPr lang="pl-PL" sz="2000">
                <a:solidFill>
                  <a:srgbClr val="000000"/>
                </a:solidFill>
                <a:latin typeface="Arial Narrow" panose="020B0606020202030204" pitchFamily="34" charset="0"/>
                <a:cs typeface="Calibri" panose="020F0502020204030204" pitchFamily="34" charset="0"/>
              </a:rPr>
              <a:t>4,2,3)</a:t>
            </a:r>
            <a:endParaRPr lang="pl-PL" sz="2000" b="1">
              <a:solidFill>
                <a:srgbClr val="000000"/>
              </a:solidFill>
              <a:latin typeface="Arial Narrow" panose="020B0606020202030204" pitchFamily="34" charset="0"/>
              <a:cs typeface="Calibri" panose="020F0502020204030204" pitchFamily="34" charset="0"/>
            </a:endParaRPr>
          </a:p>
          <a:p>
            <a:pPr marL="177800" indent="-177800">
              <a:spcBef>
                <a:spcPts val="1200"/>
              </a:spcBef>
              <a:buFont typeface="Arial" panose="020B0604020202020204" pitchFamily="34" charset="0"/>
              <a:buChar char="•"/>
              <a:tabLst>
                <a:tab pos="177800" algn="l"/>
              </a:tabLst>
            </a:pPr>
            <a:r>
              <a:rPr lang="pl-PL" sz="2000" b="1">
                <a:solidFill>
                  <a:srgbClr val="000000"/>
                </a:solidFill>
                <a:latin typeface="Arial Narrow" panose="020B0606020202030204" pitchFamily="34" charset="0"/>
                <a:cs typeface="Calibri" panose="020F0502020204030204" pitchFamily="34" charset="0"/>
              </a:rPr>
              <a:t>flattening</a:t>
            </a:r>
            <a:r>
              <a:rPr lang="pl-PL" sz="2000">
                <a:solidFill>
                  <a:srgbClr val="000000"/>
                </a:solidFill>
                <a:latin typeface="Arial Narrow" panose="020B0606020202030204" pitchFamily="34" charset="0"/>
                <a:cs typeface="Calibri" panose="020F0502020204030204" pitchFamily="34" charset="0"/>
              </a:rPr>
              <a:t> – operacja reshape polegająca na przekształceniu tensora wielowymiarowego w jednowymiarowy</a:t>
            </a:r>
          </a:p>
          <a:p>
            <a:pPr marL="177800" indent="-177800">
              <a:spcBef>
                <a:spcPts val="1200"/>
              </a:spcBef>
              <a:buFont typeface="Arial" panose="020B0604020202020204" pitchFamily="34" charset="0"/>
              <a:buChar char="•"/>
              <a:tabLst>
                <a:tab pos="177800" algn="l"/>
              </a:tabLst>
            </a:pPr>
            <a:r>
              <a:rPr lang="pl-PL" sz="2000" b="1">
                <a:solidFill>
                  <a:srgbClr val="000000"/>
                </a:solidFill>
                <a:latin typeface="Arial Narrow" panose="020B0606020202030204" pitchFamily="34" charset="0"/>
                <a:cs typeface="Calibri" panose="020F0502020204030204" pitchFamily="34" charset="0"/>
              </a:rPr>
              <a:t>rzutowanie</a:t>
            </a:r>
            <a:r>
              <a:rPr lang="pl-PL" sz="2000">
                <a:solidFill>
                  <a:srgbClr val="000000"/>
                </a:solidFill>
                <a:latin typeface="Arial Narrow" panose="020B0606020202030204" pitchFamily="34" charset="0"/>
                <a:cs typeface="Calibri" panose="020F0502020204030204" pitchFamily="34" charset="0"/>
              </a:rPr>
              <a:t> (</a:t>
            </a:r>
            <a:r>
              <a:rPr lang="pl-PL" sz="2000" i="1">
                <a:solidFill>
                  <a:srgbClr val="000000"/>
                </a:solidFill>
                <a:latin typeface="Arial Narrow" panose="020B0606020202030204" pitchFamily="34" charset="0"/>
                <a:cs typeface="Calibri" panose="020F0502020204030204" pitchFamily="34" charset="0"/>
              </a:rPr>
              <a:t>broadcasting</a:t>
            </a:r>
            <a:r>
              <a:rPr lang="pl-PL" sz="2000">
                <a:solidFill>
                  <a:srgbClr val="000000"/>
                </a:solidFill>
                <a:latin typeface="Arial Narrow" panose="020B0606020202030204" pitchFamily="34" charset="0"/>
                <a:cs typeface="Calibri" panose="020F0502020204030204" pitchFamily="34" charset="0"/>
              </a:rPr>
              <a:t>) – </a:t>
            </a:r>
            <a:r>
              <a:rPr lang="pl-PL" sz="2000">
                <a:latin typeface="Arial Narrow" panose="020B0606020202030204" pitchFamily="34" charset="0"/>
              </a:rPr>
              <a:t>automatyczna zmiana wymiarów tensorów w celu wykonania operacji arytmetycznych na tensorach o różnych kształtach. Na przykład, mając tensory o kształtach (3, 4) i (1, 4) broadcasting automatycznie rozszerzy tensor o kształcie (1, 4) do kształtu (3, 4), poprzez powielenie jego pierwszego wiersza trzykrotnie. Dzięki temu można wykonać różne operacje między tymi dwoma tensorami.</a:t>
            </a:r>
            <a:endParaRPr lang="pl-PL" sz="2000">
              <a:solidFill>
                <a:srgbClr val="000000"/>
              </a:solidFill>
              <a:latin typeface="Arial Narrow" panose="020B0606020202030204" pitchFamily="34" charset="0"/>
              <a:cs typeface="Calibri" panose="020F0502020204030204" pitchFamily="34" charset="0"/>
            </a:endParaRPr>
          </a:p>
          <a:p>
            <a:pPr marL="177800" indent="-177800">
              <a:spcBef>
                <a:spcPts val="1200"/>
              </a:spcBef>
              <a:buFont typeface="Arial" panose="020B0604020202020204" pitchFamily="34" charset="0"/>
              <a:buChar char="•"/>
              <a:tabLst>
                <a:tab pos="177800" algn="l"/>
              </a:tabLst>
            </a:pPr>
            <a:r>
              <a:rPr lang="pl-PL" sz="2000" b="1">
                <a:solidFill>
                  <a:srgbClr val="000000"/>
                </a:solidFill>
                <a:latin typeface="Arial Narrow" panose="020B0606020202030204" pitchFamily="34" charset="0"/>
                <a:cs typeface="Calibri" panose="020F0502020204030204" pitchFamily="34" charset="0"/>
              </a:rPr>
              <a:t>split </a:t>
            </a:r>
            <a:r>
              <a:rPr lang="pl-PL" sz="2000">
                <a:solidFill>
                  <a:srgbClr val="000000"/>
                </a:solidFill>
                <a:latin typeface="Arial Narrow" panose="020B0606020202030204" pitchFamily="34" charset="0"/>
                <a:cs typeface="Calibri" panose="020F0502020204030204" pitchFamily="34" charset="0"/>
              </a:rPr>
              <a:t>– podział tensora na kilka mniejszych tensorów wzdłuż określonej osi (np. tensor o wymiarach 8*4 może zostać podzielony na dwa tensory o wymiarach 6*4 i 2*4).</a:t>
            </a:r>
          </a:p>
        </p:txBody>
      </p:sp>
      <p:sp>
        <p:nvSpPr>
          <p:cNvPr id="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23690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19</a:t>
            </a:fld>
            <a:endParaRPr lang="pl-PL" dirty="0"/>
          </a:p>
        </p:txBody>
      </p:sp>
      <p:sp>
        <p:nvSpPr>
          <p:cNvPr id="5" name="Rectangle 5">
            <a:extLst>
              <a:ext uri="{FF2B5EF4-FFF2-40B4-BE49-F238E27FC236}">
                <a16:creationId xmlns:a16="http://schemas.microsoft.com/office/drawing/2014/main" id="{288C6A27-2280-49D6-928B-FD164CEED3E4}"/>
              </a:ext>
            </a:extLst>
          </p:cNvPr>
          <p:cNvSpPr/>
          <p:nvPr/>
        </p:nvSpPr>
        <p:spPr>
          <a:xfrm>
            <a:off x="0" y="304800"/>
            <a:ext cx="9144000" cy="6386364"/>
          </a:xfrm>
          <a:prstGeom prst="rect">
            <a:avLst/>
          </a:prstGeom>
        </p:spPr>
        <p:txBody>
          <a:bodyPr wrap="square">
            <a:spAutoFit/>
          </a:bodyPr>
          <a:lstStyle/>
          <a:p>
            <a:r>
              <a:rPr lang="pl-PL" sz="2400" dirty="0">
                <a:solidFill>
                  <a:srgbClr val="000000"/>
                </a:solidFill>
                <a:latin typeface="Arial Narrow" panose="020B0606020202030204" pitchFamily="34" charset="0"/>
                <a:cs typeface="Calibri" panose="020F0502020204030204" pitchFamily="34" charset="0"/>
              </a:rPr>
              <a:t>Przykład:</a:t>
            </a:r>
            <a:br>
              <a:rPr lang="pl-PL" sz="2400" dirty="0">
                <a:solidFill>
                  <a:srgbClr val="000000"/>
                </a:solidFill>
                <a:latin typeface="Arial Narrow" panose="020B0606020202030204" pitchFamily="34" charset="0"/>
                <a:cs typeface="Calibri" panose="020F0502020204030204" pitchFamily="34" charset="0"/>
              </a:rPr>
            </a:br>
            <a:r>
              <a:rPr lang="pl-PL" sz="2400" b="1" dirty="0">
                <a:solidFill>
                  <a:srgbClr val="FF0000"/>
                </a:solidFill>
                <a:latin typeface="Arial Narrow" panose="020B0606020202030204" pitchFamily="34" charset="0"/>
                <a:cs typeface="Calibri" panose="020F0502020204030204" pitchFamily="34" charset="0"/>
              </a:rPr>
              <a:t>import numpy as np</a:t>
            </a:r>
          </a:p>
          <a:p>
            <a:pPr>
              <a:spcBef>
                <a:spcPts val="600"/>
              </a:spcBef>
            </a:pPr>
            <a:r>
              <a:rPr lang="pl-PL" sz="2400" b="1" dirty="0">
                <a:solidFill>
                  <a:srgbClr val="FF0000"/>
                </a:solidFill>
                <a:latin typeface="Arial Narrow" panose="020B0606020202030204" pitchFamily="34" charset="0"/>
                <a:cs typeface="Calibri" panose="020F0502020204030204" pitchFamily="34" charset="0"/>
              </a:rPr>
              <a:t>x=np.array([1,2,3,4,5,6])</a:t>
            </a:r>
            <a:br>
              <a:rPr lang="pl-PL" sz="2400" b="1" dirty="0">
                <a:solidFill>
                  <a:srgbClr val="FF0000"/>
                </a:solidFill>
                <a:latin typeface="Arial Narrow" panose="020B0606020202030204" pitchFamily="34" charset="0"/>
                <a:cs typeface="Calibri" panose="020F0502020204030204" pitchFamily="34" charset="0"/>
              </a:rPr>
            </a:br>
            <a:r>
              <a:rPr lang="pl-PL" sz="2400" b="1" dirty="0">
                <a:solidFill>
                  <a:srgbClr val="FF0000"/>
                </a:solidFill>
                <a:latin typeface="Arial Narrow" panose="020B0606020202030204" pitchFamily="34" charset="0"/>
                <a:cs typeface="Calibri" panose="020F0502020204030204" pitchFamily="34" charset="0"/>
              </a:rPr>
              <a:t>x.shape</a:t>
            </a:r>
          </a:p>
          <a:p>
            <a:r>
              <a:rPr lang="pl-PL" sz="2400" dirty="0">
                <a:solidFill>
                  <a:srgbClr val="000000"/>
                </a:solidFill>
                <a:latin typeface="Arial Narrow" panose="020B0606020202030204" pitchFamily="34" charset="0"/>
                <a:cs typeface="Calibri" panose="020F0502020204030204" pitchFamily="34" charset="0"/>
              </a:rPr>
              <a:t>wynik	(6,)	tensor jednowymiarowy</a:t>
            </a:r>
          </a:p>
          <a:p>
            <a:pPr>
              <a:spcBef>
                <a:spcPts val="600"/>
              </a:spcBef>
            </a:pPr>
            <a:r>
              <a:rPr lang="pl-PL" sz="2400" b="1" dirty="0">
                <a:solidFill>
                  <a:srgbClr val="FF0000"/>
                </a:solidFill>
                <a:latin typeface="Arial Narrow" panose="020B0606020202030204" pitchFamily="34" charset="0"/>
                <a:cs typeface="Calibri" panose="020F0502020204030204" pitchFamily="34" charset="0"/>
              </a:rPr>
              <a:t>y=np.array(</a:t>
            </a:r>
            <a:r>
              <a:rPr lang="pl-PL" sz="2400" b="1" dirty="0">
                <a:solidFill>
                  <a:srgbClr val="00B050"/>
                </a:solidFill>
                <a:latin typeface="Arial Narrow" panose="020B0606020202030204" pitchFamily="34" charset="0"/>
                <a:cs typeface="Calibri" panose="020F0502020204030204" pitchFamily="34" charset="0"/>
              </a:rPr>
              <a:t>[</a:t>
            </a:r>
            <a:r>
              <a:rPr lang="pl-PL" sz="2400" b="1" dirty="0">
                <a:solidFill>
                  <a:srgbClr val="FF0000"/>
                </a:solidFill>
                <a:latin typeface="Arial Narrow" panose="020B0606020202030204" pitchFamily="34" charset="0"/>
                <a:cs typeface="Calibri" panose="020F0502020204030204" pitchFamily="34" charset="0"/>
              </a:rPr>
              <a:t>[1,2,3,4,5,6]</a:t>
            </a:r>
            <a:r>
              <a:rPr lang="pl-PL" sz="2400" b="1" dirty="0">
                <a:solidFill>
                  <a:srgbClr val="00B050"/>
                </a:solidFill>
                <a:latin typeface="Arial Narrow" panose="020B0606020202030204" pitchFamily="34" charset="0"/>
                <a:cs typeface="Calibri" panose="020F0502020204030204" pitchFamily="34" charset="0"/>
              </a:rPr>
              <a:t>]</a:t>
            </a:r>
            <a:r>
              <a:rPr lang="pl-PL" sz="2400" b="1" dirty="0">
                <a:solidFill>
                  <a:srgbClr val="FF0000"/>
                </a:solidFill>
                <a:latin typeface="Arial Narrow" panose="020B0606020202030204" pitchFamily="34" charset="0"/>
                <a:cs typeface="Calibri" panose="020F0502020204030204" pitchFamily="34" charset="0"/>
              </a:rPr>
              <a:t>)</a:t>
            </a:r>
          </a:p>
          <a:p>
            <a:r>
              <a:rPr lang="pl-PL" sz="2400" b="1" dirty="0">
                <a:solidFill>
                  <a:srgbClr val="FF0000"/>
                </a:solidFill>
                <a:latin typeface="Arial Narrow" panose="020B0606020202030204" pitchFamily="34" charset="0"/>
                <a:cs typeface="Calibri" panose="020F0502020204030204" pitchFamily="34" charset="0"/>
              </a:rPr>
              <a:t>y.shape</a:t>
            </a:r>
          </a:p>
          <a:p>
            <a:r>
              <a:rPr lang="pl-PL" sz="2400" dirty="0">
                <a:solidFill>
                  <a:srgbClr val="000000"/>
                </a:solidFill>
                <a:latin typeface="Arial Narrow" panose="020B0606020202030204" pitchFamily="34" charset="0"/>
                <a:cs typeface="Calibri" panose="020F0502020204030204" pitchFamily="34" charset="0"/>
              </a:rPr>
              <a:t>wynik	(1,6)	tensor dwuwymiarowy</a:t>
            </a:r>
          </a:p>
          <a:p>
            <a:pPr>
              <a:spcBef>
                <a:spcPts val="600"/>
              </a:spcBef>
            </a:pPr>
            <a:r>
              <a:rPr lang="pl-PL" sz="2400" b="1" dirty="0">
                <a:solidFill>
                  <a:srgbClr val="FF0000"/>
                </a:solidFill>
                <a:latin typeface="Arial Narrow" panose="020B0606020202030204" pitchFamily="34" charset="0"/>
                <a:cs typeface="Calibri" panose="020F0502020204030204" pitchFamily="34" charset="0"/>
              </a:rPr>
              <a:t>z=np.array(</a:t>
            </a:r>
            <a:r>
              <a:rPr lang="pl-PL" sz="2400" b="1" dirty="0">
                <a:solidFill>
                  <a:srgbClr val="00B050"/>
                </a:solidFill>
                <a:latin typeface="Arial Narrow" panose="020B0606020202030204" pitchFamily="34" charset="0"/>
                <a:cs typeface="Calibri" panose="020F0502020204030204" pitchFamily="34" charset="0"/>
              </a:rPr>
              <a:t>[[</a:t>
            </a:r>
            <a:r>
              <a:rPr lang="pl-PL" sz="2400" b="1" dirty="0">
                <a:solidFill>
                  <a:srgbClr val="FF0000"/>
                </a:solidFill>
                <a:latin typeface="Arial Narrow" panose="020B0606020202030204" pitchFamily="34" charset="0"/>
                <a:cs typeface="Calibri" panose="020F0502020204030204" pitchFamily="34" charset="0"/>
              </a:rPr>
              <a:t>[1,2,3,4,5,6]</a:t>
            </a:r>
            <a:r>
              <a:rPr lang="pl-PL" sz="2400" b="1" dirty="0">
                <a:solidFill>
                  <a:srgbClr val="00B050"/>
                </a:solidFill>
                <a:latin typeface="Arial Narrow" panose="020B0606020202030204" pitchFamily="34" charset="0"/>
                <a:cs typeface="Calibri" panose="020F0502020204030204" pitchFamily="34" charset="0"/>
              </a:rPr>
              <a:t>]]</a:t>
            </a:r>
            <a:r>
              <a:rPr lang="pl-PL" sz="2400" b="1" dirty="0">
                <a:solidFill>
                  <a:srgbClr val="FF0000"/>
                </a:solidFill>
                <a:latin typeface="Arial Narrow" panose="020B0606020202030204" pitchFamily="34" charset="0"/>
                <a:cs typeface="Calibri" panose="020F0502020204030204" pitchFamily="34" charset="0"/>
              </a:rPr>
              <a:t>)</a:t>
            </a:r>
          </a:p>
          <a:p>
            <a:r>
              <a:rPr lang="pl-PL" sz="2400" b="1" dirty="0">
                <a:solidFill>
                  <a:srgbClr val="FF0000"/>
                </a:solidFill>
                <a:latin typeface="Arial Narrow" panose="020B0606020202030204" pitchFamily="34" charset="0"/>
                <a:cs typeface="Calibri" panose="020F0502020204030204" pitchFamily="34" charset="0"/>
              </a:rPr>
              <a:t>z.shape</a:t>
            </a:r>
          </a:p>
          <a:p>
            <a:r>
              <a:rPr lang="pl-PL" sz="2400" dirty="0">
                <a:solidFill>
                  <a:srgbClr val="000000"/>
                </a:solidFill>
                <a:latin typeface="Arial Narrow" panose="020B0606020202030204" pitchFamily="34" charset="0"/>
                <a:cs typeface="Calibri" panose="020F0502020204030204" pitchFamily="34" charset="0"/>
              </a:rPr>
              <a:t>wynik	(1,1,6)	tensor trójwymiarowy</a:t>
            </a:r>
          </a:p>
          <a:p>
            <a:pPr>
              <a:spcBef>
                <a:spcPts val="600"/>
              </a:spcBef>
            </a:pPr>
            <a:r>
              <a:rPr lang="pl-PL" sz="2400" b="1" dirty="0">
                <a:solidFill>
                  <a:srgbClr val="FF0000"/>
                </a:solidFill>
                <a:latin typeface="Arial Narrow" panose="020B0606020202030204" pitchFamily="34" charset="0"/>
                <a:cs typeface="Calibri" panose="020F0502020204030204" pitchFamily="34" charset="0"/>
              </a:rPr>
              <a:t>z1=z.reshape(6,)</a:t>
            </a:r>
          </a:p>
          <a:p>
            <a:r>
              <a:rPr lang="pl-PL" sz="2400" b="1" dirty="0">
                <a:solidFill>
                  <a:srgbClr val="FF0000"/>
                </a:solidFill>
                <a:latin typeface="Arial Narrow" panose="020B0606020202030204" pitchFamily="34" charset="0"/>
                <a:cs typeface="Calibri" panose="020F0502020204030204" pitchFamily="34" charset="0"/>
              </a:rPr>
              <a:t>z1</a:t>
            </a:r>
          </a:p>
          <a:p>
            <a:r>
              <a:rPr lang="pl-PL" sz="2400" dirty="0">
                <a:solidFill>
                  <a:srgbClr val="000000"/>
                </a:solidFill>
                <a:latin typeface="Arial Narrow" panose="020B0606020202030204" pitchFamily="34" charset="0"/>
                <a:cs typeface="Calibri" panose="020F0502020204030204" pitchFamily="34" charset="0"/>
              </a:rPr>
              <a:t>wynik	[1,2,3,4,5,6]</a:t>
            </a:r>
          </a:p>
          <a:p>
            <a:pPr>
              <a:spcBef>
                <a:spcPts val="600"/>
              </a:spcBef>
            </a:pPr>
            <a:r>
              <a:rPr lang="pl-PL" sz="2400" b="1" dirty="0">
                <a:solidFill>
                  <a:srgbClr val="FF0000"/>
                </a:solidFill>
                <a:latin typeface="Arial Narrow" panose="020B0606020202030204" pitchFamily="34" charset="0"/>
                <a:cs typeface="Calibri" panose="020F0502020204030204" pitchFamily="34" charset="0"/>
              </a:rPr>
              <a:t>z1.shape</a:t>
            </a:r>
          </a:p>
          <a:p>
            <a:r>
              <a:rPr lang="pl-PL" sz="2400" dirty="0">
                <a:solidFill>
                  <a:srgbClr val="000000"/>
                </a:solidFill>
                <a:latin typeface="Arial Narrow" panose="020B0606020202030204" pitchFamily="34" charset="0"/>
                <a:cs typeface="Calibri" panose="020F0502020204030204" pitchFamily="34" charset="0"/>
              </a:rPr>
              <a:t>wynik	(6,)</a:t>
            </a:r>
            <a:endParaRPr lang="pl-PL" sz="2000" dirty="0">
              <a:solidFill>
                <a:srgbClr val="000000"/>
              </a:solidFill>
              <a:latin typeface="Arial Narrow" panose="020B0606020202030204" pitchFamily="34" charset="0"/>
              <a:cs typeface="Calibri" panose="020F0502020204030204" pitchFamily="34" charset="0"/>
            </a:endParaRPr>
          </a:p>
        </p:txBody>
      </p:sp>
      <p:sp>
        <p:nvSpPr>
          <p:cNvPr id="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7" name="Rectangle 5">
            <a:extLst>
              <a:ext uri="{FF2B5EF4-FFF2-40B4-BE49-F238E27FC236}">
                <a16:creationId xmlns:a16="http://schemas.microsoft.com/office/drawing/2014/main" id="{288C6A27-2280-49D6-928B-FD164CEED3E4}"/>
              </a:ext>
            </a:extLst>
          </p:cNvPr>
          <p:cNvSpPr/>
          <p:nvPr/>
        </p:nvSpPr>
        <p:spPr>
          <a:xfrm>
            <a:off x="5677711" y="4572000"/>
            <a:ext cx="3429000" cy="1569660"/>
          </a:xfrm>
          <a:prstGeom prst="rect">
            <a:avLst/>
          </a:prstGeom>
        </p:spPr>
        <p:txBody>
          <a:bodyPr wrap="square">
            <a:spAutoFit/>
          </a:bodyPr>
          <a:lstStyle/>
          <a:p>
            <a:r>
              <a:rPr lang="pl-PL" sz="2400" dirty="0">
                <a:solidFill>
                  <a:srgbClr val="000000"/>
                </a:solidFill>
                <a:latin typeface="Arial Narrow" panose="020B0606020202030204" pitchFamily="34" charset="0"/>
                <a:cs typeface="Calibri" panose="020F0502020204030204" pitchFamily="34" charset="0"/>
              </a:rPr>
              <a:t>Do modelu należy dostarczyć tensor </a:t>
            </a:r>
            <a:br>
              <a:rPr lang="pl-PL" sz="2400" dirty="0">
                <a:solidFill>
                  <a:srgbClr val="000000"/>
                </a:solidFill>
                <a:latin typeface="Arial Narrow" panose="020B0606020202030204" pitchFamily="34" charset="0"/>
                <a:cs typeface="Calibri" panose="020F0502020204030204" pitchFamily="34" charset="0"/>
              </a:rPr>
            </a:br>
            <a:r>
              <a:rPr lang="pl-PL" sz="2400" dirty="0">
                <a:solidFill>
                  <a:srgbClr val="000000"/>
                </a:solidFill>
                <a:latin typeface="Arial Narrow" panose="020B0606020202030204" pitchFamily="34" charset="0"/>
                <a:cs typeface="Calibri" panose="020F0502020204030204" pitchFamily="34" charset="0"/>
              </a:rPr>
              <a:t>o spodziewanych przez model wymiarach</a:t>
            </a:r>
          </a:p>
        </p:txBody>
      </p:sp>
    </p:spTree>
    <p:extLst>
      <p:ext uri="{BB962C8B-B14F-4D97-AF65-F5344CB8AC3E}">
        <p14:creationId xmlns:p14="http://schemas.microsoft.com/office/powerpoint/2010/main" val="3795877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 calcmode="lin" valueType="num">
                                      <p:cBhvr additive="base">
                                        <p:cTn id="17"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 calcmode="lin" valueType="num">
                                      <p:cBhvr additive="base">
                                        <p:cTn id="23"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 calcmode="lin" valueType="num">
                                      <p:cBhvr additive="base">
                                        <p:cTn id="2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anim calcmode="lin" valueType="num">
                                      <p:cBhvr additive="base">
                                        <p:cTn id="3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 calcmode="lin" valueType="num">
                                      <p:cBhvr additive="base">
                                        <p:cTn id="37"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anim calcmode="lin" valueType="num">
                                      <p:cBhvr additive="base">
                                        <p:cTn id="43"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anim calcmode="lin" valueType="num">
                                      <p:cBhvr additive="base">
                                        <p:cTn id="4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5">
                                            <p:txEl>
                                              <p:pRg st="11" end="11"/>
                                            </p:txEl>
                                          </p:spTgt>
                                        </p:tgtEl>
                                        <p:attrNameLst>
                                          <p:attrName>style.visibility</p:attrName>
                                        </p:attrNameLst>
                                      </p:cBhvr>
                                      <p:to>
                                        <p:strVal val="visible"/>
                                      </p:to>
                                    </p:set>
                                    <p:anim calcmode="lin" valueType="num">
                                      <p:cBhvr additive="base">
                                        <p:cTn id="5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5">
                                            <p:txEl>
                                              <p:pRg st="12" end="12"/>
                                            </p:txEl>
                                          </p:spTgt>
                                        </p:tgtEl>
                                        <p:attrNameLst>
                                          <p:attrName>style.visibility</p:attrName>
                                        </p:attrNameLst>
                                      </p:cBhvr>
                                      <p:to>
                                        <p:strVal val="visible"/>
                                      </p:to>
                                    </p:set>
                                    <p:anim calcmode="lin" valueType="num">
                                      <p:cBhvr additive="base">
                                        <p:cTn id="59"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5">
                                            <p:txEl>
                                              <p:pRg st="13" end="13"/>
                                            </p:txEl>
                                          </p:spTgt>
                                        </p:tgtEl>
                                        <p:attrNameLst>
                                          <p:attrName>style.visibility</p:attrName>
                                        </p:attrNameLst>
                                      </p:cBhvr>
                                      <p:to>
                                        <p:strVal val="visible"/>
                                      </p:to>
                                    </p:set>
                                    <p:anim calcmode="lin" valueType="num">
                                      <p:cBhvr additive="base">
                                        <p:cTn id="65"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5">
                                            <p:txEl>
                                              <p:pRg st="13" end="13"/>
                                            </p:txEl>
                                          </p:spTgt>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7"/>
                                        </p:tgtEl>
                                        <p:attrNameLst>
                                          <p:attrName>style.visibility</p:attrName>
                                        </p:attrNameLst>
                                      </p:cBhvr>
                                      <p:to>
                                        <p:strVal val="visible"/>
                                      </p:to>
                                    </p:set>
                                    <p:anim calcmode="lin" valueType="num">
                                      <p:cBhvr additive="base">
                                        <p:cTn id="69" dur="500" fill="hold"/>
                                        <p:tgtEl>
                                          <p:spTgt spid="7"/>
                                        </p:tgtEl>
                                        <p:attrNameLst>
                                          <p:attrName>ppt_x</p:attrName>
                                        </p:attrNameLst>
                                      </p:cBhvr>
                                      <p:tavLst>
                                        <p:tav tm="0">
                                          <p:val>
                                            <p:strVal val="#ppt_x"/>
                                          </p:val>
                                        </p:tav>
                                        <p:tav tm="100000">
                                          <p:val>
                                            <p:strVal val="#ppt_x"/>
                                          </p:val>
                                        </p:tav>
                                      </p:tavLst>
                                    </p:anim>
                                    <p:anim calcmode="lin" valueType="num">
                                      <p:cBhvr additive="base">
                                        <p:cTn id="7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20</a:t>
            </a:fld>
            <a:endParaRPr lang="pl-PL" dirty="0"/>
          </a:p>
        </p:txBody>
      </p:sp>
      <p:sp>
        <p:nvSpPr>
          <p:cNvPr id="3"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Rodzaje zadań uczenia maszynowego</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4" name="TextBox 1"/>
          <p:cNvSpPr txBox="1"/>
          <p:nvPr/>
        </p:nvSpPr>
        <p:spPr>
          <a:xfrm>
            <a:off x="0" y="304800"/>
            <a:ext cx="9144000" cy="2971800"/>
          </a:xfrm>
          <a:prstGeom prst="rect">
            <a:avLst/>
          </a:prstGeom>
          <a:noFill/>
        </p:spPr>
        <p:txBody>
          <a:bodyPr wrap="square" lIns="36000" tIns="36000" rIns="36000" bIns="36000" rtlCol="0">
            <a:noAutofit/>
          </a:bodyPr>
          <a:lstStyle/>
          <a:p>
            <a:r>
              <a:rPr lang="pl-PL" sz="2000" b="1" dirty="0">
                <a:solidFill>
                  <a:srgbClr val="FF0000"/>
                </a:solidFill>
                <a:latin typeface="Arial Narrow" panose="020B0606020202030204" pitchFamily="34" charset="0"/>
              </a:rPr>
              <a:t>Rodzaje zadań uczenia maszynowego:</a:t>
            </a:r>
          </a:p>
          <a:p>
            <a:pPr>
              <a:spcBef>
                <a:spcPts val="600"/>
              </a:spcBef>
            </a:pPr>
            <a:r>
              <a:rPr lang="pl-PL" sz="2000" b="1" dirty="0">
                <a:latin typeface="Arial Narrow" panose="020B0606020202030204" pitchFamily="34" charset="0"/>
              </a:rPr>
              <a:t>Klasyfikacja binarna</a:t>
            </a:r>
            <a:r>
              <a:rPr lang="pl-PL" sz="2000" dirty="0">
                <a:latin typeface="Arial Narrow" panose="020B0606020202030204" pitchFamily="34" charset="0"/>
              </a:rPr>
              <a:t> (ang. </a:t>
            </a:r>
            <a:r>
              <a:rPr lang="pl-PL" sz="2000" i="1" dirty="0">
                <a:latin typeface="Arial Narrow" panose="020B0606020202030204" pitchFamily="34" charset="0"/>
              </a:rPr>
              <a:t>binary classification</a:t>
            </a:r>
            <a:r>
              <a:rPr lang="pl-PL" sz="2000" dirty="0">
                <a:latin typeface="Arial Narrow" panose="020B0606020202030204" pitchFamily="34" charset="0"/>
              </a:rPr>
              <a:t>)</a:t>
            </a:r>
          </a:p>
          <a:p>
            <a:r>
              <a:rPr lang="pl-PL" sz="2000" dirty="0">
                <a:latin typeface="Arial Narrow" panose="020B0606020202030204" pitchFamily="34" charset="0"/>
              </a:rPr>
              <a:t>zdanie klasyfikacji, w którym każda próbka jest przyporządkowywana do jednej z dwóch rozłącznych kategorii.</a:t>
            </a:r>
          </a:p>
          <a:p>
            <a:r>
              <a:rPr lang="pl-PL" sz="2000" dirty="0">
                <a:latin typeface="Arial Narrow" panose="020B0606020202030204" pitchFamily="34" charset="0"/>
              </a:rPr>
              <a:t>Przykład:</a:t>
            </a:r>
          </a:p>
          <a:p>
            <a:r>
              <a:rPr lang="pl-PL" sz="2000" dirty="0">
                <a:latin typeface="Arial Narrow" panose="020B0606020202030204" pitchFamily="34" charset="0"/>
              </a:rPr>
              <a:t>Rozpoznanie, czy na zdjęciu jest pies czy kot.</a:t>
            </a:r>
          </a:p>
          <a:p>
            <a:r>
              <a:rPr lang="pl-PL" sz="2000" dirty="0">
                <a:latin typeface="Arial Narrow" panose="020B0606020202030204" pitchFamily="34" charset="0"/>
              </a:rPr>
              <a:t>Klasyfikacja binarna: klasa jest zbiorem dwuelementowym (etykietami są pies i kot). </a:t>
            </a:r>
          </a:p>
          <a:p>
            <a:r>
              <a:rPr lang="pl-PL" sz="2000" dirty="0">
                <a:latin typeface="Arial Narrow" panose="020B0606020202030204" pitchFamily="34" charset="0"/>
              </a:rPr>
              <a:t>Klasyfikacja </a:t>
            </a:r>
            <a:r>
              <a:rPr lang="pl-PL" sz="2000">
                <a:latin typeface="Arial Narrow" panose="020B0606020202030204" pitchFamily="34" charset="0"/>
              </a:rPr>
              <a:t>jednoetykietowa</a:t>
            </a:r>
            <a:r>
              <a:rPr lang="pl-PL" sz="2000" dirty="0">
                <a:latin typeface="Arial Narrow" panose="020B0606020202030204" pitchFamily="34" charset="0"/>
              </a:rPr>
              <a:t>: wynikiem klasyfikacji jest przyporządkowanie do jednej z kategorii, na zdjęciu jest pies </a:t>
            </a:r>
            <a:r>
              <a:rPr lang="pl-PL" sz="2000" b="1" dirty="0">
                <a:latin typeface="Arial Narrow" panose="020B0606020202030204" pitchFamily="34" charset="0"/>
              </a:rPr>
              <a:t>lub</a:t>
            </a:r>
            <a:r>
              <a:rPr lang="pl-PL" sz="2000" dirty="0">
                <a:latin typeface="Arial Narrow" panose="020B0606020202030204" pitchFamily="34" charset="0"/>
              </a:rPr>
              <a:t> kot.</a:t>
            </a:r>
          </a:p>
        </p:txBody>
      </p:sp>
    </p:spTree>
    <p:extLst>
      <p:ext uri="{BB962C8B-B14F-4D97-AF65-F5344CB8AC3E}">
        <p14:creationId xmlns:p14="http://schemas.microsoft.com/office/powerpoint/2010/main" val="1975863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21</a:t>
            </a:fld>
            <a:endParaRPr lang="pl-PL" dirty="0"/>
          </a:p>
        </p:txBody>
      </p:sp>
      <p:sp>
        <p:nvSpPr>
          <p:cNvPr id="4" name="TextBox 1"/>
          <p:cNvSpPr txBox="1"/>
          <p:nvPr/>
        </p:nvSpPr>
        <p:spPr>
          <a:xfrm>
            <a:off x="0" y="304800"/>
            <a:ext cx="9144000" cy="5562600"/>
          </a:xfrm>
          <a:prstGeom prst="rect">
            <a:avLst/>
          </a:prstGeom>
          <a:noFill/>
        </p:spPr>
        <p:txBody>
          <a:bodyPr wrap="square" lIns="36000" tIns="36000" rIns="36000" bIns="36000" rtlCol="0">
            <a:noAutofit/>
          </a:bodyPr>
          <a:lstStyle/>
          <a:p>
            <a:r>
              <a:rPr lang="pl-PL" sz="2000" b="1" dirty="0">
                <a:solidFill>
                  <a:srgbClr val="FF0000"/>
                </a:solidFill>
                <a:latin typeface="Arial Narrow" panose="020B0606020202030204" pitchFamily="34" charset="0"/>
              </a:rPr>
              <a:t>Rodzaje zadań uczenia maszynowego, c.d.:</a:t>
            </a:r>
          </a:p>
          <a:p>
            <a:pPr>
              <a:spcBef>
                <a:spcPts val="600"/>
              </a:spcBef>
            </a:pPr>
            <a:r>
              <a:rPr lang="pl-PL" sz="2000" b="1">
                <a:latin typeface="Arial Narrow" panose="020B0606020202030204" pitchFamily="34" charset="0"/>
              </a:rPr>
              <a:t>Klasyfikacja </a:t>
            </a:r>
            <a:r>
              <a:rPr lang="pl-PL" sz="2000" b="1" dirty="0">
                <a:latin typeface="Arial Narrow" panose="020B0606020202030204" pitchFamily="34" charset="0"/>
              </a:rPr>
              <a:t>wieloklasowa</a:t>
            </a:r>
            <a:r>
              <a:rPr lang="pl-PL" sz="2000" dirty="0">
                <a:latin typeface="Arial Narrow" panose="020B0606020202030204" pitchFamily="34" charset="0"/>
              </a:rPr>
              <a:t> (ang. </a:t>
            </a:r>
            <a:r>
              <a:rPr lang="pl-PL" sz="2000" i="1" dirty="0">
                <a:latin typeface="Arial Narrow" panose="020B0606020202030204" pitchFamily="34" charset="0"/>
              </a:rPr>
              <a:t>multiclass classification</a:t>
            </a:r>
            <a:r>
              <a:rPr lang="pl-PL" sz="2000" dirty="0">
                <a:latin typeface="Arial Narrow" panose="020B0606020202030204" pitchFamily="34" charset="0"/>
              </a:rPr>
              <a:t>)</a:t>
            </a:r>
          </a:p>
          <a:p>
            <a:r>
              <a:rPr lang="pl-PL" sz="2000" dirty="0">
                <a:latin typeface="Arial Narrow" panose="020B0606020202030204" pitchFamily="34" charset="0"/>
              </a:rPr>
              <a:t>zadanie klasyfikacji, w którym każda próbka jest przyporządkowywana do jednej kategorii ze zbioru zawierającego więcej niż dwie.</a:t>
            </a:r>
          </a:p>
          <a:p>
            <a:r>
              <a:rPr lang="pl-PL" sz="2000" dirty="0">
                <a:latin typeface="Arial Narrow" panose="020B0606020202030204" pitchFamily="34" charset="0"/>
              </a:rPr>
              <a:t>Przykład:</a:t>
            </a:r>
          </a:p>
          <a:p>
            <a:r>
              <a:rPr lang="pl-PL" sz="2000" dirty="0">
                <a:latin typeface="Arial Narrow" panose="020B0606020202030204" pitchFamily="34" charset="0"/>
              </a:rPr>
              <a:t>Rozpoznanie, jaka cyfra znajduje się na </a:t>
            </a:r>
            <a:r>
              <a:rPr lang="pl-PL" sz="2000">
                <a:latin typeface="Arial Narrow" panose="020B0606020202030204" pitchFamily="34" charset="0"/>
              </a:rPr>
              <a:t>zdjęciu.</a:t>
            </a:r>
          </a:p>
        </p:txBody>
      </p:sp>
      <p:sp>
        <p:nvSpPr>
          <p:cNvPr id="5"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Rodzaje zadań uczenia maszynowego</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2532021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22</a:t>
            </a:fld>
            <a:endParaRPr lang="pl-PL" dirty="0"/>
          </a:p>
        </p:txBody>
      </p:sp>
      <p:sp>
        <p:nvSpPr>
          <p:cNvPr id="6" name="TextBox 1"/>
          <p:cNvSpPr txBox="1"/>
          <p:nvPr/>
        </p:nvSpPr>
        <p:spPr>
          <a:xfrm>
            <a:off x="0" y="304800"/>
            <a:ext cx="9144000" cy="1828800"/>
          </a:xfrm>
          <a:prstGeom prst="rect">
            <a:avLst/>
          </a:prstGeom>
          <a:noFill/>
        </p:spPr>
        <p:txBody>
          <a:bodyPr wrap="square" lIns="36000" tIns="36000" rIns="36000" bIns="36000" rtlCol="0">
            <a:noAutofit/>
          </a:bodyPr>
          <a:lstStyle/>
          <a:p>
            <a:r>
              <a:rPr lang="pl-PL" sz="2000" b="1" dirty="0">
                <a:solidFill>
                  <a:srgbClr val="FF0000"/>
                </a:solidFill>
                <a:latin typeface="Arial Narrow" panose="020B0606020202030204" pitchFamily="34" charset="0"/>
              </a:rPr>
              <a:t>Rodzaje zadań uczenia maszynowego, c.d.:</a:t>
            </a:r>
          </a:p>
          <a:p>
            <a:pPr>
              <a:spcBef>
                <a:spcPts val="600"/>
              </a:spcBef>
            </a:pPr>
            <a:r>
              <a:rPr lang="pl-PL" sz="2000" b="1" dirty="0">
                <a:latin typeface="Arial Narrow" panose="020B0606020202030204" pitchFamily="34" charset="0"/>
              </a:rPr>
              <a:t>Klasyfikacja wieloetykietowa </a:t>
            </a:r>
            <a:r>
              <a:rPr lang="pl-PL" sz="2000" dirty="0">
                <a:latin typeface="Arial Narrow" panose="020B0606020202030204" pitchFamily="34" charset="0"/>
              </a:rPr>
              <a:t>(</a:t>
            </a:r>
            <a:r>
              <a:rPr lang="pl-PL" sz="2000" b="1" dirty="0">
                <a:latin typeface="Arial Narrow" panose="020B0606020202030204" pitchFamily="34" charset="0"/>
              </a:rPr>
              <a:t>wielokategorialna, wieloznakowa, </a:t>
            </a:r>
            <a:r>
              <a:rPr lang="pl-PL" sz="2000" dirty="0">
                <a:latin typeface="Arial Narrow" panose="020B0606020202030204" pitchFamily="34" charset="0"/>
              </a:rPr>
              <a:t>ang</a:t>
            </a:r>
            <a:r>
              <a:rPr lang="pl-PL" sz="2000">
                <a:latin typeface="Arial Narrow" panose="020B0606020202030204" pitchFamily="34" charset="0"/>
              </a:rPr>
              <a:t>. </a:t>
            </a:r>
            <a:r>
              <a:rPr lang="pl-PL" sz="2000" i="1">
                <a:latin typeface="Arial Narrow" panose="020B0606020202030204" pitchFamily="34" charset="0"/>
              </a:rPr>
              <a:t>multi-label </a:t>
            </a:r>
            <a:r>
              <a:rPr lang="pl-PL" sz="2000" i="1" dirty="0">
                <a:latin typeface="Arial Narrow" panose="020B0606020202030204" pitchFamily="34" charset="0"/>
              </a:rPr>
              <a:t>classification</a:t>
            </a:r>
            <a:r>
              <a:rPr lang="pl-PL" sz="2000" dirty="0">
                <a:latin typeface="Arial Narrow" panose="020B0606020202030204" pitchFamily="34" charset="0"/>
              </a:rPr>
              <a:t>) </a:t>
            </a:r>
          </a:p>
          <a:p>
            <a:r>
              <a:rPr lang="pl-PL" sz="2000" dirty="0">
                <a:latin typeface="Arial Narrow" panose="020B0606020202030204" pitchFamily="34" charset="0"/>
              </a:rPr>
              <a:t>każda próbka może być przyporządkowana do </a:t>
            </a:r>
            <a:r>
              <a:rPr lang="pl-PL" sz="2000">
                <a:latin typeface="Arial Narrow" panose="020B0606020202030204" pitchFamily="34" charset="0"/>
              </a:rPr>
              <a:t>wielu klas (każdej próbce można przypisać wiele etykiet).</a:t>
            </a:r>
            <a:endParaRPr lang="pl-PL" sz="2000" dirty="0">
              <a:latin typeface="Arial Narrow" panose="020B0606020202030204" pitchFamily="34" charset="0"/>
            </a:endParaRPr>
          </a:p>
          <a:p>
            <a:r>
              <a:rPr lang="pl-PL" sz="2000" dirty="0">
                <a:latin typeface="Arial Narrow" panose="020B0606020202030204" pitchFamily="34" charset="0"/>
              </a:rPr>
              <a:t>Przykład:</a:t>
            </a:r>
          </a:p>
          <a:p>
            <a:r>
              <a:rPr lang="pl-PL" sz="2000" dirty="0">
                <a:latin typeface="Arial Narrow" panose="020B0606020202030204" pitchFamily="34" charset="0"/>
              </a:rPr>
              <a:t>na zdjęciu znajduje się kilka zwierząt, więc każde zdjęcie może być przypisane do wielu kategorii.</a:t>
            </a:r>
          </a:p>
        </p:txBody>
      </p:sp>
      <p:sp>
        <p:nvSpPr>
          <p:cNvPr id="7"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Rodzaje zadań uczenia maszynowego</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626683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23</a:t>
            </a:fld>
            <a:endParaRPr lang="pl-PL" dirty="0"/>
          </a:p>
        </p:txBody>
      </p:sp>
      <p:sp>
        <p:nvSpPr>
          <p:cNvPr id="4" name="TextBox 1"/>
          <p:cNvSpPr txBox="1"/>
          <p:nvPr/>
        </p:nvSpPr>
        <p:spPr>
          <a:xfrm>
            <a:off x="0" y="304800"/>
            <a:ext cx="9144000" cy="3124200"/>
          </a:xfrm>
          <a:prstGeom prst="rect">
            <a:avLst/>
          </a:prstGeom>
          <a:noFill/>
        </p:spPr>
        <p:txBody>
          <a:bodyPr wrap="square" lIns="36000" tIns="36000" rIns="36000" bIns="36000" rtlCol="0">
            <a:noAutofit/>
          </a:bodyPr>
          <a:lstStyle/>
          <a:p>
            <a:r>
              <a:rPr lang="pl-PL" sz="2000" b="1" dirty="0">
                <a:solidFill>
                  <a:srgbClr val="FF0000"/>
                </a:solidFill>
                <a:latin typeface="Arial Narrow" panose="020B0606020202030204" pitchFamily="34" charset="0"/>
              </a:rPr>
              <a:t>Rodzaje zadań uczenia maszynowego, c.d.:</a:t>
            </a:r>
          </a:p>
          <a:p>
            <a:pPr>
              <a:spcBef>
                <a:spcPts val="600"/>
              </a:spcBef>
            </a:pPr>
            <a:r>
              <a:rPr lang="pl-PL" sz="2000" b="1">
                <a:latin typeface="Arial Narrow" panose="020B0606020202030204" pitchFamily="34" charset="0"/>
              </a:rPr>
              <a:t>Regresja </a:t>
            </a:r>
            <a:r>
              <a:rPr lang="pl-PL" sz="2000">
                <a:latin typeface="Arial Narrow" panose="020B0606020202030204" pitchFamily="34" charset="0"/>
              </a:rPr>
              <a:t>(uczenie nadzorowane) – próbuje znaleźć wartości parametrów funkcji najlepiej opisującej zbiór danych. Celem jest minimalizacji funkcji kosztu (błędu). Typową funkcją kosztu jest błąd średniokwadratowy, czyli kwadrat różnicy między wartością oczekiwaną a prognozowaną (ang. RMSE – root square mean error).</a:t>
            </a:r>
            <a:endParaRPr lang="pl-PL" sz="2000" b="1">
              <a:latin typeface="Arial Narrow" panose="020B0606020202030204" pitchFamily="34" charset="0"/>
            </a:endParaRPr>
          </a:p>
          <a:p>
            <a:pPr marL="447675">
              <a:spcBef>
                <a:spcPts val="600"/>
              </a:spcBef>
            </a:pPr>
            <a:r>
              <a:rPr lang="pl-PL" sz="2000" b="1">
                <a:latin typeface="Arial Narrow" panose="020B0606020202030204" pitchFamily="34" charset="0"/>
              </a:rPr>
              <a:t>Regresja skalarna</a:t>
            </a:r>
            <a:r>
              <a:rPr lang="pl-PL" sz="2000">
                <a:latin typeface="Arial Narrow" panose="020B0606020202030204" pitchFamily="34" charset="0"/>
              </a:rPr>
              <a:t>:</a:t>
            </a:r>
            <a:endParaRPr lang="pl-PL" sz="2000" dirty="0">
              <a:latin typeface="Arial Narrow" panose="020B0606020202030204" pitchFamily="34" charset="0"/>
            </a:endParaRPr>
          </a:p>
          <a:p>
            <a:pPr marL="447675"/>
            <a:r>
              <a:rPr lang="pl-PL" sz="2000" dirty="0">
                <a:latin typeface="Arial Narrow" panose="020B0606020202030204" pitchFamily="34" charset="0"/>
              </a:rPr>
              <a:t>wartości docelowe mają charakter ciągłych wartości skalarnych.</a:t>
            </a:r>
          </a:p>
          <a:p>
            <a:pPr marL="447675"/>
            <a:r>
              <a:rPr lang="pl-PL" sz="2000">
                <a:latin typeface="Arial Narrow" panose="020B0606020202030204" pitchFamily="34" charset="0"/>
              </a:rPr>
              <a:t>Przykład: przewidywanie </a:t>
            </a:r>
            <a:r>
              <a:rPr lang="pl-PL" sz="2000" dirty="0">
                <a:latin typeface="Arial Narrow" panose="020B0606020202030204" pitchFamily="34" charset="0"/>
              </a:rPr>
              <a:t>cen towaru.</a:t>
            </a:r>
          </a:p>
          <a:p>
            <a:pPr marL="447675">
              <a:spcBef>
                <a:spcPts val="600"/>
              </a:spcBef>
            </a:pPr>
            <a:r>
              <a:rPr lang="pl-PL" sz="2000" b="1">
                <a:latin typeface="Arial Narrow" panose="020B0606020202030204" pitchFamily="34" charset="0"/>
              </a:rPr>
              <a:t>Regresja wektorowa</a:t>
            </a:r>
            <a:r>
              <a:rPr lang="pl-PL" sz="2000">
                <a:latin typeface="Arial Narrow" panose="020B0606020202030204" pitchFamily="34" charset="0"/>
              </a:rPr>
              <a:t>:</a:t>
            </a:r>
            <a:endParaRPr lang="pl-PL" sz="2000" dirty="0">
              <a:latin typeface="Arial Narrow" panose="020B0606020202030204" pitchFamily="34" charset="0"/>
            </a:endParaRPr>
          </a:p>
          <a:p>
            <a:pPr marL="447675"/>
            <a:r>
              <a:rPr lang="pl-PL" sz="2000" dirty="0">
                <a:latin typeface="Arial Narrow" panose="020B0606020202030204" pitchFamily="34" charset="0"/>
              </a:rPr>
              <a:t>wartości docelowe są wektorem wartości ciągłych.</a:t>
            </a:r>
          </a:p>
          <a:p>
            <a:pPr marL="447675"/>
            <a:r>
              <a:rPr lang="pl-PL" sz="2000">
                <a:latin typeface="Arial Narrow" panose="020B0606020202030204" pitchFamily="34" charset="0"/>
              </a:rPr>
              <a:t>Przykład: przewidywanie </a:t>
            </a:r>
            <a:r>
              <a:rPr lang="pl-PL" sz="2000" dirty="0">
                <a:latin typeface="Arial Narrow" panose="020B0606020202030204" pitchFamily="34" charset="0"/>
              </a:rPr>
              <a:t>cen koszyka </a:t>
            </a:r>
            <a:r>
              <a:rPr lang="pl-PL" sz="2000">
                <a:latin typeface="Arial Narrow" panose="020B0606020202030204" pitchFamily="34" charset="0"/>
              </a:rPr>
              <a:t>towarów.</a:t>
            </a:r>
          </a:p>
          <a:p>
            <a:pPr marL="447675">
              <a:spcBef>
                <a:spcPts val="600"/>
              </a:spcBef>
            </a:pPr>
            <a:r>
              <a:rPr lang="pl-PL" sz="2000" b="1">
                <a:latin typeface="Arial Narrow" panose="020B0606020202030204" pitchFamily="34" charset="0"/>
              </a:rPr>
              <a:t>Regresja jednoczynnikowa</a:t>
            </a:r>
            <a:r>
              <a:rPr lang="pl-PL" sz="2000">
                <a:latin typeface="Arial Narrow" panose="020B0606020202030204" pitchFamily="34" charset="0"/>
              </a:rPr>
              <a:t>:</a:t>
            </a:r>
            <a:endParaRPr lang="pl-PL" sz="2000" b="1">
              <a:latin typeface="Arial Narrow" panose="020B0606020202030204" pitchFamily="34" charset="0"/>
            </a:endParaRPr>
          </a:p>
          <a:p>
            <a:pPr marL="447675"/>
            <a:r>
              <a:rPr lang="pl-PL" sz="2000">
                <a:latin typeface="Arial Narrow" panose="020B0606020202030204" pitchFamily="34" charset="0"/>
              </a:rPr>
              <a:t>badamy zależność zmiennej objaśnianej od jednej zmiennej objaśniającej (niezależnej).</a:t>
            </a:r>
          </a:p>
          <a:p>
            <a:pPr marL="447675">
              <a:spcBef>
                <a:spcPts val="600"/>
              </a:spcBef>
            </a:pPr>
            <a:r>
              <a:rPr lang="pl-PL" sz="2000" b="1">
                <a:latin typeface="Arial Narrow" panose="020B0606020202030204" pitchFamily="34" charset="0"/>
              </a:rPr>
              <a:t>Regresja wieloraka (wieloczynnikowa)</a:t>
            </a:r>
            <a:r>
              <a:rPr lang="pl-PL" sz="2000">
                <a:latin typeface="Arial Narrow" panose="020B0606020202030204" pitchFamily="34" charset="0"/>
              </a:rPr>
              <a:t>:</a:t>
            </a:r>
          </a:p>
          <a:p>
            <a:pPr marL="447675"/>
            <a:r>
              <a:rPr lang="pl-PL" sz="2000">
                <a:latin typeface="Arial Narrow" panose="020B0606020202030204" pitchFamily="34" charset="0"/>
              </a:rPr>
              <a:t>do prognozowania wyniku wykorzystujemy wiele cech (zmiennych niezależnych).</a:t>
            </a:r>
          </a:p>
          <a:p>
            <a:pPr marL="447675"/>
            <a:r>
              <a:rPr lang="pl-PL" sz="2000">
                <a:latin typeface="Arial Narrow" panose="020B0606020202030204" pitchFamily="34" charset="0"/>
              </a:rPr>
              <a:t>Przykład: do prognozowania ceny towaru wykorzystujemy różne atrybuty towaru i otoczenia (np. ceny innych podobnych towarów, dochody potencjalnych nabywców).</a:t>
            </a:r>
            <a:endParaRPr lang="pl-PL" sz="2000" dirty="0">
              <a:latin typeface="Arial Narrow" panose="020B0606020202030204" pitchFamily="34" charset="0"/>
            </a:endParaRPr>
          </a:p>
        </p:txBody>
      </p:sp>
      <p:sp>
        <p:nvSpPr>
          <p:cNvPr id="5"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Rodzaje zadań uczenia maszynowego</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883350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a:extLst>
              <a:ext uri="{FF2B5EF4-FFF2-40B4-BE49-F238E27FC236}">
                <a16:creationId xmlns:a16="http://schemas.microsoft.com/office/drawing/2014/main" id="{E5E1D2C9-D290-42ED-A575-DC04B0375CC0}"/>
              </a:ext>
            </a:extLst>
          </p:cNvPr>
          <p:cNvSpPr>
            <a:spLocks noGrp="1"/>
          </p:cNvSpPr>
          <p:nvPr>
            <p:ph type="sldNum" sz="quarter" idx="12"/>
          </p:nvPr>
        </p:nvSpPr>
        <p:spPr/>
        <p:txBody>
          <a:bodyPr/>
          <a:lstStyle/>
          <a:p>
            <a:fld id="{83D82602-3ACC-4341-B614-755528165B64}" type="slidenum">
              <a:rPr lang="pl-PL" smtClean="0"/>
              <a:pPr/>
              <a:t>24</a:t>
            </a:fld>
            <a:endParaRPr lang="pl-PL" dirty="0"/>
          </a:p>
        </p:txBody>
      </p:sp>
      <p:sp>
        <p:nvSpPr>
          <p:cNvPr id="3" name="Rectangle 4">
            <a:extLst>
              <a:ext uri="{FF2B5EF4-FFF2-40B4-BE49-F238E27FC236}">
                <a16:creationId xmlns:a16="http://schemas.microsoft.com/office/drawing/2014/main" id="{21104CDC-05CF-44E7-B48B-D68B4F11FB61}"/>
              </a:ext>
            </a:extLst>
          </p:cNvPr>
          <p:cNvSpPr/>
          <p:nvPr/>
        </p:nvSpPr>
        <p:spPr>
          <a:xfrm>
            <a:off x="0" y="304800"/>
            <a:ext cx="9144000" cy="5986254"/>
          </a:xfrm>
          <a:prstGeom prst="rect">
            <a:avLst/>
          </a:prstGeom>
        </p:spPr>
        <p:txBody>
          <a:bodyPr wrap="square">
            <a:spAutoFit/>
          </a:bodyPr>
          <a:lstStyle/>
          <a:p>
            <a:r>
              <a:rPr lang="pl-PL" dirty="0">
                <a:latin typeface="Arial Narrow" panose="020B0606020202030204" pitchFamily="34" charset="0"/>
              </a:rPr>
              <a:t>Przykład:</a:t>
            </a:r>
          </a:p>
          <a:p>
            <a:r>
              <a:rPr lang="pl-PL" dirty="0">
                <a:latin typeface="Arial Narrow" panose="020B0606020202030204" pitchFamily="34" charset="0"/>
              </a:rPr>
              <a:t>Zadanie regresji wieloczynnikowej: oszacowanie ceny domu na podstawie różnych cech.</a:t>
            </a:r>
          </a:p>
          <a:p>
            <a:r>
              <a:rPr lang="pl-PL" dirty="0">
                <a:latin typeface="Arial Narrow" panose="020B0606020202030204" pitchFamily="34" charset="0"/>
              </a:rPr>
              <a:t>Mamy </a:t>
            </a:r>
            <a:r>
              <a:rPr lang="pl-PL" b="1" dirty="0">
                <a:solidFill>
                  <a:srgbClr val="C00000"/>
                </a:solidFill>
                <a:latin typeface="Arial Narrow" panose="020B0606020202030204" pitchFamily="34" charset="0"/>
              </a:rPr>
              <a:t>dwupiętrowy</a:t>
            </a:r>
            <a:r>
              <a:rPr lang="pl-PL" b="1" dirty="0">
                <a:latin typeface="Arial Narrow" panose="020B0606020202030204" pitchFamily="34" charset="0"/>
              </a:rPr>
              <a:t>,</a:t>
            </a:r>
            <a:r>
              <a:rPr lang="pl-PL" dirty="0">
                <a:latin typeface="Arial Narrow" panose="020B0606020202030204" pitchFamily="34" charset="0"/>
              </a:rPr>
              <a:t> </a:t>
            </a:r>
            <a:r>
              <a:rPr lang="pl-PL" b="1" dirty="0">
                <a:solidFill>
                  <a:srgbClr val="C00000"/>
                </a:solidFill>
                <a:latin typeface="Arial Narrow" panose="020B0606020202030204" pitchFamily="34" charset="0"/>
              </a:rPr>
              <a:t>25</a:t>
            </a:r>
            <a:r>
              <a:rPr lang="pl-PL" dirty="0">
                <a:latin typeface="Arial Narrow" panose="020B0606020202030204" pitchFamily="34" charset="0"/>
              </a:rPr>
              <a:t>-letni dom o powierzchni </a:t>
            </a:r>
            <a:r>
              <a:rPr lang="pl-PL" b="1" dirty="0">
                <a:solidFill>
                  <a:srgbClr val="C00000"/>
                </a:solidFill>
                <a:latin typeface="Arial Narrow" panose="020B0606020202030204" pitchFamily="34" charset="0"/>
              </a:rPr>
              <a:t>100</a:t>
            </a:r>
            <a:r>
              <a:rPr lang="pl-PL" dirty="0">
                <a:latin typeface="Arial Narrow" panose="020B0606020202030204" pitchFamily="34" charset="0"/>
              </a:rPr>
              <a:t> m.kw., z </a:t>
            </a:r>
            <a:r>
              <a:rPr lang="pl-PL" b="1" dirty="0">
                <a:solidFill>
                  <a:srgbClr val="C00000"/>
                </a:solidFill>
                <a:latin typeface="Arial Narrow" panose="020B0606020202030204" pitchFamily="34" charset="0"/>
              </a:rPr>
              <a:t>trzema</a:t>
            </a:r>
            <a:r>
              <a:rPr lang="pl-PL" dirty="0">
                <a:latin typeface="Arial Narrow" panose="020B0606020202030204" pitchFamily="34" charset="0"/>
              </a:rPr>
              <a:t> łazienkami. Ponadto dzielimy miasto na 10 obszarów (dzielnic) i nasz dom znajduje się w obszarze oznaczonym liczbą </a:t>
            </a:r>
            <a:r>
              <a:rPr lang="pl-PL" b="1" dirty="0">
                <a:solidFill>
                  <a:srgbClr val="C00000"/>
                </a:solidFill>
                <a:latin typeface="Arial Narrow" panose="020B0606020202030204" pitchFamily="34" charset="0"/>
              </a:rPr>
              <a:t>7</a:t>
            </a:r>
            <a:r>
              <a:rPr lang="pl-PL" dirty="0">
                <a:latin typeface="Arial Narrow" panose="020B0606020202030204" pitchFamily="34" charset="0"/>
              </a:rPr>
              <a:t>. Możemy więc sparametryzować dom pięciowymiarowym wektorem:</a:t>
            </a:r>
          </a:p>
          <a:p>
            <a:r>
              <a:rPr lang="pl-PL" dirty="0">
                <a:latin typeface="Arial Narrow" panose="020B0606020202030204" pitchFamily="34" charset="0"/>
              </a:rPr>
              <a:t>x=[100, 25, 3, 2, 7].</a:t>
            </a:r>
          </a:p>
          <a:p>
            <a:r>
              <a:rPr lang="pl-PL" dirty="0">
                <a:latin typeface="Arial Narrow" panose="020B0606020202030204" pitchFamily="34" charset="0"/>
              </a:rPr>
              <a:t>Załóżmy, że przybliżona wartość domu wynosi $200 000. W regresji liniowej chodzi o znalezienie wektora </a:t>
            </a:r>
            <a:br>
              <a:rPr lang="pl-PL" dirty="0">
                <a:latin typeface="Arial Narrow" panose="020B0606020202030204" pitchFamily="34" charset="0"/>
              </a:rPr>
            </a:br>
            <a:r>
              <a:rPr lang="pl-PL" b="1" dirty="0">
                <a:latin typeface="Arial Narrow" panose="020B0606020202030204" pitchFamily="34" charset="0"/>
              </a:rPr>
              <a:t>w</a:t>
            </a:r>
            <a:r>
              <a:rPr lang="pl-PL" dirty="0">
                <a:latin typeface="Arial Narrow" panose="020B0606020202030204" pitchFamily="34" charset="0"/>
              </a:rPr>
              <a:t> </a:t>
            </a:r>
            <a:r>
              <a:rPr lang="pl-PL">
                <a:latin typeface="Arial Narrow" panose="020B0606020202030204" pitchFamily="34" charset="0"/>
              </a:rPr>
              <a:t>= [w1</a:t>
            </a:r>
            <a:r>
              <a:rPr lang="pl-PL" dirty="0">
                <a:latin typeface="Arial Narrow" panose="020B0606020202030204" pitchFamily="34" charset="0"/>
              </a:rPr>
              <a:t>, w2, w3, w4</a:t>
            </a:r>
            <a:r>
              <a:rPr lang="pl-PL">
                <a:latin typeface="Arial Narrow" panose="020B0606020202030204" pitchFamily="34" charset="0"/>
              </a:rPr>
              <a:t>, w5] </a:t>
            </a:r>
            <a:r>
              <a:rPr lang="pl-PL" dirty="0">
                <a:latin typeface="Arial Narrow" panose="020B0606020202030204" pitchFamily="34" charset="0"/>
              </a:rPr>
              <a:t>takiego, że </a:t>
            </a:r>
          </a:p>
          <a:p>
            <a:r>
              <a:rPr lang="pl-PL" dirty="0">
                <a:latin typeface="Arial Narrow" panose="020B0606020202030204" pitchFamily="34" charset="0"/>
              </a:rPr>
              <a:t>100*w1 + 25*w2 + 3*w3 + 2*w4 + 7*w5 = 200000.</a:t>
            </a:r>
          </a:p>
          <a:p>
            <a:r>
              <a:rPr lang="pl-PL" dirty="0">
                <a:latin typeface="Arial Narrow" panose="020B0606020202030204" pitchFamily="34" charset="0"/>
              </a:rPr>
              <a:t>W przypadku danych o dużej liczbie domów wraz z ceną algorytm uczenia potrafi dopasować wektor </a:t>
            </a:r>
            <a:r>
              <a:rPr lang="pl-PL" b="1" dirty="0">
                <a:latin typeface="Arial Narrow" panose="020B0606020202030204" pitchFamily="34" charset="0"/>
              </a:rPr>
              <a:t>w</a:t>
            </a:r>
            <a:r>
              <a:rPr lang="pl-PL" dirty="0">
                <a:latin typeface="Arial Narrow" panose="020B0606020202030204" pitchFamily="34" charset="0"/>
              </a:rPr>
              <a:t> aby różnica między ceną oszacowaną a oczekiwaną była najmniejsza.</a:t>
            </a:r>
          </a:p>
          <a:p>
            <a:endParaRPr lang="pl-PL" dirty="0">
              <a:latin typeface="Arial Narrow" panose="020B0606020202030204" pitchFamily="34" charset="0"/>
            </a:endParaRPr>
          </a:p>
          <a:p>
            <a:endParaRPr lang="pl-PL" dirty="0">
              <a:latin typeface="Arial Narrow" panose="020B0606020202030204" pitchFamily="34" charset="0"/>
            </a:endParaRPr>
          </a:p>
          <a:p>
            <a:r>
              <a:rPr lang="pl-PL" dirty="0">
                <a:latin typeface="Arial Narrow" panose="020B0606020202030204" pitchFamily="34" charset="0"/>
              </a:rPr>
              <a:t>Po oszacowaniu funkcji straty (średniego błędu kwadratowego) liczymy jej pochodną. Pochodna wskazuje kierunek, w którym funkcja rośnie lub maleje. Zmiana wartości wektora w przeciwnym kierunku do pochodnej poprawia dokładność szukanej funkcji – zmniejsza stratę sieci. </a:t>
            </a:r>
          </a:p>
          <a:p>
            <a:pPr>
              <a:spcBef>
                <a:spcPts val="600"/>
              </a:spcBef>
            </a:pPr>
            <a:r>
              <a:rPr lang="pl-PL" dirty="0">
                <a:latin typeface="Arial Narrow" panose="020B0606020202030204" pitchFamily="34" charset="0"/>
              </a:rPr>
              <a:t>Musimy jeszcze zdecydować, jak szybko chcemy się poruszać. Zbyt duży krok może spowodować wyjście poza minimum. Wartość tego kroku określa się jako </a:t>
            </a:r>
            <a:r>
              <a:rPr lang="pl-PL" b="1" dirty="0">
                <a:latin typeface="Arial Narrow" panose="020B0606020202030204" pitchFamily="34" charset="0"/>
              </a:rPr>
              <a:t>tempo uczenia się</a:t>
            </a:r>
            <a:r>
              <a:rPr lang="pl-PL" dirty="0">
                <a:latin typeface="Arial Narrow" panose="020B0606020202030204" pitchFamily="34" charset="0"/>
              </a:rPr>
              <a:t> (</a:t>
            </a:r>
            <a:r>
              <a:rPr lang="pl-PL" i="1" dirty="0">
                <a:latin typeface="Arial Narrow" panose="020B0606020202030204" pitchFamily="34" charset="0"/>
              </a:rPr>
              <a:t>learning rate</a:t>
            </a:r>
            <a:r>
              <a:rPr lang="pl-PL" dirty="0">
                <a:latin typeface="Arial Narrow" panose="020B0606020202030204" pitchFamily="34" charset="0"/>
              </a:rPr>
              <a:t>). Wielokrotne powtórzenie tego procesu pozwala wygenerować coraz lepszą wartość </a:t>
            </a:r>
            <a:r>
              <a:rPr lang="pl-PL" b="1" dirty="0">
                <a:latin typeface="Arial Narrow" panose="020B0606020202030204" pitchFamily="34" charset="0"/>
              </a:rPr>
              <a:t>w</a:t>
            </a:r>
            <a:r>
              <a:rPr lang="pl-PL" dirty="0">
                <a:latin typeface="Arial Narrow" panose="020B0606020202030204" pitchFamily="34" charset="0"/>
              </a:rPr>
              <a:t>. Należy podkreślić, że jeśli funkcja nie jest wypukła (czyli nie ma jednego minimum) proces ten działa lokalnie. Jeśli funkcja ma wiele minimów lokalnych algorytm ten może zatrzymać się na jednym z nich.</a:t>
            </a:r>
            <a:endParaRPr lang="en-US" dirty="0">
              <a:latin typeface="Arial Narrow" panose="020B0606020202030204" pitchFamily="34" charset="0"/>
            </a:endParaRPr>
          </a:p>
        </p:txBody>
      </p:sp>
      <p:sp>
        <p:nvSpPr>
          <p:cNvPr id="8"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Rodzaje zadań uczenia maszynowego</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911100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 calcmode="lin" valueType="num">
                                      <p:cBhvr additive="base">
                                        <p:cTn id="3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 calcmode="lin" valueType="num">
                                      <p:cBhvr additive="base">
                                        <p:cTn id="4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a:extLst>
              <a:ext uri="{FF2B5EF4-FFF2-40B4-BE49-F238E27FC236}">
                <a16:creationId xmlns:a16="http://schemas.microsoft.com/office/drawing/2014/main" id="{5F421709-EB8B-4449-80BF-69F9E4CA3133}"/>
              </a:ext>
            </a:extLst>
          </p:cNvPr>
          <p:cNvSpPr>
            <a:spLocks noGrp="1"/>
          </p:cNvSpPr>
          <p:nvPr>
            <p:ph type="sldNum" sz="quarter" idx="12"/>
          </p:nvPr>
        </p:nvSpPr>
        <p:spPr/>
        <p:txBody>
          <a:bodyPr/>
          <a:lstStyle/>
          <a:p>
            <a:fld id="{83D82602-3ACC-4341-B614-755528165B64}" type="slidenum">
              <a:rPr lang="pl-PL" smtClean="0"/>
              <a:pPr/>
              <a:t>25</a:t>
            </a:fld>
            <a:endParaRPr lang="pl-PL" dirty="0"/>
          </a:p>
        </p:txBody>
      </p:sp>
      <p:sp>
        <p:nvSpPr>
          <p:cNvPr id="6"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a:latin typeface="Arial" pitchFamily="34" charset="0"/>
                <a:ea typeface="+mj-lt"/>
                <a:cs typeface="Arial" pitchFamily="34" charset="0"/>
              </a:rPr>
              <a:t>Klasyfikacja zadań ML ze </a:t>
            </a:r>
            <a:r>
              <a:rPr lang="pl-PL" sz="1600" dirty="0">
                <a:latin typeface="Arial" pitchFamily="34" charset="0"/>
                <a:ea typeface="+mj-lt"/>
                <a:cs typeface="Arial" pitchFamily="34" charset="0"/>
              </a:rPr>
              <a:t>względu na sposób uczenia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7" name="Rectangle 5">
            <a:extLst>
              <a:ext uri="{FF2B5EF4-FFF2-40B4-BE49-F238E27FC236}">
                <a16:creationId xmlns:a16="http://schemas.microsoft.com/office/drawing/2014/main" id="{288C6A27-2280-49D6-928B-FD164CEED3E4}"/>
              </a:ext>
            </a:extLst>
          </p:cNvPr>
          <p:cNvSpPr/>
          <p:nvPr/>
        </p:nvSpPr>
        <p:spPr>
          <a:xfrm>
            <a:off x="0" y="304800"/>
            <a:ext cx="9144000" cy="6170920"/>
          </a:xfrm>
          <a:prstGeom prst="rect">
            <a:avLst/>
          </a:prstGeom>
        </p:spPr>
        <p:txBody>
          <a:bodyPr wrap="square">
            <a:spAutoFit/>
          </a:bodyPr>
          <a:lstStyle/>
          <a:p>
            <a:r>
              <a:rPr lang="pl-PL" sz="2000" b="1" dirty="0">
                <a:solidFill>
                  <a:srgbClr val="FF0000"/>
                </a:solidFill>
                <a:latin typeface="Arial Narrow" panose="020B0606020202030204" pitchFamily="34" charset="0"/>
                <a:cs typeface="Calibri" panose="020F0502020204030204" pitchFamily="34" charset="0"/>
              </a:rPr>
              <a:t>Klasyfikacja metod uczenia maszynowego ze względu na sposób uczenia:</a:t>
            </a:r>
          </a:p>
          <a:p>
            <a:pPr marL="174625" indent="-174625">
              <a:spcBef>
                <a:spcPts val="600"/>
              </a:spcBef>
              <a:buFont typeface="Arial" panose="020B0604020202020204" pitchFamily="34" charset="0"/>
              <a:buChar char="•"/>
            </a:pPr>
            <a:r>
              <a:rPr lang="pl-PL" sz="2000" b="1" dirty="0">
                <a:solidFill>
                  <a:srgbClr val="000000"/>
                </a:solidFill>
                <a:latin typeface="Arial Narrow" panose="020B0606020202030204" pitchFamily="34" charset="0"/>
                <a:cs typeface="Calibri" panose="020F0502020204030204" pitchFamily="34" charset="0"/>
              </a:rPr>
              <a:t>uczenie nadzorowane</a:t>
            </a:r>
            <a:r>
              <a:rPr lang="pl-PL" sz="2000" dirty="0">
                <a:solidFill>
                  <a:srgbClr val="000000"/>
                </a:solidFill>
                <a:latin typeface="Arial Narrow" panose="020B0606020202030204" pitchFamily="34" charset="0"/>
                <a:cs typeface="Calibri" panose="020F0502020204030204" pitchFamily="34" charset="0"/>
              </a:rPr>
              <a:t> (</a:t>
            </a:r>
            <a:r>
              <a:rPr lang="pl-PL" sz="2000" i="1" dirty="0">
                <a:solidFill>
                  <a:srgbClr val="000000"/>
                </a:solidFill>
                <a:latin typeface="Arial Narrow" panose="020B0606020202030204" pitchFamily="34" charset="0"/>
                <a:cs typeface="Calibri" panose="020F0502020204030204" pitchFamily="34" charset="0"/>
              </a:rPr>
              <a:t>supervised learning</a:t>
            </a:r>
            <a:r>
              <a:rPr lang="pl-PL" sz="2000" dirty="0">
                <a:solidFill>
                  <a:srgbClr val="000000"/>
                </a:solidFill>
                <a:latin typeface="Arial Narrow" panose="020B0606020202030204" pitchFamily="34" charset="0"/>
                <a:cs typeface="Calibri" panose="020F0502020204030204" pitchFamily="34" charset="0"/>
              </a:rPr>
              <a:t>) – poznawanie zależności między danymi treningowymi a znanymi etykietami danych (np. klasyfikacja binarna, klasyfikacja wieloklasowa, regresja skalarna, detekcja obrazów, predykcja)</a:t>
            </a:r>
          </a:p>
          <a:p>
            <a:pPr>
              <a:spcBef>
                <a:spcPts val="600"/>
              </a:spcBef>
            </a:pPr>
            <a:endParaRPr lang="pl-PL" sz="2000" dirty="0"/>
          </a:p>
          <a:p>
            <a:pPr marL="174625">
              <a:spcBef>
                <a:spcPts val="600"/>
              </a:spcBef>
            </a:pPr>
            <a:r>
              <a:rPr lang="pl-PL" sz="2400" b="1" dirty="0">
                <a:latin typeface="Arial Narrow" panose="020B0606020202030204" pitchFamily="34" charset="0"/>
              </a:rPr>
              <a:t>Zbiór treningowy (y znane):</a:t>
            </a:r>
          </a:p>
          <a:p>
            <a:pPr marL="174625">
              <a:spcBef>
                <a:spcPts val="600"/>
              </a:spcBef>
            </a:pPr>
            <a:r>
              <a:rPr lang="pl-PL" sz="2800" dirty="0">
                <a:latin typeface="Arial Narrow" panose="020B0606020202030204" pitchFamily="34" charset="0"/>
              </a:rPr>
              <a:t>x</a:t>
            </a:r>
            <a:r>
              <a:rPr lang="pl-PL" sz="2800" baseline="-25000" dirty="0">
                <a:latin typeface="Arial Narrow" panose="020B0606020202030204" pitchFamily="34" charset="0"/>
              </a:rPr>
              <a:t>11</a:t>
            </a:r>
            <a:r>
              <a:rPr lang="pl-PL" sz="2800" dirty="0">
                <a:latin typeface="Arial Narrow" panose="020B0606020202030204" pitchFamily="34" charset="0"/>
              </a:rPr>
              <a:t>, x</a:t>
            </a:r>
            <a:r>
              <a:rPr lang="pl-PL" sz="2800" baseline="-25000" dirty="0">
                <a:latin typeface="Arial Narrow" panose="020B0606020202030204" pitchFamily="34" charset="0"/>
              </a:rPr>
              <a:t>12</a:t>
            </a:r>
            <a:r>
              <a:rPr lang="pl-PL" sz="2800" dirty="0">
                <a:latin typeface="Arial Narrow" panose="020B0606020202030204" pitchFamily="34" charset="0"/>
              </a:rPr>
              <a:t>, x</a:t>
            </a:r>
            <a:r>
              <a:rPr lang="pl-PL" sz="2800" baseline="-25000" dirty="0">
                <a:latin typeface="Arial Narrow" panose="020B0606020202030204" pitchFamily="34" charset="0"/>
              </a:rPr>
              <a:t>13</a:t>
            </a:r>
            <a:r>
              <a:rPr lang="pl-PL" sz="2800" dirty="0">
                <a:latin typeface="Arial Narrow" panose="020B0606020202030204" pitchFamily="34" charset="0"/>
              </a:rPr>
              <a:t>, …, x</a:t>
            </a:r>
            <a:r>
              <a:rPr lang="pl-PL" sz="2800" baseline="-25000" dirty="0">
                <a:latin typeface="Arial Narrow" panose="020B0606020202030204" pitchFamily="34" charset="0"/>
              </a:rPr>
              <a:t>1n</a:t>
            </a:r>
            <a:r>
              <a:rPr lang="pl-PL" sz="2800" dirty="0">
                <a:latin typeface="Arial Narrow" panose="020B0606020202030204" pitchFamily="34" charset="0"/>
              </a:rPr>
              <a:t>		y</a:t>
            </a:r>
            <a:r>
              <a:rPr lang="pl-PL" sz="2800" baseline="-25000" dirty="0">
                <a:latin typeface="Arial Narrow" panose="020B0606020202030204" pitchFamily="34" charset="0"/>
              </a:rPr>
              <a:t>1</a:t>
            </a:r>
          </a:p>
          <a:p>
            <a:pPr marL="174625">
              <a:spcBef>
                <a:spcPts val="600"/>
              </a:spcBef>
            </a:pPr>
            <a:r>
              <a:rPr lang="pl-PL" sz="2800" dirty="0">
                <a:latin typeface="Arial Narrow" panose="020B0606020202030204" pitchFamily="34" charset="0"/>
              </a:rPr>
              <a:t>x</a:t>
            </a:r>
            <a:r>
              <a:rPr lang="pl-PL" sz="2800" baseline="-25000" dirty="0">
                <a:latin typeface="Arial Narrow" panose="020B0606020202030204" pitchFamily="34" charset="0"/>
              </a:rPr>
              <a:t>21</a:t>
            </a:r>
            <a:r>
              <a:rPr lang="pl-PL" sz="2800" dirty="0">
                <a:latin typeface="Arial Narrow" panose="020B0606020202030204" pitchFamily="34" charset="0"/>
              </a:rPr>
              <a:t>, x</a:t>
            </a:r>
            <a:r>
              <a:rPr lang="pl-PL" sz="2800" baseline="-25000" dirty="0">
                <a:latin typeface="Arial Narrow" panose="020B0606020202030204" pitchFamily="34" charset="0"/>
              </a:rPr>
              <a:t>22</a:t>
            </a:r>
            <a:r>
              <a:rPr lang="pl-PL" sz="2800" dirty="0">
                <a:latin typeface="Arial Narrow" panose="020B0606020202030204" pitchFamily="34" charset="0"/>
              </a:rPr>
              <a:t>, x</a:t>
            </a:r>
            <a:r>
              <a:rPr lang="pl-PL" sz="2800" baseline="-25000" dirty="0">
                <a:latin typeface="Arial Narrow" panose="020B0606020202030204" pitchFamily="34" charset="0"/>
              </a:rPr>
              <a:t>23</a:t>
            </a:r>
            <a:r>
              <a:rPr lang="pl-PL" sz="2800" dirty="0">
                <a:latin typeface="Arial Narrow" panose="020B0606020202030204" pitchFamily="34" charset="0"/>
              </a:rPr>
              <a:t>, …, x</a:t>
            </a:r>
            <a:r>
              <a:rPr lang="pl-PL" sz="2800" baseline="-25000" dirty="0">
                <a:latin typeface="Arial Narrow" panose="020B0606020202030204" pitchFamily="34" charset="0"/>
              </a:rPr>
              <a:t>2n</a:t>
            </a:r>
            <a:r>
              <a:rPr lang="pl-PL" sz="2800" dirty="0">
                <a:latin typeface="Arial Narrow" panose="020B0606020202030204" pitchFamily="34" charset="0"/>
              </a:rPr>
              <a:t>		y</a:t>
            </a:r>
            <a:r>
              <a:rPr lang="pl-PL" sz="2800" baseline="-25000" dirty="0">
                <a:latin typeface="Arial Narrow" panose="020B0606020202030204" pitchFamily="34" charset="0"/>
              </a:rPr>
              <a:t>2</a:t>
            </a:r>
            <a:endParaRPr lang="pl-PL" sz="2800" dirty="0">
              <a:latin typeface="Arial Narrow" panose="020B0606020202030204" pitchFamily="34" charset="0"/>
            </a:endParaRPr>
          </a:p>
          <a:p>
            <a:pPr marL="174625">
              <a:spcBef>
                <a:spcPts val="600"/>
              </a:spcBef>
            </a:pPr>
            <a:r>
              <a:rPr lang="pl-PL" sz="2800" dirty="0">
                <a:latin typeface="Arial Narrow" panose="020B0606020202030204" pitchFamily="34" charset="0"/>
              </a:rPr>
              <a:t>…</a:t>
            </a:r>
          </a:p>
          <a:p>
            <a:pPr marL="174625">
              <a:spcBef>
                <a:spcPts val="600"/>
              </a:spcBef>
            </a:pPr>
            <a:r>
              <a:rPr lang="pl-PL" sz="2800" dirty="0">
                <a:latin typeface="Arial Narrow" panose="020B0606020202030204" pitchFamily="34" charset="0"/>
              </a:rPr>
              <a:t>x</a:t>
            </a:r>
            <a:r>
              <a:rPr lang="pl-PL" sz="2800" baseline="-25000" dirty="0">
                <a:latin typeface="Arial Narrow" panose="020B0606020202030204" pitchFamily="34" charset="0"/>
              </a:rPr>
              <a:t>m1</a:t>
            </a:r>
            <a:r>
              <a:rPr lang="pl-PL" sz="2800" dirty="0">
                <a:latin typeface="Arial Narrow" panose="020B0606020202030204" pitchFamily="34" charset="0"/>
              </a:rPr>
              <a:t>, x</a:t>
            </a:r>
            <a:r>
              <a:rPr lang="pl-PL" sz="2800" baseline="-25000" dirty="0">
                <a:latin typeface="Arial Narrow" panose="020B0606020202030204" pitchFamily="34" charset="0"/>
              </a:rPr>
              <a:t>m2</a:t>
            </a:r>
            <a:r>
              <a:rPr lang="pl-PL" sz="2800" dirty="0">
                <a:latin typeface="Arial Narrow" panose="020B0606020202030204" pitchFamily="34" charset="0"/>
              </a:rPr>
              <a:t>, x</a:t>
            </a:r>
            <a:r>
              <a:rPr lang="pl-PL" sz="2800" baseline="-25000" dirty="0">
                <a:latin typeface="Arial Narrow" panose="020B0606020202030204" pitchFamily="34" charset="0"/>
              </a:rPr>
              <a:t>m3</a:t>
            </a:r>
            <a:r>
              <a:rPr lang="pl-PL" sz="2800" dirty="0">
                <a:latin typeface="Arial Narrow" panose="020B0606020202030204" pitchFamily="34" charset="0"/>
              </a:rPr>
              <a:t>, …, x</a:t>
            </a:r>
            <a:r>
              <a:rPr lang="pl-PL" sz="2800" baseline="-25000" dirty="0">
                <a:latin typeface="Arial Narrow" panose="020B0606020202030204" pitchFamily="34" charset="0"/>
              </a:rPr>
              <a:t>mn</a:t>
            </a:r>
            <a:r>
              <a:rPr lang="pl-PL" sz="2800" dirty="0">
                <a:latin typeface="Arial Narrow" panose="020B0606020202030204" pitchFamily="34" charset="0"/>
              </a:rPr>
              <a:t>	y</a:t>
            </a:r>
            <a:r>
              <a:rPr lang="pl-PL" sz="2800" baseline="-25000" dirty="0">
                <a:latin typeface="Arial Narrow" panose="020B0606020202030204" pitchFamily="34" charset="0"/>
              </a:rPr>
              <a:t>m</a:t>
            </a:r>
            <a:endParaRPr lang="pl-PL" sz="2400" dirty="0">
              <a:latin typeface="Arial Narrow" panose="020B0606020202030204" pitchFamily="34" charset="0"/>
            </a:endParaRPr>
          </a:p>
          <a:p>
            <a:pPr marL="174625">
              <a:spcBef>
                <a:spcPts val="600"/>
              </a:spcBef>
            </a:pPr>
            <a:endParaRPr lang="pl-PL" sz="2400" dirty="0">
              <a:latin typeface="Arial Narrow" panose="020B0606020202030204" pitchFamily="34" charset="0"/>
            </a:endParaRPr>
          </a:p>
          <a:p>
            <a:pPr marL="174625">
              <a:spcBef>
                <a:spcPts val="600"/>
              </a:spcBef>
            </a:pPr>
            <a:r>
              <a:rPr lang="pl-PL" sz="2400" b="1" dirty="0">
                <a:latin typeface="Arial Narrow" panose="020B0606020202030204" pitchFamily="34" charset="0"/>
              </a:rPr>
              <a:t>Zbiór testowy (y szacowane przez model):</a:t>
            </a:r>
          </a:p>
          <a:p>
            <a:pPr marL="174625">
              <a:spcBef>
                <a:spcPts val="600"/>
              </a:spcBef>
            </a:pPr>
            <a:r>
              <a:rPr lang="pl-PL" sz="2800" dirty="0">
                <a:latin typeface="Arial Narrow" panose="020B0606020202030204" pitchFamily="34" charset="0"/>
              </a:rPr>
              <a:t>x</a:t>
            </a:r>
            <a:r>
              <a:rPr lang="pl-PL" sz="2800" baseline="-25000" dirty="0">
                <a:latin typeface="Arial Narrow" panose="020B0606020202030204" pitchFamily="34" charset="0"/>
              </a:rPr>
              <a:t>t11</a:t>
            </a:r>
            <a:r>
              <a:rPr lang="pl-PL" sz="2800" dirty="0">
                <a:latin typeface="Arial Narrow" panose="020B0606020202030204" pitchFamily="34" charset="0"/>
              </a:rPr>
              <a:t>, x</a:t>
            </a:r>
            <a:r>
              <a:rPr lang="pl-PL" sz="2800" baseline="-25000" dirty="0">
                <a:latin typeface="Arial Narrow" panose="020B0606020202030204" pitchFamily="34" charset="0"/>
              </a:rPr>
              <a:t>t12</a:t>
            </a:r>
            <a:r>
              <a:rPr lang="pl-PL" sz="2800" dirty="0">
                <a:latin typeface="Arial Narrow" panose="020B0606020202030204" pitchFamily="34" charset="0"/>
              </a:rPr>
              <a:t>, x</a:t>
            </a:r>
            <a:r>
              <a:rPr lang="pl-PL" sz="2800" baseline="-25000" dirty="0">
                <a:latin typeface="Arial Narrow" panose="020B0606020202030204" pitchFamily="34" charset="0"/>
              </a:rPr>
              <a:t>t13</a:t>
            </a:r>
            <a:r>
              <a:rPr lang="pl-PL" sz="2800" dirty="0">
                <a:latin typeface="Arial Narrow" panose="020B0606020202030204" pitchFamily="34" charset="0"/>
              </a:rPr>
              <a:t>, …, x</a:t>
            </a:r>
            <a:r>
              <a:rPr lang="pl-PL" sz="2800" baseline="-25000" dirty="0">
                <a:latin typeface="Arial Narrow" panose="020B0606020202030204" pitchFamily="34" charset="0"/>
              </a:rPr>
              <a:t>t1n</a:t>
            </a:r>
            <a:r>
              <a:rPr lang="pl-PL" sz="2800" dirty="0">
                <a:latin typeface="Arial Narrow" panose="020B0606020202030204" pitchFamily="34" charset="0"/>
              </a:rPr>
              <a:t>	</a:t>
            </a:r>
            <a:r>
              <a:rPr lang="pl-PL" sz="2800" dirty="0">
                <a:solidFill>
                  <a:srgbClr val="0070C0"/>
                </a:solidFill>
                <a:latin typeface="Arial Narrow" panose="020B0606020202030204" pitchFamily="34" charset="0"/>
              </a:rPr>
              <a:t>y</a:t>
            </a:r>
            <a:r>
              <a:rPr lang="pl-PL" sz="2800" baseline="-25000" dirty="0">
                <a:solidFill>
                  <a:srgbClr val="0070C0"/>
                </a:solidFill>
                <a:latin typeface="Arial Narrow" panose="020B0606020202030204" pitchFamily="34" charset="0"/>
              </a:rPr>
              <a:t>t1</a:t>
            </a:r>
            <a:r>
              <a:rPr lang="pl-PL" sz="2800" dirty="0">
                <a:solidFill>
                  <a:srgbClr val="0070C0"/>
                </a:solidFill>
                <a:latin typeface="Arial Narrow" panose="020B0606020202030204" pitchFamily="34" charset="0"/>
              </a:rPr>
              <a:t>(?)</a:t>
            </a:r>
          </a:p>
          <a:p>
            <a:pPr marL="174625">
              <a:spcBef>
                <a:spcPts val="600"/>
              </a:spcBef>
            </a:pPr>
            <a:r>
              <a:rPr lang="pl-PL" sz="2800" dirty="0">
                <a:latin typeface="Arial Narrow" panose="020B0606020202030204" pitchFamily="34" charset="0"/>
              </a:rPr>
              <a:t>…</a:t>
            </a:r>
            <a:endParaRPr lang="en-US" sz="2400" dirty="0">
              <a:latin typeface="Arial Narrow" panose="020B0606020202030204" pitchFamily="34" charset="0"/>
            </a:endParaRPr>
          </a:p>
        </p:txBody>
      </p:sp>
      <p:sp>
        <p:nvSpPr>
          <p:cNvPr id="2" name="Nawias klamrowy zamykający 1"/>
          <p:cNvSpPr/>
          <p:nvPr/>
        </p:nvSpPr>
        <p:spPr>
          <a:xfrm>
            <a:off x="4343400" y="2590800"/>
            <a:ext cx="533400" cy="190500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pl-PL" dirty="0"/>
          </a:p>
        </p:txBody>
      </p:sp>
      <p:sp>
        <p:nvSpPr>
          <p:cNvPr id="3" name="Prostokąt 2"/>
          <p:cNvSpPr/>
          <p:nvPr/>
        </p:nvSpPr>
        <p:spPr>
          <a:xfrm>
            <a:off x="4976474" y="3305784"/>
            <a:ext cx="1970411" cy="461665"/>
          </a:xfrm>
          <a:prstGeom prst="rect">
            <a:avLst/>
          </a:prstGeom>
        </p:spPr>
        <p:txBody>
          <a:bodyPr wrap="none">
            <a:spAutoFit/>
          </a:bodyPr>
          <a:lstStyle/>
          <a:p>
            <a:r>
              <a:rPr lang="pl-PL" sz="2400" b="1" dirty="0">
                <a:latin typeface="Arial Narrow" panose="020B0606020202030204" pitchFamily="34" charset="0"/>
              </a:rPr>
              <a:t>Model się uczy</a:t>
            </a:r>
            <a:endParaRPr lang="pl-PL" dirty="0"/>
          </a:p>
        </p:txBody>
      </p:sp>
      <p:sp>
        <p:nvSpPr>
          <p:cNvPr id="5" name="Prostokąt 4"/>
          <p:cNvSpPr/>
          <p:nvPr/>
        </p:nvSpPr>
        <p:spPr>
          <a:xfrm>
            <a:off x="4953000" y="5710535"/>
            <a:ext cx="3207929" cy="461665"/>
          </a:xfrm>
          <a:prstGeom prst="rect">
            <a:avLst/>
          </a:prstGeom>
        </p:spPr>
        <p:txBody>
          <a:bodyPr wrap="none">
            <a:spAutoFit/>
          </a:bodyPr>
          <a:lstStyle/>
          <a:p>
            <a:r>
              <a:rPr lang="pl-PL" sz="2400" b="1" dirty="0">
                <a:latin typeface="Arial Narrow" panose="020B0606020202030204" pitchFamily="34" charset="0"/>
              </a:rPr>
              <a:t>Model szacuje wartości y</a:t>
            </a:r>
            <a:endParaRPr lang="pl-PL" sz="2400" dirty="0"/>
          </a:p>
        </p:txBody>
      </p:sp>
      <p:sp>
        <p:nvSpPr>
          <p:cNvPr id="8" name="Nawias klamrowy zamykający 7"/>
          <p:cNvSpPr/>
          <p:nvPr/>
        </p:nvSpPr>
        <p:spPr>
          <a:xfrm>
            <a:off x="4343400" y="5486400"/>
            <a:ext cx="533400" cy="93600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pl-PL" dirty="0"/>
          </a:p>
        </p:txBody>
      </p:sp>
    </p:spTree>
    <p:extLst>
      <p:ext uri="{BB962C8B-B14F-4D97-AF65-F5344CB8AC3E}">
        <p14:creationId xmlns:p14="http://schemas.microsoft.com/office/powerpoint/2010/main" val="1724811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26</a:t>
            </a:fld>
            <a:endParaRPr lang="pl-PL" dirty="0"/>
          </a:p>
        </p:txBody>
      </p:sp>
      <p:sp>
        <p:nvSpPr>
          <p:cNvPr id="6" name="Rectangle 5">
            <a:extLst>
              <a:ext uri="{FF2B5EF4-FFF2-40B4-BE49-F238E27FC236}">
                <a16:creationId xmlns:a16="http://schemas.microsoft.com/office/drawing/2014/main" id="{288C6A27-2280-49D6-928B-FD164CEED3E4}"/>
              </a:ext>
            </a:extLst>
          </p:cNvPr>
          <p:cNvSpPr/>
          <p:nvPr/>
        </p:nvSpPr>
        <p:spPr>
          <a:xfrm>
            <a:off x="0" y="304800"/>
            <a:ext cx="9144000" cy="6417141"/>
          </a:xfrm>
          <a:prstGeom prst="rect">
            <a:avLst/>
          </a:prstGeom>
        </p:spPr>
        <p:txBody>
          <a:bodyPr wrap="square">
            <a:spAutoFit/>
          </a:bodyPr>
          <a:lstStyle/>
          <a:p>
            <a:r>
              <a:rPr lang="pl-PL" b="1" dirty="0">
                <a:solidFill>
                  <a:srgbClr val="FF0000"/>
                </a:solidFill>
                <a:latin typeface="Arial Narrow" panose="020B0606020202030204" pitchFamily="34" charset="0"/>
                <a:cs typeface="Calibri" panose="020F0502020204030204" pitchFamily="34" charset="0"/>
              </a:rPr>
              <a:t>Klasyfikacja metod uczenia maszynowego ze względu na sposób uczenia, c.d.:</a:t>
            </a:r>
          </a:p>
          <a:p>
            <a:pPr marL="174625" indent="-174625">
              <a:spcBef>
                <a:spcPts val="600"/>
              </a:spcBef>
              <a:buFont typeface="Arial" panose="020B0604020202020204" pitchFamily="34" charset="0"/>
              <a:buChar char="•"/>
            </a:pPr>
            <a:r>
              <a:rPr lang="pl-PL" b="1" dirty="0">
                <a:solidFill>
                  <a:srgbClr val="000000"/>
                </a:solidFill>
                <a:latin typeface="Arial Narrow" panose="020B0606020202030204" pitchFamily="34" charset="0"/>
                <a:cs typeface="Calibri" panose="020F0502020204030204" pitchFamily="34" charset="0"/>
              </a:rPr>
              <a:t>uczenie nienadzorowane</a:t>
            </a:r>
            <a:r>
              <a:rPr lang="pl-PL" dirty="0">
                <a:solidFill>
                  <a:srgbClr val="000000"/>
                </a:solidFill>
                <a:latin typeface="Arial Narrow" panose="020B0606020202030204" pitchFamily="34" charset="0"/>
                <a:cs typeface="Calibri" panose="020F0502020204030204" pitchFamily="34" charset="0"/>
              </a:rPr>
              <a:t> (</a:t>
            </a:r>
            <a:r>
              <a:rPr lang="pl-PL" i="1" dirty="0">
                <a:solidFill>
                  <a:srgbClr val="000000"/>
                </a:solidFill>
                <a:latin typeface="Arial Narrow" panose="020B0606020202030204" pitchFamily="34" charset="0"/>
                <a:cs typeface="Calibri" panose="020F0502020204030204" pitchFamily="34" charset="0"/>
              </a:rPr>
              <a:t>unsupervised learning</a:t>
            </a:r>
            <a:r>
              <a:rPr lang="pl-PL" dirty="0">
                <a:solidFill>
                  <a:srgbClr val="000000"/>
                </a:solidFill>
                <a:latin typeface="Arial Narrow" panose="020B0606020202030204" pitchFamily="34" charset="0"/>
                <a:cs typeface="Calibri" panose="020F0502020204030204" pitchFamily="34" charset="0"/>
              </a:rPr>
              <a:t>) – określanie transformacji danych wejściowych bez pomocy docelowych etykiet. Najczęściej spotykanym zastosowaniem uczenia </a:t>
            </a:r>
            <a:r>
              <a:rPr lang="pl-PL">
                <a:solidFill>
                  <a:srgbClr val="000000"/>
                </a:solidFill>
                <a:latin typeface="Arial Narrow" panose="020B0606020202030204" pitchFamily="34" charset="0"/>
                <a:cs typeface="Calibri" panose="020F0502020204030204" pitchFamily="34" charset="0"/>
              </a:rPr>
              <a:t>nienadzorowanego</a:t>
            </a:r>
            <a:r>
              <a:rPr lang="pl-PL" dirty="0">
                <a:solidFill>
                  <a:srgbClr val="000000"/>
                </a:solidFill>
                <a:latin typeface="Arial Narrow" panose="020B0606020202030204" pitchFamily="34" charset="0"/>
                <a:cs typeface="Calibri" panose="020F0502020204030204" pitchFamily="34" charset="0"/>
              </a:rPr>
              <a:t> są redukcja liczby wymiarów i grupowanie (klasteryzacja),</a:t>
            </a:r>
          </a:p>
          <a:p>
            <a:pPr marL="174625" indent="-174625">
              <a:spcBef>
                <a:spcPts val="600"/>
              </a:spcBef>
              <a:buFont typeface="Arial" panose="020B0604020202020204" pitchFamily="34" charset="0"/>
              <a:buChar char="•"/>
            </a:pPr>
            <a:r>
              <a:rPr lang="pl-PL" b="1" dirty="0">
                <a:solidFill>
                  <a:srgbClr val="000000"/>
                </a:solidFill>
                <a:latin typeface="Arial Narrow" panose="020B0606020202030204" pitchFamily="34" charset="0"/>
                <a:cs typeface="Calibri" panose="020F0502020204030204" pitchFamily="34" charset="0"/>
              </a:rPr>
              <a:t>uczenie częściowo nadzorowane</a:t>
            </a:r>
            <a:r>
              <a:rPr lang="pl-PL" dirty="0">
                <a:solidFill>
                  <a:srgbClr val="000000"/>
                </a:solidFill>
                <a:latin typeface="Arial Narrow" panose="020B0606020202030204" pitchFamily="34" charset="0"/>
                <a:cs typeface="Calibri" panose="020F0502020204030204" pitchFamily="34" charset="0"/>
              </a:rPr>
              <a:t> (</a:t>
            </a:r>
            <a:r>
              <a:rPr lang="pl-PL" i="1" dirty="0">
                <a:solidFill>
                  <a:srgbClr val="000000"/>
                </a:solidFill>
                <a:latin typeface="Arial Narrow" panose="020B0606020202030204" pitchFamily="34" charset="0"/>
                <a:cs typeface="Calibri" panose="020F0502020204030204" pitchFamily="34" charset="0"/>
              </a:rPr>
              <a:t>semi-supervised learning</a:t>
            </a:r>
            <a:r>
              <a:rPr lang="pl-PL" dirty="0">
                <a:solidFill>
                  <a:srgbClr val="000000"/>
                </a:solidFill>
                <a:latin typeface="Arial Narrow" panose="020B0606020202030204" pitchFamily="34" charset="0"/>
                <a:cs typeface="Calibri" panose="020F0502020204030204" pitchFamily="34" charset="0"/>
              </a:rPr>
              <a:t>) – </a:t>
            </a:r>
            <a:r>
              <a:rPr lang="pl-PL" dirty="0">
                <a:latin typeface="Arial Narrow" panose="020B0606020202030204" pitchFamily="34" charset="0"/>
              </a:rPr>
              <a:t>w procesie uczenia wykorzystywane są etykiety wygenerowane przez system na podstawie danych wejściowych (zwykle stosuje się do tego algorytm heurystyczny). </a:t>
            </a:r>
            <a:br>
              <a:rPr lang="pl-PL" dirty="0">
                <a:latin typeface="Arial Narrow" panose="020B0606020202030204" pitchFamily="34" charset="0"/>
              </a:rPr>
            </a:br>
            <a:r>
              <a:rPr lang="pl-PL" dirty="0">
                <a:latin typeface="Arial Narrow" panose="020B0606020202030204" pitchFamily="34" charset="0"/>
              </a:rPr>
              <a:t>Przykładowo, system do przechowywania zdjęć: </a:t>
            </a:r>
            <a:br>
              <a:rPr lang="pl-PL" dirty="0">
                <a:latin typeface="Arial Narrow" panose="020B0606020202030204" pitchFamily="34" charset="0"/>
              </a:rPr>
            </a:br>
            <a:r>
              <a:rPr lang="pl-PL">
                <a:latin typeface="Arial Narrow" panose="020B0606020202030204" pitchFamily="34" charset="0"/>
              </a:rPr>
              <a:t>Posiadamy zdjęcia rodzinne </a:t>
            </a:r>
            <a:r>
              <a:rPr lang="pl-PL" dirty="0">
                <a:latin typeface="Arial Narrow" panose="020B0606020202030204" pitchFamily="34" charset="0"/>
              </a:rPr>
              <a:t>i podpisujemy parę z nich imionami bliskich. Następnie algorytm sam rozpoznaje oznaczone osoby na pozostałych zdjęciach i przypisuje im odpowiednie imiona. </a:t>
            </a:r>
            <a:br>
              <a:rPr lang="pl-PL" dirty="0">
                <a:latin typeface="Arial Narrow" panose="020B0606020202030204" pitchFamily="34" charset="0"/>
              </a:rPr>
            </a:br>
            <a:r>
              <a:rPr lang="pl-PL" dirty="0">
                <a:latin typeface="Arial Narrow" panose="020B0606020202030204" pitchFamily="34" charset="0"/>
              </a:rPr>
              <a:t>System sam proponuje odpowiedzi i jest w stanie stworzyć ogólne wzorce.</a:t>
            </a:r>
            <a:br>
              <a:rPr lang="pl-PL" dirty="0">
                <a:latin typeface="Arial Narrow" panose="020B0606020202030204" pitchFamily="34" charset="0"/>
              </a:rPr>
            </a:br>
            <a:r>
              <a:rPr lang="pl-PL" dirty="0">
                <a:solidFill>
                  <a:srgbClr val="000000"/>
                </a:solidFill>
                <a:latin typeface="Arial Narrow" panose="020B0606020202030204" pitchFamily="34" charset="0"/>
                <a:cs typeface="Calibri" panose="020F0502020204030204" pitchFamily="34" charset="0"/>
              </a:rPr>
              <a:t>Zastosowanie: </a:t>
            </a:r>
            <a:r>
              <a:rPr lang="pl-PL" dirty="0">
                <a:latin typeface="Arial Narrow" panose="020B0606020202030204" pitchFamily="34" charset="0"/>
              </a:rPr>
              <a:t>rozpoznawanie mowy i obrazu, klasyfikacja stron internetowych,</a:t>
            </a:r>
          </a:p>
          <a:p>
            <a:pPr marL="174625" indent="-174625">
              <a:spcBef>
                <a:spcPts val="600"/>
              </a:spcBef>
              <a:buFont typeface="Arial" panose="020B0604020202020204" pitchFamily="34" charset="0"/>
              <a:buChar char="•"/>
            </a:pPr>
            <a:r>
              <a:rPr lang="pl-PL" b="1" dirty="0">
                <a:solidFill>
                  <a:srgbClr val="000000"/>
                </a:solidFill>
                <a:latin typeface="Arial Narrow" panose="020B0606020202030204" pitchFamily="34" charset="0"/>
                <a:cs typeface="Calibri" panose="020F0502020204030204" pitchFamily="34" charset="0"/>
              </a:rPr>
              <a:t>uczenie przez wzmacnianie</a:t>
            </a:r>
            <a:r>
              <a:rPr lang="pl-PL" dirty="0">
                <a:solidFill>
                  <a:srgbClr val="000000"/>
                </a:solidFill>
                <a:latin typeface="Arial Narrow" panose="020B0606020202030204" pitchFamily="34" charset="0"/>
                <a:cs typeface="Calibri" panose="020F0502020204030204" pitchFamily="34" charset="0"/>
              </a:rPr>
              <a:t> (</a:t>
            </a:r>
            <a:r>
              <a:rPr lang="pl-PL" i="1" dirty="0">
                <a:solidFill>
                  <a:srgbClr val="000000"/>
                </a:solidFill>
                <a:latin typeface="Arial Narrow" panose="020B0606020202030204" pitchFamily="34" charset="0"/>
                <a:cs typeface="Calibri" panose="020F0502020204030204" pitchFamily="34" charset="0"/>
              </a:rPr>
              <a:t>reinforcement learning</a:t>
            </a:r>
            <a:r>
              <a:rPr lang="pl-PL" dirty="0">
                <a:solidFill>
                  <a:srgbClr val="000000"/>
                </a:solidFill>
                <a:latin typeface="Arial Narrow" panose="020B0606020202030204" pitchFamily="34" charset="0"/>
                <a:cs typeface="Calibri" panose="020F0502020204030204" pitchFamily="34" charset="0"/>
              </a:rPr>
              <a:t>) – agent otrzymuje pewne informacje na temat środowiska, w którym pracuje (dozwolone działania, reguły i stwierdzenia) i uczy się wyboru akcji, które prowadzą do maksymalizacji nagrody. W charakterze sygnału wzmacniającego wykorzystywany jest wynik gry albo przyznanie lub utrata punktów. W uczeniu przez wzmacnianie podstawową koncepcją jest korzyść. Algorytm dąży do maksymalizacji korzyści. System nie jest trenowany za pomocą treningowego zbioru danych lecz uczy się metodą prób i błędów. Technika ta jest wykorzystywana głównie w grach (szachy, Go), nie odniosła znaczących sukcesów poza grami. Ma potencjał do zastosowania w pojazdach autonomicznych, robotyce, zarządzaniu, edukacji.</a:t>
            </a:r>
            <a:br>
              <a:rPr lang="pl-PL" dirty="0">
                <a:solidFill>
                  <a:srgbClr val="000000"/>
                </a:solidFill>
                <a:latin typeface="Arial Narrow" panose="020B0606020202030204" pitchFamily="34" charset="0"/>
                <a:cs typeface="Calibri" panose="020F0502020204030204" pitchFamily="34" charset="0"/>
              </a:rPr>
            </a:br>
            <a:r>
              <a:rPr lang="pl-PL" dirty="0">
                <a:solidFill>
                  <a:srgbClr val="000000"/>
                </a:solidFill>
                <a:latin typeface="Arial Narrow" panose="020B0606020202030204" pitchFamily="34" charset="0"/>
                <a:cs typeface="Calibri" panose="020F0502020204030204" pitchFamily="34" charset="0"/>
              </a:rPr>
              <a:t>Uczenie przez wzmacnianie można porównać do osoby, która korzysta z urządzenia bez czytania instrukcji obsługi – uczy się korzystać na zasadzie prób i błędów.</a:t>
            </a:r>
            <a:endParaRPr lang="en-US" dirty="0"/>
          </a:p>
        </p:txBody>
      </p:sp>
      <p:sp>
        <p:nvSpPr>
          <p:cNvPr id="7"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a:latin typeface="Arial" pitchFamily="34" charset="0"/>
                <a:ea typeface="+mj-lt"/>
                <a:cs typeface="Arial" pitchFamily="34" charset="0"/>
              </a:rPr>
              <a:t>Klasyfikacja zadań ML ze względu na sposób uczenia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75004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 calcmode="lin" valueType="num">
                                      <p:cBhvr additive="base">
                                        <p:cTn id="1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a:extLst>
              <a:ext uri="{FF2B5EF4-FFF2-40B4-BE49-F238E27FC236}">
                <a16:creationId xmlns:a16="http://schemas.microsoft.com/office/drawing/2014/main" id="{6EFAC838-7E0B-4529-A674-167BA9F1D257}"/>
              </a:ext>
            </a:extLst>
          </p:cNvPr>
          <p:cNvSpPr>
            <a:spLocks noGrp="1"/>
          </p:cNvSpPr>
          <p:nvPr>
            <p:ph type="sldNum" sz="quarter" idx="12"/>
          </p:nvPr>
        </p:nvSpPr>
        <p:spPr/>
        <p:txBody>
          <a:bodyPr/>
          <a:lstStyle/>
          <a:p>
            <a:fld id="{83D82602-3ACC-4341-B614-755528165B64}" type="slidenum">
              <a:rPr lang="pl-PL" smtClean="0"/>
              <a:pPr/>
              <a:t>27</a:t>
            </a:fld>
            <a:endParaRPr lang="pl-PL" dirty="0"/>
          </a:p>
        </p:txBody>
      </p:sp>
      <p:sp>
        <p:nvSpPr>
          <p:cNvPr id="5" name="Rectangle 4">
            <a:extLst>
              <a:ext uri="{FF2B5EF4-FFF2-40B4-BE49-F238E27FC236}">
                <a16:creationId xmlns:a16="http://schemas.microsoft.com/office/drawing/2014/main" id="{82C72AA5-E19F-44A0-BF55-1D4044BB9377}"/>
              </a:ext>
            </a:extLst>
          </p:cNvPr>
          <p:cNvSpPr/>
          <p:nvPr/>
        </p:nvSpPr>
        <p:spPr>
          <a:xfrm>
            <a:off x="0" y="304800"/>
            <a:ext cx="9067800" cy="4401205"/>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Przykład </a:t>
            </a:r>
            <a:r>
              <a:rPr lang="pl-PL" sz="2000" b="1">
                <a:solidFill>
                  <a:srgbClr val="000000"/>
                </a:solidFill>
                <a:latin typeface="Arial Narrow" panose="020B0606020202030204" pitchFamily="34" charset="0"/>
                <a:cs typeface="Calibri" panose="020F0502020204030204" pitchFamily="34" charset="0"/>
              </a:rPr>
              <a:t>uczenia nadzorowanego:</a:t>
            </a:r>
            <a:endParaRPr lang="pl-PL" sz="2000" b="1" dirty="0">
              <a:solidFill>
                <a:srgbClr val="000000"/>
              </a:solidFill>
              <a:latin typeface="Arial Narrow" panose="020B0606020202030204" pitchFamily="34" charset="0"/>
              <a:cs typeface="Calibri" panose="020F0502020204030204" pitchFamily="34" charset="0"/>
            </a:endParaRPr>
          </a:p>
          <a:p>
            <a:r>
              <a:rPr lang="pl-PL" sz="2000" dirty="0">
                <a:latin typeface="Arial Narrow" panose="020B0606020202030204" pitchFamily="34" charset="0"/>
              </a:rPr>
              <a:t>Oprogramowanie emailowe przekierowuje niektóre emaile do spamu. Do algorytmu uczenia nadzorowanego zostaje przekazana duża liczba emaili oznaczonych jako „spam” i „nie spam”. Algorytm, korzystając z tych informacji, dokona prognozy, czy nowa wiadomość jest spamem czy nie. Początkowo jakość klasyfikacji będzie niska. Jeśli jednak użytkownik będzie wskazywał wiadomości jako „to jest spam” albo „to nie jest spam”, oprogramowanie będzie coraz częściej klasyfikować je poprawnie. Oznaczenie wiadomości przez użytkownika jako „spam” lub „nie spam” to etykieta wiadomości.</a:t>
            </a:r>
          </a:p>
          <a:p>
            <a:endParaRPr lang="pl-PL" sz="2000" dirty="0">
              <a:latin typeface="Arial Narrow" panose="020B0606020202030204" pitchFamily="34" charset="0"/>
            </a:endParaRPr>
          </a:p>
          <a:p>
            <a:r>
              <a:rPr lang="pl-PL" sz="2000" dirty="0">
                <a:latin typeface="Arial Narrow" panose="020B0606020202030204" pitchFamily="34" charset="0"/>
              </a:rPr>
              <a:t>W uczeniu nadzorowanym kategorii (etykiet) może być wiele (np. rozpoznawanie obrazów).</a:t>
            </a:r>
          </a:p>
          <a:p>
            <a:endParaRPr lang="pl-PL" sz="2000" dirty="0">
              <a:latin typeface="Arial Narrow" panose="020B0606020202030204" pitchFamily="34" charset="0"/>
            </a:endParaRPr>
          </a:p>
          <a:p>
            <a:r>
              <a:rPr lang="pl-PL" sz="2000" b="1" dirty="0">
                <a:solidFill>
                  <a:srgbClr val="000000"/>
                </a:solidFill>
                <a:latin typeface="Arial Narrow" panose="020B0606020202030204" pitchFamily="34" charset="0"/>
                <a:cs typeface="Calibri" panose="020F0502020204030204" pitchFamily="34" charset="0"/>
              </a:rPr>
              <a:t>Przykład </a:t>
            </a:r>
            <a:r>
              <a:rPr lang="pl-PL" sz="2000" b="1">
                <a:solidFill>
                  <a:srgbClr val="000000"/>
                </a:solidFill>
                <a:latin typeface="Arial Narrow" panose="020B0606020202030204" pitchFamily="34" charset="0"/>
                <a:cs typeface="Calibri" panose="020F0502020204030204" pitchFamily="34" charset="0"/>
              </a:rPr>
              <a:t>uczenia NIEnadzorowanego:</a:t>
            </a:r>
            <a:endParaRPr lang="pl-PL" sz="2000" b="1" dirty="0">
              <a:solidFill>
                <a:srgbClr val="000000"/>
              </a:solidFill>
              <a:latin typeface="Arial Narrow" panose="020B0606020202030204" pitchFamily="34" charset="0"/>
              <a:cs typeface="Calibri" panose="020F0502020204030204" pitchFamily="34" charset="0"/>
            </a:endParaRPr>
          </a:p>
          <a:p>
            <a:r>
              <a:rPr lang="pl-PL" sz="2000" dirty="0">
                <a:solidFill>
                  <a:srgbClr val="000000"/>
                </a:solidFill>
                <a:latin typeface="Arial Narrow" panose="020B0606020202030204" pitchFamily="34" charset="0"/>
                <a:cs typeface="Calibri" panose="020F0502020204030204" pitchFamily="34" charset="0"/>
              </a:rPr>
              <a:t>Dostarczamy dane o klientach wraz z informacją o robionych przez nich zakupach i oczekujemy, że model podzieli klientów na rozdzielne grupy przyjmując jakąś miarę podobieństwa.</a:t>
            </a:r>
            <a:endParaRPr lang="pl-PL" sz="2000" dirty="0">
              <a:latin typeface="Arial Narrow" panose="020B0606020202030204" pitchFamily="34" charset="0"/>
            </a:endParaRPr>
          </a:p>
        </p:txBody>
      </p:sp>
      <p:sp>
        <p:nvSpPr>
          <p:cNvPr id="7"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a:latin typeface="Arial" pitchFamily="34" charset="0"/>
                <a:ea typeface="+mj-lt"/>
                <a:cs typeface="Arial" pitchFamily="34" charset="0"/>
              </a:rPr>
              <a:t>Klasyfikacja zadań ML ze względu na sposób uczenia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662200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28</a:t>
            </a:fld>
            <a:endParaRPr lang="pl-PL" dirty="0"/>
          </a:p>
        </p:txBody>
      </p:sp>
      <p:sp>
        <p:nvSpPr>
          <p:cNvPr id="6" name="Rectangle 4">
            <a:extLst>
              <a:ext uri="{FF2B5EF4-FFF2-40B4-BE49-F238E27FC236}">
                <a16:creationId xmlns:a16="http://schemas.microsoft.com/office/drawing/2014/main" id="{82C72AA5-E19F-44A0-BF55-1D4044BB9377}"/>
              </a:ext>
            </a:extLst>
          </p:cNvPr>
          <p:cNvSpPr/>
          <p:nvPr/>
        </p:nvSpPr>
        <p:spPr>
          <a:xfrm>
            <a:off x="0" y="304800"/>
            <a:ext cx="9067800" cy="5324535"/>
          </a:xfrm>
          <a:prstGeom prst="rect">
            <a:avLst/>
          </a:prstGeom>
        </p:spPr>
        <p:txBody>
          <a:bodyPr wrap="square">
            <a:spAutoFit/>
          </a:bodyPr>
          <a:lstStyle/>
          <a:p>
            <a:r>
              <a:rPr lang="pl-PL" sz="2000" b="1" dirty="0">
                <a:solidFill>
                  <a:srgbClr val="000000"/>
                </a:solidFill>
                <a:latin typeface="Arial Narrow" panose="020B0606020202030204" pitchFamily="34" charset="0"/>
                <a:cs typeface="Calibri" panose="020F0502020204030204" pitchFamily="34" charset="0"/>
              </a:rPr>
              <a:t>Podział metod uczenia maszynowego ze względu na sposób przesyłania strumienia danych: uczenie wsadowe i przyrostowe.</a:t>
            </a:r>
            <a:endParaRPr lang="pl-PL" sz="2000" dirty="0">
              <a:latin typeface="Arial Narrow" panose="020B0606020202030204" pitchFamily="34" charset="0"/>
            </a:endParaRPr>
          </a:p>
          <a:p>
            <a:endParaRPr lang="pl-PL" sz="2000" b="1" dirty="0">
              <a:solidFill>
                <a:srgbClr val="000000"/>
              </a:solidFill>
              <a:latin typeface="Arial Narrow" panose="020B0606020202030204" pitchFamily="34" charset="0"/>
              <a:cs typeface="Calibri" panose="020F0502020204030204" pitchFamily="34" charset="0"/>
            </a:endParaRPr>
          </a:p>
          <a:p>
            <a:r>
              <a:rPr lang="pl-PL" sz="2000" b="1" dirty="0">
                <a:solidFill>
                  <a:srgbClr val="000000"/>
                </a:solidFill>
                <a:latin typeface="Arial Narrow" panose="020B0606020202030204" pitchFamily="34" charset="0"/>
                <a:cs typeface="Calibri" panose="020F0502020204030204" pitchFamily="34" charset="0"/>
              </a:rPr>
              <a:t>Uczenie wsadowe (ang. </a:t>
            </a:r>
            <a:r>
              <a:rPr lang="pl-PL" sz="2000" b="1" i="1" dirty="0">
                <a:solidFill>
                  <a:srgbClr val="000000"/>
                </a:solidFill>
                <a:latin typeface="Arial Narrow" panose="020B0606020202030204" pitchFamily="34" charset="0"/>
                <a:cs typeface="Calibri" panose="020F0502020204030204" pitchFamily="34" charset="0"/>
              </a:rPr>
              <a:t>batch learning</a:t>
            </a:r>
            <a:r>
              <a:rPr lang="pl-PL" sz="2000" b="1" dirty="0">
                <a:solidFill>
                  <a:srgbClr val="000000"/>
                </a:solidFill>
                <a:latin typeface="Arial Narrow" panose="020B0606020202030204" pitchFamily="34" charset="0"/>
                <a:cs typeface="Calibri" panose="020F0502020204030204" pitchFamily="34" charset="0"/>
              </a:rPr>
              <a:t>)</a:t>
            </a:r>
          </a:p>
          <a:p>
            <a:r>
              <a:rPr lang="pl-PL" sz="2000" dirty="0">
                <a:latin typeface="Arial Narrow" panose="020B0606020202030204" pitchFamily="34" charset="0"/>
              </a:rPr>
              <a:t>Do nauki wykorzystywane są wszystkie dostępne dane. </a:t>
            </a:r>
          </a:p>
          <a:p>
            <a:r>
              <a:rPr lang="pl-PL" sz="2000" dirty="0">
                <a:latin typeface="Arial Narrow" panose="020B0606020202030204" pitchFamily="34" charset="0"/>
              </a:rPr>
              <a:t>System najpierw jest uczony a następnie zostaje wdrożony do cyklu produkcyjnego i już więcej nie jest trenowany. Tego rodzaju uczenie zwykle odbywa się offline.</a:t>
            </a:r>
          </a:p>
          <a:p>
            <a:r>
              <a:rPr lang="pl-PL" sz="2000" dirty="0">
                <a:latin typeface="Arial Narrow" panose="020B0606020202030204" pitchFamily="34" charset="0"/>
              </a:rPr>
              <a:t>Jeśli pojawią się nowe dane, model musi być wytrenowany od podstaw przy użyciu wszystkich dostępnych danych a następnie stary model zostaje zastąpiony nowym.</a:t>
            </a:r>
          </a:p>
          <a:p>
            <a:endParaRPr lang="pl-PL" sz="2000" dirty="0">
              <a:latin typeface="Arial Narrow" panose="020B0606020202030204" pitchFamily="34" charset="0"/>
            </a:endParaRPr>
          </a:p>
          <a:p>
            <a:r>
              <a:rPr lang="pl-PL" sz="2000" b="1" dirty="0">
                <a:solidFill>
                  <a:srgbClr val="000000"/>
                </a:solidFill>
                <a:latin typeface="Arial Narrow" panose="020B0606020202030204" pitchFamily="34" charset="0"/>
                <a:cs typeface="Calibri" panose="020F0502020204030204" pitchFamily="34" charset="0"/>
              </a:rPr>
              <a:t>Uczenie przyrostowe (ang. </a:t>
            </a:r>
            <a:r>
              <a:rPr lang="pl-PL" sz="2000" b="1" i="1" dirty="0">
                <a:solidFill>
                  <a:srgbClr val="000000"/>
                </a:solidFill>
                <a:latin typeface="Arial Narrow" panose="020B0606020202030204" pitchFamily="34" charset="0"/>
                <a:cs typeface="Calibri" panose="020F0502020204030204" pitchFamily="34" charset="0"/>
              </a:rPr>
              <a:t>online learning</a:t>
            </a:r>
            <a:r>
              <a:rPr lang="pl-PL" sz="2000" b="1" dirty="0">
                <a:solidFill>
                  <a:srgbClr val="000000"/>
                </a:solidFill>
                <a:latin typeface="Arial Narrow" panose="020B0606020202030204" pitchFamily="34" charset="0"/>
                <a:cs typeface="Calibri" panose="020F0502020204030204" pitchFamily="34" charset="0"/>
              </a:rPr>
              <a:t>)</a:t>
            </a:r>
            <a:endParaRPr lang="pl-PL" sz="2000" dirty="0">
              <a:latin typeface="Arial Narrow" panose="020B0606020202030204" pitchFamily="34" charset="0"/>
            </a:endParaRPr>
          </a:p>
          <a:p>
            <a:r>
              <a:rPr lang="pl-PL" sz="2000" dirty="0">
                <a:latin typeface="Arial Narrow" panose="020B0606020202030204" pitchFamily="34" charset="0"/>
              </a:rPr>
              <a:t>System jest trenowany na bieżąco poprzez sekwencyjne dostarczanie danych.</a:t>
            </a:r>
            <a:r>
              <a:rPr lang="pl-PL" dirty="0"/>
              <a:t> </a:t>
            </a:r>
            <a:endParaRPr lang="pl-PL" sz="2000" dirty="0"/>
          </a:p>
          <a:p>
            <a:endParaRPr lang="pl-PL" sz="2000" dirty="0">
              <a:latin typeface="Arial Narrow" panose="020B0606020202030204" pitchFamily="34" charset="0"/>
            </a:endParaRPr>
          </a:p>
          <a:p>
            <a:endParaRPr lang="pl-PL" sz="2000" dirty="0">
              <a:latin typeface="Arial Narrow" panose="020B0606020202030204" pitchFamily="34" charset="0"/>
            </a:endParaRPr>
          </a:p>
          <a:p>
            <a:r>
              <a:rPr lang="pl-PL" sz="2000" dirty="0">
                <a:latin typeface="Arial Narrow" panose="020B0606020202030204" pitchFamily="34" charset="0"/>
              </a:rPr>
              <a:t> </a:t>
            </a:r>
          </a:p>
          <a:p>
            <a:endParaRPr lang="pl-PL" sz="2000" b="1" dirty="0">
              <a:solidFill>
                <a:srgbClr val="000000"/>
              </a:solidFill>
              <a:latin typeface="Arial Narrow" panose="020B0606020202030204" pitchFamily="34" charset="0"/>
              <a:cs typeface="Calibri" panose="020F0502020204030204" pitchFamily="34" charset="0"/>
            </a:endParaRPr>
          </a:p>
          <a:p>
            <a:endParaRPr lang="pl-PL" sz="2000" b="1" dirty="0">
              <a:solidFill>
                <a:srgbClr val="000000"/>
              </a:solidFill>
              <a:latin typeface="Arial Narrow" panose="020B0606020202030204" pitchFamily="34" charset="0"/>
              <a:cs typeface="Calibri" panose="020F0502020204030204" pitchFamily="34" charset="0"/>
            </a:endParaRPr>
          </a:p>
        </p:txBody>
      </p:sp>
      <p:sp>
        <p:nvSpPr>
          <p:cNvPr id="7"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Uczenie wsadowe i przyrostowe</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863006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29</a:t>
            </a:fld>
            <a:endParaRPr lang="pl-PL" dirty="0"/>
          </a:p>
        </p:txBody>
      </p:sp>
      <p:sp>
        <p:nvSpPr>
          <p:cNvPr id="3" name="Prostokąt 2"/>
          <p:cNvSpPr/>
          <p:nvPr/>
        </p:nvSpPr>
        <p:spPr>
          <a:xfrm>
            <a:off x="0" y="685800"/>
            <a:ext cx="9144000" cy="1785104"/>
          </a:xfrm>
          <a:prstGeom prst="rect">
            <a:avLst/>
          </a:prstGeom>
        </p:spPr>
        <p:txBody>
          <a:bodyPr wrap="square">
            <a:spAutoFit/>
          </a:bodyPr>
          <a:lstStyle/>
          <a:p>
            <a:r>
              <a:rPr lang="pl-PL" sz="2400" dirty="0">
                <a:latin typeface="Avenir Next W1G"/>
              </a:rPr>
              <a:t>T</a:t>
            </a:r>
            <a:r>
              <a:rPr lang="en-US" sz="2400" dirty="0">
                <a:latin typeface="Avenir Next W1G"/>
              </a:rPr>
              <a:t>he output of a machine learning algorithm is entirely dependent on the data it is exposed to. </a:t>
            </a:r>
            <a:endParaRPr lang="pl-PL" sz="2400" dirty="0">
              <a:latin typeface="Avenir Next W1G"/>
            </a:endParaRPr>
          </a:p>
          <a:p>
            <a:r>
              <a:rPr lang="en-US" sz="2400" dirty="0">
                <a:latin typeface="Avenir Next W1G"/>
              </a:rPr>
              <a:t>Change the data, change the result. </a:t>
            </a:r>
            <a:endParaRPr lang="pl-PL" sz="2400" dirty="0">
              <a:latin typeface="Avenir Next W1G"/>
            </a:endParaRPr>
          </a:p>
          <a:p>
            <a:endParaRPr lang="pl-PL" dirty="0"/>
          </a:p>
          <a:p>
            <a:r>
              <a:rPr lang="en-US" sz="2000" b="1" dirty="0">
                <a:latin typeface="Arial Narrow" panose="020B0606020202030204" pitchFamily="34" charset="0"/>
              </a:rPr>
              <a:t>K</a:t>
            </a:r>
            <a:r>
              <a:rPr lang="pl-PL" sz="2000" b="1" dirty="0" err="1">
                <a:latin typeface="Arial Narrow" panose="020B0606020202030204" pitchFamily="34" charset="0"/>
              </a:rPr>
              <a:t>imberly</a:t>
            </a:r>
            <a:r>
              <a:rPr lang="en-US" sz="2000" b="1" dirty="0">
                <a:latin typeface="Arial Narrow" panose="020B0606020202030204" pitchFamily="34" charset="0"/>
              </a:rPr>
              <a:t> N</a:t>
            </a:r>
            <a:r>
              <a:rPr lang="pl-PL" sz="2000" b="1" dirty="0" err="1">
                <a:latin typeface="Arial Narrow" panose="020B0606020202030204" pitchFamily="34" charset="0"/>
              </a:rPr>
              <a:t>evala</a:t>
            </a:r>
            <a:r>
              <a:rPr lang="en-US" sz="2000" b="1" dirty="0">
                <a:latin typeface="Arial Narrow" panose="020B0606020202030204" pitchFamily="34" charset="0"/>
              </a:rPr>
              <a:t> </a:t>
            </a:r>
            <a:r>
              <a:rPr lang="pl-PL" sz="2000" dirty="0">
                <a:latin typeface="Arial Narrow" panose="020B0606020202030204" pitchFamily="34" charset="0"/>
              </a:rPr>
              <a:t>– </a:t>
            </a:r>
            <a:r>
              <a:rPr lang="en-US" sz="2000" dirty="0">
                <a:latin typeface="Arial Narrow" panose="020B0606020202030204" pitchFamily="34" charset="0"/>
              </a:rPr>
              <a:t>the </a:t>
            </a:r>
            <a:r>
              <a:rPr lang="pl-PL" sz="2000" dirty="0">
                <a:latin typeface="Arial Narrow" panose="020B0606020202030204" pitchFamily="34" charset="0"/>
              </a:rPr>
              <a:t>d</a:t>
            </a:r>
            <a:r>
              <a:rPr lang="en-US" sz="2000" dirty="0">
                <a:latin typeface="Arial Narrow" panose="020B0606020202030204" pitchFamily="34" charset="0"/>
              </a:rPr>
              <a:t>irector of Business Strategies for SAS Best Practices </a:t>
            </a:r>
            <a:endParaRPr lang="pl-PL" sz="2400" dirty="0">
              <a:latin typeface="Arial Narrow" panose="020B0606020202030204" pitchFamily="34" charset="0"/>
            </a:endParaRPr>
          </a:p>
        </p:txBody>
      </p:sp>
      <p:sp>
        <p:nvSpPr>
          <p:cNvPr id="4"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Przygotowanie danych</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2615866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numeru slajdu 1"/>
          <p:cNvSpPr>
            <a:spLocks noGrp="1"/>
          </p:cNvSpPr>
          <p:nvPr>
            <p:ph type="sldNum" sz="quarter" idx="12"/>
          </p:nvPr>
        </p:nvSpPr>
        <p:spPr/>
        <p:txBody>
          <a:bodyPr/>
          <a:lstStyle/>
          <a:p>
            <a:fld id="{20D4B2D9-DB10-4EB9-B7A6-032A6D4E75AC}" type="slidenum">
              <a:rPr lang="pl-PL" smtClean="0"/>
              <a:pPr/>
              <a:t>30</a:t>
            </a:fld>
            <a:endParaRPr lang="pl-PL" dirty="0"/>
          </a:p>
        </p:txBody>
      </p:sp>
      <p:sp>
        <p:nvSpPr>
          <p:cNvPr id="3"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Przygotowanie danych</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6" name="TextBox 1"/>
          <p:cNvSpPr txBox="1"/>
          <p:nvPr/>
        </p:nvSpPr>
        <p:spPr>
          <a:xfrm>
            <a:off x="0" y="304800"/>
            <a:ext cx="9144000" cy="4648200"/>
          </a:xfrm>
          <a:prstGeom prst="rect">
            <a:avLst/>
          </a:prstGeom>
          <a:noFill/>
        </p:spPr>
        <p:txBody>
          <a:bodyPr wrap="square" lIns="36000" tIns="36000" rIns="36000" bIns="36000" rtlCol="0">
            <a:noAutofit/>
          </a:bodyPr>
          <a:lstStyle/>
          <a:p>
            <a:r>
              <a:rPr lang="pl-PL" sz="2000" b="1" dirty="0">
                <a:latin typeface="Arial Narrow" panose="020B0606020202030204" pitchFamily="34" charset="0"/>
              </a:rPr>
              <a:t>Rodzaje danych (jedna z wielu klasyfikacji):</a:t>
            </a:r>
          </a:p>
          <a:p>
            <a:pPr marL="273050" indent="-273050"/>
            <a:r>
              <a:rPr lang="pl-PL" sz="2000" dirty="0">
                <a:latin typeface="Arial Narrow" panose="020B0606020202030204" pitchFamily="34" charset="0"/>
              </a:rPr>
              <a:t>1. 	Liczbowe (ilościowe, numeryczne, ang. </a:t>
            </a:r>
            <a:r>
              <a:rPr lang="pl-PL" sz="2000" i="1" dirty="0">
                <a:latin typeface="Arial Narrow" panose="020B0606020202030204" pitchFamily="34" charset="0"/>
              </a:rPr>
              <a:t>numerical</a:t>
            </a:r>
            <a:r>
              <a:rPr lang="pl-PL" sz="2000" dirty="0">
                <a:latin typeface="Arial Narrow" panose="020B0606020202030204" pitchFamily="34" charset="0"/>
              </a:rPr>
              <a:t>)</a:t>
            </a:r>
          </a:p>
          <a:p>
            <a:pPr marL="447675" indent="-174625">
              <a:buFont typeface="Arial" panose="020B0604020202020204" pitchFamily="34" charset="0"/>
              <a:buChar char="•"/>
            </a:pPr>
            <a:r>
              <a:rPr lang="pl-PL" sz="2000" dirty="0">
                <a:latin typeface="Arial Narrow" panose="020B0606020202030204" pitchFamily="34" charset="0"/>
              </a:rPr>
              <a:t>dyskretne (całkowite)</a:t>
            </a:r>
            <a:br>
              <a:rPr lang="pl-PL" sz="2000" dirty="0">
                <a:latin typeface="Arial Narrow" panose="020B0606020202030204" pitchFamily="34" charset="0"/>
              </a:rPr>
            </a:br>
            <a:r>
              <a:rPr lang="pl-PL" sz="2000" dirty="0">
                <a:latin typeface="Arial Narrow" panose="020B0606020202030204" pitchFamily="34" charset="0"/>
              </a:rPr>
              <a:t>– przedziałowe – różnica (odległość) między wartościami jest istotna, np. liczba produktów</a:t>
            </a:r>
            <a:br>
              <a:rPr lang="pl-PL" sz="2000" dirty="0">
                <a:latin typeface="Arial Narrow" panose="020B0606020202030204" pitchFamily="34" charset="0"/>
              </a:rPr>
            </a:br>
            <a:r>
              <a:rPr lang="pl-PL" sz="2000" dirty="0">
                <a:latin typeface="Arial Narrow" panose="020B0606020202030204" pitchFamily="34" charset="0"/>
              </a:rPr>
              <a:t>– </a:t>
            </a:r>
            <a:r>
              <a:rPr lang="pl-PL" sz="2000" dirty="0">
                <a:solidFill>
                  <a:srgbClr val="0070C0"/>
                </a:solidFill>
                <a:latin typeface="Arial Narrow" panose="020B0606020202030204" pitchFamily="34" charset="0"/>
              </a:rPr>
              <a:t>porządkowe</a:t>
            </a:r>
            <a:r>
              <a:rPr lang="pl-PL" sz="2000" dirty="0">
                <a:latin typeface="Arial Narrow" panose="020B0606020202030204" pitchFamily="34" charset="0"/>
              </a:rPr>
              <a:t> (ang. </a:t>
            </a:r>
            <a:r>
              <a:rPr lang="pl-PL" sz="2000" i="1" dirty="0">
                <a:latin typeface="Arial Narrow" panose="020B0606020202030204" pitchFamily="34" charset="0"/>
              </a:rPr>
              <a:t>ordinal</a:t>
            </a:r>
            <a:r>
              <a:rPr lang="pl-PL" sz="2000" dirty="0">
                <a:latin typeface="Arial Narrow" panose="020B0606020202030204" pitchFamily="34" charset="0"/>
              </a:rPr>
              <a:t>) – kolejność jest istotna, ale różnica między wartościami nie</a:t>
            </a:r>
            <a:r>
              <a:rPr lang="pl-PL" sz="2000">
                <a:latin typeface="Arial Narrow" panose="020B0606020202030204" pitchFamily="34" charset="0"/>
              </a:rPr>
              <a:t>, </a:t>
            </a:r>
            <a:br>
              <a:rPr lang="pl-PL" sz="2000">
                <a:latin typeface="Arial Narrow" panose="020B0606020202030204" pitchFamily="34" charset="0"/>
              </a:rPr>
            </a:br>
            <a:r>
              <a:rPr lang="pl-PL" sz="2000">
                <a:latin typeface="Arial Narrow" panose="020B0606020202030204" pitchFamily="34" charset="0"/>
              </a:rPr>
              <a:t>	np. wysoki </a:t>
            </a:r>
            <a:r>
              <a:rPr lang="pl-PL" sz="2000" dirty="0">
                <a:latin typeface="Arial Narrow" panose="020B0606020202030204" pitchFamily="34" charset="0"/>
              </a:rPr>
              <a:t>ma wartość 2, średni 1 a niski 0)</a:t>
            </a:r>
          </a:p>
          <a:p>
            <a:pPr marL="447675" indent="-174625">
              <a:buFont typeface="Arial" panose="020B0604020202020204" pitchFamily="34" charset="0"/>
              <a:buChar char="•"/>
            </a:pPr>
            <a:r>
              <a:rPr lang="pl-PL" sz="2000" dirty="0">
                <a:latin typeface="Arial Narrow" panose="020B0606020202030204" pitchFamily="34" charset="0"/>
              </a:rPr>
              <a:t>ciągłe (rzeczywiste, np. cena produktu)</a:t>
            </a:r>
          </a:p>
          <a:p>
            <a:pPr marL="263525" indent="-263525">
              <a:buAutoNum type="arabicPeriod" startAt="2"/>
            </a:pPr>
            <a:r>
              <a:rPr lang="pl-PL" sz="2000" dirty="0">
                <a:latin typeface="Arial Narrow" panose="020B0606020202030204" pitchFamily="34" charset="0"/>
              </a:rPr>
              <a:t>Skategoryzowane (kategoryzujące, jakościowe, kategorialne, ang. </a:t>
            </a:r>
            <a:r>
              <a:rPr lang="pl-PL" sz="2000" i="1" dirty="0" err="1">
                <a:latin typeface="Arial Narrow" panose="020B0606020202030204" pitchFamily="34" charset="0"/>
              </a:rPr>
              <a:t>categorical</a:t>
            </a:r>
            <a:r>
              <a:rPr lang="pl-PL" sz="2000" dirty="0">
                <a:latin typeface="Arial Narrow" panose="020B0606020202030204" pitchFamily="34" charset="0"/>
              </a:rPr>
              <a:t>) – dane nie będące liczbami. Do tego rodzaju danych zaliczamy:</a:t>
            </a:r>
          </a:p>
          <a:p>
            <a:pPr marL="447675" indent="-184150">
              <a:buFont typeface="Arial" panose="020B0604020202020204" pitchFamily="34" charset="0"/>
              <a:buChar char="•"/>
            </a:pPr>
            <a:r>
              <a:rPr lang="pl-PL" sz="2000" dirty="0">
                <a:latin typeface="Arial Narrow" panose="020B0606020202030204" pitchFamily="34" charset="0"/>
              </a:rPr>
              <a:t>nominalne (ang. </a:t>
            </a:r>
            <a:r>
              <a:rPr lang="pl-PL" sz="2000" i="1" dirty="0" err="1">
                <a:latin typeface="Arial Narrow" panose="020B0606020202030204" pitchFamily="34" charset="0"/>
              </a:rPr>
              <a:t>nominal</a:t>
            </a:r>
            <a:r>
              <a:rPr lang="pl-PL" sz="2000" dirty="0">
                <a:latin typeface="Arial Narrow" panose="020B0606020202030204" pitchFamily="34" charset="0"/>
              </a:rPr>
              <a:t>) – nie mogą być porównane między sobą, nie występuje kolejność (</a:t>
            </a:r>
            <a:r>
              <a:rPr lang="pl-PL" sz="2000">
                <a:latin typeface="Arial Narrow" panose="020B0606020202030204" pitchFamily="34" charset="0"/>
              </a:rPr>
              <a:t>np. kolor, </a:t>
            </a:r>
            <a:r>
              <a:rPr lang="pl-PL" sz="2000" dirty="0">
                <a:latin typeface="Arial Narrow" panose="020B0606020202030204" pitchFamily="34" charset="0"/>
              </a:rPr>
              <a:t>zawód</a:t>
            </a:r>
            <a:r>
              <a:rPr lang="pl-PL" sz="2000">
                <a:latin typeface="Arial Narrow" panose="020B0606020202030204" pitchFamily="34" charset="0"/>
              </a:rPr>
              <a:t>, miejscowość, jednostka miary)</a:t>
            </a:r>
            <a:endParaRPr lang="pl-PL" sz="2000" dirty="0">
              <a:latin typeface="Arial Narrow" panose="020B0606020202030204" pitchFamily="34" charset="0"/>
            </a:endParaRPr>
          </a:p>
          <a:p>
            <a:pPr marL="447675" indent="-184150">
              <a:buFont typeface="Arial" panose="020B0604020202020204" pitchFamily="34" charset="0"/>
              <a:buChar char="•"/>
            </a:pPr>
            <a:r>
              <a:rPr lang="pl-PL" sz="2000">
                <a:solidFill>
                  <a:srgbClr val="0070C0"/>
                </a:solidFill>
                <a:latin typeface="Arial Narrow" panose="020B0606020202030204" pitchFamily="34" charset="0"/>
              </a:rPr>
              <a:t>porządkowe </a:t>
            </a:r>
            <a:r>
              <a:rPr lang="pl-PL" sz="2000">
                <a:latin typeface="Arial Narrow" panose="020B0606020202030204" pitchFamily="34" charset="0"/>
              </a:rPr>
              <a:t>– </a:t>
            </a:r>
            <a:r>
              <a:rPr lang="pl-PL" sz="2000" dirty="0">
                <a:latin typeface="Arial Narrow" panose="020B0606020202030204" pitchFamily="34" charset="0"/>
              </a:rPr>
              <a:t>porównywalne między sobą (</a:t>
            </a:r>
            <a:r>
              <a:rPr lang="pl-PL" sz="2000">
                <a:latin typeface="Arial Narrow" panose="020B0606020202030204" pitchFamily="34" charset="0"/>
              </a:rPr>
              <a:t>np</a:t>
            </a:r>
            <a:r>
              <a:rPr lang="pl-PL" sz="2000" dirty="0">
                <a:latin typeface="Arial Narrow" panose="020B0606020202030204" pitchFamily="34" charset="0"/>
              </a:rPr>
              <a:t>. ocena A jest lepsza, niż ocena B</a:t>
            </a:r>
            <a:r>
              <a:rPr lang="pl-PL" sz="2000">
                <a:latin typeface="Arial Narrow" panose="020B0606020202030204" pitchFamily="34" charset="0"/>
              </a:rPr>
              <a:t>; </a:t>
            </a:r>
            <a:br>
              <a:rPr lang="pl-PL" sz="2000">
                <a:latin typeface="Arial Narrow" panose="020B0606020202030204" pitchFamily="34" charset="0"/>
              </a:rPr>
            </a:br>
            <a:r>
              <a:rPr lang="pl-PL" sz="2000">
                <a:latin typeface="Arial Narrow" panose="020B0606020202030204" pitchFamily="34" charset="0"/>
              </a:rPr>
              <a:t>wzrost </a:t>
            </a:r>
            <a:r>
              <a:rPr lang="pl-PL" sz="2000" dirty="0">
                <a:latin typeface="Arial Narrow" panose="020B0606020202030204" pitchFamily="34" charset="0"/>
              </a:rPr>
              <a:t>może być wysoki, średni </a:t>
            </a:r>
            <a:r>
              <a:rPr lang="pl-PL" sz="2000">
                <a:latin typeface="Arial Narrow" panose="020B0606020202030204" pitchFamily="34" charset="0"/>
              </a:rPr>
              <a:t>lub niski, test może być trudny, neutralny lub łatwy)</a:t>
            </a:r>
            <a:endParaRPr lang="pl-PL" sz="2000" dirty="0">
              <a:latin typeface="Arial Narrow" panose="020B0606020202030204" pitchFamily="34" charset="0"/>
            </a:endParaRPr>
          </a:p>
          <a:p>
            <a:pPr marL="447675" indent="-184150">
              <a:buFont typeface="Arial" panose="020B0604020202020204" pitchFamily="34" charset="0"/>
              <a:buChar char="•"/>
            </a:pPr>
            <a:r>
              <a:rPr lang="pl-PL" sz="2000" dirty="0">
                <a:latin typeface="Arial Narrow" panose="020B0606020202030204" pitchFamily="34" charset="0"/>
              </a:rPr>
              <a:t>dychotomiczne (binarne, ang. </a:t>
            </a:r>
            <a:r>
              <a:rPr lang="pl-PL" sz="2000" i="1" dirty="0" err="1">
                <a:latin typeface="Arial Narrow" panose="020B0606020202030204" pitchFamily="34" charset="0"/>
              </a:rPr>
              <a:t>dichotomous</a:t>
            </a:r>
            <a:r>
              <a:rPr lang="pl-PL" sz="2000" dirty="0">
                <a:latin typeface="Arial Narrow" panose="020B0606020202030204" pitchFamily="34" charset="0"/>
              </a:rPr>
              <a:t>) – dane mające dwie kategorie (</a:t>
            </a:r>
            <a:r>
              <a:rPr lang="pl-PL" sz="2000">
                <a:latin typeface="Arial Narrow" panose="020B0606020202030204" pitchFamily="34" charset="0"/>
              </a:rPr>
              <a:t>np</a:t>
            </a:r>
            <a:r>
              <a:rPr lang="pl-PL" sz="2000" dirty="0">
                <a:latin typeface="Arial Narrow" panose="020B0606020202030204" pitchFamily="34" charset="0"/>
              </a:rPr>
              <a:t>. tak/nie; wynik testu pozytywny/negatywny; kobieta/mężczyzna; egzamin </a:t>
            </a:r>
            <a:r>
              <a:rPr lang="pl-PL" sz="2000">
                <a:latin typeface="Arial Narrow" panose="020B0606020202030204" pitchFamily="34" charset="0"/>
              </a:rPr>
              <a:t>zdany/niezdany). </a:t>
            </a:r>
            <a:br>
              <a:rPr lang="pl-PL" sz="2000">
                <a:latin typeface="Arial Narrow" panose="020B0606020202030204" pitchFamily="34" charset="0"/>
              </a:rPr>
            </a:br>
            <a:r>
              <a:rPr lang="pl-PL" sz="2000">
                <a:latin typeface="Arial Narrow" panose="020B0606020202030204" pitchFamily="34" charset="0"/>
              </a:rPr>
              <a:t>Mogą to być też dane liczbowe (0 lub 1).</a:t>
            </a:r>
            <a:endParaRPr lang="pl-PL" sz="2000" dirty="0">
              <a:latin typeface="Arial Narrow" panose="020B0606020202030204" pitchFamily="34" charset="0"/>
            </a:endParaRPr>
          </a:p>
          <a:p>
            <a:endParaRPr lang="pl-PL" sz="2000" dirty="0">
              <a:latin typeface="Arial Narrow" panose="020B0606020202030204" pitchFamily="34" charset="0"/>
            </a:endParaRPr>
          </a:p>
          <a:p>
            <a:r>
              <a:rPr lang="pl-PL" sz="2000" dirty="0">
                <a:latin typeface="Arial Narrow" panose="020B0606020202030204" pitchFamily="34" charset="0"/>
              </a:rPr>
              <a:t>Do modeli uczenia maszynowego można przekazywać jedynie dane liczbowe. Pozostałe należy przetworzyć do postaci liczbowej.</a:t>
            </a:r>
          </a:p>
        </p:txBody>
      </p:sp>
    </p:spTree>
    <p:extLst>
      <p:ext uri="{BB962C8B-B14F-4D97-AF65-F5344CB8AC3E}">
        <p14:creationId xmlns:p14="http://schemas.microsoft.com/office/powerpoint/2010/main" val="32217974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31</a:t>
            </a:fld>
            <a:endParaRPr lang="pl-PL" dirty="0"/>
          </a:p>
        </p:txBody>
      </p:sp>
      <p:sp>
        <p:nvSpPr>
          <p:cNvPr id="4"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Przygotowanie danych</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5" name="Prostokąt 4"/>
          <p:cNvSpPr/>
          <p:nvPr/>
        </p:nvSpPr>
        <p:spPr>
          <a:xfrm>
            <a:off x="0" y="304800"/>
            <a:ext cx="9144000" cy="4016484"/>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Przygotowując </a:t>
            </a:r>
            <a:r>
              <a:rPr lang="pl-PL" sz="2000" b="1" dirty="0">
                <a:solidFill>
                  <a:srgbClr val="C00000"/>
                </a:solidFill>
                <a:latin typeface="Arial Narrow" panose="020B0606020202030204" pitchFamily="34" charset="0"/>
                <a:cs typeface="Calibri" panose="020F0502020204030204" pitchFamily="34" charset="0"/>
              </a:rPr>
              <a:t>dane</a:t>
            </a:r>
            <a:r>
              <a:rPr lang="pl-PL" sz="2000" dirty="0">
                <a:solidFill>
                  <a:srgbClr val="000000"/>
                </a:solidFill>
                <a:latin typeface="Arial Narrow" panose="020B0606020202030204" pitchFamily="34" charset="0"/>
                <a:cs typeface="Calibri" panose="020F0502020204030204" pitchFamily="34" charset="0"/>
              </a:rPr>
              <a:t> należy przestrzegać następujących zasad:</a:t>
            </a:r>
          </a:p>
          <a:p>
            <a:pPr marL="266700" indent="-266700">
              <a:spcBef>
                <a:spcPts val="600"/>
              </a:spcBef>
              <a:buFont typeface="+mj-lt"/>
              <a:buAutoNum type="arabicPeriod"/>
            </a:pPr>
            <a:r>
              <a:rPr lang="pl-PL" sz="2000" b="1" dirty="0">
                <a:solidFill>
                  <a:srgbClr val="000000"/>
                </a:solidFill>
                <a:latin typeface="Arial Narrow" panose="020B0606020202030204" pitchFamily="34" charset="0"/>
                <a:cs typeface="Calibri" panose="020F0502020204030204" pitchFamily="34" charset="0"/>
              </a:rPr>
              <a:t>Reprezentatywność</a:t>
            </a:r>
            <a:r>
              <a:rPr lang="pl-PL" sz="2000" dirty="0">
                <a:solidFill>
                  <a:srgbClr val="000000"/>
                </a:solidFill>
                <a:latin typeface="Arial Narrow" panose="020B0606020202030204" pitchFamily="34" charset="0"/>
                <a:cs typeface="Calibri" panose="020F0502020204030204" pitchFamily="34" charset="0"/>
              </a:rPr>
              <a:t>. Zbiór treningowy i testowy muszą być reprezentatywne. Załóżmy, że mamy uporządkowany zbiór obrazów cyfr (0-9). Jeśli podzielimy dane na zbiór treningowy i testowy w taki sposób, że pierwszych 80% obrazów znajdzie się w zbiorze treningowym a pozostałe 20% w zbiorze testowym, to zbiór treningowy będzie zawierał tylko cyfry 0-7 a testowy 8-9.</a:t>
            </a:r>
          </a:p>
          <a:p>
            <a:pPr marL="266700" indent="-266700">
              <a:spcBef>
                <a:spcPts val="600"/>
              </a:spcBef>
              <a:buFont typeface="+mj-lt"/>
              <a:buAutoNum type="arabicPeriod"/>
            </a:pPr>
            <a:r>
              <a:rPr lang="pl-PL" sz="2000" b="1" dirty="0">
                <a:solidFill>
                  <a:srgbClr val="000000"/>
                </a:solidFill>
                <a:latin typeface="Arial Narrow" panose="020B0606020202030204" pitchFamily="34" charset="0"/>
                <a:cs typeface="Calibri" panose="020F0502020204030204" pitchFamily="34" charset="0"/>
              </a:rPr>
              <a:t>Czas</a:t>
            </a:r>
            <a:r>
              <a:rPr lang="pl-PL" sz="2000" dirty="0">
                <a:solidFill>
                  <a:srgbClr val="000000"/>
                </a:solidFill>
                <a:latin typeface="Arial Narrow" panose="020B0606020202030204" pitchFamily="34" charset="0"/>
                <a:cs typeface="Calibri" panose="020F0502020204030204" pitchFamily="34" charset="0"/>
              </a:rPr>
              <a:t>. Jeśli prognozujemy przyszłość na podstawie danych historycznych, nie należy dokonywać losowania podczas podziału na zbiory. Zbiór testowy musi zawierać dane późniejsze niż treningowy.</a:t>
            </a:r>
          </a:p>
          <a:p>
            <a:pPr marL="266700" indent="-266700">
              <a:spcBef>
                <a:spcPts val="600"/>
              </a:spcBef>
              <a:buFont typeface="+mj-lt"/>
              <a:buAutoNum type="arabicPeriod"/>
            </a:pPr>
            <a:r>
              <a:rPr lang="pl-PL" sz="2000" b="1" dirty="0">
                <a:solidFill>
                  <a:srgbClr val="000000"/>
                </a:solidFill>
                <a:latin typeface="Arial Narrow" panose="020B0606020202030204" pitchFamily="34" charset="0"/>
                <a:cs typeface="Calibri" panose="020F0502020204030204" pitchFamily="34" charset="0"/>
              </a:rPr>
              <a:t>Redundancja</a:t>
            </a:r>
            <a:r>
              <a:rPr lang="pl-PL" sz="2000" dirty="0">
                <a:solidFill>
                  <a:srgbClr val="000000"/>
                </a:solidFill>
                <a:latin typeface="Arial Narrow" panose="020B0606020202030204" pitchFamily="34" charset="0"/>
                <a:cs typeface="Calibri" panose="020F0502020204030204" pitchFamily="34" charset="0"/>
              </a:rPr>
              <a:t>. W realnych danych zdarza się, że jakieś obserwacje pojawiają się wielokrotnie. W wyniku losowania może wtedy dojść do sytuacji, że w zbiorze treningowym, walidacyjnym i testowym znajdą się te same dane. Należy tego unikać.</a:t>
            </a:r>
          </a:p>
        </p:txBody>
      </p:sp>
    </p:spTree>
    <p:extLst>
      <p:ext uri="{BB962C8B-B14F-4D97-AF65-F5344CB8AC3E}">
        <p14:creationId xmlns:p14="http://schemas.microsoft.com/office/powerpoint/2010/main" val="4172660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FBA5C85-AAD4-47BE-B152-06EBA5423A95}" type="slidenum">
              <a:rPr lang="pl-PL" smtClean="0"/>
              <a:pPr/>
              <a:t>32</a:t>
            </a:fld>
            <a:endParaRPr lang="pl-PL" dirty="0"/>
          </a:p>
        </p:txBody>
      </p:sp>
      <p:sp>
        <p:nvSpPr>
          <p:cNvPr id="3"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Przygotowanie danych</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5" name="Prostokąt 4"/>
          <p:cNvSpPr/>
          <p:nvPr/>
        </p:nvSpPr>
        <p:spPr>
          <a:xfrm>
            <a:off x="0" y="304800"/>
            <a:ext cx="9144000" cy="5709255"/>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Wstępne przetwarzanie danych przed skierowaniem ich do sieci neuronowej:</a:t>
            </a:r>
          </a:p>
          <a:p>
            <a:pPr marL="266700" indent="-266700">
              <a:spcBef>
                <a:spcPts val="600"/>
              </a:spcBef>
              <a:buFont typeface="+mj-lt"/>
              <a:buAutoNum type="arabicPeriod"/>
            </a:pPr>
            <a:r>
              <a:rPr lang="pl-PL" sz="2000" b="1" dirty="0">
                <a:solidFill>
                  <a:srgbClr val="000000"/>
                </a:solidFill>
                <a:latin typeface="Arial Narrow" panose="020B0606020202030204" pitchFamily="34" charset="0"/>
                <a:cs typeface="Calibri" panose="020F0502020204030204" pitchFamily="34" charset="0"/>
              </a:rPr>
              <a:t>Wektoryzacja</a:t>
            </a:r>
            <a:r>
              <a:rPr lang="pl-PL" sz="2000" dirty="0">
                <a:solidFill>
                  <a:srgbClr val="000000"/>
                </a:solidFill>
                <a:latin typeface="Arial Narrow" panose="020B0606020202030204" pitchFamily="34" charset="0"/>
                <a:cs typeface="Calibri" panose="020F0502020204030204" pitchFamily="34" charset="0"/>
              </a:rPr>
              <a:t>. Wszystkie dane wejściowe i etykiety muszą mieć postać tensorów danych zmiennoprzecinkowych (w niektórych przypadkach liczb całkowitych).</a:t>
            </a:r>
          </a:p>
          <a:p>
            <a:pPr marL="266700" indent="-266700">
              <a:spcBef>
                <a:spcPts val="600"/>
              </a:spcBef>
              <a:buFont typeface="+mj-lt"/>
              <a:buAutoNum type="arabicPeriod"/>
            </a:pPr>
            <a:r>
              <a:rPr lang="pl-PL" sz="2000" b="1" dirty="0">
                <a:solidFill>
                  <a:srgbClr val="000000"/>
                </a:solidFill>
                <a:latin typeface="Arial Narrow" panose="020B0606020202030204" pitchFamily="34" charset="0"/>
                <a:cs typeface="Calibri" panose="020F0502020204030204" pitchFamily="34" charset="0"/>
              </a:rPr>
              <a:t>Normalizacja</a:t>
            </a:r>
            <a:r>
              <a:rPr lang="pl-PL" sz="2000" dirty="0">
                <a:solidFill>
                  <a:srgbClr val="000000"/>
                </a:solidFill>
                <a:latin typeface="Arial Narrow" panose="020B0606020202030204" pitchFamily="34" charset="0"/>
                <a:cs typeface="Calibri" panose="020F0502020204030204" pitchFamily="34" charset="0"/>
              </a:rPr>
              <a:t>. Kierowanie do sieci danych, których cechy mają różną skalę (</a:t>
            </a:r>
            <a:r>
              <a:rPr lang="pl-PL" sz="2000">
                <a:solidFill>
                  <a:srgbClr val="000000"/>
                </a:solidFill>
                <a:latin typeface="Arial Narrow" panose="020B0606020202030204" pitchFamily="34" charset="0"/>
                <a:cs typeface="Calibri" panose="020F0502020204030204" pitchFamily="34" charset="0"/>
              </a:rPr>
              <a:t>np</a:t>
            </a:r>
            <a:r>
              <a:rPr lang="pl-PL" sz="2000" dirty="0">
                <a:solidFill>
                  <a:srgbClr val="000000"/>
                </a:solidFill>
                <a:latin typeface="Arial Narrow" panose="020B0606020202030204" pitchFamily="34" charset="0"/>
                <a:cs typeface="Calibri" panose="020F0502020204030204" pitchFamily="34" charset="0"/>
              </a:rPr>
              <a:t>. jedna to wartości 0–1 a druga 500–700) może uniemożliwić znalezienie właściwego rozwiązania przez sieć neuronową. W celu ułatwienia procesu uczenia sieci dane powinny mieć następujące własności:</a:t>
            </a:r>
          </a:p>
          <a:p>
            <a:pPr marL="450850" indent="-184150">
              <a:spcBef>
                <a:spcPts val="0"/>
              </a:spcBef>
              <a:buFont typeface="Arial" panose="020B0604020202020204" pitchFamily="34" charset="0"/>
              <a:buChar char="•"/>
            </a:pPr>
            <a:r>
              <a:rPr lang="pl-PL" sz="2000" dirty="0">
                <a:solidFill>
                  <a:srgbClr val="000000"/>
                </a:solidFill>
                <a:latin typeface="Arial Narrow" panose="020B0606020202030204" pitchFamily="34" charset="0"/>
                <a:cs typeface="Calibri" panose="020F0502020204030204" pitchFamily="34" charset="0"/>
              </a:rPr>
              <a:t>przyjmować małe wartości (zwykle z zakresu 0–1),</a:t>
            </a:r>
          </a:p>
          <a:p>
            <a:pPr marL="450850" indent="-184150">
              <a:spcBef>
                <a:spcPts val="0"/>
              </a:spcBef>
              <a:buFont typeface="Arial" panose="020B0604020202020204" pitchFamily="34" charset="0"/>
              <a:buChar char="•"/>
            </a:pPr>
            <a:r>
              <a:rPr lang="pl-PL" sz="2000" dirty="0">
                <a:solidFill>
                  <a:srgbClr val="000000"/>
                </a:solidFill>
                <a:latin typeface="Arial Narrow" panose="020B0606020202030204" pitchFamily="34" charset="0"/>
                <a:cs typeface="Calibri" panose="020F0502020204030204" pitchFamily="34" charset="0"/>
              </a:rPr>
              <a:t>być homogeniczne – wszystkie cechy powinny przyjmować wartości z tego samego zakresu.</a:t>
            </a:r>
          </a:p>
          <a:p>
            <a:pPr marL="266700" indent="-266700">
              <a:spcBef>
                <a:spcPts val="600"/>
              </a:spcBef>
              <a:buFont typeface="+mj-lt"/>
              <a:buAutoNum type="arabicPeriod" startAt="3"/>
            </a:pPr>
            <a:r>
              <a:rPr lang="pl-PL" sz="2000" b="1" dirty="0">
                <a:solidFill>
                  <a:srgbClr val="000000"/>
                </a:solidFill>
                <a:latin typeface="Arial Narrow" panose="020B0606020202030204" pitchFamily="34" charset="0"/>
                <a:cs typeface="Calibri" panose="020F0502020204030204" pitchFamily="34" charset="0"/>
              </a:rPr>
              <a:t>Problem brakujących wartości</a:t>
            </a:r>
            <a:r>
              <a:rPr lang="pl-PL" sz="2000" dirty="0">
                <a:solidFill>
                  <a:srgbClr val="000000"/>
                </a:solidFill>
                <a:latin typeface="Arial Narrow" panose="020B0606020202030204" pitchFamily="34" charset="0"/>
                <a:cs typeface="Calibri" panose="020F0502020204030204" pitchFamily="34" charset="0"/>
              </a:rPr>
              <a:t>. W sieciach neuronowych brakujące wartości można zastępować zerami (w przypadku, gdy 0 nie jest wartością mającą jakieś znaczenie) – sieć nauczy się, że 0 oznacza brak danych i należy je ignorować.</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Jeśli w zbiorze treningowym nie było brakujących wartości, a pojawią się w zbiorze testowym, sieć nie będzie nauczona aby je ignorować. W takiej sytuacji należy wygenerować sztuczne próbki treningowe z brakującymi elementami poprzez kopiowanie niektórych próbek i usuwanie z nich cech, dla których w zbiorze testowym brakuje wartości.</a:t>
            </a:r>
          </a:p>
        </p:txBody>
      </p:sp>
    </p:spTree>
    <p:extLst>
      <p:ext uri="{BB962C8B-B14F-4D97-AF65-F5344CB8AC3E}">
        <p14:creationId xmlns:p14="http://schemas.microsoft.com/office/powerpoint/2010/main" val="301870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1000"/>
                                        <p:tgtEl>
                                          <p:spTgt spid="5">
                                            <p:txEl>
                                              <p:pRg st="3" end="3"/>
                                            </p:txEl>
                                          </p:spTgt>
                                        </p:tgtEl>
                                      </p:cBhvr>
                                    </p:animEffect>
                                    <p:anim calcmode="lin" valueType="num">
                                      <p:cBhvr>
                                        <p:cTn id="1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 calcmode="lin" valueType="num">
                                      <p:cBhvr additive="base">
                                        <p:cTn id="24"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DBF5E98-3C3D-4466-8ED7-2D1818FDC1F3}"/>
              </a:ext>
            </a:extLst>
          </p:cNvPr>
          <p:cNvSpPr/>
          <p:nvPr/>
        </p:nvSpPr>
        <p:spPr>
          <a:xfrm>
            <a:off x="0" y="304800"/>
            <a:ext cx="9144000" cy="5709255"/>
          </a:xfrm>
          <a:prstGeom prst="rect">
            <a:avLst/>
          </a:prstGeom>
        </p:spPr>
        <p:txBody>
          <a:bodyPr wrap="square">
            <a:spAutoFit/>
          </a:bodyPr>
          <a:lstStyle/>
          <a:p>
            <a:r>
              <a:rPr lang="pl-PL" b="1">
                <a:solidFill>
                  <a:srgbClr val="000000"/>
                </a:solidFill>
                <a:latin typeface="Arial Narrow" panose="020B0606020202030204" pitchFamily="34" charset="0"/>
                <a:cs typeface="Calibri" panose="020F0502020204030204" pitchFamily="34" charset="0"/>
              </a:rPr>
              <a:t>Kodowanie „goracą jedynką” (</a:t>
            </a:r>
            <a:r>
              <a:rPr lang="pl-PL">
                <a:solidFill>
                  <a:srgbClr val="000000"/>
                </a:solidFill>
                <a:latin typeface="Arial Narrow" panose="020B0606020202030204" pitchFamily="34" charset="0"/>
                <a:cs typeface="Calibri" panose="020F0502020204030204" pitchFamily="34" charset="0"/>
              </a:rPr>
              <a:t>ang. </a:t>
            </a:r>
            <a:r>
              <a:rPr lang="pl-PL" b="1">
                <a:solidFill>
                  <a:srgbClr val="000000"/>
                </a:solidFill>
                <a:latin typeface="Arial Narrow" panose="020B0606020202030204" pitchFamily="34" charset="0"/>
                <a:cs typeface="Calibri" panose="020F0502020204030204" pitchFamily="34" charset="0"/>
              </a:rPr>
              <a:t>one-hot encoding).</a:t>
            </a:r>
            <a:endParaRPr lang="pl-PL" b="1" dirty="0">
              <a:solidFill>
                <a:srgbClr val="000000"/>
              </a:solidFill>
              <a:latin typeface="Arial Narrow" panose="020B0606020202030204" pitchFamily="34" charset="0"/>
              <a:cs typeface="Calibri" panose="020F0502020204030204" pitchFamily="34" charset="0"/>
            </a:endParaRPr>
          </a:p>
          <a:p>
            <a:r>
              <a:rPr lang="pl-PL" dirty="0">
                <a:latin typeface="Arial Narrow" panose="020B0606020202030204" pitchFamily="34" charset="0"/>
              </a:rPr>
              <a:t>Technika </a:t>
            </a:r>
            <a:r>
              <a:rPr lang="pl-PL">
                <a:latin typeface="Arial Narrow" panose="020B0606020202030204" pitchFamily="34" charset="0"/>
              </a:rPr>
              <a:t>wykorzystywana m.in. w </a:t>
            </a:r>
            <a:r>
              <a:rPr lang="pl-PL" dirty="0">
                <a:latin typeface="Arial Narrow" panose="020B0606020202030204" pitchFamily="34" charset="0"/>
              </a:rPr>
              <a:t>przetwarzaniu języka naturalnego (NLP – </a:t>
            </a:r>
            <a:r>
              <a:rPr lang="pl-PL" i="1" dirty="0">
                <a:latin typeface="Arial Narrow" panose="020B0606020202030204" pitchFamily="34" charset="0"/>
              </a:rPr>
              <a:t>Natural Language Processing</a:t>
            </a:r>
            <a:r>
              <a:rPr lang="pl-PL" dirty="0">
                <a:latin typeface="Arial Narrow" panose="020B0606020202030204" pitchFamily="34" charset="0"/>
              </a:rPr>
              <a:t>). Polega na generowaniu reprezentacji wektorowej wyrazu, zdania lub tekstu.</a:t>
            </a:r>
          </a:p>
          <a:p>
            <a:r>
              <a:rPr lang="pl-PL" dirty="0">
                <a:latin typeface="Arial Narrow" panose="020B0606020202030204" pitchFamily="34" charset="0"/>
              </a:rPr>
              <a:t>Aby przekazać do modelu uczenia maszynowego tekst, należy go najpierw zakodować w postaci liczb lub wektorów.</a:t>
            </a:r>
          </a:p>
          <a:p>
            <a:endParaRPr lang="pl-PL" dirty="0">
              <a:latin typeface="Arial Narrow" panose="020B0606020202030204" pitchFamily="34" charset="0"/>
            </a:endParaRPr>
          </a:p>
          <a:p>
            <a:r>
              <a:rPr lang="pl-PL" dirty="0">
                <a:latin typeface="Arial Narrow" panose="020B0606020202030204" pitchFamily="34" charset="0"/>
              </a:rPr>
              <a:t>Przykład:</a:t>
            </a:r>
          </a:p>
          <a:p>
            <a:r>
              <a:rPr lang="pl-PL">
                <a:latin typeface="Arial Narrow" panose="020B0606020202030204" pitchFamily="34" charset="0"/>
              </a:rPr>
              <a:t>W zdaniu </a:t>
            </a:r>
            <a:r>
              <a:rPr lang="pl-PL" b="1" dirty="0">
                <a:solidFill>
                  <a:srgbClr val="C00000"/>
                </a:solidFill>
                <a:latin typeface="Arial Narrow" panose="020B0606020202030204" pitchFamily="34" charset="0"/>
              </a:rPr>
              <a:t>Karetę ciągną </a:t>
            </a:r>
            <a:r>
              <a:rPr lang="pl-PL" b="1">
                <a:solidFill>
                  <a:srgbClr val="C00000"/>
                </a:solidFill>
                <a:latin typeface="Arial Narrow" panose="020B0606020202030204" pitchFamily="34" charset="0"/>
              </a:rPr>
              <a:t>cztery konie</a:t>
            </a:r>
            <a:r>
              <a:rPr lang="pl-PL" i="1">
                <a:latin typeface="Arial Narrow" panose="020B0606020202030204" pitchFamily="34" charset="0"/>
              </a:rPr>
              <a:t> </a:t>
            </a:r>
            <a:r>
              <a:rPr lang="pl-PL">
                <a:latin typeface="Arial Narrow" panose="020B0606020202030204" pitchFamily="34" charset="0"/>
              </a:rPr>
              <a:t>każdy wyraz jest reprezentowany poprzez liczbę 1 na odpowiednim miejscu a 0 na pozostałych: Np.: </a:t>
            </a:r>
          </a:p>
          <a:p>
            <a:pPr>
              <a:tabLst>
                <a:tab pos="2335213" algn="l"/>
                <a:tab pos="4392613" algn="l"/>
              </a:tabLst>
            </a:pPr>
            <a:r>
              <a:rPr lang="pl-PL" b="1">
                <a:solidFill>
                  <a:srgbClr val="C00000"/>
                </a:solidFill>
                <a:latin typeface="Arial Narrow" panose="020B0606020202030204" pitchFamily="34" charset="0"/>
              </a:rPr>
              <a:t>karetę</a:t>
            </a:r>
            <a:r>
              <a:rPr lang="pl-PL">
                <a:latin typeface="Arial Narrow" panose="020B0606020202030204" pitchFamily="34" charset="0"/>
              </a:rPr>
              <a:t> wektor </a:t>
            </a:r>
            <a:r>
              <a:rPr lang="pl-PL" dirty="0">
                <a:latin typeface="Arial Narrow" panose="020B0606020202030204" pitchFamily="34" charset="0"/>
              </a:rPr>
              <a:t>[1, 0, 0, </a:t>
            </a:r>
            <a:r>
              <a:rPr lang="pl-PL">
                <a:latin typeface="Arial Narrow" panose="020B0606020202030204" pitchFamily="34" charset="0"/>
              </a:rPr>
              <a:t>0]	</a:t>
            </a:r>
            <a:r>
              <a:rPr lang="pl-PL" b="1">
                <a:solidFill>
                  <a:srgbClr val="C00000"/>
                </a:solidFill>
                <a:latin typeface="Arial Narrow" panose="020B0606020202030204" pitchFamily="34" charset="0"/>
              </a:rPr>
              <a:t>ciągną</a:t>
            </a:r>
            <a:r>
              <a:rPr lang="pl-PL">
                <a:latin typeface="Arial Narrow" panose="020B0606020202030204" pitchFamily="34" charset="0"/>
              </a:rPr>
              <a:t> </a:t>
            </a:r>
            <a:r>
              <a:rPr lang="pl-PL">
                <a:latin typeface="Arial Narrow" panose="020B0606020202030204" pitchFamily="34" charset="0"/>
                <a:sym typeface="Wingdings" panose="05000000000000000000" pitchFamily="2" charset="2"/>
              </a:rPr>
              <a:t></a:t>
            </a:r>
            <a:r>
              <a:rPr lang="pl-PL">
                <a:latin typeface="Arial Narrow" panose="020B0606020202030204" pitchFamily="34" charset="0"/>
              </a:rPr>
              <a:t> </a:t>
            </a:r>
            <a:r>
              <a:rPr lang="pl-PL" dirty="0">
                <a:latin typeface="Arial Narrow" panose="020B0606020202030204" pitchFamily="34" charset="0"/>
              </a:rPr>
              <a:t>[0, 1, 0, </a:t>
            </a:r>
            <a:r>
              <a:rPr lang="pl-PL">
                <a:latin typeface="Arial Narrow" panose="020B0606020202030204" pitchFamily="34" charset="0"/>
              </a:rPr>
              <a:t>0]	</a:t>
            </a:r>
            <a:r>
              <a:rPr lang="pl-PL" b="1">
                <a:solidFill>
                  <a:srgbClr val="C00000"/>
                </a:solidFill>
                <a:latin typeface="Arial Narrow" panose="020B0606020202030204" pitchFamily="34" charset="0"/>
              </a:rPr>
              <a:t>cztery</a:t>
            </a:r>
            <a:r>
              <a:rPr lang="pl-PL">
                <a:latin typeface="Arial Narrow" panose="020B0606020202030204" pitchFamily="34" charset="0"/>
              </a:rPr>
              <a:t> </a:t>
            </a:r>
            <a:r>
              <a:rPr lang="pl-PL">
                <a:latin typeface="Arial Narrow" panose="020B0606020202030204" pitchFamily="34" charset="0"/>
                <a:sym typeface="Wingdings" panose="05000000000000000000" pitchFamily="2" charset="2"/>
              </a:rPr>
              <a:t></a:t>
            </a:r>
            <a:r>
              <a:rPr lang="pl-PL">
                <a:latin typeface="Arial Narrow" panose="020B0606020202030204" pitchFamily="34" charset="0"/>
              </a:rPr>
              <a:t> </a:t>
            </a:r>
            <a:r>
              <a:rPr lang="pl-PL" dirty="0">
                <a:latin typeface="Arial Narrow" panose="020B0606020202030204" pitchFamily="34" charset="0"/>
              </a:rPr>
              <a:t>[0, 0, 1, </a:t>
            </a:r>
            <a:r>
              <a:rPr lang="pl-PL">
                <a:latin typeface="Arial Narrow" panose="020B0606020202030204" pitchFamily="34" charset="0"/>
              </a:rPr>
              <a:t>0]	</a:t>
            </a:r>
            <a:r>
              <a:rPr lang="pl-PL" b="1">
                <a:solidFill>
                  <a:srgbClr val="C00000"/>
                </a:solidFill>
                <a:latin typeface="Arial Narrow" panose="020B0606020202030204" pitchFamily="34" charset="0"/>
              </a:rPr>
              <a:t>konie</a:t>
            </a:r>
            <a:r>
              <a:rPr lang="pl-PL">
                <a:latin typeface="Arial Narrow" panose="020B0606020202030204" pitchFamily="34" charset="0"/>
              </a:rPr>
              <a:t> </a:t>
            </a:r>
            <a:r>
              <a:rPr lang="pl-PL">
                <a:latin typeface="Arial Narrow" panose="020B0606020202030204" pitchFamily="34" charset="0"/>
                <a:sym typeface="Wingdings" panose="05000000000000000000" pitchFamily="2" charset="2"/>
              </a:rPr>
              <a:t></a:t>
            </a:r>
            <a:r>
              <a:rPr lang="pl-PL">
                <a:latin typeface="Arial Narrow" panose="020B0606020202030204" pitchFamily="34" charset="0"/>
              </a:rPr>
              <a:t> </a:t>
            </a:r>
            <a:r>
              <a:rPr lang="pl-PL" dirty="0">
                <a:latin typeface="Arial Narrow" panose="020B0606020202030204" pitchFamily="34" charset="0"/>
              </a:rPr>
              <a:t>[0, 0, 0, 1]</a:t>
            </a:r>
          </a:p>
          <a:p>
            <a:pPr>
              <a:spcBef>
                <a:spcPts val="600"/>
              </a:spcBef>
            </a:pPr>
            <a:r>
              <a:rPr lang="pl-PL">
                <a:latin typeface="Arial Narrow" panose="020B0606020202030204" pitchFamily="34" charset="0"/>
              </a:rPr>
              <a:t>Wtedy zdanie </a:t>
            </a:r>
            <a:r>
              <a:rPr lang="pl-PL" b="1">
                <a:latin typeface="Arial Narrow" panose="020B0606020202030204" pitchFamily="34" charset="0"/>
              </a:rPr>
              <a:t>Karetę ciągną konie</a:t>
            </a:r>
            <a:r>
              <a:rPr lang="pl-PL">
                <a:latin typeface="Arial Narrow" panose="020B0606020202030204" pitchFamily="34" charset="0"/>
              </a:rPr>
              <a:t> będzie reprezentował wektor: [1, 1, 0, 1]</a:t>
            </a:r>
          </a:p>
          <a:p>
            <a:r>
              <a:rPr lang="pl-PL">
                <a:latin typeface="Arial Narrow" panose="020B0606020202030204" pitchFamily="34" charset="0"/>
              </a:rPr>
              <a:t>a </a:t>
            </a:r>
            <a:r>
              <a:rPr lang="pl-PL" b="1">
                <a:latin typeface="Arial Narrow" panose="020B0606020202030204" pitchFamily="34" charset="0"/>
              </a:rPr>
              <a:t>Cztery konie</a:t>
            </a:r>
            <a:r>
              <a:rPr lang="pl-PL">
                <a:latin typeface="Arial Narrow" panose="020B0606020202030204" pitchFamily="34" charset="0"/>
              </a:rPr>
              <a:t> wektor [0, 0, 1, 1]</a:t>
            </a:r>
          </a:p>
          <a:p>
            <a:endParaRPr lang="pl-PL">
              <a:latin typeface="Arial Narrow" panose="020B0606020202030204" pitchFamily="34" charset="0"/>
            </a:endParaRPr>
          </a:p>
          <a:p>
            <a:endParaRPr lang="pl-PL" dirty="0">
              <a:latin typeface="Arial Narrow" panose="020B0606020202030204" pitchFamily="34" charset="0"/>
            </a:endParaRPr>
          </a:p>
          <a:p>
            <a:r>
              <a:rPr lang="pl-PL" dirty="0">
                <a:latin typeface="Arial Narrow" panose="020B0606020202030204" pitchFamily="34" charset="0"/>
              </a:rPr>
              <a:t>Załóżmy, że mamy 1000 wyrazów w słowniku. Każdy wyraz będzie wtedy reprezentowany </a:t>
            </a:r>
            <a:r>
              <a:rPr lang="pl-PL">
                <a:latin typeface="Arial Narrow" panose="020B0606020202030204" pitchFamily="34" charset="0"/>
              </a:rPr>
              <a:t>przez </a:t>
            </a:r>
          </a:p>
          <a:p>
            <a:r>
              <a:rPr lang="pl-PL">
                <a:latin typeface="Arial Narrow" panose="020B0606020202030204" pitchFamily="34" charset="0"/>
              </a:rPr>
              <a:t>1000-elementowy wektor, </a:t>
            </a:r>
            <a:r>
              <a:rPr lang="pl-PL" dirty="0">
                <a:latin typeface="Arial Narrow" panose="020B0606020202030204" pitchFamily="34" charset="0"/>
              </a:rPr>
              <a:t>w którym na odpowiedniej (jednej) pozycji będzie 1, pozostałe będą zerami.</a:t>
            </a:r>
          </a:p>
          <a:p>
            <a:r>
              <a:rPr lang="pl-PL" dirty="0">
                <a:latin typeface="Arial Narrow" panose="020B0606020202030204" pitchFamily="34" charset="0"/>
              </a:rPr>
              <a:t>Tego rodzaju reprezentacja nie potrafi uchwycić podobieństwa między wyrazami (iloczyn skalarny dwóch dowolnych wyrazów zawsze wynosi 0). </a:t>
            </a:r>
          </a:p>
          <a:p>
            <a:r>
              <a:rPr lang="pl-PL" dirty="0">
                <a:latin typeface="Arial Narrow" panose="020B0606020202030204" pitchFamily="34" charset="0"/>
              </a:rPr>
              <a:t>W zadaniach związanych z przetwarzaniem tekstu możliwość znalezienia podobieństwa wyrazów jest istotna</a:t>
            </a:r>
            <a:r>
              <a:rPr lang="pl-PL">
                <a:latin typeface="Arial Narrow" panose="020B0606020202030204" pitchFamily="34" charset="0"/>
              </a:rPr>
              <a:t>. W uczeniu maszynowym istnieją metody, które to umożliwiają.</a:t>
            </a:r>
            <a:endParaRPr lang="pl-PL" dirty="0">
              <a:latin typeface="Arial Narrow" panose="020B0606020202030204" pitchFamily="34" charset="0"/>
            </a:endParaRPr>
          </a:p>
        </p:txBody>
      </p:sp>
      <p:sp>
        <p:nvSpPr>
          <p:cNvPr id="3"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Przygotowanie danych</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4" name="Slide Number Placeholder 3"/>
          <p:cNvSpPr>
            <a:spLocks noGrp="1"/>
          </p:cNvSpPr>
          <p:nvPr>
            <p:ph type="sldNum" sz="quarter" idx="12"/>
          </p:nvPr>
        </p:nvSpPr>
        <p:spPr/>
        <p:txBody>
          <a:bodyPr/>
          <a:lstStyle/>
          <a:p>
            <a:fld id="{20D4B2D9-DB10-4EB9-B7A6-032A6D4E75AC}" type="slidenum">
              <a:rPr lang="pl-PL" smtClean="0"/>
              <a:pPr/>
              <a:t>33</a:t>
            </a:fld>
            <a:endParaRPr lang="pl-PL" dirty="0"/>
          </a:p>
        </p:txBody>
      </p:sp>
    </p:spTree>
    <p:extLst>
      <p:ext uri="{BB962C8B-B14F-4D97-AF65-F5344CB8AC3E}">
        <p14:creationId xmlns:p14="http://schemas.microsoft.com/office/powerpoint/2010/main" val="716354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 calcmode="lin" valueType="num">
                                      <p:cBhvr additive="base">
                                        <p:cTn id="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anim calcmode="lin" valueType="num">
                                      <p:cBhvr additive="base">
                                        <p:cTn id="1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anim calcmode="lin" valueType="num">
                                      <p:cBhvr additive="base">
                                        <p:cTn id="15"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anim calcmode="lin" valueType="num">
                                      <p:cBhvr additive="base">
                                        <p:cTn id="1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anim calcmode="lin" valueType="num">
                                      <p:cBhvr additive="base">
                                        <p:cTn id="23"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xEl>
                                              <p:pRg st="11" end="11"/>
                                            </p:txEl>
                                          </p:spTgt>
                                        </p:tgtEl>
                                        <p:attrNameLst>
                                          <p:attrName>style.visibility</p:attrName>
                                        </p:attrNameLst>
                                      </p:cBhvr>
                                      <p:to>
                                        <p:strVal val="visible"/>
                                      </p:to>
                                    </p:set>
                                    <p:anim calcmode="lin" valueType="num">
                                      <p:cBhvr additive="base">
                                        <p:cTn id="29"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11" end="11"/>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
                                            <p:txEl>
                                              <p:pRg st="12" end="12"/>
                                            </p:txEl>
                                          </p:spTgt>
                                        </p:tgtEl>
                                        <p:attrNameLst>
                                          <p:attrName>style.visibility</p:attrName>
                                        </p:attrNameLst>
                                      </p:cBhvr>
                                      <p:to>
                                        <p:strVal val="visible"/>
                                      </p:to>
                                    </p:set>
                                    <p:anim calcmode="lin" valueType="num">
                                      <p:cBhvr additive="base">
                                        <p:cTn id="33" dur="500" fill="hold"/>
                                        <p:tgtEl>
                                          <p:spTgt spid="2">
                                            <p:txEl>
                                              <p:pRg st="12" end="1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12" end="12"/>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
                                            <p:txEl>
                                              <p:pRg st="13" end="13"/>
                                            </p:txEl>
                                          </p:spTgt>
                                        </p:tgtEl>
                                        <p:attrNameLst>
                                          <p:attrName>style.visibility</p:attrName>
                                        </p:attrNameLst>
                                      </p:cBhvr>
                                      <p:to>
                                        <p:strVal val="visible"/>
                                      </p:to>
                                    </p:set>
                                    <p:anim calcmode="lin" valueType="num">
                                      <p:cBhvr additive="base">
                                        <p:cTn id="37" dur="500" fill="hold"/>
                                        <p:tgtEl>
                                          <p:spTgt spid="2">
                                            <p:txEl>
                                              <p:pRg st="13" end="1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13" end="13"/>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
                                            <p:txEl>
                                              <p:pRg st="14" end="14"/>
                                            </p:txEl>
                                          </p:spTgt>
                                        </p:tgtEl>
                                        <p:attrNameLst>
                                          <p:attrName>style.visibility</p:attrName>
                                        </p:attrNameLst>
                                      </p:cBhvr>
                                      <p:to>
                                        <p:strVal val="visible"/>
                                      </p:to>
                                    </p:set>
                                    <p:anim calcmode="lin" valueType="num">
                                      <p:cBhvr additive="base">
                                        <p:cTn id="41" dur="500" fill="hold"/>
                                        <p:tgtEl>
                                          <p:spTgt spid="2">
                                            <p:txEl>
                                              <p:pRg st="14" end="1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F948FB-25A0-7762-ECC3-5C3297EC531A}"/>
              </a:ext>
            </a:extLst>
          </p:cNvPr>
          <p:cNvSpPr>
            <a:spLocks noGrp="1"/>
          </p:cNvSpPr>
          <p:nvPr>
            <p:ph type="sldNum" sz="quarter" idx="12"/>
          </p:nvPr>
        </p:nvSpPr>
        <p:spPr/>
        <p:txBody>
          <a:bodyPr/>
          <a:lstStyle/>
          <a:p>
            <a:fld id="{20D4B2D9-DB10-4EB9-B7A6-032A6D4E75AC}" type="slidenum">
              <a:rPr lang="pl-PL" smtClean="0"/>
              <a:pPr/>
              <a:t>34</a:t>
            </a:fld>
            <a:endParaRPr lang="pl-PL" dirty="0"/>
          </a:p>
        </p:txBody>
      </p:sp>
      <p:sp>
        <p:nvSpPr>
          <p:cNvPr id="5" name="Rectangle 4">
            <a:extLst>
              <a:ext uri="{FF2B5EF4-FFF2-40B4-BE49-F238E27FC236}">
                <a16:creationId xmlns:a16="http://schemas.microsoft.com/office/drawing/2014/main" id="{AFB6DEE4-4090-D793-CF52-A6CC78295644}"/>
              </a:ext>
            </a:extLst>
          </p:cNvPr>
          <p:cNvSpPr/>
          <p:nvPr/>
        </p:nvSpPr>
        <p:spPr>
          <a:xfrm>
            <a:off x="0" y="304800"/>
            <a:ext cx="9144000" cy="3970318"/>
          </a:xfrm>
          <a:prstGeom prst="rect">
            <a:avLst/>
          </a:prstGeom>
        </p:spPr>
        <p:txBody>
          <a:bodyPr wrap="square">
            <a:spAutoFit/>
          </a:bodyPr>
          <a:lstStyle/>
          <a:p>
            <a:r>
              <a:rPr lang="pl-PL">
                <a:solidFill>
                  <a:srgbClr val="000000"/>
                </a:solidFill>
                <a:latin typeface="Arial Narrow" panose="020B0606020202030204" pitchFamily="34" charset="0"/>
                <a:cs typeface="Calibri" panose="020F0502020204030204" pitchFamily="34" charset="0"/>
              </a:rPr>
              <a:t>Kodowanie „goracą jedynką” jest także wykorzytywane do eliminacji kolejności w danych, w których takiej kolejnosci nie ma.</a:t>
            </a:r>
          </a:p>
          <a:p>
            <a:endParaRPr lang="pl-PL" b="1">
              <a:solidFill>
                <a:srgbClr val="000000"/>
              </a:solidFill>
              <a:latin typeface="Arial Narrow" panose="020B0606020202030204" pitchFamily="34" charset="0"/>
              <a:cs typeface="Calibri" panose="020F0502020204030204" pitchFamily="34" charset="0"/>
            </a:endParaRPr>
          </a:p>
          <a:p>
            <a:r>
              <a:rPr lang="pl-PL">
                <a:solidFill>
                  <a:srgbClr val="000000"/>
                </a:solidFill>
                <a:latin typeface="Arial Narrow" panose="020B0606020202030204" pitchFamily="34" charset="0"/>
                <a:cs typeface="Calibri" panose="020F0502020204030204" pitchFamily="34" charset="0"/>
              </a:rPr>
              <a:t>Przykład:</a:t>
            </a:r>
          </a:p>
          <a:p>
            <a:r>
              <a:rPr lang="pl-PL">
                <a:solidFill>
                  <a:srgbClr val="000000"/>
                </a:solidFill>
                <a:latin typeface="Arial Narrow" panose="020B0606020202030204" pitchFamily="34" charset="0"/>
                <a:cs typeface="Calibri" panose="020F0502020204030204" pitchFamily="34" charset="0"/>
              </a:rPr>
              <a:t>zmienna przechowuje kolor oczu w postaci tekstu (zielone, niebieskie, piwne, szare, czarne). </a:t>
            </a:r>
          </a:p>
          <a:p>
            <a:r>
              <a:rPr lang="pl-PL">
                <a:solidFill>
                  <a:srgbClr val="000000"/>
                </a:solidFill>
                <a:latin typeface="Arial Narrow" panose="020B0606020202030204" pitchFamily="34" charset="0"/>
                <a:cs typeface="Calibri" panose="020F0502020204030204" pitchFamily="34" charset="0"/>
              </a:rPr>
              <a:t>Gdybyśmy każdemu kolorowi przypisali kolejną liczbę (np. zielone 1, niebieskie 2, piwne 3, itd.) model mógłby wysiągnąć wnioski, że między kolorami występuje porządek i jeden jest większy (ważniejszy) od drugiego.</a:t>
            </a:r>
          </a:p>
          <a:p>
            <a:r>
              <a:rPr lang="pl-PL">
                <a:solidFill>
                  <a:srgbClr val="000000"/>
                </a:solidFill>
                <a:latin typeface="Arial Narrow" panose="020B0606020202030204" pitchFamily="34" charset="0"/>
                <a:cs typeface="Calibri" panose="020F0502020204030204" pitchFamily="34" charset="0"/>
              </a:rPr>
              <a:t>Zamiast tego kodujemy kolory w postaci gorącej jedynki, zastępując nazwę każdego koloru wektorem, w którym na jednym miejscu jest 1, a na pozostałych 0:</a:t>
            </a:r>
          </a:p>
          <a:p>
            <a:r>
              <a:rPr lang="pl-PL">
                <a:solidFill>
                  <a:srgbClr val="000000"/>
                </a:solidFill>
                <a:latin typeface="Arial Narrow" panose="020B0606020202030204" pitchFamily="34" charset="0"/>
                <a:cs typeface="Calibri" panose="020F0502020204030204" pitchFamily="34" charset="0"/>
              </a:rPr>
              <a:t>np. 	zielone </a:t>
            </a:r>
            <a:r>
              <a:rPr lang="pl-PL">
                <a:solidFill>
                  <a:srgbClr val="000000"/>
                </a:solidFill>
                <a:latin typeface="Arial Narrow" panose="020B0606020202030204" pitchFamily="34" charset="0"/>
                <a:cs typeface="Calibri" panose="020F0502020204030204" pitchFamily="34" charset="0"/>
                <a:sym typeface="Wingdings" panose="05000000000000000000" pitchFamily="2" charset="2"/>
              </a:rPr>
              <a:t> [1, 0, 0, 0, 0]</a:t>
            </a:r>
          </a:p>
          <a:p>
            <a:r>
              <a:rPr lang="pl-PL">
                <a:solidFill>
                  <a:srgbClr val="000000"/>
                </a:solidFill>
                <a:latin typeface="Arial Narrow" panose="020B0606020202030204" pitchFamily="34" charset="0"/>
                <a:cs typeface="Calibri" panose="020F0502020204030204" pitchFamily="34" charset="0"/>
              </a:rPr>
              <a:t>	niebieskie </a:t>
            </a:r>
            <a:r>
              <a:rPr lang="pl-PL">
                <a:solidFill>
                  <a:srgbClr val="000000"/>
                </a:solidFill>
                <a:latin typeface="Arial Narrow" panose="020B0606020202030204" pitchFamily="34" charset="0"/>
                <a:cs typeface="Calibri" panose="020F0502020204030204" pitchFamily="34" charset="0"/>
                <a:sym typeface="Wingdings" panose="05000000000000000000" pitchFamily="2" charset="2"/>
              </a:rPr>
              <a:t></a:t>
            </a:r>
            <a:r>
              <a:rPr lang="pl-PL">
                <a:solidFill>
                  <a:srgbClr val="000000"/>
                </a:solidFill>
                <a:latin typeface="Arial Narrow" panose="020B0606020202030204" pitchFamily="34" charset="0"/>
                <a:cs typeface="Calibri" panose="020F0502020204030204" pitchFamily="34" charset="0"/>
              </a:rPr>
              <a:t> [0, 1, 0, 0, 0]</a:t>
            </a:r>
          </a:p>
          <a:p>
            <a:r>
              <a:rPr lang="pl-PL">
                <a:solidFill>
                  <a:srgbClr val="000000"/>
                </a:solidFill>
                <a:latin typeface="Arial Narrow" panose="020B0606020202030204" pitchFamily="34" charset="0"/>
                <a:cs typeface="Calibri" panose="020F0502020204030204" pitchFamily="34" charset="0"/>
              </a:rPr>
              <a:t>	…</a:t>
            </a:r>
          </a:p>
          <a:p>
            <a:r>
              <a:rPr lang="pl-PL">
                <a:solidFill>
                  <a:srgbClr val="000000"/>
                </a:solidFill>
                <a:latin typeface="Arial Narrow" panose="020B0606020202030204" pitchFamily="34" charset="0"/>
                <a:cs typeface="Calibri" panose="020F0502020204030204" pitchFamily="34" charset="0"/>
              </a:rPr>
              <a:t>	czarne </a:t>
            </a:r>
            <a:r>
              <a:rPr lang="pl-PL">
                <a:solidFill>
                  <a:srgbClr val="000000"/>
                </a:solidFill>
                <a:latin typeface="Arial Narrow" panose="020B0606020202030204" pitchFamily="34" charset="0"/>
                <a:cs typeface="Calibri" panose="020F0502020204030204" pitchFamily="34" charset="0"/>
                <a:sym typeface="Wingdings" panose="05000000000000000000" pitchFamily="2" charset="2"/>
              </a:rPr>
              <a:t> [0, 0, 0, 0, 1]</a:t>
            </a:r>
            <a:endParaRPr lang="pl-PL" dirty="0">
              <a:solidFill>
                <a:srgbClr val="000000"/>
              </a:solidFill>
              <a:latin typeface="Arial Narrow" panose="020B0606020202030204" pitchFamily="34" charset="0"/>
              <a:cs typeface="Calibri" panose="020F0502020204030204" pitchFamily="34" charset="0"/>
            </a:endParaRPr>
          </a:p>
        </p:txBody>
      </p:sp>
      <p:sp>
        <p:nvSpPr>
          <p:cNvPr id="6" name="Rectangle 2">
            <a:extLst>
              <a:ext uri="{FF2B5EF4-FFF2-40B4-BE49-F238E27FC236}">
                <a16:creationId xmlns:a16="http://schemas.microsoft.com/office/drawing/2014/main" id="{92153598-324E-C647-87C5-C91A4B995DD2}"/>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Przygotowanie danych</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828185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3D82602-3ACC-4341-B614-755528165B64}" type="slidenum">
              <a:rPr lang="pl-PL" smtClean="0"/>
              <a:pPr/>
              <a:t>35</a:t>
            </a:fld>
            <a:endParaRPr lang="pl-PL" dirty="0"/>
          </a:p>
        </p:txBody>
      </p:sp>
      <p:sp>
        <p:nvSpPr>
          <p:cNvPr id="5" name="Prostokąt 4"/>
          <p:cNvSpPr/>
          <p:nvPr/>
        </p:nvSpPr>
        <p:spPr>
          <a:xfrm>
            <a:off x="0" y="304800"/>
            <a:ext cx="8915400" cy="400110"/>
          </a:xfrm>
          <a:prstGeom prst="rect">
            <a:avLst/>
          </a:prstGeom>
        </p:spPr>
        <p:txBody>
          <a:bodyPr wrap="square">
            <a:spAutoFit/>
          </a:bodyPr>
          <a:lstStyle/>
          <a:p>
            <a:r>
              <a:rPr lang="pl-PL" sz="2000" dirty="0">
                <a:solidFill>
                  <a:srgbClr val="000000"/>
                </a:solidFill>
                <a:latin typeface="Arial Narrow" panose="020B0606020202030204" pitchFamily="34" charset="0"/>
                <a:cs typeface="Calibri" panose="020F0502020204030204" pitchFamily="34" charset="0"/>
              </a:rPr>
              <a:t>Podział zbioru danych w procesie uczenia maszynowego:</a:t>
            </a:r>
          </a:p>
        </p:txBody>
      </p:sp>
      <p:graphicFrame>
        <p:nvGraphicFramePr>
          <p:cNvPr id="6" name="Table 5"/>
          <p:cNvGraphicFramePr>
            <a:graphicFrameLocks noGrp="1"/>
          </p:cNvGraphicFramePr>
          <p:nvPr>
            <p:extLst>
              <p:ext uri="{D42A27DB-BD31-4B8C-83A1-F6EECF244321}">
                <p14:modId xmlns:p14="http://schemas.microsoft.com/office/powerpoint/2010/main" val="3557521429"/>
              </p:ext>
            </p:extLst>
          </p:nvPr>
        </p:nvGraphicFramePr>
        <p:xfrm>
          <a:off x="152400" y="932953"/>
          <a:ext cx="8763000" cy="370840"/>
        </p:xfrm>
        <a:graphic>
          <a:graphicData uri="http://schemas.openxmlformats.org/drawingml/2006/table">
            <a:tbl>
              <a:tblPr firstRow="1" bandRow="1">
                <a:tableStyleId>{5940675A-B579-460E-94D1-54222C63F5DA}</a:tableStyleId>
              </a:tblPr>
              <a:tblGrid>
                <a:gridCol w="5562600">
                  <a:extLst>
                    <a:ext uri="{9D8B030D-6E8A-4147-A177-3AD203B41FA5}">
                      <a16:colId xmlns:a16="http://schemas.microsoft.com/office/drawing/2014/main" val="1119553410"/>
                    </a:ext>
                  </a:extLst>
                </a:gridCol>
                <a:gridCol w="1447800">
                  <a:extLst>
                    <a:ext uri="{9D8B030D-6E8A-4147-A177-3AD203B41FA5}">
                      <a16:colId xmlns:a16="http://schemas.microsoft.com/office/drawing/2014/main" val="3754892423"/>
                    </a:ext>
                  </a:extLst>
                </a:gridCol>
                <a:gridCol w="304800">
                  <a:extLst>
                    <a:ext uri="{9D8B030D-6E8A-4147-A177-3AD203B41FA5}">
                      <a16:colId xmlns:a16="http://schemas.microsoft.com/office/drawing/2014/main" val="966144403"/>
                    </a:ext>
                  </a:extLst>
                </a:gridCol>
                <a:gridCol w="1447800">
                  <a:extLst>
                    <a:ext uri="{9D8B030D-6E8A-4147-A177-3AD203B41FA5}">
                      <a16:colId xmlns:a16="http://schemas.microsoft.com/office/drawing/2014/main" val="1838673740"/>
                    </a:ext>
                  </a:extLst>
                </a:gridCol>
              </a:tblGrid>
              <a:tr h="370840">
                <a:tc>
                  <a:txBody>
                    <a:bodyPr/>
                    <a:lstStyle/>
                    <a:p>
                      <a:endParaRPr lang="en-US" dirty="0"/>
                    </a:p>
                  </a:txBody>
                  <a:tcPr>
                    <a:lnR w="12700" cap="flat" cmpd="sng" algn="ctr">
                      <a:solidFill>
                        <a:schemeClr val="tx1"/>
                      </a:solidFill>
                      <a:prstDash val="solid"/>
                      <a:round/>
                      <a:headEnd type="none" w="med" len="med"/>
                      <a:tailEnd type="none" w="med" len="med"/>
                    </a:ln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3428735"/>
                  </a:ext>
                </a:extLst>
              </a:tr>
            </a:tbl>
          </a:graphicData>
        </a:graphic>
      </p:graphicFrame>
      <p:sp>
        <p:nvSpPr>
          <p:cNvPr id="8" name="Left Brace 7"/>
          <p:cNvSpPr/>
          <p:nvPr/>
        </p:nvSpPr>
        <p:spPr>
          <a:xfrm rot="16200000">
            <a:off x="2781303" y="-1264147"/>
            <a:ext cx="304800" cy="5562601"/>
          </a:xfrm>
          <a:prstGeom prst="leftBrace">
            <a:avLst/>
          </a:prstGeom>
          <a:ln w="222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9" name="Left Brace 8"/>
          <p:cNvSpPr/>
          <p:nvPr/>
        </p:nvSpPr>
        <p:spPr>
          <a:xfrm rot="16200000">
            <a:off x="6286504" y="793255"/>
            <a:ext cx="304800" cy="1447797"/>
          </a:xfrm>
          <a:prstGeom prst="leftBrace">
            <a:avLst/>
          </a:prstGeom>
          <a:ln w="222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 name="Left Brace 9"/>
          <p:cNvSpPr/>
          <p:nvPr/>
        </p:nvSpPr>
        <p:spPr>
          <a:xfrm rot="16200000">
            <a:off x="8039103" y="784861"/>
            <a:ext cx="304800" cy="1447797"/>
          </a:xfrm>
          <a:prstGeom prst="leftBrace">
            <a:avLst/>
          </a:prstGeom>
          <a:ln w="222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1" name="Prostokąt 4"/>
          <p:cNvSpPr/>
          <p:nvPr/>
        </p:nvSpPr>
        <p:spPr>
          <a:xfrm>
            <a:off x="2019303" y="1661160"/>
            <a:ext cx="1828800" cy="707886"/>
          </a:xfrm>
          <a:prstGeom prst="rect">
            <a:avLst/>
          </a:prstGeom>
        </p:spPr>
        <p:txBody>
          <a:bodyPr wrap="square">
            <a:spAutoFit/>
          </a:bodyPr>
          <a:lstStyle/>
          <a:p>
            <a:pPr algn="ctr"/>
            <a:r>
              <a:rPr lang="pl-PL" sz="2000" dirty="0">
                <a:solidFill>
                  <a:srgbClr val="000000"/>
                </a:solidFill>
                <a:latin typeface="Arial Narrow" panose="020B0606020202030204" pitchFamily="34" charset="0"/>
                <a:cs typeface="Calibri" panose="020F0502020204030204" pitchFamily="34" charset="0"/>
              </a:rPr>
              <a:t>zbiór</a:t>
            </a:r>
          </a:p>
          <a:p>
            <a:pPr algn="ctr"/>
            <a:r>
              <a:rPr lang="pl-PL" sz="2000" dirty="0">
                <a:solidFill>
                  <a:srgbClr val="000000"/>
                </a:solidFill>
                <a:latin typeface="Arial Narrow" panose="020B0606020202030204" pitchFamily="34" charset="0"/>
                <a:cs typeface="Calibri" panose="020F0502020204030204" pitchFamily="34" charset="0"/>
              </a:rPr>
              <a:t>treningowy</a:t>
            </a:r>
          </a:p>
        </p:txBody>
      </p:sp>
      <p:sp>
        <p:nvSpPr>
          <p:cNvPr id="12" name="Prostokąt 4"/>
          <p:cNvSpPr/>
          <p:nvPr/>
        </p:nvSpPr>
        <p:spPr>
          <a:xfrm>
            <a:off x="5524504" y="1661160"/>
            <a:ext cx="1828800" cy="707886"/>
          </a:xfrm>
          <a:prstGeom prst="rect">
            <a:avLst/>
          </a:prstGeom>
        </p:spPr>
        <p:txBody>
          <a:bodyPr wrap="square">
            <a:spAutoFit/>
          </a:bodyPr>
          <a:lstStyle/>
          <a:p>
            <a:pPr algn="ctr"/>
            <a:r>
              <a:rPr lang="pl-PL" sz="2000" dirty="0">
                <a:solidFill>
                  <a:srgbClr val="000000"/>
                </a:solidFill>
                <a:latin typeface="Arial Narrow" panose="020B0606020202030204" pitchFamily="34" charset="0"/>
                <a:cs typeface="Calibri" panose="020F0502020204030204" pitchFamily="34" charset="0"/>
              </a:rPr>
              <a:t>zbiór </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walidacyjny</a:t>
            </a:r>
          </a:p>
        </p:txBody>
      </p:sp>
      <p:sp>
        <p:nvSpPr>
          <p:cNvPr id="13" name="Prostokąt 4"/>
          <p:cNvSpPr/>
          <p:nvPr/>
        </p:nvSpPr>
        <p:spPr>
          <a:xfrm>
            <a:off x="7277102" y="1600200"/>
            <a:ext cx="1828800" cy="707886"/>
          </a:xfrm>
          <a:prstGeom prst="rect">
            <a:avLst/>
          </a:prstGeom>
        </p:spPr>
        <p:txBody>
          <a:bodyPr wrap="square">
            <a:spAutoFit/>
          </a:bodyPr>
          <a:lstStyle/>
          <a:p>
            <a:pPr algn="ctr"/>
            <a:r>
              <a:rPr lang="pl-PL" sz="2000" dirty="0">
                <a:solidFill>
                  <a:srgbClr val="000000"/>
                </a:solidFill>
                <a:latin typeface="Arial Narrow" panose="020B0606020202030204" pitchFamily="34" charset="0"/>
                <a:cs typeface="Calibri" panose="020F0502020204030204" pitchFamily="34" charset="0"/>
              </a:rPr>
              <a:t>zbiór </a:t>
            </a:r>
            <a:br>
              <a:rPr lang="pl-PL" sz="2000" dirty="0">
                <a:solidFill>
                  <a:srgbClr val="000000"/>
                </a:solidFill>
                <a:latin typeface="Arial Narrow" panose="020B0606020202030204" pitchFamily="34" charset="0"/>
                <a:cs typeface="Calibri" panose="020F0502020204030204" pitchFamily="34" charset="0"/>
              </a:rPr>
            </a:br>
            <a:r>
              <a:rPr lang="pl-PL" sz="2000" dirty="0">
                <a:solidFill>
                  <a:srgbClr val="000000"/>
                </a:solidFill>
                <a:latin typeface="Arial Narrow" panose="020B0606020202030204" pitchFamily="34" charset="0"/>
                <a:cs typeface="Calibri" panose="020F0502020204030204" pitchFamily="34" charset="0"/>
              </a:rPr>
              <a:t>testowy</a:t>
            </a:r>
          </a:p>
        </p:txBody>
      </p:sp>
      <p:sp>
        <p:nvSpPr>
          <p:cNvPr id="14"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Przygotowanie danych</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15" name="TextBox 14"/>
          <p:cNvSpPr txBox="1"/>
          <p:nvPr/>
        </p:nvSpPr>
        <p:spPr>
          <a:xfrm>
            <a:off x="0" y="3048000"/>
            <a:ext cx="9144000" cy="1905000"/>
          </a:xfrm>
          <a:prstGeom prst="rect">
            <a:avLst/>
          </a:prstGeom>
          <a:noFill/>
        </p:spPr>
        <p:txBody>
          <a:bodyPr wrap="square" lIns="18000" tIns="18000" rIns="18000" bIns="18000" rtlCol="0">
            <a:noAutofit/>
          </a:bodyPr>
          <a:lstStyle/>
          <a:p>
            <a:pPr marL="180975" indent="-180975">
              <a:buFont typeface="Arial" panose="020B0604020202020204" pitchFamily="34" charset="0"/>
              <a:buChar char="•"/>
            </a:pPr>
            <a:r>
              <a:rPr lang="pl-PL" sz="2000" dirty="0">
                <a:latin typeface="Arial Narrow" panose="020B0606020202030204" pitchFamily="34" charset="0"/>
              </a:rPr>
              <a:t>zbiór treningowy – używany w procesie trenowania modelu,</a:t>
            </a:r>
          </a:p>
          <a:p>
            <a:pPr marL="180975" indent="-180975">
              <a:buFont typeface="Arial" panose="020B0604020202020204" pitchFamily="34" charset="0"/>
              <a:buChar char="•"/>
            </a:pPr>
            <a:r>
              <a:rPr lang="pl-PL" sz="2000" dirty="0">
                <a:latin typeface="Arial Narrow" panose="020B0606020202030204" pitchFamily="34" charset="0"/>
              </a:rPr>
              <a:t>zbiór walidacyjny </a:t>
            </a:r>
            <a:r>
              <a:rPr lang="pl-PL" sz="2000">
                <a:latin typeface="Arial Narrow" panose="020B0606020202030204" pitchFamily="34" charset="0"/>
              </a:rPr>
              <a:t>(ewaluacyjny, rozwojowy) </a:t>
            </a:r>
            <a:r>
              <a:rPr lang="pl-PL" sz="2000" dirty="0">
                <a:latin typeface="Arial Narrow" panose="020B0606020202030204" pitchFamily="34" charset="0"/>
              </a:rPr>
              <a:t>– używany do oceny pracy modelu, </a:t>
            </a:r>
            <a:r>
              <a:rPr lang="pl-PL" sz="2000">
                <a:latin typeface="Arial Narrow" panose="020B0606020202030204" pitchFamily="34" charset="0"/>
              </a:rPr>
              <a:t>dostrajania po </a:t>
            </a:r>
            <a:r>
              <a:rPr lang="pl-PL" sz="2000" dirty="0">
                <a:latin typeface="Arial Narrow" panose="020B0606020202030204" pitchFamily="34" charset="0"/>
              </a:rPr>
              <a:t>treningu, dostarcza sygnału zwrotnego na podstawie badania wydajności modelu z wykorzystaniem danych </a:t>
            </a:r>
            <a:r>
              <a:rPr lang="pl-PL" sz="2000">
                <a:latin typeface="Arial Narrow" panose="020B0606020202030204" pitchFamily="34" charset="0"/>
              </a:rPr>
              <a:t>walidacyjnych, </a:t>
            </a:r>
            <a:br>
              <a:rPr lang="pl-PL" sz="2000">
                <a:latin typeface="Arial Narrow" panose="020B0606020202030204" pitchFamily="34" charset="0"/>
              </a:rPr>
            </a:br>
            <a:r>
              <a:rPr lang="pl-PL" sz="2000">
                <a:latin typeface="Arial Narrow" panose="020B0606020202030204" pitchFamily="34" charset="0"/>
              </a:rPr>
              <a:t>jest wykorzytywany do wskazania momentu zakończenia uczenia,</a:t>
            </a:r>
            <a:endParaRPr lang="pl-PL" sz="2000" dirty="0">
              <a:latin typeface="Arial Narrow" panose="020B0606020202030204" pitchFamily="34" charset="0"/>
            </a:endParaRPr>
          </a:p>
          <a:p>
            <a:pPr marL="180975" indent="-180975">
              <a:buFont typeface="Arial" panose="020B0604020202020204" pitchFamily="34" charset="0"/>
              <a:buChar char="•"/>
            </a:pPr>
            <a:r>
              <a:rPr lang="pl-PL" sz="2000" dirty="0">
                <a:latin typeface="Arial Narrow" panose="020B0606020202030204" pitchFamily="34" charset="0"/>
              </a:rPr>
              <a:t>zbiór testowy – służy do weryfikacji poprawności modelu, nie bierze udziału w procesie trenowania </a:t>
            </a:r>
            <a:r>
              <a:rPr lang="pl-PL" sz="2000">
                <a:latin typeface="Arial Narrow" panose="020B0606020202030204" pitchFamily="34" charset="0"/>
              </a:rPr>
              <a:t>i walidacji; musi dobrze odwzorowywać rozkład główny, z którego pochodzą dane (częstość pojawiania się poszczególnych klas w zbiorze testowym powinna być zgodna z oczekiwaną częsością ich występowania w rzeczywistości),</a:t>
            </a:r>
            <a:endParaRPr lang="en-GB" sz="2000" dirty="0">
              <a:latin typeface="Arial Narrow" panose="020B0606020202030204" pitchFamily="34" charset="0"/>
            </a:endParaRPr>
          </a:p>
        </p:txBody>
      </p:sp>
    </p:spTree>
    <p:extLst>
      <p:ext uri="{BB962C8B-B14F-4D97-AF65-F5344CB8AC3E}">
        <p14:creationId xmlns:p14="http://schemas.microsoft.com/office/powerpoint/2010/main" val="40677478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A19537-2B5C-6473-1EE6-B2BC30AF298E}"/>
              </a:ext>
            </a:extLst>
          </p:cNvPr>
          <p:cNvSpPr>
            <a:spLocks noGrp="1"/>
          </p:cNvSpPr>
          <p:nvPr>
            <p:ph type="sldNum" sz="quarter" idx="12"/>
          </p:nvPr>
        </p:nvSpPr>
        <p:spPr/>
        <p:txBody>
          <a:bodyPr/>
          <a:lstStyle/>
          <a:p>
            <a:fld id="{20D4B2D9-DB10-4EB9-B7A6-032A6D4E75AC}" type="slidenum">
              <a:rPr lang="pl-PL" smtClean="0"/>
              <a:pPr/>
              <a:t>36</a:t>
            </a:fld>
            <a:endParaRPr lang="pl-PL" dirty="0"/>
          </a:p>
        </p:txBody>
      </p:sp>
      <p:sp>
        <p:nvSpPr>
          <p:cNvPr id="5" name="Rectangle 2">
            <a:extLst>
              <a:ext uri="{FF2B5EF4-FFF2-40B4-BE49-F238E27FC236}">
                <a16:creationId xmlns:a16="http://schemas.microsoft.com/office/drawing/2014/main" id="{C7ED653B-F991-DC95-8EA6-C7153FD963A5}"/>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Przygotowanie danych</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13" name="TextBox 12">
            <a:extLst>
              <a:ext uri="{FF2B5EF4-FFF2-40B4-BE49-F238E27FC236}">
                <a16:creationId xmlns:a16="http://schemas.microsoft.com/office/drawing/2014/main" id="{D7C8057F-76CC-B1E8-2992-5E3354B11414}"/>
              </a:ext>
            </a:extLst>
          </p:cNvPr>
          <p:cNvSpPr txBox="1"/>
          <p:nvPr/>
        </p:nvSpPr>
        <p:spPr>
          <a:xfrm>
            <a:off x="0" y="324678"/>
            <a:ext cx="8991600" cy="1371600"/>
          </a:xfrm>
          <a:prstGeom prst="rect">
            <a:avLst/>
          </a:prstGeom>
          <a:noFill/>
        </p:spPr>
        <p:txBody>
          <a:bodyPr wrap="square" lIns="18000" tIns="18000" rIns="18000" bIns="18000" rtlCol="0">
            <a:noAutofit/>
          </a:bodyPr>
          <a:lstStyle/>
          <a:p>
            <a:pPr algn="just"/>
            <a:r>
              <a:rPr lang="pl-PL" sz="2000">
                <a:latin typeface="Arial Narrow" panose="020B0606020202030204" pitchFamily="34" charset="0"/>
              </a:rPr>
              <a:t>Zbiór </a:t>
            </a:r>
            <a:r>
              <a:rPr lang="pl-PL" sz="2000" b="1">
                <a:latin typeface="Arial Narrow" panose="020B0606020202030204" pitchFamily="34" charset="0"/>
              </a:rPr>
              <a:t>walidacyjny</a:t>
            </a:r>
            <a:r>
              <a:rPr lang="pl-PL" sz="2000">
                <a:latin typeface="Arial Narrow" panose="020B0606020202030204" pitchFamily="34" charset="0"/>
              </a:rPr>
              <a:t> często jest wykorzystywany w charakterze zbioru testowego podczas trenowania różnych modeli. Najlepszy z wyrenowanych w ten sposób modeli trenuje się z wykorzystaniem połączonego zbioru treningowego i walidacyjnego oraz testuje przy pomocy odłożonego zbioru testowego. W ten sposób zbiór testowy jest wykorzystany tylko raz – do ewaluacji ostatecznie wytrenowanego modelu.</a:t>
            </a:r>
            <a:endParaRPr lang="pl-PL" sz="2000" dirty="0">
              <a:latin typeface="Arial Narrow" panose="020B0606020202030204" pitchFamily="34" charset="0"/>
            </a:endParaRPr>
          </a:p>
        </p:txBody>
      </p:sp>
      <p:graphicFrame>
        <p:nvGraphicFramePr>
          <p:cNvPr id="14" name="Table 13">
            <a:extLst>
              <a:ext uri="{FF2B5EF4-FFF2-40B4-BE49-F238E27FC236}">
                <a16:creationId xmlns:a16="http://schemas.microsoft.com/office/drawing/2014/main" id="{D84CD9AE-E183-2468-F681-146A19394144}"/>
              </a:ext>
            </a:extLst>
          </p:cNvPr>
          <p:cNvGraphicFramePr>
            <a:graphicFrameLocks noGrp="1"/>
          </p:cNvGraphicFramePr>
          <p:nvPr>
            <p:extLst>
              <p:ext uri="{D42A27DB-BD31-4B8C-83A1-F6EECF244321}">
                <p14:modId xmlns:p14="http://schemas.microsoft.com/office/powerpoint/2010/main" val="3521092566"/>
              </p:ext>
            </p:extLst>
          </p:nvPr>
        </p:nvGraphicFramePr>
        <p:xfrm>
          <a:off x="762000" y="2600739"/>
          <a:ext cx="2971800" cy="1188720"/>
        </p:xfrm>
        <a:graphic>
          <a:graphicData uri="http://schemas.openxmlformats.org/drawingml/2006/table">
            <a:tbl>
              <a:tblPr firstRow="1" bandRow="1">
                <a:tableStyleId>{5940675A-B579-460E-94D1-54222C63F5DA}</a:tableStyleId>
              </a:tblPr>
              <a:tblGrid>
                <a:gridCol w="2971800">
                  <a:extLst>
                    <a:ext uri="{9D8B030D-6E8A-4147-A177-3AD203B41FA5}">
                      <a16:colId xmlns:a16="http://schemas.microsoft.com/office/drawing/2014/main" val="441217520"/>
                    </a:ext>
                  </a:extLst>
                </a:gridCol>
              </a:tblGrid>
              <a:tr h="1157577">
                <a:tc>
                  <a:txBody>
                    <a:bodyPr/>
                    <a:lstStyle/>
                    <a:p>
                      <a:pPr algn="l"/>
                      <a:r>
                        <a:rPr lang="pl-PL"/>
                        <a:t>Wytrenowanie kilku modeli na </a:t>
                      </a:r>
                      <a:r>
                        <a:rPr lang="pl-PL" b="1"/>
                        <a:t>zbiorze treningowym</a:t>
                      </a:r>
                      <a:r>
                        <a:rPr lang="pl-PL"/>
                        <a:t> </a:t>
                      </a:r>
                      <a:br>
                        <a:rPr lang="pl-PL"/>
                      </a:br>
                      <a:r>
                        <a:rPr lang="pl-PL"/>
                        <a:t>i przetestowanie na </a:t>
                      </a:r>
                      <a:r>
                        <a:rPr lang="pl-PL" b="1"/>
                        <a:t>zbiorze walidacyjnym</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3067543"/>
                  </a:ext>
                </a:extLst>
              </a:tr>
            </a:tbl>
          </a:graphicData>
        </a:graphic>
      </p:graphicFrame>
      <p:sp>
        <p:nvSpPr>
          <p:cNvPr id="15" name="Arrow: Right 14">
            <a:extLst>
              <a:ext uri="{FF2B5EF4-FFF2-40B4-BE49-F238E27FC236}">
                <a16:creationId xmlns:a16="http://schemas.microsoft.com/office/drawing/2014/main" id="{0F31825B-AF20-51AA-F45C-DE86E0ABA27C}"/>
              </a:ext>
            </a:extLst>
          </p:cNvPr>
          <p:cNvSpPr/>
          <p:nvPr/>
        </p:nvSpPr>
        <p:spPr>
          <a:xfrm>
            <a:off x="3810000" y="2941320"/>
            <a:ext cx="914400" cy="457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graphicFrame>
        <p:nvGraphicFramePr>
          <p:cNvPr id="16" name="Table 15">
            <a:extLst>
              <a:ext uri="{FF2B5EF4-FFF2-40B4-BE49-F238E27FC236}">
                <a16:creationId xmlns:a16="http://schemas.microsoft.com/office/drawing/2014/main" id="{F853B933-6569-80C6-A8F4-E56010819587}"/>
              </a:ext>
            </a:extLst>
          </p:cNvPr>
          <p:cNvGraphicFramePr>
            <a:graphicFrameLocks noGrp="1"/>
          </p:cNvGraphicFramePr>
          <p:nvPr>
            <p:extLst>
              <p:ext uri="{D42A27DB-BD31-4B8C-83A1-F6EECF244321}">
                <p14:modId xmlns:p14="http://schemas.microsoft.com/office/powerpoint/2010/main" val="887608201"/>
              </p:ext>
            </p:extLst>
          </p:nvPr>
        </p:nvGraphicFramePr>
        <p:xfrm>
          <a:off x="4800600" y="2605377"/>
          <a:ext cx="2971800" cy="1188720"/>
        </p:xfrm>
        <a:graphic>
          <a:graphicData uri="http://schemas.openxmlformats.org/drawingml/2006/table">
            <a:tbl>
              <a:tblPr firstRow="1" bandRow="1">
                <a:tableStyleId>{5940675A-B579-460E-94D1-54222C63F5DA}</a:tableStyleId>
              </a:tblPr>
              <a:tblGrid>
                <a:gridCol w="2971800">
                  <a:extLst>
                    <a:ext uri="{9D8B030D-6E8A-4147-A177-3AD203B41FA5}">
                      <a16:colId xmlns:a16="http://schemas.microsoft.com/office/drawing/2014/main" val="2522964047"/>
                    </a:ext>
                  </a:extLst>
                </a:gridCol>
              </a:tblGrid>
              <a:tr h="370840">
                <a:tc>
                  <a:txBody>
                    <a:bodyPr/>
                    <a:lstStyle/>
                    <a:p>
                      <a:r>
                        <a:rPr lang="pl-PL"/>
                        <a:t>Wybór najlepszego modelu </a:t>
                      </a:r>
                      <a:br>
                        <a:rPr lang="pl-PL"/>
                      </a:br>
                      <a:r>
                        <a:rPr lang="pl-PL"/>
                        <a:t>i wytrenowanie go na </a:t>
                      </a:r>
                      <a:r>
                        <a:rPr lang="pl-PL" b="1"/>
                        <a:t>połączonym zbiorze treningowym i walidacyjnym</a:t>
                      </a:r>
                      <a:endParaRPr lang="en-US" b="1"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63067543"/>
                  </a:ext>
                </a:extLst>
              </a:tr>
            </a:tbl>
          </a:graphicData>
        </a:graphic>
      </p:graphicFrame>
      <p:graphicFrame>
        <p:nvGraphicFramePr>
          <p:cNvPr id="19" name="Table 18">
            <a:extLst>
              <a:ext uri="{FF2B5EF4-FFF2-40B4-BE49-F238E27FC236}">
                <a16:creationId xmlns:a16="http://schemas.microsoft.com/office/drawing/2014/main" id="{D7E60CF4-40CE-8EA8-0D2D-75081426DDAD}"/>
              </a:ext>
            </a:extLst>
          </p:cNvPr>
          <p:cNvGraphicFramePr>
            <a:graphicFrameLocks noGrp="1"/>
          </p:cNvGraphicFramePr>
          <p:nvPr>
            <p:extLst>
              <p:ext uri="{D42A27DB-BD31-4B8C-83A1-F6EECF244321}">
                <p14:modId xmlns:p14="http://schemas.microsoft.com/office/powerpoint/2010/main" val="2177746006"/>
              </p:ext>
            </p:extLst>
          </p:nvPr>
        </p:nvGraphicFramePr>
        <p:xfrm>
          <a:off x="4800600" y="4886739"/>
          <a:ext cx="2971800" cy="640080"/>
        </p:xfrm>
        <a:graphic>
          <a:graphicData uri="http://schemas.openxmlformats.org/drawingml/2006/table">
            <a:tbl>
              <a:tblPr firstRow="1" bandRow="1">
                <a:tableStyleId>{5940675A-B579-460E-94D1-54222C63F5DA}</a:tableStyleId>
              </a:tblPr>
              <a:tblGrid>
                <a:gridCol w="2971800">
                  <a:extLst>
                    <a:ext uri="{9D8B030D-6E8A-4147-A177-3AD203B41FA5}">
                      <a16:colId xmlns:a16="http://schemas.microsoft.com/office/drawing/2014/main" val="2522964047"/>
                    </a:ext>
                  </a:extLst>
                </a:gridCol>
              </a:tblGrid>
              <a:tr h="370840">
                <a:tc>
                  <a:txBody>
                    <a:bodyPr/>
                    <a:lstStyle/>
                    <a:p>
                      <a:r>
                        <a:rPr lang="pl-PL"/>
                        <a:t>Weryfikacja wytrenowanego modelu </a:t>
                      </a:r>
                      <a:r>
                        <a:rPr lang="pl-PL" b="1"/>
                        <a:t>na zbiorze testowym</a:t>
                      </a:r>
                      <a:endParaRPr lang="en-US" b="1" dirty="0"/>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63067543"/>
                  </a:ext>
                </a:extLst>
              </a:tr>
            </a:tbl>
          </a:graphicData>
        </a:graphic>
      </p:graphicFrame>
      <p:sp>
        <p:nvSpPr>
          <p:cNvPr id="20" name="Arrow: Right 19">
            <a:extLst>
              <a:ext uri="{FF2B5EF4-FFF2-40B4-BE49-F238E27FC236}">
                <a16:creationId xmlns:a16="http://schemas.microsoft.com/office/drawing/2014/main" id="{947E8ACB-EEB5-16EA-3327-DD35E6F2D06F}"/>
              </a:ext>
            </a:extLst>
          </p:cNvPr>
          <p:cNvSpPr/>
          <p:nvPr/>
        </p:nvSpPr>
        <p:spPr>
          <a:xfrm rot="5400000">
            <a:off x="5829300" y="4114800"/>
            <a:ext cx="914400" cy="457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40754359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04800"/>
            <a:ext cx="9144000" cy="3200400"/>
          </a:xfrm>
          <a:prstGeom prst="rect">
            <a:avLst/>
          </a:prstGeom>
          <a:noFill/>
        </p:spPr>
        <p:txBody>
          <a:bodyPr wrap="square" lIns="18000" tIns="18000" rIns="18000" bIns="18000" rtlCol="0">
            <a:noAutofit/>
          </a:bodyPr>
          <a:lstStyle/>
          <a:p>
            <a:r>
              <a:rPr lang="pl-PL" sz="2000" dirty="0">
                <a:latin typeface="Arial Narrow" panose="020B0606020202030204" pitchFamily="34" charset="0"/>
              </a:rPr>
              <a:t>Celem uczenia maszynowego jest uzyskanie modelu zdolnego do </a:t>
            </a:r>
            <a:r>
              <a:rPr lang="pl-PL" sz="2000" b="1" dirty="0">
                <a:solidFill>
                  <a:srgbClr val="00B050"/>
                </a:solidFill>
                <a:latin typeface="Arial Narrow" panose="020B0606020202030204" pitchFamily="34" charset="0"/>
              </a:rPr>
              <a:t>uogólnień</a:t>
            </a:r>
            <a:r>
              <a:rPr lang="pl-PL" sz="2000" dirty="0">
                <a:latin typeface="Arial Narrow" panose="020B0606020202030204" pitchFamily="34" charset="0"/>
              </a:rPr>
              <a:t> – działającego dobrze na danych, których wcześniej nie „widział”.</a:t>
            </a:r>
          </a:p>
          <a:p>
            <a:endParaRPr lang="pl-PL" sz="2000" dirty="0">
              <a:latin typeface="Arial Narrow" panose="020B0606020202030204" pitchFamily="34" charset="0"/>
            </a:endParaRPr>
          </a:p>
          <a:p>
            <a:r>
              <a:rPr lang="pl-PL" sz="2000" dirty="0">
                <a:latin typeface="Arial Narrow" panose="020B0606020202030204" pitchFamily="34" charset="0"/>
              </a:rPr>
              <a:t>W procesie uczenia maszynowego wykorzystywane są algorytmy i modele do przewidywania wyników. Aby osiągnięcie tego celu było możliwe, należy:</a:t>
            </a:r>
          </a:p>
          <a:p>
            <a:pPr marL="177800" indent="-177800">
              <a:buFont typeface="Arial" panose="020B0604020202020204" pitchFamily="34" charset="0"/>
              <a:buChar char="•"/>
            </a:pPr>
            <a:r>
              <a:rPr lang="pl-PL" sz="2000" dirty="0">
                <a:latin typeface="Arial Narrow" panose="020B0606020202030204" pitchFamily="34" charset="0"/>
              </a:rPr>
              <a:t>korzystać z najdokładniejszych i przygotowanych wcześniej </a:t>
            </a:r>
            <a:r>
              <a:rPr lang="pl-PL" sz="2000" b="1" dirty="0">
                <a:solidFill>
                  <a:srgbClr val="C00000"/>
                </a:solidFill>
                <a:latin typeface="Arial Narrow" panose="020B0606020202030204" pitchFamily="34" charset="0"/>
              </a:rPr>
              <a:t>danych</a:t>
            </a:r>
            <a:r>
              <a:rPr lang="pl-PL" sz="2000" dirty="0">
                <a:latin typeface="Arial Narrow" panose="020B0606020202030204" pitchFamily="34" charset="0"/>
              </a:rPr>
              <a:t>,</a:t>
            </a:r>
          </a:p>
          <a:p>
            <a:pPr marL="177800" indent="-177800">
              <a:buFont typeface="Arial" panose="020B0604020202020204" pitchFamily="34" charset="0"/>
              <a:buChar char="•"/>
            </a:pPr>
            <a:r>
              <a:rPr lang="pl-PL" sz="2000" dirty="0">
                <a:latin typeface="Arial Narrow" panose="020B0606020202030204" pitchFamily="34" charset="0"/>
              </a:rPr>
              <a:t>w niektórych przypadkach dostarczyć oczekiwanych </a:t>
            </a:r>
            <a:r>
              <a:rPr lang="pl-PL" sz="2000" b="1" dirty="0">
                <a:solidFill>
                  <a:srgbClr val="C00000"/>
                </a:solidFill>
                <a:latin typeface="Arial Narrow" panose="020B0606020202030204" pitchFamily="34" charset="0"/>
              </a:rPr>
              <a:t>wyników</a:t>
            </a:r>
            <a:r>
              <a:rPr lang="pl-PL" sz="2000" dirty="0">
                <a:latin typeface="Arial Narrow" panose="020B0606020202030204" pitchFamily="34" charset="0"/>
              </a:rPr>
              <a:t>,</a:t>
            </a:r>
          </a:p>
          <a:p>
            <a:pPr marL="177800" indent="-177800">
              <a:buFont typeface="Arial" panose="020B0604020202020204" pitchFamily="34" charset="0"/>
              <a:buChar char="•"/>
            </a:pPr>
            <a:r>
              <a:rPr lang="pl-PL" sz="2000" dirty="0">
                <a:latin typeface="Arial Narrow" panose="020B0606020202030204" pitchFamily="34" charset="0"/>
              </a:rPr>
              <a:t>posługiwać się odpowiednimi </a:t>
            </a:r>
            <a:r>
              <a:rPr lang="pl-PL" sz="2000" b="1" dirty="0">
                <a:solidFill>
                  <a:srgbClr val="C00000"/>
                </a:solidFill>
                <a:latin typeface="Arial Narrow" panose="020B0606020202030204" pitchFamily="34" charset="0"/>
              </a:rPr>
              <a:t>algorytmami</a:t>
            </a:r>
            <a:r>
              <a:rPr lang="pl-PL" sz="2000" dirty="0">
                <a:latin typeface="Arial Narrow" panose="020B0606020202030204" pitchFamily="34" charset="0"/>
              </a:rPr>
              <a:t>,</a:t>
            </a:r>
          </a:p>
          <a:p>
            <a:pPr marL="177800" indent="-177800">
              <a:buFont typeface="Arial" panose="020B0604020202020204" pitchFamily="34" charset="0"/>
              <a:buChar char="•"/>
            </a:pPr>
            <a:r>
              <a:rPr lang="pl-PL" sz="2000" dirty="0">
                <a:latin typeface="Arial Narrow" panose="020B0606020202030204" pitchFamily="34" charset="0"/>
              </a:rPr>
              <a:t>tworzyć adekwatne </a:t>
            </a:r>
            <a:r>
              <a:rPr lang="pl-PL" sz="2000" b="1" dirty="0">
                <a:solidFill>
                  <a:srgbClr val="C00000"/>
                </a:solidFill>
                <a:latin typeface="Arial Narrow" panose="020B0606020202030204" pitchFamily="34" charset="0"/>
              </a:rPr>
              <a:t>modele</a:t>
            </a:r>
            <a:r>
              <a:rPr lang="pl-PL" sz="2000" dirty="0">
                <a:latin typeface="Arial Narrow" panose="020B0606020202030204" pitchFamily="34" charset="0"/>
              </a:rPr>
              <a:t>,</a:t>
            </a:r>
          </a:p>
          <a:p>
            <a:pPr marL="177800" indent="-177800">
              <a:buClr>
                <a:schemeClr val="tx1"/>
              </a:buClr>
              <a:buFont typeface="Arial" panose="020B0604020202020204" pitchFamily="34" charset="0"/>
              <a:buChar char="•"/>
            </a:pPr>
            <a:r>
              <a:rPr lang="pl-PL" sz="2000" b="1" dirty="0">
                <a:solidFill>
                  <a:srgbClr val="C00000"/>
                </a:solidFill>
                <a:latin typeface="Arial Narrow" panose="020B0606020202030204" pitchFamily="34" charset="0"/>
              </a:rPr>
              <a:t>mierzyć</a:t>
            </a:r>
            <a:r>
              <a:rPr lang="pl-PL" sz="2000" dirty="0">
                <a:latin typeface="Arial Narrow" panose="020B0606020202030204" pitchFamily="34" charset="0"/>
              </a:rPr>
              <a:t>, czy modele działają poprawnie.</a:t>
            </a:r>
          </a:p>
        </p:txBody>
      </p:sp>
      <p:sp>
        <p:nvSpPr>
          <p:cNvPr id="3" name="Rectangle 2">
            <a:extLst>
              <a:ext uri="{FF2B5EF4-FFF2-40B4-BE49-F238E27FC236}">
                <a16:creationId xmlns:a16="http://schemas.microsoft.com/office/drawing/2014/main" id="{CC17E766-3CED-4FB8-960F-11C215ECA369}"/>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Pojęcia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4" name="Slide Number Placeholder 3"/>
          <p:cNvSpPr>
            <a:spLocks noGrp="1"/>
          </p:cNvSpPr>
          <p:nvPr>
            <p:ph type="sldNum" sz="quarter" idx="12"/>
          </p:nvPr>
        </p:nvSpPr>
        <p:spPr/>
        <p:txBody>
          <a:bodyPr/>
          <a:lstStyle/>
          <a:p>
            <a:fld id="{20D4B2D9-DB10-4EB9-B7A6-032A6D4E75AC}" type="slidenum">
              <a:rPr lang="pl-PL" smtClean="0"/>
              <a:pPr/>
              <a:t>37</a:t>
            </a:fld>
            <a:endParaRPr lang="pl-PL" dirty="0"/>
          </a:p>
        </p:txBody>
      </p:sp>
    </p:spTree>
    <p:extLst>
      <p:ext uri="{BB962C8B-B14F-4D97-AF65-F5344CB8AC3E}">
        <p14:creationId xmlns:p14="http://schemas.microsoft.com/office/powerpoint/2010/main" val="171243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anim calcmode="lin" valueType="num">
                                      <p:cBhvr additive="base">
                                        <p:cTn id="1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 calcmode="lin" valueType="num">
                                      <p:cBhvr additive="base">
                                        <p:cTn id="1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 calcmode="lin" valueType="num">
                                      <p:cBhvr additive="base">
                                        <p:cTn id="1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 calcmode="lin" valueType="num">
                                      <p:cBhvr additive="base">
                                        <p:cTn id="2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 calcmode="lin" valueType="num">
                                      <p:cBhvr additive="base">
                                        <p:cTn id="2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a:extLst>
              <a:ext uri="{FF2B5EF4-FFF2-40B4-BE49-F238E27FC236}">
                <a16:creationId xmlns:a16="http://schemas.microsoft.com/office/drawing/2014/main" id="{A6E79166-E6FA-4D0B-BFCF-1680BDE70501}"/>
              </a:ext>
            </a:extLst>
          </p:cNvPr>
          <p:cNvSpPr>
            <a:spLocks noGrp="1"/>
          </p:cNvSpPr>
          <p:nvPr>
            <p:ph type="sldNum" sz="quarter" idx="12"/>
          </p:nvPr>
        </p:nvSpPr>
        <p:spPr/>
        <p:txBody>
          <a:bodyPr/>
          <a:lstStyle/>
          <a:p>
            <a:fld id="{83D82602-3ACC-4341-B614-755528165B64}" type="slidenum">
              <a:rPr lang="pl-PL" smtClean="0"/>
              <a:pPr/>
              <a:t>38</a:t>
            </a:fld>
            <a:endParaRPr lang="pl-PL" dirty="0"/>
          </a:p>
        </p:txBody>
      </p:sp>
      <p:sp>
        <p:nvSpPr>
          <p:cNvPr id="5" name="Rectangle 2">
            <a:extLst>
              <a:ext uri="{FF2B5EF4-FFF2-40B4-BE49-F238E27FC236}">
                <a16:creationId xmlns:a16="http://schemas.microsoft.com/office/drawing/2014/main" id="{F34F6651-E8A0-42BE-A5EC-EC334EF6FA74}"/>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GPU kontra CPU</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graphicFrame>
        <p:nvGraphicFramePr>
          <p:cNvPr id="7" name="Tabela 6">
            <a:extLst>
              <a:ext uri="{FF2B5EF4-FFF2-40B4-BE49-F238E27FC236}">
                <a16:creationId xmlns:a16="http://schemas.microsoft.com/office/drawing/2014/main" id="{F79261AF-FD10-4C49-898B-BF19B8CEB1A2}"/>
              </a:ext>
            </a:extLst>
          </p:cNvPr>
          <p:cNvGraphicFramePr>
            <a:graphicFrameLocks noGrp="1"/>
          </p:cNvGraphicFramePr>
          <p:nvPr>
            <p:extLst>
              <p:ext uri="{D42A27DB-BD31-4B8C-83A1-F6EECF244321}">
                <p14:modId xmlns:p14="http://schemas.microsoft.com/office/powerpoint/2010/main" val="275031006"/>
              </p:ext>
            </p:extLst>
          </p:nvPr>
        </p:nvGraphicFramePr>
        <p:xfrm>
          <a:off x="152400" y="381000"/>
          <a:ext cx="8839200" cy="5415280"/>
        </p:xfrm>
        <a:graphic>
          <a:graphicData uri="http://schemas.openxmlformats.org/drawingml/2006/table">
            <a:tbl>
              <a:tblPr firstRow="1" bandRow="1">
                <a:tableStyleId>{5940675A-B579-460E-94D1-54222C63F5DA}</a:tableStyleId>
              </a:tblPr>
              <a:tblGrid>
                <a:gridCol w="4419600">
                  <a:extLst>
                    <a:ext uri="{9D8B030D-6E8A-4147-A177-3AD203B41FA5}">
                      <a16:colId xmlns:a16="http://schemas.microsoft.com/office/drawing/2014/main" val="2459292844"/>
                    </a:ext>
                  </a:extLst>
                </a:gridCol>
                <a:gridCol w="4419600">
                  <a:extLst>
                    <a:ext uri="{9D8B030D-6E8A-4147-A177-3AD203B41FA5}">
                      <a16:colId xmlns:a16="http://schemas.microsoft.com/office/drawing/2014/main" val="3867167366"/>
                    </a:ext>
                  </a:extLst>
                </a:gridCol>
              </a:tblGrid>
              <a:tr h="370840">
                <a:tc>
                  <a:txBody>
                    <a:bodyPr/>
                    <a:lstStyle/>
                    <a:p>
                      <a:pPr algn="ctr"/>
                      <a:r>
                        <a:rPr lang="pl-PL" sz="1800" b="1" dirty="0">
                          <a:latin typeface="Arial Narrow" panose="020B0606020202030204" pitchFamily="34" charset="0"/>
                        </a:rPr>
                        <a:t>CPU (Central Processing Unit)</a:t>
                      </a:r>
                      <a:endParaRPr lang="en-GB" sz="1800" b="1" dirty="0">
                        <a:latin typeface="Arial Narrow" panose="020B0606020202030204" pitchFamily="34" charset="0"/>
                      </a:endParaRPr>
                    </a:p>
                  </a:txBody>
                  <a:tcPr/>
                </a:tc>
                <a:tc>
                  <a:txBody>
                    <a:bodyPr/>
                    <a:lstStyle/>
                    <a:p>
                      <a:pPr algn="ctr"/>
                      <a:r>
                        <a:rPr lang="pl-PL" sz="1800" b="1" dirty="0">
                          <a:latin typeface="Arial Narrow" panose="020B0606020202030204" pitchFamily="34" charset="0"/>
                        </a:rPr>
                        <a:t>GPU (Graphical Processing Unit)</a:t>
                      </a:r>
                      <a:endParaRPr lang="en-GB" sz="1800" b="1" dirty="0">
                        <a:latin typeface="Arial Narrow" panose="020B0606020202030204" pitchFamily="34" charset="0"/>
                      </a:endParaRPr>
                    </a:p>
                  </a:txBody>
                  <a:tcPr/>
                </a:tc>
                <a:extLst>
                  <a:ext uri="{0D108BD9-81ED-4DB2-BD59-A6C34878D82A}">
                    <a16:rowId xmlns:a16="http://schemas.microsoft.com/office/drawing/2014/main" val="909738752"/>
                  </a:ext>
                </a:extLst>
              </a:tr>
              <a:tr h="370840">
                <a:tc>
                  <a:txBody>
                    <a:bodyPr/>
                    <a:lstStyle/>
                    <a:p>
                      <a:r>
                        <a:rPr lang="pl-PL" sz="1800" dirty="0">
                          <a:latin typeface="Arial Narrow" panose="020B0606020202030204" pitchFamily="34" charset="0"/>
                        </a:rPr>
                        <a:t>kilka rdzeni</a:t>
                      </a:r>
                      <a:endParaRPr lang="en-GB" sz="1800" dirty="0">
                        <a:latin typeface="Arial Narrow" panose="020B0606020202030204" pitchFamily="34" charset="0"/>
                      </a:endParaRPr>
                    </a:p>
                  </a:txBody>
                  <a:tcPr/>
                </a:tc>
                <a:tc>
                  <a:txBody>
                    <a:bodyPr/>
                    <a:lstStyle/>
                    <a:p>
                      <a:r>
                        <a:rPr lang="pl-PL" sz="1800" dirty="0">
                          <a:latin typeface="Arial Narrow" panose="020B0606020202030204" pitchFamily="34" charset="0"/>
                        </a:rPr>
                        <a:t>setki rdzeni</a:t>
                      </a:r>
                      <a:endParaRPr lang="en-GB" sz="1800" dirty="0">
                        <a:latin typeface="Arial Narrow" panose="020B0606020202030204" pitchFamily="34" charset="0"/>
                      </a:endParaRPr>
                    </a:p>
                  </a:txBody>
                  <a:tcPr/>
                </a:tc>
                <a:extLst>
                  <a:ext uri="{0D108BD9-81ED-4DB2-BD59-A6C34878D82A}">
                    <a16:rowId xmlns:a16="http://schemas.microsoft.com/office/drawing/2014/main" val="3315568547"/>
                  </a:ext>
                </a:extLst>
              </a:tr>
              <a:tr h="370840">
                <a:tc>
                  <a:txBody>
                    <a:bodyPr/>
                    <a:lstStyle/>
                    <a:p>
                      <a:r>
                        <a:rPr lang="pl-PL" sz="1800">
                          <a:latin typeface="Arial Narrow" panose="020B0606020202030204" pitchFamily="34" charset="0"/>
                        </a:rPr>
                        <a:t>mogą przetwarzać kilka </a:t>
                      </a:r>
                      <a:r>
                        <a:rPr lang="pl-PL" sz="1800" dirty="0">
                          <a:latin typeface="Arial Narrow" panose="020B0606020202030204" pitchFamily="34" charset="0"/>
                        </a:rPr>
                        <a:t>wątków jednocześnie</a:t>
                      </a:r>
                      <a:endParaRPr lang="en-GB" sz="1800" dirty="0">
                        <a:latin typeface="Arial Narrow" panose="020B0606020202030204" pitchFamily="34" charset="0"/>
                      </a:endParaRPr>
                    </a:p>
                  </a:txBody>
                  <a:tcPr/>
                </a:tc>
                <a:tc>
                  <a:txBody>
                    <a:bodyPr/>
                    <a:lstStyle/>
                    <a:p>
                      <a:r>
                        <a:rPr lang="pl-PL" sz="1800">
                          <a:latin typeface="Arial Narrow" panose="020B0606020202030204" pitchFamily="34" charset="0"/>
                        </a:rPr>
                        <a:t>mogą przetwarzać setki </a:t>
                      </a:r>
                      <a:r>
                        <a:rPr lang="pl-PL" sz="1800" dirty="0">
                          <a:latin typeface="Arial Narrow" panose="020B0606020202030204" pitchFamily="34" charset="0"/>
                        </a:rPr>
                        <a:t>wątków jednocześnie</a:t>
                      </a:r>
                      <a:endParaRPr lang="en-GB" sz="1800" dirty="0">
                        <a:latin typeface="Arial Narrow" panose="020B0606020202030204" pitchFamily="34" charset="0"/>
                      </a:endParaRPr>
                    </a:p>
                  </a:txBody>
                  <a:tcPr/>
                </a:tc>
                <a:extLst>
                  <a:ext uri="{0D108BD9-81ED-4DB2-BD59-A6C34878D82A}">
                    <a16:rowId xmlns:a16="http://schemas.microsoft.com/office/drawing/2014/main" val="3359039654"/>
                  </a:ext>
                </a:extLst>
              </a:tr>
              <a:tr h="370840">
                <a:tc>
                  <a:txBody>
                    <a:bodyPr/>
                    <a:lstStyle/>
                    <a:p>
                      <a:r>
                        <a:rPr lang="pl-PL" sz="1800" dirty="0">
                          <a:latin typeface="Arial Narrow" panose="020B0606020202030204" pitchFamily="34" charset="0"/>
                        </a:rPr>
                        <a:t>jednostki o wysokim stopniu współbieżności</a:t>
                      </a:r>
                      <a:endParaRPr lang="en-GB" sz="1800" dirty="0">
                        <a:latin typeface="Arial Narrow" panose="020B0606020202030204" pitchFamily="34" charset="0"/>
                      </a:endParaRPr>
                    </a:p>
                  </a:txBody>
                  <a:tcPr/>
                </a:tc>
                <a:tc>
                  <a:txBody>
                    <a:bodyPr/>
                    <a:lstStyle/>
                    <a:p>
                      <a:r>
                        <a:rPr lang="pl-PL" sz="1800" dirty="0">
                          <a:latin typeface="Arial Narrow" panose="020B0606020202030204" pitchFamily="34" charset="0"/>
                        </a:rPr>
                        <a:t>jednostki na ogół szeregowe</a:t>
                      </a:r>
                      <a:endParaRPr lang="en-GB" sz="1800" dirty="0">
                        <a:latin typeface="Arial Narrow" panose="020B0606020202030204" pitchFamily="34" charset="0"/>
                      </a:endParaRPr>
                    </a:p>
                  </a:txBody>
                  <a:tcPr/>
                </a:tc>
                <a:extLst>
                  <a:ext uri="{0D108BD9-81ED-4DB2-BD59-A6C34878D82A}">
                    <a16:rowId xmlns:a16="http://schemas.microsoft.com/office/drawing/2014/main" val="988811400"/>
                  </a:ext>
                </a:extLst>
              </a:tr>
              <a:tr h="370840">
                <a:tc>
                  <a:txBody>
                    <a:bodyPr/>
                    <a:lstStyle/>
                    <a:p>
                      <a:r>
                        <a:rPr lang="pl-PL" sz="1800" dirty="0">
                          <a:latin typeface="Arial Narrow" panose="020B0606020202030204" pitchFamily="34" charset="0"/>
                        </a:rPr>
                        <a:t>optymalizowane pod kątem opóźnień</a:t>
                      </a:r>
                      <a:endParaRPr lang="en-GB" sz="1800" dirty="0">
                        <a:latin typeface="Arial Narrow" panose="020B0606020202030204" pitchFamily="34" charset="0"/>
                      </a:endParaRPr>
                    </a:p>
                  </a:txBody>
                  <a:tcPr/>
                </a:tc>
                <a:tc>
                  <a:txBody>
                    <a:bodyPr/>
                    <a:lstStyle/>
                    <a:p>
                      <a:r>
                        <a:rPr lang="pl-PL" sz="1800" dirty="0">
                          <a:latin typeface="Arial Narrow" panose="020B0606020202030204" pitchFamily="34" charset="0"/>
                        </a:rPr>
                        <a:t>optymalizowane pod kątem przepustowości, a ponieważ w sieciach neuronowych wąskim gardłem jest przepustowość, więc mają lepszą wydajność</a:t>
                      </a:r>
                      <a:endParaRPr lang="en-GB" sz="1800" dirty="0">
                        <a:latin typeface="Arial Narrow" panose="020B0606020202030204" pitchFamily="34" charset="0"/>
                      </a:endParaRPr>
                    </a:p>
                  </a:txBody>
                  <a:tcPr/>
                </a:tc>
                <a:extLst>
                  <a:ext uri="{0D108BD9-81ED-4DB2-BD59-A6C34878D82A}">
                    <a16:rowId xmlns:a16="http://schemas.microsoft.com/office/drawing/2014/main" val="3735553839"/>
                  </a:ext>
                </a:extLst>
              </a:tr>
              <a:tr h="370840">
                <a:tc>
                  <a:txBody>
                    <a:bodyPr/>
                    <a:lstStyle/>
                    <a:p>
                      <a:endParaRPr lang="en-GB" sz="1800" dirty="0">
                        <a:latin typeface="Arial Narrow" panose="020B0606020202030204" pitchFamily="34" charset="0"/>
                      </a:endParaRPr>
                    </a:p>
                  </a:txBody>
                  <a:tcPr/>
                </a:tc>
                <a:tc>
                  <a:txBody>
                    <a:bodyPr/>
                    <a:lstStyle/>
                    <a:p>
                      <a:r>
                        <a:rPr lang="pl-PL" sz="1800" dirty="0">
                          <a:latin typeface="Arial Narrow" panose="020B0606020202030204" pitchFamily="34" charset="0"/>
                        </a:rPr>
                        <a:t>pamięć podręczna jest znacznie szybsza niż w </a:t>
                      </a:r>
                      <a:r>
                        <a:rPr lang="pl-PL" sz="1800">
                          <a:latin typeface="Arial Narrow" panose="020B0606020202030204" pitchFamily="34" charset="0"/>
                        </a:rPr>
                        <a:t>układzie CPU </a:t>
                      </a:r>
                      <a:r>
                        <a:rPr lang="pl-PL" sz="1800" dirty="0">
                          <a:latin typeface="Arial Narrow" panose="020B0606020202030204" pitchFamily="34" charset="0"/>
                        </a:rPr>
                        <a:t>a ponieważ w sieciach neuronowych duża część danych jest wykorzystywana wielokrotnie, więc pamięć L1* ma znaczenie</a:t>
                      </a:r>
                      <a:endParaRPr lang="en-GB" sz="1800" dirty="0">
                        <a:latin typeface="Arial Narrow" panose="020B0606020202030204" pitchFamily="34" charset="0"/>
                      </a:endParaRPr>
                    </a:p>
                  </a:txBody>
                  <a:tcPr/>
                </a:tc>
                <a:extLst>
                  <a:ext uri="{0D108BD9-81ED-4DB2-BD59-A6C34878D82A}">
                    <a16:rowId xmlns:a16="http://schemas.microsoft.com/office/drawing/2014/main" val="3868732223"/>
                  </a:ext>
                </a:extLst>
              </a:tr>
              <a:tr h="370840">
                <a:tc>
                  <a:txBody>
                    <a:bodyPr/>
                    <a:lstStyle/>
                    <a:p>
                      <a:endParaRPr lang="en-GB" sz="1800" dirty="0">
                        <a:latin typeface="Arial Narrow" panose="020B0606020202030204" pitchFamily="34" charset="0"/>
                      </a:endParaRPr>
                    </a:p>
                  </a:txBody>
                  <a:tcPr/>
                </a:tc>
                <a:tc>
                  <a:txBody>
                    <a:bodyPr/>
                    <a:lstStyle/>
                    <a:p>
                      <a:r>
                        <a:rPr lang="pl-PL" sz="1800" b="1" dirty="0">
                          <a:latin typeface="Arial Narrow" panose="020B0606020202030204" pitchFamily="34" charset="0"/>
                        </a:rPr>
                        <a:t>dzięki wykorzystaniu GPU program może działać wielokrotnie szybciej niż w przypadku używania wyłącznie CPU </a:t>
                      </a:r>
                      <a:endParaRPr lang="en-GB" sz="1800" b="1" dirty="0">
                        <a:latin typeface="Arial Narrow" panose="020B0606020202030204" pitchFamily="34" charset="0"/>
                      </a:endParaRPr>
                    </a:p>
                  </a:txBody>
                  <a:tcPr/>
                </a:tc>
                <a:extLst>
                  <a:ext uri="{0D108BD9-81ED-4DB2-BD59-A6C34878D82A}">
                    <a16:rowId xmlns:a16="http://schemas.microsoft.com/office/drawing/2014/main" val="2379089783"/>
                  </a:ext>
                </a:extLst>
              </a:tr>
              <a:tr h="370840">
                <a:tc>
                  <a:txBody>
                    <a:bodyPr/>
                    <a:lstStyle/>
                    <a:p>
                      <a:endParaRPr lang="en-GB" sz="1800" dirty="0">
                        <a:latin typeface="Arial Narrow" panose="020B0606020202030204" pitchFamily="34" charset="0"/>
                      </a:endParaRPr>
                    </a:p>
                  </a:txBody>
                  <a:tcPr/>
                </a:tc>
                <a:tc>
                  <a:txBody>
                    <a:bodyPr/>
                    <a:lstStyle/>
                    <a:p>
                      <a:r>
                        <a:rPr lang="pl-PL" sz="1800" dirty="0">
                          <a:latin typeface="Arial Narrow" panose="020B0606020202030204" pitchFamily="34" charset="0"/>
                        </a:rPr>
                        <a:t>CUDA dla NVIDIA –</a:t>
                      </a:r>
                      <a:r>
                        <a:rPr lang="pl-PL" sz="1800" baseline="0" dirty="0">
                          <a:latin typeface="Arial Narrow" panose="020B0606020202030204" pitchFamily="34" charset="0"/>
                        </a:rPr>
                        <a:t> projekt </a:t>
                      </a:r>
                      <a:r>
                        <a:rPr lang="pl-PL" sz="1800" baseline="0">
                          <a:latin typeface="Arial Narrow" panose="020B0606020202030204" pitchFamily="34" charset="0"/>
                        </a:rPr>
                        <a:t>udostępnienia interfej-su </a:t>
                      </a:r>
                      <a:r>
                        <a:rPr lang="pl-PL" sz="1800" baseline="0" dirty="0">
                          <a:latin typeface="Arial Narrow" panose="020B0606020202030204" pitchFamily="34" charset="0"/>
                        </a:rPr>
                        <a:t>programistycznego do procesorów graficznych</a:t>
                      </a:r>
                      <a:endParaRPr lang="en-GB" sz="1800" dirty="0">
                        <a:latin typeface="Arial Narrow" panose="020B0606020202030204" pitchFamily="34" charset="0"/>
                      </a:endParaRPr>
                    </a:p>
                  </a:txBody>
                  <a:tcPr/>
                </a:tc>
                <a:extLst>
                  <a:ext uri="{0D108BD9-81ED-4DB2-BD59-A6C34878D82A}">
                    <a16:rowId xmlns:a16="http://schemas.microsoft.com/office/drawing/2014/main" val="3510208857"/>
                  </a:ext>
                </a:extLst>
              </a:tr>
            </a:tbl>
          </a:graphicData>
        </a:graphic>
      </p:graphicFrame>
      <p:sp>
        <p:nvSpPr>
          <p:cNvPr id="8" name="Prostokąt 7">
            <a:extLst>
              <a:ext uri="{FF2B5EF4-FFF2-40B4-BE49-F238E27FC236}">
                <a16:creationId xmlns:a16="http://schemas.microsoft.com/office/drawing/2014/main" id="{C49E3EF9-FE77-4C73-96DC-A33C22D8E032}"/>
              </a:ext>
            </a:extLst>
          </p:cNvPr>
          <p:cNvSpPr/>
          <p:nvPr/>
        </p:nvSpPr>
        <p:spPr>
          <a:xfrm>
            <a:off x="0" y="5791200"/>
            <a:ext cx="9144000" cy="369332"/>
          </a:xfrm>
          <a:prstGeom prst="rect">
            <a:avLst/>
          </a:prstGeom>
        </p:spPr>
        <p:txBody>
          <a:bodyPr wrap="square">
            <a:spAutoFit/>
          </a:bodyPr>
          <a:lstStyle/>
          <a:p>
            <a:r>
              <a:rPr lang="pl-PL">
                <a:latin typeface="Arial Narrow" panose="020B0606020202030204" pitchFamily="34" charset="0"/>
              </a:rPr>
              <a:t>*Pamięć </a:t>
            </a:r>
            <a:r>
              <a:rPr lang="pl-PL" dirty="0">
                <a:latin typeface="Arial Narrow" panose="020B0606020202030204" pitchFamily="34" charset="0"/>
              </a:rPr>
              <a:t>podręczna L1 zawiera informacje, które prawdopodobnie będą potrzebne w najbliższej przyszłości.</a:t>
            </a:r>
            <a:endParaRPr lang="en-GB" dirty="0"/>
          </a:p>
        </p:txBody>
      </p:sp>
      <p:sp>
        <p:nvSpPr>
          <p:cNvPr id="6" name="Prostokąt 5">
            <a:extLst>
              <a:ext uri="{FF2B5EF4-FFF2-40B4-BE49-F238E27FC236}">
                <a16:creationId xmlns:a16="http://schemas.microsoft.com/office/drawing/2014/main" id="{C49E3EF9-FE77-4C73-96DC-A33C22D8E032}"/>
              </a:ext>
            </a:extLst>
          </p:cNvPr>
          <p:cNvSpPr/>
          <p:nvPr/>
        </p:nvSpPr>
        <p:spPr>
          <a:xfrm>
            <a:off x="0" y="6183868"/>
            <a:ext cx="9144000" cy="646331"/>
          </a:xfrm>
          <a:prstGeom prst="rect">
            <a:avLst/>
          </a:prstGeom>
        </p:spPr>
        <p:txBody>
          <a:bodyPr wrap="square">
            <a:spAutoFit/>
          </a:bodyPr>
          <a:lstStyle/>
          <a:p>
            <a:r>
              <a:rPr lang="pl-PL">
                <a:latin typeface="Arial Narrow" panose="020B0606020202030204" pitchFamily="34" charset="0"/>
              </a:rPr>
              <a:t>W Windows, aby sprawdzić liczbę rdzeni procesora należy przycisnąć Ctrl+Sh+Esc i wybrać zakładkę </a:t>
            </a:r>
            <a:r>
              <a:rPr lang="pl-PL" i="1">
                <a:latin typeface="Arial Narrow" panose="020B0606020202030204" pitchFamily="34" charset="0"/>
              </a:rPr>
              <a:t>Wydajność</a:t>
            </a:r>
            <a:r>
              <a:rPr lang="pl-PL">
                <a:latin typeface="Arial Narrow" panose="020B0606020202030204" pitchFamily="34" charset="0"/>
              </a:rPr>
              <a:t>.</a:t>
            </a:r>
            <a:endParaRPr lang="en-GB" dirty="0"/>
          </a:p>
        </p:txBody>
      </p:sp>
    </p:spTree>
    <p:extLst>
      <p:ext uri="{BB962C8B-B14F-4D97-AF65-F5344CB8AC3E}">
        <p14:creationId xmlns:p14="http://schemas.microsoft.com/office/powerpoint/2010/main" val="41011568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A7A7B9F-A4E2-478E-88C0-8808838EDADE}" type="slidenum">
              <a:rPr lang="pl-PL" smtClean="0"/>
              <a:pPr/>
              <a:t>39</a:t>
            </a:fld>
            <a:endParaRPr lang="pl-PL" dirty="0"/>
          </a:p>
        </p:txBody>
      </p:sp>
      <p:sp>
        <p:nvSpPr>
          <p:cNvPr id="5" name="Rectangle 4"/>
          <p:cNvSpPr/>
          <p:nvPr/>
        </p:nvSpPr>
        <p:spPr>
          <a:xfrm>
            <a:off x="0" y="302359"/>
            <a:ext cx="9144000" cy="6555641"/>
          </a:xfrm>
          <a:prstGeom prst="rect">
            <a:avLst/>
          </a:prstGeom>
        </p:spPr>
        <p:txBody>
          <a:bodyPr wrap="square">
            <a:spAutoFit/>
          </a:bodyPr>
          <a:lstStyle/>
          <a:p>
            <a:r>
              <a:rPr lang="pl-PL" sz="2000">
                <a:latin typeface="Arial Narrow" panose="020B0606020202030204" pitchFamily="34" charset="0"/>
              </a:rPr>
              <a:t>Najpopularniejsze rozwiązania dla ML </a:t>
            </a:r>
            <a:r>
              <a:rPr lang="pl-PL" sz="2000" dirty="0">
                <a:latin typeface="Arial Narrow" panose="020B0606020202030204" pitchFamily="34" charset="0"/>
              </a:rPr>
              <a:t>i DS:</a:t>
            </a:r>
          </a:p>
          <a:p>
            <a:pPr marL="177800" indent="-177800">
              <a:buFont typeface="Arial" panose="020B0604020202020204" pitchFamily="34" charset="0"/>
              <a:buChar char="•"/>
            </a:pPr>
            <a:r>
              <a:rPr lang="pl-PL" sz="2000" dirty="0">
                <a:latin typeface="Arial Narrow" panose="020B0606020202030204" pitchFamily="34" charset="0"/>
              </a:rPr>
              <a:t>Apache FlinkML – szybko rosnąca popularność</a:t>
            </a:r>
          </a:p>
          <a:p>
            <a:pPr marL="177800" indent="-177800">
              <a:buFont typeface="Arial" panose="020B0604020202020204" pitchFamily="34" charset="0"/>
              <a:buChar char="•"/>
            </a:pPr>
            <a:r>
              <a:rPr lang="pl-PL" sz="2000" dirty="0">
                <a:latin typeface="Arial Narrow" panose="020B0606020202030204" pitchFamily="34" charset="0"/>
              </a:rPr>
              <a:t>Apache OpenNLP</a:t>
            </a:r>
          </a:p>
          <a:p>
            <a:pPr marL="177800" indent="-177800">
              <a:buFont typeface="Arial" panose="020B0604020202020204" pitchFamily="34" charset="0"/>
              <a:buChar char="•"/>
            </a:pPr>
            <a:r>
              <a:rPr lang="pl-PL" sz="2000" dirty="0">
                <a:latin typeface="Arial Narrow" panose="020B0606020202030204" pitchFamily="34" charset="0"/>
              </a:rPr>
              <a:t>Apache Spark-&gt;MLlib</a:t>
            </a:r>
          </a:p>
          <a:p>
            <a:pPr marL="177800" indent="-177800">
              <a:buFont typeface="Arial" panose="020B0604020202020204" pitchFamily="34" charset="0"/>
              <a:buChar char="•"/>
            </a:pPr>
            <a:r>
              <a:rPr lang="pl-PL" sz="2000" dirty="0">
                <a:latin typeface="Arial Narrow" panose="020B0606020202030204" pitchFamily="34" charset="0"/>
              </a:rPr>
              <a:t>Caffe2</a:t>
            </a:r>
          </a:p>
          <a:p>
            <a:pPr marL="177800" indent="-177800">
              <a:buFont typeface="Arial" panose="020B0604020202020204" pitchFamily="34" charset="0"/>
              <a:buChar char="•"/>
            </a:pPr>
            <a:r>
              <a:rPr lang="pl-PL" sz="2000" dirty="0">
                <a:latin typeface="Arial Narrow" panose="020B0606020202030204" pitchFamily="34" charset="0"/>
              </a:rPr>
              <a:t>H2O – platforma do DS i ML </a:t>
            </a:r>
          </a:p>
          <a:p>
            <a:pPr marL="177800" indent="-177800">
              <a:buFont typeface="Arial" panose="020B0604020202020204" pitchFamily="34" charset="0"/>
              <a:buChar char="•"/>
            </a:pPr>
            <a:r>
              <a:rPr lang="pl-PL" sz="2000" b="1">
                <a:latin typeface="Arial Narrow" panose="020B0606020202030204" pitchFamily="34" charset="0"/>
              </a:rPr>
              <a:t>Scikit-Learn</a:t>
            </a:r>
            <a:r>
              <a:rPr lang="pl-PL" sz="2000">
                <a:latin typeface="Arial Narrow" panose="020B0606020202030204" pitchFamily="34" charset="0"/>
              </a:rPr>
              <a:t> (2007) – zawiera gotowe klasyfikatory oparte na różnych algorytmach</a:t>
            </a:r>
          </a:p>
          <a:p>
            <a:pPr marL="177800" indent="-177800">
              <a:buFont typeface="Arial" panose="020B0604020202020204" pitchFamily="34" charset="0"/>
              <a:buChar char="•"/>
            </a:pPr>
            <a:r>
              <a:rPr lang="pl-PL" sz="2000" b="1">
                <a:latin typeface="Arial Narrow" panose="020B0606020202030204" pitchFamily="34" charset="0"/>
              </a:rPr>
              <a:t>TensorFlow</a:t>
            </a:r>
            <a:r>
              <a:rPr lang="pl-PL" sz="2000">
                <a:latin typeface="Arial Narrow" panose="020B0606020202030204" pitchFamily="34" charset="0"/>
              </a:rPr>
              <a:t> (Google, 2015)</a:t>
            </a:r>
          </a:p>
          <a:p>
            <a:pPr marL="177800" indent="-177800">
              <a:buFont typeface="Arial" panose="020B0604020202020204" pitchFamily="34" charset="0"/>
              <a:buChar char="•"/>
            </a:pPr>
            <a:r>
              <a:rPr lang="pl-PL" sz="2000" b="1">
                <a:latin typeface="Arial Narrow" panose="020B0606020202030204" pitchFamily="34" charset="0"/>
              </a:rPr>
              <a:t>Keras</a:t>
            </a:r>
            <a:r>
              <a:rPr lang="pl-PL" sz="2000">
                <a:latin typeface="Arial Narrow" panose="020B0606020202030204" pitchFamily="34" charset="0"/>
              </a:rPr>
              <a:t> (2015) – interface początkowo do TensorFlow, obecnie też CNTK, Theano, PlaidML</a:t>
            </a:r>
            <a:endParaRPr lang="pl-PL" sz="2000" dirty="0">
              <a:latin typeface="Arial Narrow" panose="020B0606020202030204" pitchFamily="34" charset="0"/>
            </a:endParaRPr>
          </a:p>
          <a:p>
            <a:pPr marL="177800" indent="-177800">
              <a:buFont typeface="Arial" panose="020B0604020202020204" pitchFamily="34" charset="0"/>
              <a:buChar char="•"/>
            </a:pPr>
            <a:r>
              <a:rPr lang="pl-PL" sz="2000" b="1" dirty="0">
                <a:latin typeface="Arial Narrow" panose="020B0606020202030204" pitchFamily="34" charset="0"/>
              </a:rPr>
              <a:t>PyTorch</a:t>
            </a:r>
            <a:r>
              <a:rPr lang="pl-PL" sz="2000" dirty="0">
                <a:latin typeface="Arial Narrow" panose="020B0606020202030204" pitchFamily="34" charset="0"/>
              </a:rPr>
              <a:t> (Facebook, 2016)</a:t>
            </a:r>
          </a:p>
          <a:p>
            <a:endParaRPr lang="pl-PL" sz="2000" dirty="0">
              <a:latin typeface="Arial Narrow" panose="020B0606020202030204" pitchFamily="34" charset="0"/>
            </a:endParaRPr>
          </a:p>
          <a:p>
            <a:r>
              <a:rPr lang="pl-PL" sz="2000" dirty="0">
                <a:latin typeface="Arial Narrow" panose="020B0606020202030204" pitchFamily="34" charset="0"/>
              </a:rPr>
              <a:t>Inne, m.in. :</a:t>
            </a:r>
          </a:p>
          <a:p>
            <a:pPr marL="177800" indent="-177800">
              <a:buFont typeface="Arial" panose="020B0604020202020204" pitchFamily="34" charset="0"/>
              <a:buChar char="•"/>
            </a:pPr>
            <a:r>
              <a:rPr lang="pl-PL" sz="2000" dirty="0">
                <a:latin typeface="Arial Narrow" panose="020B0606020202030204" pitchFamily="34" charset="0"/>
              </a:rPr>
              <a:t>Caffe (2013)</a:t>
            </a:r>
          </a:p>
          <a:p>
            <a:pPr marL="177800" indent="-177800">
              <a:buFont typeface="Arial" panose="020B0604020202020204" pitchFamily="34" charset="0"/>
              <a:buChar char="•"/>
            </a:pPr>
            <a:r>
              <a:rPr lang="pl-PL" sz="2000" b="1">
                <a:latin typeface="Arial Narrow" panose="020B0606020202030204" pitchFamily="34" charset="0"/>
              </a:rPr>
              <a:t>CNTK (2016) – Microsoft Cognitive </a:t>
            </a:r>
            <a:r>
              <a:rPr lang="pl-PL" sz="2000" b="1" dirty="0">
                <a:latin typeface="Arial Narrow" panose="020B0606020202030204" pitchFamily="34" charset="0"/>
              </a:rPr>
              <a:t>Toolkit</a:t>
            </a:r>
          </a:p>
          <a:p>
            <a:pPr marL="177800" indent="-177800">
              <a:buFont typeface="Arial" panose="020B0604020202020204" pitchFamily="34" charset="0"/>
              <a:buChar char="•"/>
            </a:pPr>
            <a:r>
              <a:rPr lang="pl-PL" sz="2000" dirty="0">
                <a:latin typeface="Arial Narrow" panose="020B0606020202030204" pitchFamily="34" charset="0"/>
              </a:rPr>
              <a:t>DistBelief (2012)</a:t>
            </a:r>
          </a:p>
          <a:p>
            <a:pPr marL="177800" indent="-177800">
              <a:buFont typeface="Arial" panose="020B0604020202020204" pitchFamily="34" charset="0"/>
              <a:buChar char="•"/>
            </a:pPr>
            <a:r>
              <a:rPr lang="pl-PL" sz="2000" dirty="0">
                <a:latin typeface="Arial Narrow" panose="020B0606020202030204" pitchFamily="34" charset="0"/>
              </a:rPr>
              <a:t>Lasagne (na bazie Theano) </a:t>
            </a:r>
          </a:p>
          <a:p>
            <a:pPr marL="177800" indent="-177800">
              <a:buFont typeface="Arial" panose="020B0604020202020204" pitchFamily="34" charset="0"/>
              <a:buChar char="•"/>
            </a:pPr>
            <a:r>
              <a:rPr lang="pl-PL" sz="2000" dirty="0">
                <a:latin typeface="Arial Narrow" panose="020B0606020202030204" pitchFamily="34" charset="0"/>
              </a:rPr>
              <a:t>MXNet (2015)</a:t>
            </a:r>
          </a:p>
          <a:p>
            <a:pPr marL="177800" indent="-177800">
              <a:buFont typeface="Arial" panose="020B0604020202020204" pitchFamily="34" charset="0"/>
              <a:buChar char="•"/>
            </a:pPr>
            <a:r>
              <a:rPr lang="pl-PL" sz="2000" dirty="0">
                <a:latin typeface="Arial Narrow" panose="020B0606020202030204" pitchFamily="34" charset="0"/>
              </a:rPr>
              <a:t>PyLearn2 (2013)</a:t>
            </a:r>
          </a:p>
          <a:p>
            <a:pPr marL="177800" indent="-177800">
              <a:buFont typeface="Arial" panose="020B0604020202020204" pitchFamily="34" charset="0"/>
              <a:buChar char="•"/>
            </a:pPr>
            <a:r>
              <a:rPr lang="pl-PL" sz="2000" b="1" dirty="0">
                <a:latin typeface="Arial Narrow" panose="020B0606020202030204" pitchFamily="34" charset="0"/>
              </a:rPr>
              <a:t>R Project – popularna, choć </a:t>
            </a:r>
            <a:r>
              <a:rPr lang="pl-PL" sz="2000" b="1">
                <a:latin typeface="Arial Narrow" panose="020B0606020202030204" pitchFamily="34" charset="0"/>
              </a:rPr>
              <a:t>traci użytkowników </a:t>
            </a:r>
            <a:r>
              <a:rPr lang="pl-PL" sz="2000" b="1" dirty="0">
                <a:latin typeface="Arial Narrow" panose="020B0606020202030204" pitchFamily="34" charset="0"/>
              </a:rPr>
              <a:t>na </a:t>
            </a:r>
            <a:r>
              <a:rPr lang="pl-PL" sz="2000" b="1">
                <a:latin typeface="Arial Narrow" panose="020B0606020202030204" pitchFamily="34" charset="0"/>
              </a:rPr>
              <a:t>rzecz rozwiązań w Pythonie</a:t>
            </a:r>
            <a:endParaRPr lang="pl-PL" sz="2000" b="1" dirty="0">
              <a:latin typeface="Arial Narrow" panose="020B0606020202030204" pitchFamily="34" charset="0"/>
            </a:endParaRPr>
          </a:p>
          <a:p>
            <a:pPr marL="177800" indent="-177800">
              <a:buFont typeface="Arial" panose="020B0604020202020204" pitchFamily="34" charset="0"/>
              <a:buChar char="•"/>
            </a:pPr>
            <a:r>
              <a:rPr lang="pl-PL" sz="2000" b="1" dirty="0" err="1">
                <a:latin typeface="Arial Narrow" panose="020B0606020202030204" pitchFamily="34" charset="0"/>
              </a:rPr>
              <a:t>SciPy</a:t>
            </a:r>
            <a:r>
              <a:rPr lang="pl-PL" sz="2000" b="1" dirty="0">
                <a:latin typeface="Arial Narrow" panose="020B0606020202030204" pitchFamily="34" charset="0"/>
              </a:rPr>
              <a:t> – w </a:t>
            </a:r>
            <a:r>
              <a:rPr lang="pl-PL" sz="2000" b="1" dirty="0" err="1">
                <a:latin typeface="Arial Narrow" panose="020B0606020202030204" pitchFamily="34" charset="0"/>
              </a:rPr>
              <a:t>Pythonie</a:t>
            </a:r>
            <a:r>
              <a:rPr lang="pl-PL" sz="2000" b="1" dirty="0">
                <a:latin typeface="Arial Narrow" panose="020B0606020202030204" pitchFamily="34" charset="0"/>
              </a:rPr>
              <a:t>, wykorzystuje struktury </a:t>
            </a:r>
            <a:r>
              <a:rPr lang="pl-PL" sz="2000" b="1">
                <a:latin typeface="Arial Narrow" panose="020B0606020202030204" pitchFamily="34" charset="0"/>
              </a:rPr>
              <a:t>NumPy</a:t>
            </a:r>
            <a:endParaRPr lang="en-US" sz="2000" b="1" dirty="0">
              <a:latin typeface="Arial Narrow" panose="020B0606020202030204" pitchFamily="34" charset="0"/>
            </a:endParaRPr>
          </a:p>
          <a:p>
            <a:pPr marL="177800" indent="-177800">
              <a:buFont typeface="Arial" panose="020B0604020202020204" pitchFamily="34" charset="0"/>
              <a:buChar char="•"/>
            </a:pPr>
            <a:r>
              <a:rPr lang="pl-PL" sz="2000" dirty="0">
                <a:latin typeface="Arial Narrow" panose="020B0606020202030204" pitchFamily="34" charset="0"/>
              </a:rPr>
              <a:t>Theano (2010) – nie rozwijana</a:t>
            </a:r>
          </a:p>
        </p:txBody>
      </p:sp>
      <p:sp>
        <p:nvSpPr>
          <p:cNvPr id="6" name="Rectangle 2">
            <a:extLst>
              <a:ext uri="{FF2B5EF4-FFF2-40B4-BE49-F238E27FC236}">
                <a16:creationId xmlns:a16="http://schemas.microsoft.com/office/drawing/2014/main" id="{F34F6651-E8A0-42BE-A5EC-EC334EF6FA74}"/>
              </a:ext>
            </a:extLst>
          </p:cNvPr>
          <p:cNvSpPr txBox="1">
            <a:spLocks noChangeArrowheads="1"/>
          </p:cNvSpPr>
          <p:nvPr/>
        </p:nvSpPr>
        <p:spPr>
          <a:xfrm>
            <a:off x="0" y="-38911"/>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a:ln>
                  <a:noFill/>
                </a:ln>
                <a:solidFill>
                  <a:schemeClr val="tx1"/>
                </a:solidFill>
                <a:effectLst/>
                <a:uLnTx/>
                <a:uFillTx/>
                <a:latin typeface="Arial" pitchFamily="34" charset="0"/>
                <a:ea typeface="+mj-lt"/>
                <a:cs typeface="Arial" pitchFamily="34" charset="0"/>
              </a:rPr>
              <a:t>Rozwiązania dla </a:t>
            </a: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ML</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40047967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40</a:t>
            </a:fld>
            <a:endParaRPr lang="pl-PL" dirty="0"/>
          </a:p>
        </p:txBody>
      </p:sp>
      <p:sp>
        <p:nvSpPr>
          <p:cNvPr id="5" name="Rectangle 4"/>
          <p:cNvSpPr/>
          <p:nvPr/>
        </p:nvSpPr>
        <p:spPr>
          <a:xfrm>
            <a:off x="0" y="304800"/>
            <a:ext cx="9144000" cy="3708708"/>
          </a:xfrm>
          <a:prstGeom prst="rect">
            <a:avLst/>
          </a:prstGeom>
        </p:spPr>
        <p:txBody>
          <a:bodyPr wrap="square">
            <a:spAutoFit/>
          </a:bodyPr>
          <a:lstStyle/>
          <a:p>
            <a:r>
              <a:rPr lang="pl-PL" sz="2000" b="1">
                <a:solidFill>
                  <a:srgbClr val="0070C0"/>
                </a:solidFill>
                <a:latin typeface="Arial Narrow" panose="020B0606020202030204" pitchFamily="34" charset="0"/>
              </a:rPr>
              <a:t>Do zarządzania danymi i obliczeń naukowych:</a:t>
            </a:r>
          </a:p>
          <a:p>
            <a:pPr>
              <a:spcBef>
                <a:spcPts val="600"/>
              </a:spcBef>
            </a:pPr>
            <a:r>
              <a:rPr lang="pl-PL" sz="2000" b="1">
                <a:latin typeface="Arial Narrow" panose="020B0606020202030204" pitchFamily="34" charset="0"/>
              </a:rPr>
              <a:t>NumPy</a:t>
            </a:r>
            <a:r>
              <a:rPr lang="pl-PL" sz="2000">
                <a:latin typeface="Arial Narrow" panose="020B0606020202030204" pitchFamily="34" charset="0"/>
              </a:rPr>
              <a:t> (numerical python)</a:t>
            </a:r>
          </a:p>
          <a:p>
            <a:r>
              <a:rPr lang="pl-PL" sz="2000">
                <a:latin typeface="Arial Narrow" panose="020B0606020202030204" pitchFamily="34" charset="0"/>
              </a:rPr>
              <a:t>Do obliczeń numerycznych dla danych, które mogą być przechowywane w tensorach. </a:t>
            </a:r>
            <a:br>
              <a:rPr lang="pl-PL" sz="2000">
                <a:latin typeface="Arial Narrow" panose="020B0606020202030204" pitchFamily="34" charset="0"/>
              </a:rPr>
            </a:br>
            <a:r>
              <a:rPr lang="pl-PL" sz="2000">
                <a:latin typeface="Arial Narrow" panose="020B0606020202030204" pitchFamily="34" charset="0"/>
              </a:rPr>
              <a:t>Jest używana w uczeniu maszynowym, wizualizacji danych, analizie danych itp. </a:t>
            </a:r>
          </a:p>
          <a:p>
            <a:pPr>
              <a:spcBef>
                <a:spcPts val="600"/>
              </a:spcBef>
            </a:pPr>
            <a:r>
              <a:rPr lang="pl-PL" sz="2000" b="1">
                <a:latin typeface="Arial Narrow" panose="020B0606020202030204" pitchFamily="34" charset="0"/>
              </a:rPr>
              <a:t>Pandas</a:t>
            </a:r>
          </a:p>
          <a:p>
            <a:r>
              <a:rPr lang="pl-PL" sz="2000">
                <a:latin typeface="Arial Narrow" panose="020B0606020202030204" pitchFamily="34" charset="0"/>
              </a:rPr>
              <a:t>Służy do analizy danych i zarządzania danymi. Jest używana zwykle z NumPy i Matplotlib. Obsługuje pliki CSV, korzysta z ramki danych (DataFrame) i jest szczególnie przydatna w procesie przygotowania danych.</a:t>
            </a:r>
          </a:p>
          <a:p>
            <a:pPr>
              <a:spcBef>
                <a:spcPts val="600"/>
              </a:spcBef>
            </a:pPr>
            <a:r>
              <a:rPr lang="pl-PL" sz="2000" b="1">
                <a:latin typeface="Arial Narrow" panose="020B0606020202030204" pitchFamily="34" charset="0"/>
              </a:rPr>
              <a:t>SciPy</a:t>
            </a:r>
            <a:r>
              <a:rPr lang="pl-PL" sz="2000">
                <a:latin typeface="Arial Narrow" panose="020B0606020202030204" pitchFamily="34" charset="0"/>
              </a:rPr>
              <a:t> (scientific python)</a:t>
            </a:r>
          </a:p>
          <a:p>
            <a:r>
              <a:rPr lang="pl-PL" sz="2000">
                <a:latin typeface="Arial Narrow" panose="020B0606020202030204" pitchFamily="34" charset="0"/>
              </a:rPr>
              <a:t>Wykorzystywana w projektach obejmujących różne obliczenia: matematyczne, statystyczne, inżynieryjne. Współpracuje z Matplotlib, NumPy, SymPy, Pandas, iPython itp.</a:t>
            </a:r>
          </a:p>
        </p:txBody>
      </p:sp>
      <p:sp>
        <p:nvSpPr>
          <p:cNvPr id="6" name="Rectangle 2">
            <a:extLst>
              <a:ext uri="{FF2B5EF4-FFF2-40B4-BE49-F238E27FC236}">
                <a16:creationId xmlns:a16="http://schemas.microsoft.com/office/drawing/2014/main" id="{F34F6651-E8A0-42BE-A5EC-EC334EF6FA74}"/>
              </a:ext>
            </a:extLst>
          </p:cNvPr>
          <p:cNvSpPr txBox="1">
            <a:spLocks noChangeArrowheads="1"/>
          </p:cNvSpPr>
          <p:nvPr/>
        </p:nvSpPr>
        <p:spPr>
          <a:xfrm>
            <a:off x="0" y="-38911"/>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a:ln>
                  <a:noFill/>
                </a:ln>
                <a:solidFill>
                  <a:schemeClr val="tx1"/>
                </a:solidFill>
                <a:effectLst/>
                <a:uLnTx/>
                <a:uFillTx/>
                <a:latin typeface="Arial" pitchFamily="34" charset="0"/>
                <a:ea typeface="+mj-lt"/>
                <a:cs typeface="Arial" pitchFamily="34" charset="0"/>
              </a:rPr>
              <a:t>Top Python libraries for DS</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2679447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41</a:t>
            </a:fld>
            <a:endParaRPr lang="pl-PL" dirty="0"/>
          </a:p>
        </p:txBody>
      </p:sp>
      <p:sp>
        <p:nvSpPr>
          <p:cNvPr id="5" name="Rectangle 4"/>
          <p:cNvSpPr/>
          <p:nvPr/>
        </p:nvSpPr>
        <p:spPr>
          <a:xfrm>
            <a:off x="0" y="304800"/>
            <a:ext cx="9144000" cy="3323987"/>
          </a:xfrm>
          <a:prstGeom prst="rect">
            <a:avLst/>
          </a:prstGeom>
        </p:spPr>
        <p:txBody>
          <a:bodyPr wrap="square">
            <a:spAutoFit/>
          </a:bodyPr>
          <a:lstStyle/>
          <a:p>
            <a:r>
              <a:rPr lang="pl-PL" sz="2000" b="1">
                <a:solidFill>
                  <a:srgbClr val="0070C0"/>
                </a:solidFill>
                <a:latin typeface="Arial Narrow" panose="020B0606020202030204" pitchFamily="34" charset="0"/>
              </a:rPr>
              <a:t>Do wizualizacji danych</a:t>
            </a:r>
          </a:p>
          <a:p>
            <a:pPr>
              <a:spcBef>
                <a:spcPts val="600"/>
              </a:spcBef>
            </a:pPr>
            <a:r>
              <a:rPr lang="pl-PL" sz="2000" b="1">
                <a:latin typeface="Arial Narrow" panose="020B0606020202030204" pitchFamily="34" charset="0"/>
              </a:rPr>
              <a:t>Matplotlib</a:t>
            </a:r>
            <a:endParaRPr lang="pl-PL" sz="2000">
              <a:latin typeface="Arial Narrow" panose="020B0606020202030204" pitchFamily="34" charset="0"/>
            </a:endParaRPr>
          </a:p>
          <a:p>
            <a:r>
              <a:rPr lang="pl-PL" sz="2000">
                <a:latin typeface="Arial Narrow" panose="020B0606020202030204" pitchFamily="34" charset="0"/>
              </a:rPr>
              <a:t>Do wizualizacji danych w języku Python. Umożliwia tworzenie histogramów, wykresów rozrzutu, słupkowych, kołowych, itp. Wraz z NumPy jest używana do rozwiązywania zadań matematycznych.</a:t>
            </a:r>
          </a:p>
          <a:p>
            <a:pPr>
              <a:spcBef>
                <a:spcPts val="600"/>
              </a:spcBef>
            </a:pPr>
            <a:r>
              <a:rPr lang="pl-PL" sz="2000" b="1">
                <a:latin typeface="Arial Narrow" panose="020B0606020202030204" pitchFamily="34" charset="0"/>
              </a:rPr>
              <a:t>Seaborn</a:t>
            </a:r>
          </a:p>
          <a:p>
            <a:r>
              <a:rPr lang="pl-PL" sz="2000">
                <a:latin typeface="Arial Narrow" panose="020B0606020202030204" pitchFamily="34" charset="0"/>
              </a:rPr>
              <a:t>Do wizualizacji danych opartą na Matplotlib i dostarcza metod do wizualizacji statystycznych. Jest zintegrowana z NumPy i Pandas. Ma funkcje do operowania na ramkach danych (DataFrame) i tablicach. Zawiera ogromny zbiór narzędzi do złożonej wizualizacji. Umożliwia rysowanie wykresów kołowych, histogramów, wykresów rozrzutu, słupkowych itp.</a:t>
            </a:r>
          </a:p>
        </p:txBody>
      </p:sp>
      <p:sp>
        <p:nvSpPr>
          <p:cNvPr id="6" name="Rectangle 2">
            <a:extLst>
              <a:ext uri="{FF2B5EF4-FFF2-40B4-BE49-F238E27FC236}">
                <a16:creationId xmlns:a16="http://schemas.microsoft.com/office/drawing/2014/main" id="{F34F6651-E8A0-42BE-A5EC-EC334EF6FA74}"/>
              </a:ext>
            </a:extLst>
          </p:cNvPr>
          <p:cNvSpPr txBox="1">
            <a:spLocks noChangeArrowheads="1"/>
          </p:cNvSpPr>
          <p:nvPr/>
        </p:nvSpPr>
        <p:spPr>
          <a:xfrm>
            <a:off x="0" y="-38911"/>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a:ln>
                  <a:noFill/>
                </a:ln>
                <a:solidFill>
                  <a:schemeClr val="tx1"/>
                </a:solidFill>
                <a:effectLst/>
                <a:uLnTx/>
                <a:uFillTx/>
                <a:latin typeface="Arial" pitchFamily="34" charset="0"/>
                <a:ea typeface="+mj-lt"/>
                <a:cs typeface="Arial" pitchFamily="34" charset="0"/>
              </a:rPr>
              <a:t>Top Python libraries for DS</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30863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42</a:t>
            </a:fld>
            <a:endParaRPr lang="pl-PL" dirty="0"/>
          </a:p>
        </p:txBody>
      </p:sp>
      <p:sp>
        <p:nvSpPr>
          <p:cNvPr id="5" name="Rectangle 4"/>
          <p:cNvSpPr/>
          <p:nvPr/>
        </p:nvSpPr>
        <p:spPr>
          <a:xfrm>
            <a:off x="0" y="304800"/>
            <a:ext cx="9144000" cy="6247864"/>
          </a:xfrm>
          <a:prstGeom prst="rect">
            <a:avLst/>
          </a:prstGeom>
        </p:spPr>
        <p:txBody>
          <a:bodyPr wrap="square">
            <a:spAutoFit/>
          </a:bodyPr>
          <a:lstStyle/>
          <a:p>
            <a:r>
              <a:rPr lang="pl-PL" sz="2000" b="1">
                <a:solidFill>
                  <a:srgbClr val="0070C0"/>
                </a:solidFill>
                <a:latin typeface="Arial Narrow" panose="020B0606020202030204" pitchFamily="34" charset="0"/>
              </a:rPr>
              <a:t>Do uczenia maszynowego i uczenia głębokiego</a:t>
            </a:r>
          </a:p>
          <a:p>
            <a:pPr>
              <a:spcBef>
                <a:spcPts val="600"/>
              </a:spcBef>
            </a:pPr>
            <a:r>
              <a:rPr lang="pl-PL" sz="2000" b="1">
                <a:latin typeface="Arial Narrow" panose="020B0606020202030204" pitchFamily="34" charset="0"/>
              </a:rPr>
              <a:t>Scikit-learn</a:t>
            </a:r>
            <a:r>
              <a:rPr lang="pl-PL" sz="2000">
                <a:latin typeface="Arial Narrow" panose="020B0606020202030204" pitchFamily="34" charset="0"/>
              </a:rPr>
              <a:t> (sklearn, Google)</a:t>
            </a:r>
          </a:p>
          <a:p>
            <a:r>
              <a:rPr lang="pl-PL" sz="2000">
                <a:latin typeface="Arial Narrow" panose="020B0606020202030204" pitchFamily="34" charset="0"/>
              </a:rPr>
              <a:t>Używana do rozwiązywania różnych problemów, które obejmują regresję, klasyfikację. Dostarcza gotowych klasyfikatorów dla takich metod jak: jak maszyny wektorów nośnych, lasy losowe, kNN, naiwne klasyfikatory Bayesa, drzewa decyzyjne i wiele innych.</a:t>
            </a:r>
            <a:r>
              <a:rPr lang="en-US" sz="2000">
                <a:latin typeface="Arial Narrow" panose="020B0606020202030204" pitchFamily="34" charset="0"/>
              </a:rPr>
              <a:t> </a:t>
            </a:r>
            <a:endParaRPr lang="pl-PL" sz="2000">
              <a:latin typeface="Arial Narrow" panose="020B0606020202030204" pitchFamily="34" charset="0"/>
            </a:endParaRPr>
          </a:p>
          <a:p>
            <a:pPr>
              <a:spcBef>
                <a:spcPts val="600"/>
              </a:spcBef>
            </a:pPr>
            <a:r>
              <a:rPr lang="pl-PL" sz="2000" b="1">
                <a:latin typeface="Arial Narrow" panose="020B0606020202030204" pitchFamily="34" charset="0"/>
              </a:rPr>
              <a:t>TensorFlow</a:t>
            </a:r>
            <a:r>
              <a:rPr lang="pl-PL" sz="2000">
                <a:latin typeface="Arial Narrow" panose="020B0606020202030204" pitchFamily="34" charset="0"/>
              </a:rPr>
              <a:t> (Google)</a:t>
            </a:r>
          </a:p>
          <a:p>
            <a:r>
              <a:rPr lang="pl-PL" sz="2000">
                <a:latin typeface="Arial Narrow" panose="020B0606020202030204" pitchFamily="34" charset="0"/>
              </a:rPr>
              <a:t>Tensorflow to biblioteka pythonowa do implementacji sieci głębokich. Służy do opracowywania i wdrażania modeli uczenia maszynowego za pomocą wysokopoziomowych interfejsów API, takich jak Keras. Za pomocą TensorFlow można zaimplementować CNN (Convolutional neural network) i RNN (Recurrent neural networks).</a:t>
            </a:r>
            <a:endParaRPr lang="en-US" sz="2000">
              <a:latin typeface="Arial Narrow" panose="020B0606020202030204" pitchFamily="34" charset="0"/>
            </a:endParaRPr>
          </a:p>
          <a:p>
            <a:pPr>
              <a:spcBef>
                <a:spcPts val="600"/>
              </a:spcBef>
            </a:pPr>
            <a:r>
              <a:rPr lang="pl-PL" sz="2000" b="1">
                <a:latin typeface="Arial Narrow" panose="020B0606020202030204" pitchFamily="34" charset="0"/>
              </a:rPr>
              <a:t>Keras </a:t>
            </a:r>
            <a:r>
              <a:rPr lang="pl-PL" sz="2000">
                <a:latin typeface="Arial Narrow" panose="020B0606020202030204" pitchFamily="34" charset="0"/>
              </a:rPr>
              <a:t>(autor: François Chollet, inżynier Google)</a:t>
            </a:r>
          </a:p>
          <a:p>
            <a:r>
              <a:rPr lang="pl-PL" sz="2000">
                <a:latin typeface="Arial Narrow" panose="020B0606020202030204" pitchFamily="34" charset="0"/>
              </a:rPr>
              <a:t>Biblioteka do budowania sieci neuronowych. Dostarcza zoptymalizowane rozwiązania. Pozwala na szybszą iterację i wdrażanie modeli niż biblioteki, do których stanowi interface. Działa jako interfejs dla Tensorflow (od wersji 2.4 także innych).</a:t>
            </a:r>
          </a:p>
          <a:p>
            <a:pPr>
              <a:spcBef>
                <a:spcPts val="600"/>
              </a:spcBef>
            </a:pPr>
            <a:r>
              <a:rPr lang="pl-PL" sz="2000" b="1">
                <a:latin typeface="Arial Narrow" panose="020B0606020202030204" pitchFamily="34" charset="0"/>
              </a:rPr>
              <a:t>PyTorch</a:t>
            </a:r>
            <a:r>
              <a:rPr lang="pl-PL" sz="2000">
                <a:latin typeface="Arial Narrow" panose="020B0606020202030204" pitchFamily="34" charset="0"/>
              </a:rPr>
              <a:t> (Facebook)</a:t>
            </a:r>
          </a:p>
          <a:p>
            <a:r>
              <a:rPr lang="pl-PL" sz="2000">
                <a:latin typeface="Arial Narrow" panose="020B0606020202030204" pitchFamily="34" charset="0"/>
              </a:rPr>
              <a:t>Biblioteka Pythona, która służy do tworzenia modeli uczenia głębokiego. Została opracowana w laboratorium badawczym Facebooka. Jest wykorzystywana do wykonywania operacji na tensorach. Obsługuje obliczenia tensorowe z akceleracją GPU (</a:t>
            </a:r>
            <a:r>
              <a:rPr lang="pl-PL" sz="2000" i="1">
                <a:latin typeface="Arial Narrow" panose="020B0606020202030204" pitchFamily="34" charset="0"/>
              </a:rPr>
              <a:t>graphics processing unit</a:t>
            </a:r>
            <a:r>
              <a:rPr lang="pl-PL" sz="2000">
                <a:latin typeface="Arial Narrow" panose="020B0606020202030204" pitchFamily="34" charset="0"/>
              </a:rPr>
              <a:t>).</a:t>
            </a:r>
          </a:p>
          <a:p>
            <a:endParaRPr lang="pl-PL" sz="2000">
              <a:latin typeface="Arial Narrow" panose="020B0606020202030204" pitchFamily="34" charset="0"/>
            </a:endParaRPr>
          </a:p>
        </p:txBody>
      </p:sp>
      <p:sp>
        <p:nvSpPr>
          <p:cNvPr id="6" name="Rectangle 2">
            <a:extLst>
              <a:ext uri="{FF2B5EF4-FFF2-40B4-BE49-F238E27FC236}">
                <a16:creationId xmlns:a16="http://schemas.microsoft.com/office/drawing/2014/main" id="{F34F6651-E8A0-42BE-A5EC-EC334EF6FA74}"/>
              </a:ext>
            </a:extLst>
          </p:cNvPr>
          <p:cNvSpPr txBox="1">
            <a:spLocks noChangeArrowheads="1"/>
          </p:cNvSpPr>
          <p:nvPr/>
        </p:nvSpPr>
        <p:spPr>
          <a:xfrm>
            <a:off x="0" y="-38911"/>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a:ln>
                  <a:noFill/>
                </a:ln>
                <a:solidFill>
                  <a:schemeClr val="tx1"/>
                </a:solidFill>
                <a:effectLst/>
                <a:uLnTx/>
                <a:uFillTx/>
                <a:latin typeface="Arial" pitchFamily="34" charset="0"/>
                <a:ea typeface="+mj-lt"/>
                <a:cs typeface="Arial" pitchFamily="34" charset="0"/>
              </a:rPr>
              <a:t>Top Python libraries for DS</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18165659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43</a:t>
            </a:fld>
            <a:endParaRPr lang="pl-PL" dirty="0"/>
          </a:p>
        </p:txBody>
      </p:sp>
      <p:sp>
        <p:nvSpPr>
          <p:cNvPr id="5" name="Rectangle 2">
            <a:extLst>
              <a:ext uri="{FF2B5EF4-FFF2-40B4-BE49-F238E27FC236}">
                <a16:creationId xmlns:a16="http://schemas.microsoft.com/office/drawing/2014/main" id="{F34F6651-E8A0-42BE-A5EC-EC334EF6FA74}"/>
              </a:ext>
            </a:extLst>
          </p:cNvPr>
          <p:cNvSpPr txBox="1">
            <a:spLocks noChangeArrowheads="1"/>
          </p:cNvSpPr>
          <p:nvPr/>
        </p:nvSpPr>
        <p:spPr>
          <a:xfrm>
            <a:off x="0" y="-38911"/>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dirty="0">
                <a:ln>
                  <a:noFill/>
                </a:ln>
                <a:solidFill>
                  <a:schemeClr val="tx1"/>
                </a:solidFill>
                <a:effectLst/>
                <a:uLnTx/>
                <a:uFillTx/>
                <a:latin typeface="Arial" pitchFamily="34" charset="0"/>
                <a:ea typeface="+mj-lt"/>
                <a:cs typeface="Arial" pitchFamily="34" charset="0"/>
              </a:rPr>
              <a:t>Biblioteki do ML</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6" name="Rectangle 4"/>
          <p:cNvSpPr/>
          <p:nvPr/>
        </p:nvSpPr>
        <p:spPr>
          <a:xfrm>
            <a:off x="0" y="304800"/>
            <a:ext cx="9144000" cy="3170099"/>
          </a:xfrm>
          <a:prstGeom prst="rect">
            <a:avLst/>
          </a:prstGeom>
        </p:spPr>
        <p:txBody>
          <a:bodyPr wrap="square">
            <a:spAutoFit/>
          </a:bodyPr>
          <a:lstStyle/>
          <a:p>
            <a:r>
              <a:rPr lang="pl-PL" sz="2000" b="1" dirty="0">
                <a:latin typeface="Arial Narrow" panose="020B0606020202030204" pitchFamily="34" charset="0"/>
              </a:rPr>
              <a:t>Keras</a:t>
            </a:r>
            <a:r>
              <a:rPr lang="pl-PL" sz="2000" dirty="0">
                <a:latin typeface="Arial Narrow" panose="020B0606020202030204" pitchFamily="34" charset="0"/>
              </a:rPr>
              <a:t> – własności:</a:t>
            </a:r>
          </a:p>
          <a:p>
            <a:pPr marL="177800" indent="-177800">
              <a:buFont typeface="Arial" panose="020B0604020202020204" pitchFamily="34" charset="0"/>
              <a:buChar char="•"/>
            </a:pPr>
            <a:r>
              <a:rPr lang="pl-PL" sz="2000" dirty="0">
                <a:latin typeface="Arial Narrow" panose="020B0606020202030204" pitchFamily="34" charset="0"/>
              </a:rPr>
              <a:t>możliwość uruchamiania kodu na procesorach CPU i GPU,</a:t>
            </a:r>
          </a:p>
          <a:p>
            <a:pPr marL="177800" indent="-177800">
              <a:buFont typeface="Arial" panose="020B0604020202020204" pitchFamily="34" charset="0"/>
              <a:buChar char="•"/>
            </a:pPr>
            <a:r>
              <a:rPr lang="pl-PL" sz="2000" dirty="0">
                <a:latin typeface="Arial Narrow" panose="020B0606020202030204" pitchFamily="34" charset="0"/>
              </a:rPr>
              <a:t>przyjazny interfejs programistyczny,</a:t>
            </a:r>
          </a:p>
          <a:p>
            <a:pPr marL="177800" indent="-177800">
              <a:buFont typeface="Arial" panose="020B0604020202020204" pitchFamily="34" charset="0"/>
              <a:buChar char="•"/>
            </a:pPr>
            <a:r>
              <a:rPr lang="pl-PL" sz="2000" dirty="0">
                <a:latin typeface="Arial Narrow" panose="020B0606020202030204" pitchFamily="34" charset="0"/>
              </a:rPr>
              <a:t>wbudowana obsługa sieci konwolucyjnych (do przetwarzania obrazu), rekurencyjnych (do przetwarzania danych sekwencyjnych) oraz sieci będących połączeniem obu tych rozwiązań,</a:t>
            </a:r>
          </a:p>
          <a:p>
            <a:pPr marL="177800" indent="-177800">
              <a:buFont typeface="Arial" panose="020B0604020202020204" pitchFamily="34" charset="0"/>
              <a:buChar char="•"/>
            </a:pPr>
            <a:r>
              <a:rPr lang="pl-PL" sz="2000" dirty="0">
                <a:latin typeface="Arial Narrow" panose="020B0606020202030204" pitchFamily="34" charset="0"/>
              </a:rPr>
              <a:t>obsługa sieci o dowolnych architekturach,</a:t>
            </a:r>
          </a:p>
          <a:p>
            <a:pPr marL="177800" indent="-177800">
              <a:buFont typeface="Arial" panose="020B0604020202020204" pitchFamily="34" charset="0"/>
              <a:buChar char="•"/>
            </a:pPr>
            <a:r>
              <a:rPr lang="pl-PL" sz="2000" dirty="0">
                <a:latin typeface="Arial Narrow" panose="020B0606020202030204" pitchFamily="34" charset="0"/>
              </a:rPr>
              <a:t>kod może być uruchomiony bez modyfikacji na różnych platformach (Theano, CNTK, </a:t>
            </a:r>
            <a:r>
              <a:rPr lang="pl-PL" sz="2000" b="1">
                <a:latin typeface="Arial Narrow" panose="020B0606020202030204" pitchFamily="34" charset="0"/>
              </a:rPr>
              <a:t>TensorFlow</a:t>
            </a:r>
            <a:r>
              <a:rPr lang="pl-PL" sz="2000" dirty="0">
                <a:latin typeface="Arial Narrow" panose="020B0606020202030204" pitchFamily="34" charset="0"/>
              </a:rPr>
              <a:t>),</a:t>
            </a:r>
          </a:p>
          <a:p>
            <a:pPr marL="177800" indent="-177800">
              <a:buFont typeface="Arial" panose="020B0604020202020204" pitchFamily="34" charset="0"/>
              <a:buChar char="•"/>
            </a:pPr>
            <a:r>
              <a:rPr lang="pl-PL" sz="2000" dirty="0">
                <a:latin typeface="Arial Narrow" panose="020B0606020202030204" pitchFamily="34" charset="0"/>
              </a:rPr>
              <a:t>jej wykorzystanie pozwala na uproszczenie kodu w porównaniu z wykorzystaniem platform, na bazie których działa (</a:t>
            </a:r>
            <a:r>
              <a:rPr lang="pl-PL" sz="2000" dirty="0" err="1">
                <a:latin typeface="Arial Narrow" panose="020B0606020202030204" pitchFamily="34" charset="0"/>
              </a:rPr>
              <a:t>Theano</a:t>
            </a:r>
            <a:r>
              <a:rPr lang="pl-PL" sz="2000" dirty="0">
                <a:latin typeface="Arial Narrow" panose="020B0606020202030204" pitchFamily="34" charset="0"/>
              </a:rPr>
              <a:t>, CNTK, </a:t>
            </a:r>
            <a:r>
              <a:rPr lang="pl-PL" sz="2000">
                <a:latin typeface="Arial Narrow" panose="020B0606020202030204" pitchFamily="34" charset="0"/>
              </a:rPr>
              <a:t>TensorFlow).</a:t>
            </a:r>
            <a:endParaRPr lang="pl-PL" sz="2000" dirty="0">
              <a:latin typeface="Arial Narrow" panose="020B0606020202030204" pitchFamily="34" charset="0"/>
            </a:endParaRPr>
          </a:p>
        </p:txBody>
      </p:sp>
      <p:pic>
        <p:nvPicPr>
          <p:cNvPr id="7" name="Obraz 6"/>
          <p:cNvPicPr>
            <a:picLocks noChangeAspect="1"/>
          </p:cNvPicPr>
          <p:nvPr/>
        </p:nvPicPr>
        <p:blipFill>
          <a:blip r:embed="rId2"/>
          <a:stretch>
            <a:fillRect/>
          </a:stretch>
        </p:blipFill>
        <p:spPr>
          <a:xfrm>
            <a:off x="2362200" y="3657600"/>
            <a:ext cx="4572000" cy="2286000"/>
          </a:xfrm>
          <a:prstGeom prst="rect">
            <a:avLst/>
          </a:prstGeom>
        </p:spPr>
      </p:pic>
    </p:spTree>
    <p:extLst>
      <p:ext uri="{BB962C8B-B14F-4D97-AF65-F5344CB8AC3E}">
        <p14:creationId xmlns:p14="http://schemas.microsoft.com/office/powerpoint/2010/main" val="16934397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numeru slajdu 3"/>
          <p:cNvSpPr>
            <a:spLocks noGrp="1"/>
          </p:cNvSpPr>
          <p:nvPr>
            <p:ph type="sldNum" sz="quarter" idx="12"/>
          </p:nvPr>
        </p:nvSpPr>
        <p:spPr/>
        <p:txBody>
          <a:bodyPr/>
          <a:lstStyle/>
          <a:p>
            <a:fld id="{20D4B2D9-DB10-4EB9-B7A6-032A6D4E75AC}" type="slidenum">
              <a:rPr lang="pl-PL" smtClean="0"/>
              <a:pPr/>
              <a:t>44</a:t>
            </a:fld>
            <a:endParaRPr lang="pl-PL" dirty="0"/>
          </a:p>
        </p:txBody>
      </p:sp>
      <p:sp>
        <p:nvSpPr>
          <p:cNvPr id="5" name="Rectangle 2">
            <a:extLst>
              <a:ext uri="{FF2B5EF4-FFF2-40B4-BE49-F238E27FC236}">
                <a16:creationId xmlns:a16="http://schemas.microsoft.com/office/drawing/2014/main" id="{F34F6651-E8A0-42BE-A5EC-EC334EF6FA74}"/>
              </a:ext>
            </a:extLst>
          </p:cNvPr>
          <p:cNvSpPr txBox="1">
            <a:spLocks noChangeArrowheads="1"/>
          </p:cNvSpPr>
          <p:nvPr/>
        </p:nvSpPr>
        <p:spPr>
          <a:xfrm>
            <a:off x="0" y="-38911"/>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pl-PL" sz="1600" b="0" i="0" u="none" strike="noStrike" kern="1200" cap="none" spc="0" normalizeH="0" baseline="0" noProof="0">
                <a:ln>
                  <a:noFill/>
                </a:ln>
                <a:solidFill>
                  <a:schemeClr val="tx1"/>
                </a:solidFill>
                <a:effectLst/>
                <a:uLnTx/>
                <a:uFillTx/>
                <a:latin typeface="Arial" pitchFamily="34" charset="0"/>
                <a:ea typeface="+mj-lt"/>
                <a:cs typeface="Arial" pitchFamily="34" charset="0"/>
              </a:rPr>
              <a:t>Python – środowiska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
        <p:nvSpPr>
          <p:cNvPr id="6" name="Rectangle 4"/>
          <p:cNvSpPr/>
          <p:nvPr/>
        </p:nvSpPr>
        <p:spPr>
          <a:xfrm>
            <a:off x="0" y="257784"/>
            <a:ext cx="9144000" cy="6401753"/>
          </a:xfrm>
          <a:prstGeom prst="rect">
            <a:avLst/>
          </a:prstGeom>
        </p:spPr>
        <p:txBody>
          <a:bodyPr wrap="square">
            <a:spAutoFit/>
          </a:bodyPr>
          <a:lstStyle/>
          <a:p>
            <a:r>
              <a:rPr lang="pl-PL" sz="2000" b="1">
                <a:latin typeface="Arial Narrow" panose="020B0606020202030204" pitchFamily="34" charset="0"/>
              </a:rPr>
              <a:t>Środowiska do ML w Python:</a:t>
            </a:r>
          </a:p>
          <a:p>
            <a:pPr>
              <a:spcBef>
                <a:spcPts val="600"/>
              </a:spcBef>
            </a:pPr>
            <a:r>
              <a:rPr lang="pl-PL" sz="2000" b="1">
                <a:latin typeface="Arial Narrow" panose="020B0606020202030204" pitchFamily="34" charset="0"/>
              </a:rPr>
              <a:t>Anaconda</a:t>
            </a:r>
          </a:p>
          <a:p>
            <a:pPr marL="174625" indent="-174625">
              <a:buFont typeface="Arial" panose="020B0604020202020204" pitchFamily="34" charset="0"/>
              <a:buChar char="•"/>
            </a:pPr>
            <a:r>
              <a:rPr lang="pl-PL" sz="2000">
                <a:latin typeface="Arial Narrow" panose="020B0606020202030204" pitchFamily="34" charset="0"/>
              </a:rPr>
              <a:t>najpopularniejsza platforma desktopowa do obliczeń naukowych w R i Python</a:t>
            </a:r>
          </a:p>
          <a:p>
            <a:pPr marL="174625" indent="-174625">
              <a:buFont typeface="Arial" panose="020B0604020202020204" pitchFamily="34" charset="0"/>
              <a:buChar char="•"/>
            </a:pPr>
            <a:r>
              <a:rPr lang="pl-PL" sz="2000">
                <a:latin typeface="Arial Narrow" panose="020B0606020202030204" pitchFamily="34" charset="0"/>
              </a:rPr>
              <a:t>umożliwia łatwe zarządzanie pakietami oprogramowania </a:t>
            </a:r>
            <a:br>
              <a:rPr lang="pl-PL" sz="2000">
                <a:latin typeface="Arial Narrow" panose="020B0606020202030204" pitchFamily="34" charset="0"/>
              </a:rPr>
            </a:br>
            <a:r>
              <a:rPr lang="pl-PL" sz="2000">
                <a:latin typeface="Arial Narrow" panose="020B0606020202030204" pitchFamily="34" charset="0"/>
              </a:rPr>
              <a:t>(kilkaset pakietów instalowanych automatycznie)</a:t>
            </a:r>
          </a:p>
          <a:p>
            <a:pPr marL="174625" indent="-174625">
              <a:buFont typeface="Arial" panose="020B0604020202020204" pitchFamily="34" charset="0"/>
              <a:buChar char="•"/>
            </a:pPr>
            <a:r>
              <a:rPr lang="pl-PL" sz="2000">
                <a:latin typeface="Arial Narrow" panose="020B0606020202030204" pitchFamily="34" charset="0"/>
              </a:rPr>
              <a:t>dostępna na Windows, Linux i macOS</a:t>
            </a:r>
          </a:p>
          <a:p>
            <a:pPr>
              <a:spcBef>
                <a:spcPts val="600"/>
              </a:spcBef>
            </a:pPr>
            <a:r>
              <a:rPr lang="en-GB" sz="2000" b="1">
                <a:latin typeface="Arial Narrow" panose="020B0606020202030204" pitchFamily="34" charset="0"/>
              </a:rPr>
              <a:t>Goodle COLABORATORY</a:t>
            </a:r>
            <a:r>
              <a:rPr lang="pl-PL" sz="2000" b="1">
                <a:latin typeface="Arial Narrow" panose="020B0606020202030204" pitchFamily="34" charset="0"/>
              </a:rPr>
              <a:t> 	https://</a:t>
            </a:r>
            <a:r>
              <a:rPr lang="en-GB" sz="2000" b="1">
                <a:latin typeface="Arial Narrow" panose="020B0606020202030204" pitchFamily="34" charset="0"/>
              </a:rPr>
              <a:t>colab.research.google.com</a:t>
            </a:r>
            <a:endParaRPr lang="pl-PL" sz="2000" b="1">
              <a:latin typeface="Arial Narrow" panose="020B0606020202030204" pitchFamily="34" charset="0"/>
            </a:endParaRPr>
          </a:p>
          <a:p>
            <a:pPr marL="174625" indent="-174625">
              <a:buFont typeface="Arial" panose="020B0604020202020204" pitchFamily="34" charset="0"/>
              <a:buChar char="•"/>
            </a:pPr>
            <a:r>
              <a:rPr lang="pl-PL" sz="2000">
                <a:latin typeface="Arial Narrow" panose="020B0606020202030204" pitchFamily="34" charset="0"/>
              </a:rPr>
              <a:t>środowisko „przeglądarkowe” (chmurowy Jupyter)</a:t>
            </a:r>
          </a:p>
          <a:p>
            <a:pPr marL="174625" indent="-174625">
              <a:buFont typeface="Arial" panose="020B0604020202020204" pitchFamily="34" charset="0"/>
              <a:buChar char="•"/>
            </a:pPr>
            <a:r>
              <a:rPr lang="pl-PL" sz="2000">
                <a:latin typeface="Arial Narrow" panose="020B0606020202030204" pitchFamily="34" charset="0"/>
              </a:rPr>
              <a:t>obliczenia wykonywane w chmurze, pliki zapisywane na dysku google</a:t>
            </a:r>
          </a:p>
          <a:p>
            <a:pPr marL="174625" indent="-174625">
              <a:buFont typeface="Arial" panose="020B0604020202020204" pitchFamily="34" charset="0"/>
              <a:buChar char="•"/>
            </a:pPr>
            <a:r>
              <a:rPr lang="pl-PL" sz="2000">
                <a:latin typeface="Arial Narrow" panose="020B0606020202030204" pitchFamily="34" charset="0"/>
              </a:rPr>
              <a:t>umożliwia wykonywanie obliczeń z wykorzystaniem GPU i TPU (Tensor Processing Units, wspomaganie dla TensorFlow, może znacznie skrócić czas uczenia modeli, nawet w porównaniu z GPU)</a:t>
            </a:r>
            <a:br>
              <a:rPr lang="pl-PL" sz="2000">
                <a:latin typeface="Arial Narrow" panose="020B0606020202030204" pitchFamily="34" charset="0"/>
              </a:rPr>
            </a:br>
            <a:r>
              <a:rPr lang="pl-PL" sz="2000">
                <a:latin typeface="Arial Narrow" panose="020B0606020202030204" pitchFamily="34" charset="0"/>
              </a:rPr>
              <a:t>GPU/TPU szczegóły: https://cloud.google.com/tpu/docs/tpus</a:t>
            </a:r>
            <a:br>
              <a:rPr lang="pl-PL" sz="2000">
                <a:latin typeface="Arial Narrow" panose="020B0606020202030204" pitchFamily="34" charset="0"/>
              </a:rPr>
            </a:br>
            <a:r>
              <a:rPr lang="pl-PL" sz="2000">
                <a:latin typeface="Arial Narrow" panose="020B0606020202030204" pitchFamily="34" charset="0"/>
              </a:rPr>
              <a:t>Warunki i ograniczenia na stronie:</a:t>
            </a:r>
            <a:br>
              <a:rPr lang="pl-PL" sz="2000">
                <a:latin typeface="Arial Narrow" panose="020B0606020202030204" pitchFamily="34" charset="0"/>
              </a:rPr>
            </a:br>
            <a:r>
              <a:rPr lang="pl-PL" sz="2000">
                <a:latin typeface="Arial Narrow" panose="020B0606020202030204" pitchFamily="34" charset="0"/>
              </a:rPr>
              <a:t>https://research.google.com/colaboratory/faq.html#resource-limits</a:t>
            </a:r>
          </a:p>
          <a:p>
            <a:endParaRPr lang="pl-PL" sz="2000" b="1">
              <a:latin typeface="Arial Narrow" panose="020B0606020202030204" pitchFamily="34" charset="0"/>
            </a:endParaRPr>
          </a:p>
          <a:p>
            <a:r>
              <a:rPr lang="pl-PL" sz="2000" b="1">
                <a:latin typeface="Arial Narrow" panose="020B0606020202030204" pitchFamily="34" charset="0"/>
              </a:rPr>
              <a:t>Inne:</a:t>
            </a:r>
          </a:p>
          <a:p>
            <a:r>
              <a:rPr lang="pl-PL" sz="2000">
                <a:latin typeface="Arial Narrow" panose="020B0606020202030204" pitchFamily="34" charset="0"/>
              </a:rPr>
              <a:t>PyCharm, Visual Studio, Sublime Text, VIM, IDLE, …</a:t>
            </a:r>
          </a:p>
          <a:p>
            <a:r>
              <a:rPr lang="pl-PL" sz="2000" b="1">
                <a:latin typeface="Arial Narrow" panose="020B0606020202030204" pitchFamily="34" charset="0"/>
              </a:rPr>
              <a:t>oraz, dostępne m.in. w środowisku Anacondy:</a:t>
            </a:r>
          </a:p>
          <a:p>
            <a:r>
              <a:rPr lang="pl-PL" sz="2000">
                <a:latin typeface="Arial Narrow" panose="020B0606020202030204" pitchFamily="34" charset="0"/>
              </a:rPr>
              <a:t>Jupyter, Spider</a:t>
            </a:r>
            <a:endParaRPr lang="pl-PL" sz="2400" dirty="0">
              <a:latin typeface="Arial Narrow" panose="020B0606020202030204" pitchFamily="34" charset="0"/>
            </a:endParaRPr>
          </a:p>
        </p:txBody>
      </p:sp>
    </p:spTree>
    <p:extLst>
      <p:ext uri="{BB962C8B-B14F-4D97-AF65-F5344CB8AC3E}">
        <p14:creationId xmlns:p14="http://schemas.microsoft.com/office/powerpoint/2010/main" val="36822914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21E2A2-5F61-49BF-A264-AEC3DD620D72}"/>
              </a:ext>
            </a:extLst>
          </p:cNvPr>
          <p:cNvSpPr>
            <a:spLocks noGrp="1"/>
          </p:cNvSpPr>
          <p:nvPr>
            <p:ph type="sldNum" sz="quarter" idx="12"/>
          </p:nvPr>
        </p:nvSpPr>
        <p:spPr/>
        <p:txBody>
          <a:bodyPr/>
          <a:lstStyle/>
          <a:p>
            <a:fld id="{20D4B2D9-DB10-4EB9-B7A6-032A6D4E75AC}" type="slidenum">
              <a:rPr lang="pl-PL" smtClean="0"/>
              <a:pPr/>
              <a:t>45</a:t>
            </a:fld>
            <a:endParaRPr lang="pl-PL" dirty="0"/>
          </a:p>
        </p:txBody>
      </p:sp>
      <p:sp>
        <p:nvSpPr>
          <p:cNvPr id="5" name="TextBox 5">
            <a:extLst>
              <a:ext uri="{FF2B5EF4-FFF2-40B4-BE49-F238E27FC236}">
                <a16:creationId xmlns:a16="http://schemas.microsoft.com/office/drawing/2014/main" id="{706E848A-E3D1-498B-B628-1B55B5EC489A}"/>
              </a:ext>
            </a:extLst>
          </p:cNvPr>
          <p:cNvSpPr txBox="1"/>
          <p:nvPr/>
        </p:nvSpPr>
        <p:spPr>
          <a:xfrm>
            <a:off x="0" y="304799"/>
            <a:ext cx="9144000" cy="6416675"/>
          </a:xfrm>
          <a:prstGeom prst="rect">
            <a:avLst/>
          </a:prstGeom>
          <a:noFill/>
        </p:spPr>
        <p:txBody>
          <a:bodyPr wrap="square" lIns="18000" tIns="18000" rIns="18000" bIns="18000" rtlCol="0">
            <a:noAutofit/>
          </a:bodyPr>
          <a:lstStyle/>
          <a:p>
            <a:r>
              <a:rPr lang="pl-PL" sz="2000" b="1" dirty="0">
                <a:latin typeface="Arial Narrow" panose="020B0606020202030204" pitchFamily="34" charset="0"/>
              </a:rPr>
              <a:t>Powtórka:</a:t>
            </a:r>
          </a:p>
          <a:p>
            <a:pPr marL="177800" indent="-177800">
              <a:buFont typeface="Arial" panose="020B0604020202020204" pitchFamily="34" charset="0"/>
              <a:buChar char="•"/>
            </a:pPr>
            <a:r>
              <a:rPr lang="pl-PL" sz="2000" dirty="0">
                <a:latin typeface="Arial Narrow" panose="020B0606020202030204" pitchFamily="34" charset="0"/>
              </a:rPr>
              <a:t>różnica między programowaniem a uczeniem maszynowym</a:t>
            </a:r>
          </a:p>
          <a:p>
            <a:pPr marL="177800" indent="-177800">
              <a:buFont typeface="Arial" panose="020B0604020202020204" pitchFamily="34" charset="0"/>
              <a:buChar char="•"/>
            </a:pPr>
            <a:r>
              <a:rPr lang="pl-PL" sz="2000" dirty="0">
                <a:latin typeface="Arial Narrow" panose="020B0606020202030204" pitchFamily="34" charset="0"/>
              </a:rPr>
              <a:t>próbka</a:t>
            </a:r>
          </a:p>
          <a:p>
            <a:pPr marL="177800" indent="-177800">
              <a:buFont typeface="Arial" panose="020B0604020202020204" pitchFamily="34" charset="0"/>
              <a:buChar char="•"/>
            </a:pPr>
            <a:r>
              <a:rPr lang="pl-PL" sz="2000" dirty="0">
                <a:latin typeface="Arial Narrow" panose="020B0606020202030204" pitchFamily="34" charset="0"/>
              </a:rPr>
              <a:t>klasa</a:t>
            </a:r>
          </a:p>
          <a:p>
            <a:pPr marL="177800" indent="-177800">
              <a:buFont typeface="Arial" panose="020B0604020202020204" pitchFamily="34" charset="0"/>
              <a:buChar char="•"/>
            </a:pPr>
            <a:r>
              <a:rPr lang="pl-PL" sz="2000" dirty="0">
                <a:latin typeface="Arial Narrow" panose="020B0606020202030204" pitchFamily="34" charset="0"/>
              </a:rPr>
              <a:t>etykieta</a:t>
            </a:r>
          </a:p>
          <a:p>
            <a:pPr marL="177800" indent="-177800">
              <a:buFont typeface="Arial" panose="020B0604020202020204" pitchFamily="34" charset="0"/>
              <a:buChar char="•"/>
            </a:pPr>
            <a:r>
              <a:rPr lang="pl-PL" sz="2000" dirty="0">
                <a:latin typeface="Arial Narrow" panose="020B0606020202030204" pitchFamily="34" charset="0"/>
              </a:rPr>
              <a:t>wsad</a:t>
            </a:r>
          </a:p>
          <a:p>
            <a:pPr marL="177800" indent="-177800">
              <a:buFont typeface="Arial" panose="020B0604020202020204" pitchFamily="34" charset="0"/>
              <a:buChar char="•"/>
            </a:pPr>
            <a:r>
              <a:rPr lang="pl-PL" sz="2000" dirty="0">
                <a:latin typeface="Arial Narrow" panose="020B0606020202030204" pitchFamily="34" charset="0"/>
              </a:rPr>
              <a:t>epoka</a:t>
            </a:r>
          </a:p>
          <a:p>
            <a:pPr marL="177800" indent="-177800">
              <a:buFont typeface="Arial" panose="020B0604020202020204" pitchFamily="34" charset="0"/>
              <a:buChar char="•"/>
            </a:pPr>
            <a:r>
              <a:rPr lang="pl-PL" sz="2000" dirty="0">
                <a:latin typeface="Arial Narrow" panose="020B0606020202030204" pitchFamily="34" charset="0"/>
              </a:rPr>
              <a:t>parametry (wagi) a </a:t>
            </a:r>
            <a:r>
              <a:rPr lang="pl-PL" sz="2000">
                <a:latin typeface="Arial Narrow" panose="020B0606020202030204" pitchFamily="34" charset="0"/>
              </a:rPr>
              <a:t>hiperparametry</a:t>
            </a:r>
            <a:r>
              <a:rPr lang="pl-PL" sz="2000" dirty="0">
                <a:latin typeface="Arial Narrow" panose="020B0606020202030204" pitchFamily="34" charset="0"/>
              </a:rPr>
              <a:t> modelu</a:t>
            </a:r>
          </a:p>
          <a:p>
            <a:pPr marL="177800" indent="-177800">
              <a:buFont typeface="Arial" panose="020B0604020202020204" pitchFamily="34" charset="0"/>
              <a:buChar char="•"/>
            </a:pPr>
            <a:r>
              <a:rPr lang="pl-PL" sz="2000" dirty="0">
                <a:latin typeface="Arial Narrow" panose="020B0606020202030204" pitchFamily="34" charset="0"/>
              </a:rPr>
              <a:t>dane wejściowe, wyjściowe i docelowe</a:t>
            </a:r>
          </a:p>
          <a:p>
            <a:pPr marL="177800" indent="-177800">
              <a:buFont typeface="Arial" panose="020B0604020202020204" pitchFamily="34" charset="0"/>
              <a:buChar char="•"/>
            </a:pPr>
            <a:r>
              <a:rPr lang="pl-PL" sz="2000" dirty="0">
                <a:latin typeface="Arial Narrow" panose="020B0606020202030204" pitchFamily="34" charset="0"/>
              </a:rPr>
              <a:t>tensor, atrybuty tensorów (liczba osi, kształt, typ danych)</a:t>
            </a:r>
          </a:p>
          <a:p>
            <a:pPr marL="177800" indent="-177800">
              <a:buFont typeface="Arial" panose="020B0604020202020204" pitchFamily="34" charset="0"/>
              <a:buChar char="•"/>
            </a:pPr>
            <a:r>
              <a:rPr lang="pl-PL" sz="2000" dirty="0">
                <a:latin typeface="Arial Narrow" panose="020B0606020202030204" pitchFamily="34" charset="0"/>
              </a:rPr>
              <a:t>rodzaje zadań uczenia maszynowego:</a:t>
            </a:r>
          </a:p>
          <a:p>
            <a:r>
              <a:rPr lang="pl-PL" sz="2000" dirty="0">
                <a:latin typeface="Arial Narrow" panose="020B0606020202030204" pitchFamily="34" charset="0"/>
              </a:rPr>
              <a:t>	</a:t>
            </a:r>
            <a:r>
              <a:rPr lang="pl-PL" sz="2000" dirty="0" err="1">
                <a:latin typeface="Arial Narrow" panose="020B0606020202030204" pitchFamily="34" charset="0"/>
              </a:rPr>
              <a:t>jednoetykietowa</a:t>
            </a:r>
            <a:r>
              <a:rPr lang="pl-PL" sz="2000" dirty="0">
                <a:latin typeface="Arial Narrow" panose="020B0606020202030204" pitchFamily="34" charset="0"/>
              </a:rPr>
              <a:t>/</a:t>
            </a:r>
            <a:r>
              <a:rPr lang="pl-PL" sz="2000" dirty="0" err="1">
                <a:latin typeface="Arial Narrow" panose="020B0606020202030204" pitchFamily="34" charset="0"/>
              </a:rPr>
              <a:t>wieloetykietowa</a:t>
            </a:r>
            <a:r>
              <a:rPr lang="pl-PL" sz="2000" dirty="0">
                <a:latin typeface="Arial Narrow" panose="020B0606020202030204" pitchFamily="34" charset="0"/>
              </a:rPr>
              <a:t> klasyfikacja binarna i wieloklasowa</a:t>
            </a:r>
          </a:p>
          <a:p>
            <a:r>
              <a:rPr lang="pl-PL" sz="2000" dirty="0">
                <a:latin typeface="Arial Narrow" panose="020B0606020202030204" pitchFamily="34" charset="0"/>
              </a:rPr>
              <a:t>	regresja skalarna/wektorowa</a:t>
            </a:r>
          </a:p>
          <a:p>
            <a:pPr marL="177800" indent="-177800">
              <a:buFont typeface="Arial" panose="020B0604020202020204" pitchFamily="34" charset="0"/>
              <a:buChar char="•"/>
            </a:pPr>
            <a:r>
              <a:rPr lang="pl-PL" sz="2000" dirty="0">
                <a:latin typeface="Arial Narrow" panose="020B0606020202030204" pitchFamily="34" charset="0"/>
              </a:rPr>
              <a:t>metody uczenia maszynowego ze względu na sposób uczenia</a:t>
            </a:r>
          </a:p>
          <a:p>
            <a:pPr marL="177800" indent="-177800">
              <a:buFont typeface="Arial" panose="020B0604020202020204" pitchFamily="34" charset="0"/>
              <a:buChar char="•"/>
            </a:pPr>
            <a:r>
              <a:rPr lang="pl-PL" sz="2000" dirty="0">
                <a:latin typeface="Arial Narrow" panose="020B0606020202030204" pitchFamily="34" charset="0"/>
              </a:rPr>
              <a:t>klasyfikacja danych</a:t>
            </a:r>
          </a:p>
          <a:p>
            <a:pPr marL="177800" indent="-177800">
              <a:buFont typeface="Arial" panose="020B0604020202020204" pitchFamily="34" charset="0"/>
              <a:buChar char="•"/>
            </a:pPr>
            <a:r>
              <a:rPr lang="pl-PL" sz="2000" dirty="0">
                <a:latin typeface="Arial Narrow" panose="020B0606020202030204" pitchFamily="34" charset="0"/>
              </a:rPr>
              <a:t>metody wstępnego przetwarzania danych przed skierowaniem ich do modelu</a:t>
            </a:r>
          </a:p>
          <a:p>
            <a:pPr marL="177800" indent="-177800">
              <a:buFont typeface="Arial" panose="020B0604020202020204" pitchFamily="34" charset="0"/>
              <a:buChar char="•"/>
            </a:pPr>
            <a:r>
              <a:rPr lang="pl-PL" sz="2000" dirty="0">
                <a:latin typeface="Arial Narrow" panose="020B0606020202030204" pitchFamily="34" charset="0"/>
              </a:rPr>
              <a:t>biblioteki </a:t>
            </a:r>
            <a:r>
              <a:rPr lang="pl-PL" sz="2000" dirty="0" err="1">
                <a:latin typeface="Arial Narrow" panose="020B0606020202030204" pitchFamily="34" charset="0"/>
              </a:rPr>
              <a:t>Pythona</a:t>
            </a:r>
            <a:r>
              <a:rPr lang="pl-PL" sz="2000" dirty="0">
                <a:latin typeface="Arial Narrow" panose="020B0606020202030204" pitchFamily="34" charset="0"/>
              </a:rPr>
              <a:t> do uczenia maszynowego</a:t>
            </a:r>
          </a:p>
        </p:txBody>
      </p:sp>
      <p:sp>
        <p:nvSpPr>
          <p:cNvPr id="6" name="Rectangle 2">
            <a:extLst>
              <a:ext uri="{FF2B5EF4-FFF2-40B4-BE49-F238E27FC236}">
                <a16:creationId xmlns:a16="http://schemas.microsoft.com/office/drawing/2014/main" id="{69E649FF-D7E6-4789-95B4-9FFCC1D8027B}"/>
              </a:ext>
            </a:extLst>
          </p:cNvPr>
          <p:cNvSpPr txBox="1">
            <a:spLocks noChangeArrowheads="1"/>
          </p:cNvSpPr>
          <p:nvPr/>
        </p:nvSpPr>
        <p:spPr>
          <a:xfrm>
            <a:off x="0" y="0"/>
            <a:ext cx="9144000" cy="304800"/>
          </a:xfrm>
          <a:prstGeom prst="rect">
            <a:avLst/>
          </a:prstGeom>
          <a:solidFill>
            <a:srgbClr val="FFC000"/>
          </a:solidFill>
          <a:ln>
            <a:solidFill>
              <a:schemeClr val="tx1"/>
            </a:solidFill>
          </a:ln>
        </p:spPr>
        <p:txBody>
          <a:bodyPr vert="horz" wrap="square" lIns="91440" tIns="45720" rIns="91440" bIns="45720" numCol="1" anchor="t"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pl-PL" sz="1600" dirty="0">
                <a:latin typeface="Arial" pitchFamily="34" charset="0"/>
                <a:ea typeface="+mj-lt"/>
                <a:cs typeface="Arial" pitchFamily="34" charset="0"/>
              </a:rPr>
              <a:t>Powtórka</a:t>
            </a:r>
            <a:endParaRPr kumimoji="0" lang="en-GB" sz="4400" b="0" i="0" u="none" strike="noStrike" kern="1200" cap="none" spc="0" normalizeH="0" baseline="0" noProof="0" dirty="0">
              <a:ln>
                <a:noFill/>
              </a:ln>
              <a:solidFill>
                <a:schemeClr val="tx1"/>
              </a:solidFill>
              <a:effectLst/>
              <a:uLnTx/>
              <a:uFillTx/>
              <a:latin typeface="Arial" pitchFamily="34" charset="0"/>
              <a:ea typeface="+mj-lt"/>
              <a:cs typeface="Arial" pitchFamily="34" charset="0"/>
            </a:endParaRPr>
          </a:p>
        </p:txBody>
      </p:sp>
    </p:spTree>
    <p:extLst>
      <p:ext uri="{BB962C8B-B14F-4D97-AF65-F5344CB8AC3E}">
        <p14:creationId xmlns:p14="http://schemas.microsoft.com/office/powerpoint/2010/main" val="2305517675"/>
      </p:ext>
    </p:extLst>
  </p:cSld>
  <p:clrMapOvr>
    <a:masterClrMapping/>
  </p:clrMapOvr>
</p:sld>
</file>

<file path=ppt/theme/theme1.xml><?xml version="1.0" encoding="utf-8"?>
<a:theme xmlns:a="http://schemas.openxmlformats.org/drawingml/2006/main" name="Projekt niestandardowy">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rojekt niestandardowy">
  <a:themeElements>
    <a:clrScheme name="Pakiet 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EDI</Template>
  <TotalTime>11582</TotalTime>
  <Words>5503</Words>
  <Application>Microsoft Office PowerPoint</Application>
  <PresentationFormat>On-screen Show (4:3)</PresentationFormat>
  <Paragraphs>518</Paragraphs>
  <Slides>45</Slides>
  <Notes>4</Notes>
  <HiddenSlides>1</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45</vt:i4>
      </vt:variant>
    </vt:vector>
  </HeadingPairs>
  <TitlesOfParts>
    <vt:vector size="53" baseType="lpstr">
      <vt:lpstr>Arial</vt:lpstr>
      <vt:lpstr>Arial Narrow</vt:lpstr>
      <vt:lpstr>Avenir Next W1G</vt:lpstr>
      <vt:lpstr>Calibri</vt:lpstr>
      <vt:lpstr>Candara</vt:lpstr>
      <vt:lpstr>Garamond</vt:lpstr>
      <vt:lpstr>Projekt niestandardowy</vt:lpstr>
      <vt:lpstr>1_Projekt niestandardowy</vt:lpstr>
      <vt:lpstr>Modele uczenia maszynowego  Dariusz 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Dariusz Put</cp:lastModifiedBy>
  <cp:revision>1253</cp:revision>
  <cp:lastPrinted>1601-01-01T00:00:00Z</cp:lastPrinted>
  <dcterms:created xsi:type="dcterms:W3CDTF">1601-01-01T00:00:00Z</dcterms:created>
  <dcterms:modified xsi:type="dcterms:W3CDTF">2024-02-29T07:53:30Z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