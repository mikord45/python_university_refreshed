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11" r:id="rId1"/>
    <p:sldMasterId id="2147484236" r:id="rId2"/>
  </p:sldMasterIdLst>
  <p:notesMasterIdLst>
    <p:notesMasterId r:id="rId89"/>
  </p:notesMasterIdLst>
  <p:handoutMasterIdLst>
    <p:handoutMasterId r:id="rId90"/>
  </p:handoutMasterIdLst>
  <p:sldIdLst>
    <p:sldId id="291" r:id="rId3"/>
    <p:sldId id="511" r:id="rId4"/>
    <p:sldId id="534" r:id="rId5"/>
    <p:sldId id="536" r:id="rId6"/>
    <p:sldId id="571" r:id="rId7"/>
    <p:sldId id="570" r:id="rId8"/>
    <p:sldId id="572" r:id="rId9"/>
    <p:sldId id="535" r:id="rId10"/>
    <p:sldId id="569" r:id="rId11"/>
    <p:sldId id="456" r:id="rId12"/>
    <p:sldId id="544" r:id="rId13"/>
    <p:sldId id="467" r:id="rId14"/>
    <p:sldId id="468" r:id="rId15"/>
    <p:sldId id="558" r:id="rId16"/>
    <p:sldId id="469" r:id="rId17"/>
    <p:sldId id="460" r:id="rId18"/>
    <p:sldId id="510" r:id="rId19"/>
    <p:sldId id="543" r:id="rId20"/>
    <p:sldId id="488" r:id="rId21"/>
    <p:sldId id="491" r:id="rId22"/>
    <p:sldId id="513" r:id="rId23"/>
    <p:sldId id="566" r:id="rId24"/>
    <p:sldId id="439" r:id="rId25"/>
    <p:sldId id="438" r:id="rId26"/>
    <p:sldId id="568" r:id="rId27"/>
    <p:sldId id="507" r:id="rId28"/>
    <p:sldId id="567" r:id="rId29"/>
    <p:sldId id="493" r:id="rId30"/>
    <p:sldId id="494" r:id="rId31"/>
    <p:sldId id="495" r:id="rId32"/>
    <p:sldId id="496" r:id="rId33"/>
    <p:sldId id="530" r:id="rId34"/>
    <p:sldId id="497" r:id="rId35"/>
    <p:sldId id="506" r:id="rId36"/>
    <p:sldId id="498" r:id="rId37"/>
    <p:sldId id="542" r:id="rId38"/>
    <p:sldId id="541" r:id="rId39"/>
    <p:sldId id="537" r:id="rId40"/>
    <p:sldId id="520" r:id="rId41"/>
    <p:sldId id="547" r:id="rId42"/>
    <p:sldId id="548" r:id="rId43"/>
    <p:sldId id="459" r:id="rId44"/>
    <p:sldId id="521" r:id="rId45"/>
    <p:sldId id="523" r:id="rId46"/>
    <p:sldId id="549" r:id="rId47"/>
    <p:sldId id="550" r:id="rId48"/>
    <p:sldId id="551" r:id="rId49"/>
    <p:sldId id="522" r:id="rId50"/>
    <p:sldId id="545" r:id="rId51"/>
    <p:sldId id="552" r:id="rId52"/>
    <p:sldId id="557" r:id="rId53"/>
    <p:sldId id="556" r:id="rId54"/>
    <p:sldId id="553" r:id="rId55"/>
    <p:sldId id="554" r:id="rId56"/>
    <p:sldId id="485" r:id="rId57"/>
    <p:sldId id="501" r:id="rId58"/>
    <p:sldId id="476" r:id="rId59"/>
    <p:sldId id="502" r:id="rId60"/>
    <p:sldId id="503" r:id="rId61"/>
    <p:sldId id="466" r:id="rId62"/>
    <p:sldId id="527" r:id="rId63"/>
    <p:sldId id="528" r:id="rId64"/>
    <p:sldId id="533" r:id="rId65"/>
    <p:sldId id="529" r:id="rId66"/>
    <p:sldId id="555" r:id="rId67"/>
    <p:sldId id="472" r:id="rId68"/>
    <p:sldId id="473" r:id="rId69"/>
    <p:sldId id="531" r:id="rId70"/>
    <p:sldId id="573" r:id="rId71"/>
    <p:sldId id="574" r:id="rId72"/>
    <p:sldId id="575" r:id="rId73"/>
    <p:sldId id="436" r:id="rId74"/>
    <p:sldId id="474" r:id="rId75"/>
    <p:sldId id="559" r:id="rId76"/>
    <p:sldId id="560" r:id="rId77"/>
    <p:sldId id="565" r:id="rId78"/>
    <p:sldId id="564" r:id="rId79"/>
    <p:sldId id="561" r:id="rId80"/>
    <p:sldId id="562" r:id="rId81"/>
    <p:sldId id="563" r:id="rId82"/>
    <p:sldId id="516" r:id="rId83"/>
    <p:sldId id="524" r:id="rId84"/>
    <p:sldId id="525" r:id="rId85"/>
    <p:sldId id="526" r:id="rId86"/>
    <p:sldId id="481" r:id="rId87"/>
    <p:sldId id="532" r:id="rId88"/>
  </p:sldIdLst>
  <p:sldSz cx="9144000" cy="6858000" type="screen4x3"/>
  <p:notesSz cx="7099300" cy="10234613"/>
  <p:defaultTextStyle>
    <a:defPPr>
      <a:defRPr lang="pl-PL"/>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D24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7346" autoAdjust="0"/>
  </p:normalViewPr>
  <p:slideViewPr>
    <p:cSldViewPr>
      <p:cViewPr varScale="1">
        <p:scale>
          <a:sx n="71" d="100"/>
          <a:sy n="71" d="100"/>
        </p:scale>
        <p:origin x="1589" y="62"/>
      </p:cViewPr>
      <p:guideLst>
        <p:guide orient="horz" pos="2160"/>
        <p:guide pos="2880"/>
      </p:guideLst>
    </p:cSldViewPr>
  </p:slideViewPr>
  <p:outlineViewPr>
    <p:cViewPr>
      <p:scale>
        <a:sx n="33" d="100"/>
        <a:sy n="33" d="100"/>
      </p:scale>
      <p:origin x="0" y="-10022"/>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3" d="100"/>
          <a:sy n="83" d="100"/>
        </p:scale>
        <p:origin x="3072" y="-192"/>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handoutMaster" Target="handoutMasters/handout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7099300" cy="5453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lgn="ctr"/>
            <a:endParaRPr lang="pl-PL" dirty="0"/>
          </a:p>
        </p:txBody>
      </p:sp>
      <p:sp>
        <p:nvSpPr>
          <p:cNvPr id="45060" name="Rectangle 4"/>
          <p:cNvSpPr>
            <a:spLocks noGrp="1" noChangeArrowheads="1"/>
          </p:cNvSpPr>
          <p:nvPr>
            <p:ph type="ftr" sz="quarter" idx="2"/>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5061" name="Rectangle 5"/>
          <p:cNvSpPr>
            <a:spLocks noGrp="1" noChangeArrowheads="1"/>
          </p:cNvSpPr>
          <p:nvPr>
            <p:ph type="sldNum" sz="quarter" idx="3"/>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5AEE7B2C-8B7B-4E41-9BE9-6DFEE0C05302}" type="slidenum">
              <a:rPr lang="pl-PL"/>
              <a:pPr/>
              <a:t>‹#›</a:t>
            </a:fld>
            <a:endParaRPr lang="pl-PL" dirty="0"/>
          </a:p>
        </p:txBody>
      </p:sp>
      <p:cxnSp>
        <p:nvCxnSpPr>
          <p:cNvPr id="6" name="Łącznik prosty 5"/>
          <p:cNvCxnSpPr/>
          <p:nvPr/>
        </p:nvCxnSpPr>
        <p:spPr>
          <a:xfrm>
            <a:off x="0" y="468313"/>
            <a:ext cx="7099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4"/>
          <p:cNvSpPr txBox="1">
            <a:spLocks noChangeArrowheads="1"/>
          </p:cNvSpPr>
          <p:nvPr/>
        </p:nvSpPr>
        <p:spPr bwMode="auto">
          <a:xfrm>
            <a:off x="0" y="9718675"/>
            <a:ext cx="7099300" cy="514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000" dirty="0" smtClean="0">
                <a:latin typeface="+mn-lt"/>
                <a:cs typeface="+mn-cs"/>
              </a:defRPr>
            </a:lvl1pPr>
          </a:lstStyle>
          <a:p>
            <a:pPr lvl="0">
              <a:defRPr/>
            </a:pPr>
            <a:r>
              <a:rPr lang="pl-PL" dirty="0"/>
              <a:t>Copyright</a:t>
            </a:r>
            <a:r>
              <a:rPr kumimoji="0" lang="en-GB" sz="1000" b="0" i="0" u="none" strike="noStrike" kern="1200" cap="none" spc="0" normalizeH="0" baseline="0" noProof="0" dirty="0">
                <a:ln>
                  <a:noFill/>
                </a:ln>
                <a:solidFill>
                  <a:schemeClr val="tx1"/>
                </a:solidFill>
                <a:effectLst/>
                <a:uLnTx/>
                <a:uFillTx/>
                <a:latin typeface="+mn-lt"/>
                <a:ea typeface="+mn-ea"/>
                <a:cs typeface="+mn-cs"/>
              </a:rPr>
              <a:t> © </a:t>
            </a:r>
            <a:r>
              <a:rPr kumimoji="0" lang="pl-PL" sz="1000" b="0" i="0" u="none" strike="noStrike" kern="1200" cap="none" spc="0" normalizeH="0" baseline="0" noProof="0" dirty="0">
                <a:ln>
                  <a:noFill/>
                </a:ln>
                <a:solidFill>
                  <a:schemeClr val="tx1"/>
                </a:solidFill>
                <a:effectLst/>
                <a:uLnTx/>
                <a:uFillTx/>
                <a:latin typeface="+mn-lt"/>
                <a:ea typeface="+mn-ea"/>
                <a:cs typeface="+mn-cs"/>
              </a:rPr>
              <a:t>by Uniwersytet Ekonomiczny w Krakowie</a:t>
            </a:r>
            <a:endParaRPr kumimoji="0" lang="en-GB" sz="1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l-PL" sz="1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Rectangle 2"/>
          <p:cNvSpPr txBox="1">
            <a:spLocks noChangeArrowheads="1"/>
          </p:cNvSpPr>
          <p:nvPr/>
        </p:nvSpPr>
        <p:spPr bwMode="auto">
          <a:xfrm>
            <a:off x="0" y="0"/>
            <a:ext cx="7099300" cy="544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dirty="0" smtClean="0">
                <a:latin typeface="+mn-lt"/>
                <a:cs typeface="+mn-cs"/>
              </a:defRPr>
            </a:lvl1pPr>
          </a:lstStyle>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Materiały dla studentów z przedmiotu</a:t>
            </a:r>
            <a:r>
              <a:rPr kumimoji="0" lang="en-GB" sz="1000" b="1" i="0" u="none" strike="noStrike" kern="1200" cap="none" spc="0" normalizeH="0" baseline="0" noProof="0" dirty="0">
                <a:ln>
                  <a:noFill/>
                </a:ln>
                <a:solidFill>
                  <a:schemeClr val="tx1"/>
                </a:solidFill>
                <a:effectLst/>
                <a:uLnTx/>
                <a:uFillTx/>
                <a:latin typeface="+mn-lt"/>
                <a:ea typeface="+mn-ea"/>
                <a:cs typeface="+mn-cs"/>
              </a:rPr>
              <a:t> </a:t>
            </a:r>
            <a:r>
              <a:rPr lang="pl-PL" i="1" dirty="0"/>
              <a:t>Wprowadzenie do baz danych</a:t>
            </a:r>
            <a:endParaRPr kumimoji="0" lang="en-GB" sz="1000" b="1" i="1" u="none" strike="noStrike" kern="1200" cap="none" spc="0" normalizeH="0" baseline="0" noProof="0" dirty="0">
              <a:ln>
                <a:noFill/>
              </a:ln>
              <a:solidFill>
                <a:schemeClr val="tx1"/>
              </a:solidFill>
              <a:effectLst/>
              <a:uLnTx/>
              <a:uFillTx/>
              <a:latin typeface="+mn-lt"/>
              <a:ea typeface="+mn-ea"/>
              <a:cs typeface="+mn-cs"/>
            </a:endParaRPr>
          </a:p>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Wprowadzenie</a:t>
            </a:r>
            <a:endParaRPr kumimoji="0" lang="en-GB" sz="10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75424"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pl-PL" dirty="0"/>
          </a:p>
        </p:txBody>
      </p:sp>
      <p:sp>
        <p:nvSpPr>
          <p:cNvPr id="49155" name="Rectangle 3"/>
          <p:cNvSpPr>
            <a:spLocks noGrp="1" noChangeArrowheads="1"/>
          </p:cNvSpPr>
          <p:nvPr>
            <p:ph type="dt" idx="1"/>
          </p:nvPr>
        </p:nvSpPr>
        <p:spPr bwMode="auto">
          <a:xfrm>
            <a:off x="4021528" y="0"/>
            <a:ext cx="3076599"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pl-PL" dirty="0"/>
          </a:p>
        </p:txBody>
      </p:sp>
      <p:sp>
        <p:nvSpPr>
          <p:cNvPr id="49156"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710166" y="4861888"/>
            <a:ext cx="5678971" cy="46042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9158" name="Rectangle 6"/>
          <p:cNvSpPr>
            <a:spLocks noGrp="1" noChangeArrowheads="1"/>
          </p:cNvSpPr>
          <p:nvPr>
            <p:ph type="ftr" sz="quarter" idx="4"/>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9159" name="Rectangle 7"/>
          <p:cNvSpPr>
            <a:spLocks noGrp="1" noChangeArrowheads="1"/>
          </p:cNvSpPr>
          <p:nvPr>
            <p:ph type="sldNum" sz="quarter" idx="5"/>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88C4402D-B936-4E91-8F17-ABB741B4E7D2}" type="slidenum">
              <a:rPr lang="pl-PL"/>
              <a:pPr/>
              <a:t>‹#›</a:t>
            </a:fld>
            <a:endParaRPr lang="pl-PL"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2B04B-58CA-482F-803E-0DD9291FA5FC}" type="slidenum">
              <a:rPr lang="pl-PL"/>
              <a:pPr/>
              <a:t>1</a:t>
            </a:fld>
            <a:endParaRPr lang="pl-PL" dirty="0"/>
          </a:p>
        </p:txBody>
      </p:sp>
      <p:sp>
        <p:nvSpPr>
          <p:cNvPr id="197634" name="Rectangle 2"/>
          <p:cNvSpPr>
            <a:spLocks noGrp="1" noRot="1" noChangeAspect="1" noChangeArrowheads="1" noTextEdit="1"/>
          </p:cNvSpPr>
          <p:nvPr>
            <p:ph type="sldImg"/>
          </p:nvPr>
        </p:nvSpPr>
        <p:spPr>
          <a:xfrm>
            <a:off x="996950" y="768350"/>
            <a:ext cx="5114925" cy="3836988"/>
          </a:xfrm>
          <a:ln/>
        </p:spPr>
      </p:sp>
      <p:sp>
        <p:nvSpPr>
          <p:cNvPr id="197635" name="Rectangle 3"/>
          <p:cNvSpPr>
            <a:spLocks noGrp="1" noChangeArrowheads="1"/>
          </p:cNvSpPr>
          <p:nvPr>
            <p:ph type="body" idx="1"/>
          </p:nvPr>
        </p:nvSpPr>
        <p:spPr>
          <a:xfrm>
            <a:off x="947279" y="4859666"/>
            <a:ext cx="5204745" cy="4606464"/>
          </a:xfrm>
        </p:spPr>
        <p:txBody>
          <a:bodyPr/>
          <a:lstStyle/>
          <a:p>
            <a:endParaRPr lang="pl-P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Stochastycznego bo do</a:t>
            </a:r>
            <a:r>
              <a:rPr lang="pl-PL" baseline="0" dirty="0"/>
              <a:t> kolejnych iteracji wykorzystywana jest inna grupa próbek (inny wsad) i w każdym kolejnym kroku inna grupa próbek decyduje o kierunku spadku wzdłuż gradientu.</a:t>
            </a:r>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31</a:t>
            </a:fld>
            <a:endParaRPr lang="pl-PL" dirty="0"/>
          </a:p>
        </p:txBody>
      </p:sp>
    </p:spTree>
    <p:extLst>
      <p:ext uri="{BB962C8B-B14F-4D97-AF65-F5344CB8AC3E}">
        <p14:creationId xmlns:p14="http://schemas.microsoft.com/office/powerpoint/2010/main" val="1065502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51</a:t>
            </a:fld>
            <a:endParaRPr lang="pl-PL" dirty="0"/>
          </a:p>
        </p:txBody>
      </p:sp>
    </p:spTree>
    <p:extLst>
      <p:ext uri="{BB962C8B-B14F-4D97-AF65-F5344CB8AC3E}">
        <p14:creationId xmlns:p14="http://schemas.microsoft.com/office/powerpoint/2010/main" val="3237849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sz="1200" b="1" baseline="0" dirty="0">
                <a:solidFill>
                  <a:srgbClr val="000000"/>
                </a:solidFill>
                <a:latin typeface="Arial Narrow" panose="020B0606020202030204" pitchFamily="34" charset="0"/>
                <a:cs typeface="Calibri" panose="020F0502020204030204" pitchFamily="34" charset="0"/>
              </a:rPr>
              <a:t>binary</a:t>
            </a:r>
            <a:r>
              <a:rPr lang="pl-PL" sz="1200" baseline="0" dirty="0">
                <a:solidFill>
                  <a:srgbClr val="000000"/>
                </a:solidFill>
                <a:latin typeface="Arial Narrow" panose="020B0606020202030204" pitchFamily="34" charset="0"/>
                <a:cs typeface="Calibri" panose="020F0502020204030204" pitchFamily="34" charset="0"/>
              </a:rPr>
              <a:t> classification – przyporządkowanie obiektu do jednej z dwóch klas (np. na zdjęciu jest kółko lub krzyżyk)</a:t>
            </a:r>
          </a:p>
          <a:p>
            <a:pPr marL="0" marR="0" indent="0" algn="l" defTabSz="914400" rtl="0" eaLnBrk="1" fontAlgn="base" latinLnBrk="0" hangingPunct="1">
              <a:lnSpc>
                <a:spcPct val="100000"/>
              </a:lnSpc>
              <a:spcBef>
                <a:spcPct val="30000"/>
              </a:spcBef>
              <a:spcAft>
                <a:spcPct val="0"/>
              </a:spcAft>
              <a:buClrTx/>
              <a:buSzTx/>
              <a:buFontTx/>
              <a:buNone/>
              <a:tabLst/>
              <a:defRPr/>
            </a:pPr>
            <a:r>
              <a:rPr lang="pl-PL" sz="1200" b="1" baseline="0" dirty="0">
                <a:solidFill>
                  <a:srgbClr val="000000"/>
                </a:solidFill>
                <a:latin typeface="Arial Narrow" panose="020B0606020202030204" pitchFamily="34" charset="0"/>
                <a:cs typeface="Calibri" panose="020F0502020204030204" pitchFamily="34" charset="0"/>
              </a:rPr>
              <a:t>multiclass</a:t>
            </a:r>
            <a:r>
              <a:rPr lang="pl-PL" sz="1200" baseline="0" dirty="0">
                <a:solidFill>
                  <a:srgbClr val="000000"/>
                </a:solidFill>
                <a:latin typeface="Arial Narrow" panose="020B0606020202030204" pitchFamily="34" charset="0"/>
                <a:cs typeface="Calibri" panose="020F0502020204030204" pitchFamily="34" charset="0"/>
              </a:rPr>
              <a:t> classification – przyporządkowanie obiektu do jednej spośród klas, przy czym liczba klas &gt;=3</a:t>
            </a:r>
          </a:p>
          <a:p>
            <a:r>
              <a:rPr lang="pl-PL" sz="1200" b="1" dirty="0">
                <a:solidFill>
                  <a:srgbClr val="000000"/>
                </a:solidFill>
                <a:latin typeface="Arial Narrow" panose="020B0606020202030204" pitchFamily="34" charset="0"/>
                <a:cs typeface="Calibri" panose="020F0502020204030204" pitchFamily="34" charset="0"/>
              </a:rPr>
              <a:t>multilabel</a:t>
            </a:r>
            <a:r>
              <a:rPr lang="pl-PL" sz="1200" dirty="0">
                <a:solidFill>
                  <a:srgbClr val="000000"/>
                </a:solidFill>
                <a:latin typeface="Arial Narrow" panose="020B0606020202030204" pitchFamily="34" charset="0"/>
                <a:cs typeface="Calibri" panose="020F0502020204030204" pitchFamily="34" charset="0"/>
              </a:rPr>
              <a:t> classification – spotykana w rozpoznawaniu tekstu, występuje, gdy ten sam tekst może być</a:t>
            </a:r>
            <a:r>
              <a:rPr lang="pl-PL" sz="1200" baseline="0" dirty="0">
                <a:solidFill>
                  <a:srgbClr val="000000"/>
                </a:solidFill>
                <a:latin typeface="Arial Narrow" panose="020B0606020202030204" pitchFamily="34" charset="0"/>
                <a:cs typeface="Calibri" panose="020F0502020204030204" pitchFamily="34" charset="0"/>
              </a:rPr>
              <a:t> zakwalifikowany do wielu kategorii (tematów), np. tekst o tematyce historycznej i sportowej</a:t>
            </a:r>
          </a:p>
          <a:p>
            <a:endParaRPr lang="pl-PL" sz="1200" baseline="0" dirty="0">
              <a:solidFill>
                <a:srgbClr val="000000"/>
              </a:solidFill>
              <a:latin typeface="Arial Narrow" panose="020B0606020202030204" pitchFamily="34" charset="0"/>
              <a:cs typeface="Calibri" panose="020F0502020204030204" pitchFamily="34" charset="0"/>
            </a:endParaRPr>
          </a:p>
          <a:p>
            <a:endParaRPr lang="pl-PL" sz="1200" baseline="0" dirty="0">
              <a:solidFill>
                <a:srgbClr val="000000"/>
              </a:solidFill>
              <a:latin typeface="Arial Narrow" panose="020B0606020202030204" pitchFamily="34" charset="0"/>
              <a:cs typeface="Calibri" panose="020F0502020204030204" pitchFamily="34" charset="0"/>
            </a:endParaRPr>
          </a:p>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52</a:t>
            </a:fld>
            <a:endParaRPr lang="pl-PL" dirty="0"/>
          </a:p>
        </p:txBody>
      </p:sp>
    </p:spTree>
    <p:extLst>
      <p:ext uri="{BB962C8B-B14F-4D97-AF65-F5344CB8AC3E}">
        <p14:creationId xmlns:p14="http://schemas.microsoft.com/office/powerpoint/2010/main" val="353692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Średnia harmoniczna nadaje</a:t>
            </a:r>
            <a:r>
              <a:rPr lang="pl-PL" baseline="0"/>
              <a:t> większą wagę małym wartościom.</a:t>
            </a:r>
            <a:endParaRPr lang="pl-PL"/>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77</a:t>
            </a:fld>
            <a:endParaRPr lang="pl-PL" dirty="0"/>
          </a:p>
        </p:txBody>
      </p:sp>
    </p:spTree>
    <p:extLst>
      <p:ext uri="{BB962C8B-B14F-4D97-AF65-F5344CB8AC3E}">
        <p14:creationId xmlns:p14="http://schemas.microsoft.com/office/powerpoint/2010/main" val="2320705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2F5F8426-4085-4152-9678-ED60F051FDED}"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DB2D777-68CC-442E-8E75-3B9A327DB870}"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E58E1378-0DED-4CD8-A9CE-C774A2E99379}"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6AD0AE7C-3FC0-46F6-B6EF-CB275775028C}"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88113C85-C2EC-49A4-9238-8D5CAB1FE66C}" type="datetime1">
              <a:rPr lang="pl-PL" smtClean="0"/>
              <a:t>05.03.2024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EFC4F458-5DC7-42F4-B368-988BDC32B66D}" type="datetime1">
              <a:rPr lang="pl-PL" smtClean="0"/>
              <a:t>05.03.2024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B672F39-7664-423A-81D2-A3C7811F6345}" type="datetime1">
              <a:rPr lang="pl-PL" smtClean="0"/>
              <a:t>05.03.2024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27C616B-9D33-443E-A4BC-D4D8B755BE5F}"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7F2A8EE7-A099-48DE-A6EC-DA7DFD8EC955}"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216B700-0D8E-48DF-B15F-8AD7E79EECD4}"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460EF2D-DD37-45C2-B490-8BB1B563B789}"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Obraz z podpisem">
    <p:spTree>
      <p:nvGrpSpPr>
        <p:cNvPr id="1" name=""/>
        <p:cNvGrpSpPr/>
        <p:nvPr/>
      </p:nvGrpSpPr>
      <p:grpSpPr>
        <a:xfrm>
          <a:off x="0" y="0"/>
          <a:ext cx="0" cy="0"/>
          <a:chOff x="0" y="0"/>
          <a:chExt cx="0" cy="0"/>
        </a:xfrm>
      </p:grpSpPr>
      <p:sp>
        <p:nvSpPr>
          <p:cNvPr id="4" name="Rectangle 4"/>
          <p:cNvSpPr>
            <a:spLocks noGrp="1"/>
          </p:cNvSpPr>
          <p:nvPr>
            <p:ph type="body" sz="half" idx="2"/>
          </p:nvPr>
        </p:nvSpPr>
        <p:spPr>
          <a:xfrm>
            <a:off x="5514536" y="1371600"/>
            <a:ext cx="3044952" cy="2930086"/>
          </a:xfrm>
        </p:spPr>
        <p:txBody>
          <a:bodyPr bIns="0" anchor="b">
            <a:normAutofit/>
          </a:bodyPr>
          <a:lstStyle>
            <a:lvl1pPr marL="0" marR="0" indent="0" algn="l">
              <a:buFontTx/>
              <a:buNone/>
              <a:defRPr sz="1300">
                <a:solidFill>
                  <a:schemeClr val="tx1">
                    <a:tint val="95000"/>
                  </a:schemeClr>
                </a:solidFill>
              </a:defRPr>
            </a:lvl1pPr>
            <a:lvl2pPr marL="460375" marR="0" indent="-112713">
              <a:buFontTx/>
              <a:buNone/>
              <a:defRPr sz="1200"/>
            </a:lvl2pPr>
            <a:lvl3pPr marL="914400" marR="0" indent="-117475">
              <a:buFontTx/>
              <a:buNone/>
              <a:defRPr sz="1000"/>
            </a:lvl3pPr>
            <a:lvl4pPr marL="1316038" marR="0" indent="-112713">
              <a:buFontTx/>
              <a:buNone/>
              <a:defRPr sz="900"/>
            </a:lvl4pPr>
            <a:lvl5pPr marL="1711325" marR="0" indent="-117475">
              <a:buFontTx/>
              <a:buNone/>
              <a:defRPr sz="900"/>
            </a:lvl5pPr>
          </a:lstStyle>
          <a:p>
            <a:pPr lvl="0"/>
            <a:r>
              <a:rPr lang="pl-PL"/>
              <a:t>Kliknij, aby edytować style wzorca tekstu</a:t>
            </a:r>
          </a:p>
        </p:txBody>
      </p:sp>
      <p:sp>
        <p:nvSpPr>
          <p:cNvPr id="9" name="Footer Placeholder 8"/>
          <p:cNvSpPr>
            <a:spLocks noGrp="1"/>
          </p:cNvSpPr>
          <p:nvPr>
            <p:ph type="ftr" sz="quarter" idx="10"/>
          </p:nvPr>
        </p:nvSpPr>
        <p:spPr/>
        <p:txBody>
          <a:bodyPr/>
          <a:lstStyle/>
          <a:p>
            <a:endParaRPr lang="pl-PL" dirty="0"/>
          </a:p>
        </p:txBody>
      </p:sp>
      <p:sp>
        <p:nvSpPr>
          <p:cNvPr id="10" name="Slide Number Placeholder 9"/>
          <p:cNvSpPr>
            <a:spLocks noGrp="1"/>
          </p:cNvSpPr>
          <p:nvPr>
            <p:ph type="sldNum" sz="quarter" idx="11"/>
          </p:nvPr>
        </p:nvSpPr>
        <p:spPr/>
        <p:txBody>
          <a:bodyPr/>
          <a:lstStyle/>
          <a:p>
            <a:fld id="{7E179A1A-A0F5-4001-A6E3-A7675233E5F9}" type="slidenum">
              <a:rPr lang="pl-PL" smtClean="0"/>
              <a:pPr/>
              <a:t>‹#›</a:t>
            </a:fld>
            <a:endParaRPr lang="pl-PL"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9B6EDD0D-709D-4DDA-9D4C-9ECAB3ADA661}"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E10D3399-327D-42BA-A958-0E7BDFAD8300}"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23BE29C7-D880-4E30-8EE8-B393D0C69803}"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DCB8D79-1861-40E5-8F72-CB31B3CFD151}"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DD46B526-5DE9-4485-939A-060735463E6F}" type="datetime1">
              <a:rPr lang="pl-PL" smtClean="0"/>
              <a:t>05.03.2024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93C53B6-752A-49EF-91B8-B01454185D02}" type="datetime1">
              <a:rPr lang="pl-PL" smtClean="0"/>
              <a:t>05.03.2024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AE60ADEC-94F6-466C-96E8-380859ABD0FC}" type="datetime1">
              <a:rPr lang="pl-PL" smtClean="0"/>
              <a:t>05.03.2024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ED9B978-172D-4D12-A927-77152D472CBF}"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9C6E89DF-7EA8-452F-AF88-78DE748BB068}" type="datetime1">
              <a:rPr lang="pl-PL" smtClean="0"/>
              <a:t>05.03.2024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5F72681-A5D9-42F1-A34B-9D4CA08F2816}"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65529A7-9327-4034-BCAB-153D77F8EAD8}" type="datetime1">
              <a:rPr lang="pl-PL" smtClean="0"/>
              <a:t>05.03.2024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08866-B86D-4167-AE55-BBC4BAC99BBC}" type="datetime1">
              <a:rPr lang="pl-PL" smtClean="0"/>
              <a:t>05.03.2024</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4B2D9-DB10-4EB9-B7A6-032A6D4E75AC}"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4" r:id="rId3"/>
    <p:sldLayoutId id="2147484215" r:id="rId4"/>
    <p:sldLayoutId id="2147484216" r:id="rId5"/>
    <p:sldLayoutId id="2147484217" r:id="rId6"/>
    <p:sldLayoutId id="2147484218" r:id="rId7"/>
    <p:sldLayoutId id="2147484219" r:id="rId8"/>
    <p:sldLayoutId id="2147484220" r:id="rId9"/>
    <p:sldLayoutId id="2147484221" r:id="rId10"/>
    <p:sldLayoutId id="2147484222" r:id="rId11"/>
    <p:sldLayoutId id="2147484233"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5E7B6-408A-4CCE-8CDF-767618FEAFBE}" type="datetime1">
              <a:rPr lang="pl-PL" smtClean="0"/>
              <a:t>05.03.2024</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C1CA4F-6684-461B-A968-23E3DD2ABA14}"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hyperlink" Target="https://ml-cheatsheet.readthedocs.io/en/latest/activation_functions.html" TargetMode="External"/><Relationship Id="rId2" Type="http://schemas.openxmlformats.org/officeDocument/2006/relationships/hyperlink" Target="https://www.v7labs.com/blog/neural-networks-activation-functions" TargetMode="Externa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ctrTitle"/>
          </p:nvPr>
        </p:nvSpPr>
        <p:spPr>
          <a:xfrm>
            <a:off x="457200" y="1905000"/>
            <a:ext cx="8229600" cy="3124200"/>
          </a:xfrm>
        </p:spPr>
        <p:txBody>
          <a:bodyPr anchor="t">
            <a:noAutofit/>
          </a:bodyPr>
          <a:lstStyle/>
          <a:p>
            <a:r>
              <a:rPr lang="pl-PL" sz="4400" b="1" dirty="0">
                <a:solidFill>
                  <a:srgbClr val="0000FF"/>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rPr>
              <a:t>Podstawy sieci neuronowych</a:t>
            </a:r>
            <a:br>
              <a:rPr lang="pl-PL" sz="4400" b="1" dirty="0">
                <a:solidFill>
                  <a:srgbClr val="0000FF"/>
                </a:solidFill>
                <a:latin typeface="Candara" panose="020E0502030303020204" pitchFamily="34" charset="0"/>
              </a:rPr>
            </a:br>
            <a:br>
              <a:rPr lang="pl-PL" sz="4400" dirty="0"/>
            </a:br>
            <a:r>
              <a:rPr lang="pl-PL" sz="2800" b="1" dirty="0">
                <a:effectLst>
                  <a:outerShdw blurRad="38100" dist="38100" dir="2700000" algn="tl">
                    <a:srgbClr val="000000">
                      <a:alpha val="43137"/>
                    </a:srgbClr>
                  </a:outerShdw>
                </a:effectLst>
                <a:latin typeface="Candara" panose="020E0502030303020204" pitchFamily="34" charset="0"/>
              </a:rPr>
              <a:t>Dariusz Put</a:t>
            </a:r>
            <a:endParaRPr lang="en-GB" b="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2</a:t>
            </a:fld>
            <a:endParaRPr lang="pl-PL" dirty="0"/>
          </a:p>
        </p:txBody>
      </p:sp>
      <p:sp>
        <p:nvSpPr>
          <p:cNvPr id="6" name="TextBox 5"/>
          <p:cNvSpPr txBox="1"/>
          <p:nvPr/>
        </p:nvSpPr>
        <p:spPr>
          <a:xfrm>
            <a:off x="0" y="304800"/>
            <a:ext cx="9144000" cy="4191000"/>
          </a:xfrm>
          <a:prstGeom prst="rect">
            <a:avLst/>
          </a:prstGeom>
          <a:noFill/>
        </p:spPr>
        <p:txBody>
          <a:bodyPr wrap="square" lIns="36000" tIns="36000" rIns="36000" bIns="36000" rtlCol="0">
            <a:noAutofit/>
          </a:bodyPr>
          <a:lstStyle/>
          <a:p>
            <a:r>
              <a:rPr lang="pl-PL" sz="2000" b="1" dirty="0">
                <a:solidFill>
                  <a:srgbClr val="0000FF"/>
                </a:solidFill>
                <a:latin typeface="Arial Narrow" panose="020B0606020202030204" pitchFamily="34" charset="0"/>
              </a:rPr>
              <a:t>Plan prezentacji</a:t>
            </a:r>
          </a:p>
          <a:p>
            <a:pPr marL="269875" indent="-269875">
              <a:buAutoNum type="arabicPeriod"/>
            </a:pPr>
            <a:r>
              <a:rPr lang="pl-PL" sz="2000" dirty="0">
                <a:latin typeface="Arial Narrow" panose="020B0606020202030204" pitchFamily="34" charset="0"/>
              </a:rPr>
              <a:t>Wprowadzenie</a:t>
            </a:r>
          </a:p>
          <a:p>
            <a:pPr marL="269875" indent="-269875">
              <a:buAutoNum type="arabicPeriod"/>
            </a:pPr>
            <a:r>
              <a:rPr lang="pl-PL" sz="2000" dirty="0">
                <a:latin typeface="Arial Narrow" panose="020B0606020202030204" pitchFamily="34" charset="0"/>
              </a:rPr>
              <a:t>Wybrane architektury</a:t>
            </a:r>
          </a:p>
          <a:p>
            <a:pPr marL="269875" indent="-269875">
              <a:buAutoNum type="arabicPeriod"/>
            </a:pPr>
            <a:r>
              <a:rPr lang="pl-PL" sz="2000" dirty="0">
                <a:latin typeface="Arial Narrow" panose="020B0606020202030204" pitchFamily="34" charset="0"/>
              </a:rPr>
              <a:t>Proces uczenia sieci neuronowych</a:t>
            </a:r>
          </a:p>
          <a:p>
            <a:pPr marL="269875" indent="-269875">
              <a:buAutoNum type="arabicPeriod"/>
            </a:pPr>
            <a:r>
              <a:rPr lang="pl-PL" sz="2000" dirty="0">
                <a:latin typeface="Arial Narrow" panose="020B0606020202030204" pitchFamily="34" charset="0"/>
              </a:rPr>
              <a:t>Funkcje aktywacji</a:t>
            </a:r>
          </a:p>
          <a:p>
            <a:pPr marL="269875" indent="-269875">
              <a:buAutoNum type="arabicPeriod"/>
            </a:pPr>
            <a:r>
              <a:rPr lang="pl-PL" sz="2000" dirty="0">
                <a:latin typeface="Arial Narrow" panose="020B0606020202030204" pitchFamily="34" charset="0"/>
              </a:rPr>
              <a:t>Przeuczenie i </a:t>
            </a:r>
            <a:r>
              <a:rPr lang="pl-PL" sz="2000">
                <a:latin typeface="Arial Narrow" panose="020B0606020202030204" pitchFamily="34" charset="0"/>
              </a:rPr>
              <a:t>regularyzacja</a:t>
            </a:r>
            <a:endParaRPr lang="pl-PL" sz="2000" dirty="0">
              <a:latin typeface="Arial Narrow" panose="020B0606020202030204" pitchFamily="34" charset="0"/>
            </a:endParaRPr>
          </a:p>
          <a:p>
            <a:pPr marL="269875" indent="-269875">
              <a:buAutoNum type="arabicPeriod"/>
            </a:pPr>
            <a:r>
              <a:rPr lang="pl-PL" sz="2000" dirty="0">
                <a:latin typeface="Arial Narrow" panose="020B0606020202030204" pitchFamily="34" charset="0"/>
              </a:rPr>
              <a:t>Metody ewaluacji modeli</a:t>
            </a:r>
          </a:p>
          <a:p>
            <a:endParaRPr lang="pl-PL" sz="2000" dirty="0">
              <a:latin typeface="Arial Narrow" panose="020B0606020202030204" pitchFamily="34" charset="0"/>
            </a:endParaRPr>
          </a:p>
        </p:txBody>
      </p:sp>
    </p:spTree>
    <p:extLst>
      <p:ext uri="{BB962C8B-B14F-4D97-AF65-F5344CB8AC3E}">
        <p14:creationId xmlns:p14="http://schemas.microsoft.com/office/powerpoint/2010/main" val="2725003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3</a:t>
            </a:fld>
            <a:endParaRPr lang="pl-PL" dirty="0"/>
          </a:p>
        </p:txBody>
      </p:sp>
      <p:sp>
        <p:nvSpPr>
          <p:cNvPr id="5"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Prostokąt 5">
            <a:extLst>
              <a:ext uri="{FF2B5EF4-FFF2-40B4-BE49-F238E27FC236}">
                <a16:creationId xmlns:a16="http://schemas.microsoft.com/office/drawing/2014/main" id="{2592196D-F454-4C00-86BF-8E4C7048D172}"/>
              </a:ext>
            </a:extLst>
          </p:cNvPr>
          <p:cNvSpPr/>
          <p:nvPr/>
        </p:nvSpPr>
        <p:spPr>
          <a:xfrm>
            <a:off x="10886" y="304800"/>
            <a:ext cx="9133114" cy="707886"/>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Neuron</a:t>
            </a:r>
            <a:r>
              <a:rPr lang="pl-PL" sz="2000" dirty="0">
                <a:solidFill>
                  <a:srgbClr val="000000"/>
                </a:solidFill>
                <a:latin typeface="Arial Narrow" panose="020B0606020202030204" pitchFamily="34" charset="0"/>
                <a:cs typeface="Calibri" panose="020F0502020204030204" pitchFamily="34" charset="0"/>
              </a:rPr>
              <a:t> – jednostka przetwarzania, która przyjmuje wartość wejściową i, zgodnie z przyjętymi regułami, </a:t>
            </a:r>
            <a:r>
              <a:rPr lang="pl-PL" sz="2000">
                <a:solidFill>
                  <a:srgbClr val="000000"/>
                </a:solidFill>
                <a:latin typeface="Arial Narrow" panose="020B0606020202030204" pitchFamily="34" charset="0"/>
                <a:cs typeface="Calibri" panose="020F0502020204030204" pitchFamily="34" charset="0"/>
              </a:rPr>
              <a:t>przekazuje obliczoną </a:t>
            </a:r>
            <a:r>
              <a:rPr lang="pl-PL" sz="2000" dirty="0">
                <a:solidFill>
                  <a:srgbClr val="000000"/>
                </a:solidFill>
                <a:latin typeface="Arial Narrow" panose="020B0606020202030204" pitchFamily="34" charset="0"/>
                <a:cs typeface="Calibri" panose="020F0502020204030204" pitchFamily="34" charset="0"/>
              </a:rPr>
              <a:t>wartość na wyjściu.</a:t>
            </a:r>
          </a:p>
        </p:txBody>
      </p:sp>
      <p:sp>
        <p:nvSpPr>
          <p:cNvPr id="8" name="Prostokąt 7">
            <a:extLst>
              <a:ext uri="{FF2B5EF4-FFF2-40B4-BE49-F238E27FC236}">
                <a16:creationId xmlns:a16="http://schemas.microsoft.com/office/drawing/2014/main" id="{2592196D-F454-4C00-86BF-8E4C7048D172}"/>
              </a:ext>
            </a:extLst>
          </p:cNvPr>
          <p:cNvSpPr/>
          <p:nvPr/>
        </p:nvSpPr>
        <p:spPr>
          <a:xfrm>
            <a:off x="5334000" y="2108537"/>
            <a:ext cx="3733800" cy="1015663"/>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Dendryty</a:t>
            </a:r>
            <a:r>
              <a:rPr lang="pl-PL" sz="2000" dirty="0">
                <a:solidFill>
                  <a:srgbClr val="000000"/>
                </a:solidFill>
                <a:latin typeface="Arial Narrow" panose="020B0606020202030204" pitchFamily="34" charset="0"/>
                <a:cs typeface="Calibri" panose="020F0502020204030204" pitchFamily="34" charset="0"/>
              </a:rPr>
              <a:t> – wejście </a:t>
            </a:r>
          </a:p>
          <a:p>
            <a:r>
              <a:rPr lang="pl-PL" sz="2000" b="1" dirty="0">
                <a:solidFill>
                  <a:srgbClr val="000000"/>
                </a:solidFill>
                <a:latin typeface="Arial Narrow" panose="020B0606020202030204" pitchFamily="34" charset="0"/>
                <a:cs typeface="Calibri" panose="020F0502020204030204" pitchFamily="34" charset="0"/>
              </a:rPr>
              <a:t>Soma </a:t>
            </a:r>
            <a:r>
              <a:rPr lang="pl-PL" sz="2000" dirty="0">
                <a:solidFill>
                  <a:srgbClr val="000000"/>
                </a:solidFill>
                <a:latin typeface="Arial Narrow" panose="020B0606020202030204" pitchFamily="34" charset="0"/>
                <a:cs typeface="Calibri" panose="020F0502020204030204" pitchFamily="34" charset="0"/>
              </a:rPr>
              <a:t>– przetwarzanie </a:t>
            </a:r>
          </a:p>
          <a:p>
            <a:r>
              <a:rPr lang="pl-PL" sz="2000" b="1" dirty="0">
                <a:solidFill>
                  <a:srgbClr val="000000"/>
                </a:solidFill>
                <a:latin typeface="Arial Narrow" panose="020B0606020202030204" pitchFamily="34" charset="0"/>
                <a:cs typeface="Calibri" panose="020F0502020204030204" pitchFamily="34" charset="0"/>
              </a:rPr>
              <a:t>Akson</a:t>
            </a:r>
            <a:r>
              <a:rPr lang="pl-PL" sz="2000" dirty="0">
                <a:solidFill>
                  <a:srgbClr val="000000"/>
                </a:solidFill>
                <a:latin typeface="Arial Narrow" panose="020B0606020202030204" pitchFamily="34" charset="0"/>
                <a:cs typeface="Calibri" panose="020F0502020204030204" pitchFamily="34" charset="0"/>
              </a:rPr>
              <a:t> – wyjście</a:t>
            </a:r>
          </a:p>
        </p:txBody>
      </p:sp>
      <p:sp>
        <p:nvSpPr>
          <p:cNvPr id="9" name="Prostokąt 8">
            <a:extLst>
              <a:ext uri="{FF2B5EF4-FFF2-40B4-BE49-F238E27FC236}">
                <a16:creationId xmlns:a16="http://schemas.microsoft.com/office/drawing/2014/main" id="{2592196D-F454-4C00-86BF-8E4C7048D172}"/>
              </a:ext>
            </a:extLst>
          </p:cNvPr>
          <p:cNvSpPr/>
          <p:nvPr/>
        </p:nvSpPr>
        <p:spPr>
          <a:xfrm>
            <a:off x="0" y="4876800"/>
            <a:ext cx="9133114" cy="193899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Dendryty</a:t>
            </a:r>
            <a:r>
              <a:rPr lang="pl-PL" sz="2000" dirty="0">
                <a:solidFill>
                  <a:srgbClr val="000000"/>
                </a:solidFill>
                <a:latin typeface="Arial Narrow" panose="020B0606020202030204" pitchFamily="34" charset="0"/>
                <a:cs typeface="Calibri" panose="020F0502020204030204" pitchFamily="34" charset="0"/>
              </a:rPr>
              <a:t> doprowadzają sygnał wejściowy z innych neuronów do somy. </a:t>
            </a:r>
            <a:r>
              <a:rPr lang="pl-PL" sz="2000" b="1" dirty="0">
                <a:solidFill>
                  <a:srgbClr val="000000"/>
                </a:solidFill>
                <a:latin typeface="Arial Narrow" panose="020B0606020202030204" pitchFamily="34" charset="0"/>
                <a:cs typeface="Calibri" panose="020F0502020204030204" pitchFamily="34" charset="0"/>
              </a:rPr>
              <a:t>Soma</a:t>
            </a:r>
            <a:r>
              <a:rPr lang="pl-PL" sz="2000" dirty="0">
                <a:solidFill>
                  <a:srgbClr val="000000"/>
                </a:solidFill>
                <a:latin typeface="Arial Narrow" panose="020B0606020202030204" pitchFamily="34" charset="0"/>
                <a:cs typeface="Calibri" panose="020F0502020204030204" pitchFamily="34" charset="0"/>
              </a:rPr>
              <a:t> (ciało neuronu) to miejsce, w którym dane wejściowe są przetwarzane. Jeśli sygnał wejściowy jest powyżej określonego progu, neuron „wyzwala się” i przekazuje pojedynczą daną wyjściową za pomocą sygnałów elektrycznych przez </a:t>
            </a:r>
            <a:r>
              <a:rPr lang="pl-PL" sz="2000" b="1" dirty="0">
                <a:solidFill>
                  <a:srgbClr val="000000"/>
                </a:solidFill>
                <a:latin typeface="Arial Narrow" panose="020B0606020202030204" pitchFamily="34" charset="0"/>
                <a:cs typeface="Calibri" panose="020F0502020204030204" pitchFamily="34" charset="0"/>
              </a:rPr>
              <a:t>aksony</a:t>
            </a:r>
            <a:r>
              <a:rPr lang="pl-PL" sz="2000"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Pomiędzy aksonami neuronu nadawczego a dendrytami neuronów odbierających znajduje się </a:t>
            </a:r>
            <a:r>
              <a:rPr lang="pl-PL" sz="2000" b="1" dirty="0">
                <a:solidFill>
                  <a:srgbClr val="000000"/>
                </a:solidFill>
                <a:latin typeface="Arial Narrow" panose="020B0606020202030204" pitchFamily="34" charset="0"/>
                <a:cs typeface="Calibri" panose="020F0502020204030204" pitchFamily="34" charset="0"/>
              </a:rPr>
              <a:t>szczelina synaptyczna</a:t>
            </a:r>
            <a:r>
              <a:rPr lang="pl-PL" sz="2000" dirty="0">
                <a:solidFill>
                  <a:srgbClr val="000000"/>
                </a:solidFill>
                <a:latin typeface="Arial Narrow" panose="020B0606020202030204" pitchFamily="34" charset="0"/>
                <a:cs typeface="Calibri" panose="020F0502020204030204" pitchFamily="34" charset="0"/>
              </a:rPr>
              <a:t>, która dostosowuje częstotliwości impulsów chemicznych.</a:t>
            </a:r>
          </a:p>
        </p:txBody>
      </p:sp>
      <p:pic>
        <p:nvPicPr>
          <p:cNvPr id="3" name="Obraz 2"/>
          <p:cNvPicPr>
            <a:picLocks noChangeAspect="1"/>
          </p:cNvPicPr>
          <p:nvPr/>
        </p:nvPicPr>
        <p:blipFill>
          <a:blip r:embed="rId2"/>
          <a:stretch>
            <a:fillRect/>
          </a:stretch>
        </p:blipFill>
        <p:spPr>
          <a:xfrm>
            <a:off x="95250" y="1143000"/>
            <a:ext cx="5010150" cy="3429000"/>
          </a:xfrm>
          <a:prstGeom prst="rect">
            <a:avLst/>
          </a:prstGeom>
        </p:spPr>
      </p:pic>
    </p:spTree>
    <p:extLst>
      <p:ext uri="{BB962C8B-B14F-4D97-AF65-F5344CB8AC3E}">
        <p14:creationId xmlns:p14="http://schemas.microsoft.com/office/powerpoint/2010/main" val="2847295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a:t>
            </a:fld>
            <a:endParaRPr lang="pl-PL" dirty="0"/>
          </a:p>
        </p:txBody>
      </p:sp>
      <p:sp>
        <p:nvSpPr>
          <p:cNvPr id="6" name="Prostokąt 4">
            <a:extLst>
              <a:ext uri="{FF2B5EF4-FFF2-40B4-BE49-F238E27FC236}">
                <a16:creationId xmlns:a16="http://schemas.microsoft.com/office/drawing/2014/main" id="{D7F3D3C4-D158-4743-91A9-CFBF04056C39}"/>
              </a:ext>
            </a:extLst>
          </p:cNvPr>
          <p:cNvSpPr/>
          <p:nvPr/>
        </p:nvSpPr>
        <p:spPr>
          <a:xfrm>
            <a:off x="0" y="304800"/>
            <a:ext cx="9133114" cy="2286000"/>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Sieci neuronowe </a:t>
            </a:r>
            <a:r>
              <a:rPr lang="pl-PL" sz="2000" dirty="0">
                <a:solidFill>
                  <a:srgbClr val="000000"/>
                </a:solidFill>
                <a:latin typeface="Arial Narrow" panose="020B0606020202030204" pitchFamily="34" charset="0"/>
                <a:cs typeface="Calibri" panose="020F0502020204030204" pitchFamily="34" charset="0"/>
              </a:rPr>
              <a:t>składają się z </a:t>
            </a:r>
            <a:r>
              <a:rPr lang="pl-PL" sz="2000" b="1" dirty="0">
                <a:solidFill>
                  <a:srgbClr val="000000"/>
                </a:solidFill>
                <a:latin typeface="Arial Narrow" panose="020B0606020202030204" pitchFamily="34" charset="0"/>
                <a:cs typeface="Calibri" panose="020F0502020204030204" pitchFamily="34" charset="0"/>
              </a:rPr>
              <a:t>neuronów</a:t>
            </a:r>
            <a:r>
              <a:rPr lang="pl-PL" sz="2000" dirty="0">
                <a:solidFill>
                  <a:srgbClr val="000000"/>
                </a:solidFill>
                <a:latin typeface="Arial Narrow" panose="020B0606020202030204" pitchFamily="34" charset="0"/>
                <a:cs typeface="Calibri" panose="020F0502020204030204" pitchFamily="34" charset="0"/>
              </a:rPr>
              <a:t>. Najprostszym przykładem sieci neuronowej jest </a:t>
            </a:r>
            <a:r>
              <a:rPr lang="pl-PL" sz="2000" b="1" dirty="0">
                <a:solidFill>
                  <a:srgbClr val="000000"/>
                </a:solidFill>
                <a:latin typeface="Arial Narrow" panose="020B0606020202030204" pitchFamily="34" charset="0"/>
                <a:cs typeface="Calibri" panose="020F0502020204030204" pitchFamily="34" charset="0"/>
              </a:rPr>
              <a:t>perceptron </a:t>
            </a:r>
            <a:r>
              <a:rPr lang="pl-PL" sz="2000" dirty="0">
                <a:solidFill>
                  <a:srgbClr val="000000"/>
                </a:solidFill>
                <a:latin typeface="Arial Narrow" panose="020B0606020202030204" pitchFamily="34" charset="0"/>
                <a:cs typeface="Calibri" panose="020F0502020204030204" pitchFamily="34" charset="0"/>
              </a:rPr>
              <a:t>(1957 rok). Jest to sieć składająca się wyłącznie z warstw wejścia i wyjścia. W przypadku klasyfikacji binarnych warstwa wyjścia ma jeden neuron.</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Na podstawie różnych danych wejściowych neuronu określamy </a:t>
            </a:r>
            <a:r>
              <a:rPr lang="pl-PL" sz="2000" b="1" dirty="0">
                <a:solidFill>
                  <a:srgbClr val="000000"/>
                </a:solidFill>
                <a:latin typeface="Arial Narrow" panose="020B0606020202030204" pitchFamily="34" charset="0"/>
                <a:cs typeface="Calibri" panose="020F0502020204030204" pitchFamily="34" charset="0"/>
              </a:rPr>
              <a:t>wartość aktywacji</a:t>
            </a:r>
            <a:r>
              <a:rPr lang="pl-PL" sz="2000" dirty="0">
                <a:solidFill>
                  <a:srgbClr val="000000"/>
                </a:solidFill>
                <a:latin typeface="Arial Narrow" panose="020B0606020202030204" pitchFamily="34" charset="0"/>
                <a:cs typeface="Calibri" panose="020F0502020204030204" pitchFamily="34" charset="0"/>
              </a:rPr>
              <a:t>. Jeśli wartość aktywacji, czyli wewnętrzny stan neuronu, przekroczy ustalony próg, neuron się uaktywni, w przeciwnym przypadku pozostanie uśpiony.</a:t>
            </a:r>
          </a:p>
        </p:txBody>
      </p:sp>
      <p:pic>
        <p:nvPicPr>
          <p:cNvPr id="7" name="Obraz 6">
            <a:extLst>
              <a:ext uri="{FF2B5EF4-FFF2-40B4-BE49-F238E27FC236}">
                <a16:creationId xmlns:a16="http://schemas.microsoft.com/office/drawing/2014/main" id="{033B16B6-C29F-4FD6-8FBA-A1243A857AD0}"/>
              </a:ext>
            </a:extLst>
          </p:cNvPr>
          <p:cNvPicPr>
            <a:picLocks noChangeAspect="1"/>
          </p:cNvPicPr>
          <p:nvPr/>
        </p:nvPicPr>
        <p:blipFill>
          <a:blip r:embed="rId2"/>
          <a:stretch>
            <a:fillRect/>
          </a:stretch>
        </p:blipFill>
        <p:spPr>
          <a:xfrm>
            <a:off x="152400" y="2895600"/>
            <a:ext cx="8620125" cy="3400425"/>
          </a:xfrm>
          <a:prstGeom prst="rect">
            <a:avLst/>
          </a:prstGeom>
        </p:spPr>
      </p:pic>
      <p:sp>
        <p:nvSpPr>
          <p:cNvPr id="8"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877556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5</a:t>
            </a:fld>
            <a:endParaRPr lang="pl-PL" dirty="0"/>
          </a:p>
        </p:txBody>
      </p:sp>
      <p:sp>
        <p:nvSpPr>
          <p:cNvPr id="5" name="TextBox 5">
            <a:extLst>
              <a:ext uri="{FF2B5EF4-FFF2-40B4-BE49-F238E27FC236}">
                <a16:creationId xmlns:a16="http://schemas.microsoft.com/office/drawing/2014/main" id="{BE5194EA-BD1A-40A0-BC3D-37B5E56D3A48}"/>
              </a:ext>
            </a:extLst>
          </p:cNvPr>
          <p:cNvSpPr txBox="1"/>
          <p:nvPr/>
        </p:nvSpPr>
        <p:spPr>
          <a:xfrm>
            <a:off x="0" y="304800"/>
            <a:ext cx="9144000" cy="16764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Warstwa </a:t>
            </a:r>
            <a:r>
              <a:rPr lang="pl-PL" sz="2000" dirty="0">
                <a:latin typeface="Arial Narrow" panose="020B0606020202030204" pitchFamily="34" charset="0"/>
              </a:rPr>
              <a:t>jest modułem przetwarzania danych, który przyjmuje dane wejściowe z jednego lub kilku tensorów i generuje dane wyjściowe w postaci tensora lub kilku tensorów.</a:t>
            </a:r>
          </a:p>
          <a:p>
            <a:r>
              <a:rPr lang="pl-PL" sz="2000" dirty="0">
                <a:latin typeface="Arial Narrow" panose="020B0606020202030204" pitchFamily="34" charset="0"/>
              </a:rPr>
              <a:t>Warstwy charakteryzowane są przez stan zwany </a:t>
            </a:r>
            <a:r>
              <a:rPr lang="pl-PL" sz="2000" b="1" dirty="0">
                <a:latin typeface="Arial Narrow" panose="020B0606020202030204" pitchFamily="34" charset="0"/>
              </a:rPr>
              <a:t>wagą</a:t>
            </a:r>
            <a:r>
              <a:rPr lang="pl-PL" sz="2000" dirty="0">
                <a:latin typeface="Arial Narrow" panose="020B0606020202030204" pitchFamily="34" charset="0"/>
              </a:rPr>
              <a:t>. Wagi tworzą </a:t>
            </a:r>
            <a:r>
              <a:rPr lang="pl-PL" sz="2000" b="1" dirty="0">
                <a:latin typeface="Arial Narrow" panose="020B0606020202030204" pitchFamily="34" charset="0"/>
              </a:rPr>
              <a:t>wiedzę</a:t>
            </a:r>
            <a:r>
              <a:rPr lang="pl-PL" sz="2000" dirty="0">
                <a:latin typeface="Arial Narrow" panose="020B0606020202030204" pitchFamily="34" charset="0"/>
              </a:rPr>
              <a:t> sieci.</a:t>
            </a:r>
          </a:p>
          <a:p>
            <a:r>
              <a:rPr lang="pl-PL" sz="2000" b="1" dirty="0">
                <a:latin typeface="Arial Narrow" panose="020B0606020202030204" pitchFamily="34" charset="0"/>
              </a:rPr>
              <a:t>Warstwa ukryta</a:t>
            </a:r>
            <a:r>
              <a:rPr lang="pl-PL" sz="2000" dirty="0">
                <a:latin typeface="Arial Narrow" panose="020B0606020202030204" pitchFamily="34" charset="0"/>
              </a:rPr>
              <a:t>: odpowiedzialna za naukę i wykonywanie obliczeń. Nie można do niej bezpośrednio przekazywać informacji.</a:t>
            </a:r>
          </a:p>
        </p:txBody>
      </p:sp>
      <p:pic>
        <p:nvPicPr>
          <p:cNvPr id="6" name="Picture 9">
            <a:extLst>
              <a:ext uri="{FF2B5EF4-FFF2-40B4-BE49-F238E27FC236}">
                <a16:creationId xmlns:a16="http://schemas.microsoft.com/office/drawing/2014/main" id="{41B0BCDD-8365-4C49-853C-09360200D1C0}"/>
              </a:ext>
            </a:extLst>
          </p:cNvPr>
          <p:cNvPicPr>
            <a:picLocks noChangeAspect="1"/>
          </p:cNvPicPr>
          <p:nvPr/>
        </p:nvPicPr>
        <p:blipFill>
          <a:blip r:embed="rId2"/>
          <a:stretch>
            <a:fillRect/>
          </a:stretch>
        </p:blipFill>
        <p:spPr>
          <a:xfrm>
            <a:off x="709613" y="2993827"/>
            <a:ext cx="2871787" cy="2183559"/>
          </a:xfrm>
          <a:prstGeom prst="rect">
            <a:avLst/>
          </a:prstGeom>
        </p:spPr>
      </p:pic>
      <p:pic>
        <p:nvPicPr>
          <p:cNvPr id="7" name="Picture 10">
            <a:extLst>
              <a:ext uri="{FF2B5EF4-FFF2-40B4-BE49-F238E27FC236}">
                <a16:creationId xmlns:a16="http://schemas.microsoft.com/office/drawing/2014/main" id="{1D370697-1B42-49E4-BC12-EB74D9696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2993827"/>
            <a:ext cx="3733800" cy="2187773"/>
          </a:xfrm>
          <a:prstGeom prst="rect">
            <a:avLst/>
          </a:prstGeom>
        </p:spPr>
      </p:pic>
      <p:sp>
        <p:nvSpPr>
          <p:cNvPr id="8" name="Prostokąt 7">
            <a:extLst>
              <a:ext uri="{FF2B5EF4-FFF2-40B4-BE49-F238E27FC236}">
                <a16:creationId xmlns:a16="http://schemas.microsoft.com/office/drawing/2014/main" id="{7121B444-E4A8-4EF7-9FAD-B0229E9FED9C}"/>
              </a:ext>
            </a:extLst>
          </p:cNvPr>
          <p:cNvSpPr/>
          <p:nvPr/>
        </p:nvSpPr>
        <p:spPr>
          <a:xfrm>
            <a:off x="381001" y="2236691"/>
            <a:ext cx="3657600" cy="646331"/>
          </a:xfrm>
          <a:prstGeom prst="rect">
            <a:avLst/>
          </a:prstGeom>
        </p:spPr>
        <p:txBody>
          <a:bodyPr wrap="square">
            <a:spAutoFit/>
          </a:bodyPr>
          <a:lstStyle/>
          <a:p>
            <a:r>
              <a:rPr lang="pl-PL" b="1" dirty="0">
                <a:latin typeface="Arial Narrow" panose="020B0606020202030204" pitchFamily="34" charset="0"/>
              </a:rPr>
              <a:t>Sieci płytkie</a:t>
            </a:r>
            <a:r>
              <a:rPr lang="pl-PL" dirty="0">
                <a:latin typeface="Arial Narrow" panose="020B0606020202030204" pitchFamily="34" charset="0"/>
              </a:rPr>
              <a:t> </a:t>
            </a:r>
            <a:br>
              <a:rPr lang="pl-PL" dirty="0">
                <a:latin typeface="Arial Narrow" panose="020B0606020202030204" pitchFamily="34" charset="0"/>
              </a:rPr>
            </a:br>
            <a:r>
              <a:rPr lang="pl-PL" dirty="0">
                <a:latin typeface="Arial Narrow" panose="020B0606020202030204" pitchFamily="34" charset="0"/>
              </a:rPr>
              <a:t>mają maksymalnie jedną warstwę ukrytą.</a:t>
            </a:r>
          </a:p>
        </p:txBody>
      </p:sp>
      <p:sp>
        <p:nvSpPr>
          <p:cNvPr id="9" name="Prostokąt 8">
            <a:extLst>
              <a:ext uri="{FF2B5EF4-FFF2-40B4-BE49-F238E27FC236}">
                <a16:creationId xmlns:a16="http://schemas.microsoft.com/office/drawing/2014/main" id="{1A0B2FB7-1C07-41CF-8718-A98D975590F1}"/>
              </a:ext>
            </a:extLst>
          </p:cNvPr>
          <p:cNvSpPr/>
          <p:nvPr/>
        </p:nvSpPr>
        <p:spPr>
          <a:xfrm>
            <a:off x="5105400" y="2231827"/>
            <a:ext cx="2920992" cy="646331"/>
          </a:xfrm>
          <a:prstGeom prst="rect">
            <a:avLst/>
          </a:prstGeom>
        </p:spPr>
        <p:txBody>
          <a:bodyPr wrap="none">
            <a:spAutoFit/>
          </a:bodyPr>
          <a:lstStyle/>
          <a:p>
            <a:r>
              <a:rPr lang="pl-PL" b="1" dirty="0">
                <a:latin typeface="Arial Narrow" panose="020B0606020202030204" pitchFamily="34" charset="0"/>
              </a:rPr>
              <a:t>Sieci głębokie </a:t>
            </a:r>
            <a:br>
              <a:rPr lang="pl-PL" dirty="0">
                <a:latin typeface="Arial Narrow" panose="020B0606020202030204" pitchFamily="34" charset="0"/>
              </a:rPr>
            </a:br>
            <a:r>
              <a:rPr lang="pl-PL" dirty="0">
                <a:latin typeface="Arial Narrow" panose="020B0606020202030204" pitchFamily="34" charset="0"/>
              </a:rPr>
              <a:t>zawierają wiele warstw ukrytych.</a:t>
            </a:r>
            <a:endParaRPr lang="en-GB" dirty="0"/>
          </a:p>
        </p:txBody>
      </p:sp>
      <p:sp>
        <p:nvSpPr>
          <p:cNvPr id="10" name="Prostokąt 9">
            <a:extLst>
              <a:ext uri="{FF2B5EF4-FFF2-40B4-BE49-F238E27FC236}">
                <a16:creationId xmlns:a16="http://schemas.microsoft.com/office/drawing/2014/main" id="{794659BE-1AA7-4967-B48C-67E83BB5A6BA}"/>
              </a:ext>
            </a:extLst>
          </p:cNvPr>
          <p:cNvSpPr/>
          <p:nvPr/>
        </p:nvSpPr>
        <p:spPr>
          <a:xfrm>
            <a:off x="0" y="5410200"/>
            <a:ext cx="9144000" cy="1323439"/>
          </a:xfrm>
          <a:prstGeom prst="rect">
            <a:avLst/>
          </a:prstGeom>
        </p:spPr>
        <p:txBody>
          <a:bodyPr wrap="square">
            <a:spAutoFit/>
          </a:bodyPr>
          <a:lstStyle/>
          <a:p>
            <a:r>
              <a:rPr lang="pl-PL" sz="2000" b="1" dirty="0">
                <a:latin typeface="Arial Narrow" panose="020B0606020202030204" pitchFamily="34" charset="0"/>
              </a:rPr>
              <a:t>Zadaniem uczenia maszynowego jest ustalenie wartości wag (parametrów) poszczególnych warstw sieci.</a:t>
            </a:r>
          </a:p>
          <a:p>
            <a:r>
              <a:rPr lang="pl-PL" sz="2000" b="1" dirty="0">
                <a:latin typeface="Arial Narrow" panose="020B0606020202030204" pitchFamily="34" charset="0"/>
              </a:rPr>
              <a:t>Głębokie sieci neuronowe średniej wielkości zawierają nawet kilkadziesiąt milionów parametrów.</a:t>
            </a:r>
          </a:p>
        </p:txBody>
      </p:sp>
      <p:sp>
        <p:nvSpPr>
          <p:cNvPr id="11"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87986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a:t>
            </a:fld>
            <a:endParaRPr lang="pl-PL" dirty="0"/>
          </a:p>
        </p:txBody>
      </p:sp>
      <p:sp>
        <p:nvSpPr>
          <p:cNvPr id="5" name="TextBox 7">
            <a:extLst>
              <a:ext uri="{FF2B5EF4-FFF2-40B4-BE49-F238E27FC236}">
                <a16:creationId xmlns:a16="http://schemas.microsoft.com/office/drawing/2014/main" id="{BE5194EA-BD1A-40A0-BC3D-37B5E56D3A48}"/>
              </a:ext>
            </a:extLst>
          </p:cNvPr>
          <p:cNvSpPr txBox="1"/>
          <p:nvPr/>
        </p:nvSpPr>
        <p:spPr>
          <a:xfrm>
            <a:off x="0" y="304800"/>
            <a:ext cx="9144000" cy="2057400"/>
          </a:xfrm>
          <a:prstGeom prst="rect">
            <a:avLst/>
          </a:prstGeom>
          <a:noFill/>
        </p:spPr>
        <p:txBody>
          <a:bodyPr wrap="square" lIns="18000" tIns="18000" rIns="18000" bIns="18000" rtlCol="0">
            <a:noAutofit/>
          </a:bodyPr>
          <a:lstStyle/>
          <a:p>
            <a:r>
              <a:rPr lang="pl-PL" sz="2000" b="1" dirty="0">
                <a:latin typeface="Arial Narrow" panose="020B0606020202030204" pitchFamily="34" charset="0"/>
              </a:rPr>
              <a:t>Uczenie głębokie</a:t>
            </a:r>
            <a:r>
              <a:rPr lang="pl-PL" sz="2000" dirty="0">
                <a:latin typeface="Arial Narrow" panose="020B0606020202030204" pitchFamily="34" charset="0"/>
              </a:rPr>
              <a:t> – dziedzina uczenia maszynowego polegająca na tworzeniu wielu warstw (co najmniej dwóch) reprezentacji uczonych na podstawie danych treningowych. Te dodatkowe warstwy to tzw. </a:t>
            </a:r>
            <a:r>
              <a:rPr lang="pl-PL" sz="2000" b="1" dirty="0">
                <a:latin typeface="Arial Narrow" panose="020B0606020202030204" pitchFamily="34" charset="0"/>
              </a:rPr>
              <a:t>warstwy ukryte</a:t>
            </a:r>
            <a:r>
              <a:rPr lang="pl-PL" sz="2000" dirty="0">
                <a:latin typeface="Arial Narrow" panose="020B0606020202030204" pitchFamily="34" charset="0"/>
              </a:rPr>
              <a:t>. W uczeniu głębokim prawie zawsze wykorzystywane są </a:t>
            </a:r>
            <a:r>
              <a:rPr lang="pl-PL" sz="2000" b="1" dirty="0">
                <a:latin typeface="Arial Narrow" panose="020B0606020202030204" pitchFamily="34" charset="0"/>
              </a:rPr>
              <a:t>sieci neuronowe</a:t>
            </a:r>
            <a:r>
              <a:rPr lang="pl-PL" sz="2000" dirty="0">
                <a:latin typeface="Arial Narrow" panose="020B0606020202030204" pitchFamily="34" charset="0"/>
              </a:rPr>
              <a:t>.</a:t>
            </a:r>
          </a:p>
          <a:p>
            <a:endParaRPr lang="pl-PL" sz="2000" dirty="0">
              <a:latin typeface="Arial Narrow" panose="020B0606020202030204" pitchFamily="34" charset="0"/>
            </a:endParaRPr>
          </a:p>
          <a:p>
            <a:r>
              <a:rPr lang="pl-PL" sz="2000" b="1" dirty="0">
                <a:latin typeface="Arial Narrow" panose="020B0606020202030204" pitchFamily="34" charset="0"/>
              </a:rPr>
              <a:t>Głębia uczenia </a:t>
            </a:r>
            <a:r>
              <a:rPr lang="pl-PL" sz="2000" dirty="0">
                <a:latin typeface="Arial Narrow" panose="020B0606020202030204" pitchFamily="34" charset="0"/>
              </a:rPr>
              <a:t>(</a:t>
            </a:r>
            <a:r>
              <a:rPr lang="pl-PL" sz="2000" b="1" dirty="0">
                <a:latin typeface="Arial Narrow" panose="020B0606020202030204" pitchFamily="34" charset="0"/>
              </a:rPr>
              <a:t>głębokość modelu</a:t>
            </a:r>
            <a:r>
              <a:rPr lang="pl-PL" sz="2000" dirty="0">
                <a:latin typeface="Arial Narrow" panose="020B0606020202030204" pitchFamily="34" charset="0"/>
              </a:rPr>
              <a:t>) – liczba warstw modelu.</a:t>
            </a:r>
          </a:p>
        </p:txBody>
      </p:sp>
      <p:sp>
        <p:nvSpPr>
          <p:cNvPr id="6"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Obraz 6"/>
          <p:cNvPicPr>
            <a:picLocks noChangeAspect="1"/>
          </p:cNvPicPr>
          <p:nvPr/>
        </p:nvPicPr>
        <p:blipFill>
          <a:blip r:embed="rId2"/>
          <a:stretch>
            <a:fillRect/>
          </a:stretch>
        </p:blipFill>
        <p:spPr>
          <a:xfrm>
            <a:off x="2128838" y="2240168"/>
            <a:ext cx="4424362" cy="4469128"/>
          </a:xfrm>
          <a:prstGeom prst="rect">
            <a:avLst/>
          </a:prstGeom>
        </p:spPr>
      </p:pic>
    </p:spTree>
    <p:extLst>
      <p:ext uri="{BB962C8B-B14F-4D97-AF65-F5344CB8AC3E}">
        <p14:creationId xmlns:p14="http://schemas.microsoft.com/office/powerpoint/2010/main" val="258383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a:t>
            </a:fld>
            <a:endParaRPr lang="pl-PL" dirty="0"/>
          </a:p>
        </p:txBody>
      </p:sp>
      <p:sp>
        <p:nvSpPr>
          <p:cNvPr id="5"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TextBox 5">
            <a:extLst>
              <a:ext uri="{FF2B5EF4-FFF2-40B4-BE49-F238E27FC236}">
                <a16:creationId xmlns:a16="http://schemas.microsoft.com/office/drawing/2014/main" id="{BE5194EA-BD1A-40A0-BC3D-37B5E56D3A48}"/>
              </a:ext>
            </a:extLst>
          </p:cNvPr>
          <p:cNvSpPr txBox="1"/>
          <p:nvPr/>
        </p:nvSpPr>
        <p:spPr>
          <a:xfrm>
            <a:off x="0" y="304800"/>
            <a:ext cx="9144000" cy="7620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Warstwa w pełni połączona</a:t>
            </a:r>
            <a:r>
              <a:rPr lang="pl-PL" sz="2000" dirty="0">
                <a:latin typeface="Arial Narrow" panose="020B0606020202030204" pitchFamily="34" charset="0"/>
              </a:rPr>
              <a:t> (</a:t>
            </a:r>
            <a:r>
              <a:rPr lang="pl-PL" sz="2000" i="1" dirty="0">
                <a:latin typeface="Arial Narrow" panose="020B0606020202030204" pitchFamily="34" charset="0"/>
              </a:rPr>
              <a:t>fully connected layer</a:t>
            </a:r>
            <a:r>
              <a:rPr lang="pl-PL" sz="2000" dirty="0">
                <a:latin typeface="Arial Narrow" panose="020B0606020202030204" pitchFamily="34" charset="0"/>
              </a:rPr>
              <a:t>, </a:t>
            </a:r>
            <a:r>
              <a:rPr lang="pl-PL" sz="2000" i="1" dirty="0">
                <a:latin typeface="Arial Narrow" panose="020B0606020202030204" pitchFamily="34" charset="0"/>
              </a:rPr>
              <a:t>dense layer</a:t>
            </a:r>
            <a:r>
              <a:rPr lang="pl-PL" sz="2000" dirty="0">
                <a:latin typeface="Arial Narrow" panose="020B0606020202030204" pitchFamily="34" charset="0"/>
              </a:rPr>
              <a:t>) – każdy neuron warstwy X jest połączony z każdym neuronem w warstwie X+1.</a:t>
            </a:r>
          </a:p>
        </p:txBody>
      </p:sp>
      <p:pic>
        <p:nvPicPr>
          <p:cNvPr id="7" name="Obraz 6"/>
          <p:cNvPicPr>
            <a:picLocks noChangeAspect="1"/>
          </p:cNvPicPr>
          <p:nvPr/>
        </p:nvPicPr>
        <p:blipFill>
          <a:blip r:embed="rId2"/>
          <a:stretch>
            <a:fillRect/>
          </a:stretch>
        </p:blipFill>
        <p:spPr>
          <a:xfrm>
            <a:off x="2433638" y="1447800"/>
            <a:ext cx="3890962" cy="4133687"/>
          </a:xfrm>
          <a:prstGeom prst="rect">
            <a:avLst/>
          </a:prstGeom>
        </p:spPr>
      </p:pic>
    </p:spTree>
    <p:extLst>
      <p:ext uri="{BB962C8B-B14F-4D97-AF65-F5344CB8AC3E}">
        <p14:creationId xmlns:p14="http://schemas.microsoft.com/office/powerpoint/2010/main" val="443805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8</a:t>
            </a:fld>
            <a:endParaRPr lang="pl-PL" dirty="0"/>
          </a:p>
        </p:txBody>
      </p:sp>
      <p:sp>
        <p:nvSpPr>
          <p:cNvPr id="5" name="TextBox 4"/>
          <p:cNvSpPr txBox="1"/>
          <p:nvPr/>
        </p:nvSpPr>
        <p:spPr>
          <a:xfrm>
            <a:off x="0" y="4318337"/>
            <a:ext cx="9144000" cy="1323439"/>
          </a:xfrm>
          <a:prstGeom prst="rect">
            <a:avLst/>
          </a:prstGeom>
          <a:noFill/>
        </p:spPr>
        <p:txBody>
          <a:bodyPr wrap="square" rtlCol="0">
            <a:spAutoFit/>
          </a:bodyPr>
          <a:lstStyle/>
          <a:p>
            <a:r>
              <a:rPr lang="pl-PL" sz="2000" b="1" dirty="0">
                <a:solidFill>
                  <a:srgbClr val="FF0000"/>
                </a:solidFill>
                <a:latin typeface="Arial Narrow" panose="020B0606020202030204" pitchFamily="34" charset="0"/>
              </a:rPr>
              <a:t>Sztuczny neuron</a:t>
            </a:r>
            <a:r>
              <a:rPr lang="pl-PL" sz="2000" dirty="0">
                <a:latin typeface="Arial Narrow" panose="020B0606020202030204" pitchFamily="34" charset="0"/>
              </a:rPr>
              <a:t> (soma) otrzymuje wejście (</a:t>
            </a:r>
            <a:r>
              <a:rPr lang="pl-PL" sz="2000" b="1" dirty="0">
                <a:solidFill>
                  <a:srgbClr val="00B050"/>
                </a:solidFill>
                <a:latin typeface="Arial Narrow" panose="020B0606020202030204" pitchFamily="34" charset="0"/>
              </a:rPr>
              <a:t>połączenia wejściowe</a:t>
            </a:r>
            <a:r>
              <a:rPr lang="pl-PL" sz="2000" dirty="0">
                <a:latin typeface="Arial Narrow" panose="020B0606020202030204" pitchFamily="34" charset="0"/>
              </a:rPr>
              <a:t>) i ustawia wewnętrzny stan, który wyzwala wyjście (</a:t>
            </a:r>
            <a:r>
              <a:rPr lang="pl-PL" sz="2000" b="1" dirty="0">
                <a:solidFill>
                  <a:srgbClr val="00B050"/>
                </a:solidFill>
                <a:latin typeface="Arial Narrow" panose="020B0606020202030204" pitchFamily="34" charset="0"/>
              </a:rPr>
              <a:t>funkcja aktywacji</a:t>
            </a:r>
            <a:r>
              <a:rPr lang="pl-PL" sz="2000" dirty="0">
                <a:latin typeface="Arial Narrow" panose="020B0606020202030204" pitchFamily="34" charset="0"/>
              </a:rPr>
              <a:t>). </a:t>
            </a:r>
            <a:r>
              <a:rPr lang="pl-PL" sz="2000" b="1" dirty="0">
                <a:solidFill>
                  <a:srgbClr val="00B050"/>
                </a:solidFill>
                <a:latin typeface="Arial Narrow" panose="020B0606020202030204" pitchFamily="34" charset="0"/>
              </a:rPr>
              <a:t>Sygnał wejściowy </a:t>
            </a:r>
            <a:r>
              <a:rPr lang="pl-PL" sz="2000" dirty="0">
                <a:latin typeface="Arial Narrow" panose="020B0606020202030204" pitchFamily="34" charset="0"/>
              </a:rPr>
              <a:t>jest przekazywany także do innych neuronów a jego intensywność jest dopasowywana za pomocą wag (</a:t>
            </a:r>
            <a:r>
              <a:rPr lang="pl-PL" sz="2000" b="1" dirty="0">
                <a:solidFill>
                  <a:srgbClr val="00B050"/>
                </a:solidFill>
                <a:latin typeface="Arial Narrow" panose="020B0606020202030204" pitchFamily="34" charset="0"/>
              </a:rPr>
              <a:t>szczelina synaptyczna</a:t>
            </a:r>
            <a:r>
              <a:rPr lang="pl-PL" sz="2000" dirty="0">
                <a:latin typeface="Arial Narrow" panose="020B0606020202030204" pitchFamily="34" charset="0"/>
              </a:rPr>
              <a:t>).</a:t>
            </a:r>
          </a:p>
        </p:txBody>
      </p:sp>
      <p:pic>
        <p:nvPicPr>
          <p:cNvPr id="6" name="Picture 5"/>
          <p:cNvPicPr>
            <a:picLocks noChangeAspect="1"/>
          </p:cNvPicPr>
          <p:nvPr/>
        </p:nvPicPr>
        <p:blipFill>
          <a:blip r:embed="rId2"/>
          <a:stretch>
            <a:fillRect/>
          </a:stretch>
        </p:blipFill>
        <p:spPr>
          <a:xfrm>
            <a:off x="24318" y="381000"/>
            <a:ext cx="5342333" cy="3899513"/>
          </a:xfrm>
          <a:prstGeom prst="rect">
            <a:avLst/>
          </a:prstGeom>
        </p:spPr>
      </p:pic>
      <p:sp>
        <p:nvSpPr>
          <p:cNvPr id="7"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8" name="Obraz 7"/>
          <p:cNvPicPr>
            <a:picLocks noChangeAspect="1"/>
          </p:cNvPicPr>
          <p:nvPr/>
        </p:nvPicPr>
        <p:blipFill>
          <a:blip r:embed="rId3"/>
          <a:stretch>
            <a:fillRect/>
          </a:stretch>
        </p:blipFill>
        <p:spPr>
          <a:xfrm>
            <a:off x="5410200" y="323168"/>
            <a:ext cx="3569110" cy="3995169"/>
          </a:xfrm>
          <a:prstGeom prst="rect">
            <a:avLst/>
          </a:prstGeom>
        </p:spPr>
      </p:pic>
      <p:pic>
        <p:nvPicPr>
          <p:cNvPr id="9" name="Obraz 8">
            <a:extLst>
              <a:ext uri="{FF2B5EF4-FFF2-40B4-BE49-F238E27FC236}">
                <a16:creationId xmlns:a16="http://schemas.microsoft.com/office/drawing/2014/main" id="{3908A44F-72D0-4D93-8497-B87C62B9BB9B}"/>
              </a:ext>
            </a:extLst>
          </p:cNvPr>
          <p:cNvPicPr>
            <a:picLocks noChangeAspect="1"/>
          </p:cNvPicPr>
          <p:nvPr/>
        </p:nvPicPr>
        <p:blipFill>
          <a:blip r:embed="rId4"/>
          <a:stretch>
            <a:fillRect/>
          </a:stretch>
        </p:blipFill>
        <p:spPr>
          <a:xfrm>
            <a:off x="5791200" y="5314008"/>
            <a:ext cx="2255943" cy="1543992"/>
          </a:xfrm>
          <a:prstGeom prst="rect">
            <a:avLst/>
          </a:prstGeom>
        </p:spPr>
      </p:pic>
    </p:spTree>
    <p:extLst>
      <p:ext uri="{BB962C8B-B14F-4D97-AF65-F5344CB8AC3E}">
        <p14:creationId xmlns:p14="http://schemas.microsoft.com/office/powerpoint/2010/main" val="2112021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9</a:t>
            </a:fld>
            <a:endParaRPr lang="pl-PL" dirty="0"/>
          </a:p>
        </p:txBody>
      </p:sp>
      <p:sp>
        <p:nvSpPr>
          <p:cNvPr id="5"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TextBox 4">
            <a:extLst>
              <a:ext uri="{FF2B5EF4-FFF2-40B4-BE49-F238E27FC236}">
                <a16:creationId xmlns:a16="http://schemas.microsoft.com/office/drawing/2014/main" id="{2C99C1A1-D8AB-4C86-BDA5-9A4F0B722943}"/>
              </a:ext>
            </a:extLst>
          </p:cNvPr>
          <p:cNvSpPr txBox="1"/>
          <p:nvPr/>
        </p:nvSpPr>
        <p:spPr>
          <a:xfrm>
            <a:off x="4679004" y="660737"/>
            <a:ext cx="4388796" cy="2862322"/>
          </a:xfrm>
          <a:prstGeom prst="rect">
            <a:avLst/>
          </a:prstGeom>
          <a:noFill/>
        </p:spPr>
        <p:txBody>
          <a:bodyPr wrap="square" rtlCol="0">
            <a:spAutoFit/>
          </a:bodyPr>
          <a:lstStyle/>
          <a:p>
            <a:r>
              <a:rPr lang="pl-PL" altLang="en-US" sz="2000" dirty="0">
                <a:latin typeface="Arial Narrow" panose="020B0606020202030204" pitchFamily="34" charset="0"/>
                <a:ea typeface="Calibri" panose="020F0502020204030204" pitchFamily="34" charset="0"/>
                <a:cs typeface="Arial" panose="020B0604020202020204" pitchFamily="34" charset="0"/>
              </a:rPr>
              <a:t>Każda warstwa, poza wyjściową, jest doposażona w stałą wartość przesunięcia, tzw. </a:t>
            </a:r>
            <a:r>
              <a:rPr lang="pl-PL" altLang="en-US" sz="2000" b="1" dirty="0">
                <a:solidFill>
                  <a:srgbClr val="00B050"/>
                </a:solidFill>
                <a:latin typeface="Arial Narrow" panose="020B0606020202030204" pitchFamily="34" charset="0"/>
                <a:ea typeface="Calibri" panose="020F0502020204030204" pitchFamily="34" charset="0"/>
                <a:cs typeface="Arial" panose="020B0604020202020204" pitchFamily="34" charset="0"/>
              </a:rPr>
              <a:t>wartość progową</a:t>
            </a:r>
            <a:r>
              <a:rPr lang="pl-PL" altLang="en-US" sz="2000" dirty="0">
                <a:latin typeface="Arial Narrow" panose="020B0606020202030204" pitchFamily="34" charset="0"/>
                <a:ea typeface="Calibri" panose="020F0502020204030204" pitchFamily="34" charset="0"/>
                <a:cs typeface="Arial" panose="020B0604020202020204" pitchFamily="34" charset="0"/>
              </a:rPr>
              <a:t> (obciążenie, ang. </a:t>
            </a:r>
            <a:r>
              <a:rPr lang="pl-PL" altLang="en-US" sz="2000" b="1" i="1" dirty="0">
                <a:solidFill>
                  <a:srgbClr val="00B050"/>
                </a:solidFill>
                <a:latin typeface="Arial Narrow" panose="020B0606020202030204" pitchFamily="34" charset="0"/>
                <a:ea typeface="Calibri" panose="020F0502020204030204" pitchFamily="34" charset="0"/>
                <a:cs typeface="Arial" panose="020B0604020202020204" pitchFamily="34" charset="0"/>
              </a:rPr>
              <a:t>b-bias</a:t>
            </a:r>
            <a:r>
              <a:rPr lang="pl-PL" altLang="en-US" sz="2000" dirty="0">
                <a:latin typeface="Arial Narrow" panose="020B0606020202030204" pitchFamily="34" charset="0"/>
                <a:ea typeface="Calibri" panose="020F0502020204030204" pitchFamily="34" charset="0"/>
                <a:cs typeface="Courier New" panose="02070309020205020404" pitchFamily="49" charset="0"/>
              </a:rPr>
              <a:t>)</a:t>
            </a:r>
            <a:r>
              <a:rPr lang="pl-PL" altLang="en-US" sz="2000" i="1" dirty="0">
                <a:latin typeface="Arial Narrow" panose="020B0606020202030204" pitchFamily="34" charset="0"/>
                <a:ea typeface="Calibri" panose="020F0502020204030204" pitchFamily="34" charset="0"/>
                <a:cs typeface="Arial" panose="020B0604020202020204" pitchFamily="34" charset="0"/>
              </a:rPr>
              <a:t>.</a:t>
            </a:r>
            <a:r>
              <a:rPr lang="pl-PL" altLang="en-US" sz="2000" dirty="0">
                <a:latin typeface="Arial Narrow" panose="020B0606020202030204" pitchFamily="34" charset="0"/>
                <a:ea typeface="Calibri" panose="020F0502020204030204" pitchFamily="34" charset="0"/>
                <a:cs typeface="Arial" panose="020B0604020202020204" pitchFamily="34" charset="0"/>
              </a:rPr>
              <a:t> </a:t>
            </a:r>
            <a:r>
              <a:rPr lang="pl-PL" altLang="en-US" sz="2000" dirty="0">
                <a:latin typeface="Arial Narrow" panose="020B0606020202030204" pitchFamily="34" charset="0"/>
                <a:ea typeface="Calibri" panose="020F0502020204030204" pitchFamily="34" charset="0"/>
                <a:cs typeface="Courier New" panose="02070309020205020404" pitchFamily="49" charset="0"/>
              </a:rPr>
              <a:t>J</a:t>
            </a:r>
            <a:r>
              <a:rPr lang="pl-PL" altLang="en-US" sz="2000" dirty="0">
                <a:latin typeface="Arial Narrow" panose="020B0606020202030204" pitchFamily="34" charset="0"/>
                <a:ea typeface="Calibri" panose="020F0502020204030204" pitchFamily="34" charset="0"/>
                <a:cs typeface="Arial" panose="020B0604020202020204" pitchFamily="34" charset="0"/>
              </a:rPr>
              <a:t>est to dodatkowy neuron zwykle przechowujący wartość 1. Jego waga również jest modyfikowana w trakcie procesu uczenia. B</a:t>
            </a:r>
            <a:r>
              <a:rPr lang="pl-PL" altLang="en-US" sz="2000" dirty="0">
                <a:latin typeface="Arial Narrow" panose="020B0606020202030204" pitchFamily="34" charset="0"/>
                <a:ea typeface="Calibri" panose="020F0502020204030204" pitchFamily="34" charset="0"/>
                <a:cs typeface="Courier New" panose="02070309020205020404" pitchFamily="49" charset="0"/>
              </a:rPr>
              <a:t>ias</a:t>
            </a:r>
            <a:r>
              <a:rPr lang="pl-PL" altLang="en-US" sz="2000" dirty="0">
                <a:latin typeface="Arial Narrow" panose="020B0606020202030204" pitchFamily="34" charset="0"/>
                <a:ea typeface="Calibri" panose="020F0502020204030204" pitchFamily="34" charset="0"/>
                <a:cs typeface="Arial" panose="020B0604020202020204" pitchFamily="34" charset="0"/>
              </a:rPr>
              <a:t> jest niezależnym czynnikiem, który pozwala lepiej dopasowywać się sieci do oczekiwanego rezultatu.</a:t>
            </a:r>
            <a:endParaRPr lang="en-US" sz="2000" dirty="0">
              <a:latin typeface="Arial Narrow" panose="020B0606020202030204" pitchFamily="34" charset="0"/>
            </a:endParaRPr>
          </a:p>
        </p:txBody>
      </p:sp>
      <p:pic>
        <p:nvPicPr>
          <p:cNvPr id="7" name="Obraz 6"/>
          <p:cNvPicPr>
            <a:picLocks noChangeAspect="1"/>
          </p:cNvPicPr>
          <p:nvPr/>
        </p:nvPicPr>
        <p:blipFill>
          <a:blip r:embed="rId2"/>
          <a:stretch>
            <a:fillRect/>
          </a:stretch>
        </p:blipFill>
        <p:spPr>
          <a:xfrm>
            <a:off x="19050" y="574148"/>
            <a:ext cx="4572000" cy="3343275"/>
          </a:xfrm>
          <a:prstGeom prst="rect">
            <a:avLst/>
          </a:prstGeom>
        </p:spPr>
      </p:pic>
    </p:spTree>
    <p:extLst>
      <p:ext uri="{BB962C8B-B14F-4D97-AF65-F5344CB8AC3E}">
        <p14:creationId xmlns:p14="http://schemas.microsoft.com/office/powerpoint/2010/main" val="326103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033BA399-551C-4E53-A582-9A6FFB6EA5EE}"/>
              </a:ext>
            </a:extLst>
          </p:cNvPr>
          <p:cNvSpPr>
            <a:spLocks noGrp="1"/>
          </p:cNvSpPr>
          <p:nvPr>
            <p:ph type="sldNum" sz="quarter" idx="12"/>
          </p:nvPr>
        </p:nvSpPr>
        <p:spPr/>
        <p:txBody>
          <a:bodyPr/>
          <a:lstStyle/>
          <a:p>
            <a:fld id="{83D82602-3ACC-4341-B614-755528165B64}" type="slidenum">
              <a:rPr lang="pl-PL" smtClean="0"/>
              <a:pPr/>
              <a:t>10</a:t>
            </a:fld>
            <a:endParaRPr lang="pl-PL" dirty="0"/>
          </a:p>
        </p:txBody>
      </p:sp>
      <p:sp>
        <p:nvSpPr>
          <p:cNvPr id="5"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Prostokąt 5">
            <a:extLst>
              <a:ext uri="{FF2B5EF4-FFF2-40B4-BE49-F238E27FC236}">
                <a16:creationId xmlns:a16="http://schemas.microsoft.com/office/drawing/2014/main" id="{2592196D-F454-4C00-86BF-8E4C7048D172}"/>
              </a:ext>
            </a:extLst>
          </p:cNvPr>
          <p:cNvSpPr/>
          <p:nvPr/>
        </p:nvSpPr>
        <p:spPr>
          <a:xfrm>
            <a:off x="10886" y="304800"/>
            <a:ext cx="9133114" cy="286232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Własności sieci neuronowych:</a:t>
            </a:r>
          </a:p>
          <a:p>
            <a:pPr marL="174625" indent="-174625">
              <a:buFont typeface="Arial" panose="020B0604020202020204" pitchFamily="34" charset="0"/>
              <a:buChar char="•"/>
            </a:pPr>
            <a:r>
              <a:rPr lang="pl-PL" sz="2000" b="1" dirty="0">
                <a:solidFill>
                  <a:srgbClr val="000000"/>
                </a:solidFill>
                <a:latin typeface="Arial Narrow" panose="020B0606020202030204" pitchFamily="34" charset="0"/>
                <a:cs typeface="Calibri" panose="020F0502020204030204" pitchFamily="34" charset="0"/>
              </a:rPr>
              <a:t>architektura – </a:t>
            </a:r>
            <a:r>
              <a:rPr lang="pl-PL" sz="2000" dirty="0">
                <a:solidFill>
                  <a:srgbClr val="000000"/>
                </a:solidFill>
                <a:latin typeface="Arial Narrow" panose="020B0606020202030204" pitchFamily="34" charset="0"/>
                <a:cs typeface="Calibri" panose="020F0502020204030204" pitchFamily="34" charset="0"/>
              </a:rPr>
              <a:t>sposób połączeń pomiędzy neuronami (np. ze sprzężeniem zwrotnym, bez sprzężenia zwrotnego), liczba warstw (jedno lub wielowarstwowe) i neuronów w warstwie,</a:t>
            </a:r>
          </a:p>
          <a:p>
            <a:pPr marL="174625" indent="-174625">
              <a:buFont typeface="Arial" panose="020B0604020202020204" pitchFamily="34" charset="0"/>
              <a:buChar char="•"/>
            </a:pPr>
            <a:r>
              <a:rPr lang="pl-PL" sz="2000" b="1" dirty="0">
                <a:solidFill>
                  <a:srgbClr val="000000"/>
                </a:solidFill>
                <a:latin typeface="Arial Narrow" panose="020B0606020202030204" pitchFamily="34" charset="0"/>
                <a:cs typeface="Calibri" panose="020F0502020204030204" pitchFamily="34" charset="0"/>
              </a:rPr>
              <a:t>uczenie</a:t>
            </a:r>
            <a:r>
              <a:rPr lang="pl-PL" sz="2000" dirty="0">
                <a:solidFill>
                  <a:srgbClr val="000000"/>
                </a:solidFill>
                <a:latin typeface="Arial Narrow" panose="020B0606020202030204" pitchFamily="34" charset="0"/>
                <a:cs typeface="Calibri" panose="020F0502020204030204" pitchFamily="34" charset="0"/>
              </a:rPr>
              <a:t> – opisuje proces powszechnie definiowany jako trening. Może być prowadzony za pomocą różnych technik, np. metodą propagacji wstecznej. Identyfikuje sposób, w jaki określane są wagi neuronów,</a:t>
            </a:r>
          </a:p>
          <a:p>
            <a:pPr marL="174625" indent="-174625">
              <a:buFont typeface="Arial" panose="020B0604020202020204" pitchFamily="34" charset="0"/>
              <a:buChar char="•"/>
            </a:pPr>
            <a:r>
              <a:rPr lang="pl-PL" sz="2000" b="1" dirty="0">
                <a:solidFill>
                  <a:srgbClr val="000000"/>
                </a:solidFill>
                <a:latin typeface="Arial Narrow" panose="020B0606020202030204" pitchFamily="34" charset="0"/>
                <a:cs typeface="Calibri" panose="020F0502020204030204" pitchFamily="34" charset="0"/>
              </a:rPr>
              <a:t>funkcja aktywacji</a:t>
            </a:r>
            <a:r>
              <a:rPr lang="pl-PL" sz="2000" dirty="0">
                <a:solidFill>
                  <a:srgbClr val="000000"/>
                </a:solidFill>
                <a:latin typeface="Arial Narrow" panose="020B0606020202030204" pitchFamily="34" charset="0"/>
                <a:cs typeface="Calibri" panose="020F0502020204030204" pitchFamily="34" charset="0"/>
              </a:rPr>
              <a:t> – opisuje, jak działa neuron (stochastycznie, liniowo) oraz w jakich warunkach zostanie uaktywniony a także dane, jakie przekaże do sąsiednich neuronów. Jest obliczana na podstawie wyjść wszystkich neuronów wejściowych.</a:t>
            </a:r>
          </a:p>
        </p:txBody>
      </p:sp>
    </p:spTree>
    <p:extLst>
      <p:ext uri="{BB962C8B-B14F-4D97-AF65-F5344CB8AC3E}">
        <p14:creationId xmlns:p14="http://schemas.microsoft.com/office/powerpoint/2010/main" val="4036933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11</a:t>
            </a:fld>
            <a:endParaRPr lang="pl-PL" dirty="0"/>
          </a:p>
        </p:txBody>
      </p:sp>
      <p:sp>
        <p:nvSpPr>
          <p:cNvPr id="5" name="Prostokąt 4">
            <a:extLst>
              <a:ext uri="{FF2B5EF4-FFF2-40B4-BE49-F238E27FC236}">
                <a16:creationId xmlns:a16="http://schemas.microsoft.com/office/drawing/2014/main" id="{27C14A22-0610-4873-96D9-29769ABE6D47}"/>
              </a:ext>
            </a:extLst>
          </p:cNvPr>
          <p:cNvSpPr/>
          <p:nvPr/>
        </p:nvSpPr>
        <p:spPr>
          <a:xfrm>
            <a:off x="10886" y="1915180"/>
            <a:ext cx="8915400" cy="523220"/>
          </a:xfrm>
          <a:prstGeom prst="rect">
            <a:avLst/>
          </a:prstGeom>
        </p:spPr>
        <p:txBody>
          <a:bodyPr wrap="square">
            <a:spAutoFit/>
          </a:bodyPr>
          <a:lstStyle/>
          <a:p>
            <a:r>
              <a:rPr lang="pl-PL" sz="2800" b="1">
                <a:solidFill>
                  <a:srgbClr val="0000FF"/>
                </a:solidFill>
                <a:latin typeface="Arial Narrow" panose="020B0606020202030204" pitchFamily="34" charset="0"/>
                <a:cs typeface="Calibri" panose="020F0502020204030204" pitchFamily="34" charset="0"/>
              </a:rPr>
              <a:t>Wybrane architektury sieci neuronowych</a:t>
            </a:r>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4237112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12</a:t>
            </a:fld>
            <a:endParaRPr lang="pl-PL" dirty="0"/>
          </a:p>
        </p:txBody>
      </p:sp>
      <p:sp>
        <p:nvSpPr>
          <p:cNvPr id="5" name="Rectangle 4"/>
          <p:cNvSpPr/>
          <p:nvPr/>
        </p:nvSpPr>
        <p:spPr>
          <a:xfrm>
            <a:off x="0" y="304800"/>
            <a:ext cx="9067800" cy="1938992"/>
          </a:xfrm>
          <a:prstGeom prst="rect">
            <a:avLst/>
          </a:prstGeom>
        </p:spPr>
        <p:txBody>
          <a:bodyPr wrap="square">
            <a:spAutoFit/>
          </a:bodyPr>
          <a:lstStyle/>
          <a:p>
            <a:pPr lvl="0">
              <a:spcAft>
                <a:spcPts val="0"/>
              </a:spcAft>
            </a:pPr>
            <a:r>
              <a:rPr lang="pl-PL" sz="2000" b="1" dirty="0">
                <a:latin typeface="Arial Narrow" panose="020B0606020202030204" pitchFamily="34" charset="0"/>
                <a:ea typeface="Times New Roman" panose="02020603050405020304" pitchFamily="18" charset="0"/>
              </a:rPr>
              <a:t>1. Sieci jednokierunkowe</a:t>
            </a:r>
            <a:r>
              <a:rPr lang="pl-PL" sz="2000" dirty="0">
                <a:latin typeface="Arial Narrow" panose="020B0606020202030204" pitchFamily="34" charset="0"/>
                <a:ea typeface="Times New Roman" panose="02020603050405020304" pitchFamily="18" charset="0"/>
              </a:rPr>
              <a:t> </a:t>
            </a:r>
          </a:p>
          <a:p>
            <a:pPr lvl="0">
              <a:spcAft>
                <a:spcPts val="0"/>
              </a:spcAft>
            </a:pPr>
            <a:r>
              <a:rPr lang="pl-PL" sz="2000" dirty="0">
                <a:latin typeface="Arial Narrow" panose="020B0606020202030204" pitchFamily="34" charset="0"/>
                <a:ea typeface="Times New Roman" panose="02020603050405020304" pitchFamily="18" charset="0"/>
              </a:rPr>
              <a:t>Są to sieci, które charakteryzują się budową warstwową oraz tym, że neurony są połączone tylko z tymi z sąsiednich warstw. Nie występuje w nich sprzężenie zwrotne, a informacja przepływa w jednym kierunku.</a:t>
            </a:r>
            <a:endParaRPr lang="en-US" sz="2000" dirty="0">
              <a:latin typeface="Arial Narrow" panose="020B0606020202030204" pitchFamily="34" charset="0"/>
              <a:ea typeface="Times New Roman" panose="02020603050405020304" pitchFamily="18" charset="0"/>
            </a:endParaRPr>
          </a:p>
          <a:p>
            <a:pPr>
              <a:spcAft>
                <a:spcPts val="0"/>
              </a:spcAft>
            </a:pPr>
            <a:r>
              <a:rPr lang="pl-PL" sz="2000" dirty="0">
                <a:latin typeface="Arial Narrow" panose="020B0606020202030204" pitchFamily="34" charset="0"/>
                <a:ea typeface="Times New Roman" panose="02020603050405020304" pitchFamily="18" charset="0"/>
              </a:rPr>
              <a:t>Wyróżniamy sieci jedno-, dwu- bądź wielowarstwowe. Te ostatnie mogą rozwiązywać dużo szerszą klasę problemów, niż te zbudowane z pojedynczej warstwy neuronów.</a:t>
            </a:r>
          </a:p>
        </p:txBody>
      </p:sp>
      <p:pic>
        <p:nvPicPr>
          <p:cNvPr id="6" name="Obraz 22"/>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286000"/>
            <a:ext cx="6315710" cy="3521094"/>
          </a:xfrm>
          <a:prstGeom prst="rect">
            <a:avLst/>
          </a:prstGeom>
          <a:noFill/>
          <a:ln>
            <a:noFill/>
          </a:ln>
        </p:spPr>
      </p:pic>
      <p:sp>
        <p:nvSpPr>
          <p:cNvPr id="8"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7610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13</a:t>
            </a:fld>
            <a:endParaRPr lang="pl-PL" dirty="0"/>
          </a:p>
        </p:txBody>
      </p:sp>
      <p:sp>
        <p:nvSpPr>
          <p:cNvPr id="3" name="Rectangle 2"/>
          <p:cNvSpPr/>
          <p:nvPr/>
        </p:nvSpPr>
        <p:spPr>
          <a:xfrm>
            <a:off x="0" y="304800"/>
            <a:ext cx="9067800" cy="2246769"/>
          </a:xfrm>
          <a:prstGeom prst="rect">
            <a:avLst/>
          </a:prstGeom>
        </p:spPr>
        <p:txBody>
          <a:bodyPr wrap="square">
            <a:spAutoFit/>
          </a:bodyPr>
          <a:lstStyle/>
          <a:p>
            <a:pPr lvl="0">
              <a:spcAft>
                <a:spcPts val="0"/>
              </a:spcAft>
            </a:pPr>
            <a:r>
              <a:rPr lang="pl-PL" sz="2000" b="1" dirty="0">
                <a:latin typeface="Arial Narrow" panose="020B0606020202030204" pitchFamily="34" charset="0"/>
                <a:ea typeface="Times New Roman" panose="02020603050405020304" pitchFamily="18" charset="0"/>
              </a:rPr>
              <a:t>2. Sieci rekurencyjne (RNN – </a:t>
            </a:r>
            <a:r>
              <a:rPr lang="pl-PL" sz="2000" b="1" i="1" dirty="0">
                <a:latin typeface="Arial Narrow" panose="020B0606020202030204" pitchFamily="34" charset="0"/>
                <a:ea typeface="Times New Roman" panose="02020603050405020304" pitchFamily="18" charset="0"/>
              </a:rPr>
              <a:t>Recursive Neural Networks</a:t>
            </a:r>
            <a:r>
              <a:rPr lang="pl-PL" sz="2000" b="1" dirty="0">
                <a:latin typeface="Arial Narrow" panose="020B0606020202030204" pitchFamily="34" charset="0"/>
                <a:ea typeface="Times New Roman" panose="02020603050405020304" pitchFamily="18" charset="0"/>
              </a:rPr>
              <a:t>)</a:t>
            </a:r>
          </a:p>
          <a:p>
            <a:pPr lvl="0">
              <a:spcAft>
                <a:spcPts val="0"/>
              </a:spcAft>
            </a:pPr>
            <a:r>
              <a:rPr lang="pl-PL" sz="2000" dirty="0">
                <a:latin typeface="Arial Narrow" panose="020B0606020202030204" pitchFamily="34" charset="0"/>
                <a:ea typeface="Times New Roman" panose="02020603050405020304" pitchFamily="18" charset="0"/>
              </a:rPr>
              <a:t>To rodzaj sieci, w których neurony są połączone ze sobą za pomocą struktury grafu z cyklami. P</a:t>
            </a:r>
            <a:r>
              <a:rPr lang="pl-PL" sz="2000" dirty="0">
                <a:latin typeface="Arial Narrow" panose="020B0606020202030204" pitchFamily="34" charset="0"/>
              </a:rPr>
              <a:t>osiadają własną pamięć, która zapamiętuje informacje, które wcześniej zostały obliczone. </a:t>
            </a:r>
          </a:p>
          <a:p>
            <a:pPr lvl="0">
              <a:spcAft>
                <a:spcPts val="0"/>
              </a:spcAft>
            </a:pPr>
            <a:r>
              <a:rPr lang="pl-PL" sz="2000" dirty="0">
                <a:latin typeface="Arial Narrow" panose="020B0606020202030204" pitchFamily="34" charset="0"/>
                <a:ea typeface="Times New Roman" panose="02020603050405020304" pitchFamily="18" charset="0"/>
              </a:rPr>
              <a:t>Do ich głównych przedstawicieli należy sieć Hopfielda (inaczej sieć asocjacyjna) oraz tak zwana maszyna Boltzmanna, która jest modyfikacją sieci asocjacyjnej i pozwala na uczenie neuronów ukrytych. Oba rodzaje sieci rekurencyjnych znajdują zastosowanie przy rozpoznawaniu mowy lub obrazów, rozwiazywaniu problemów minimalizacji czy przetwarzaniu danych sekwencyjnych.</a:t>
            </a:r>
            <a:endParaRPr lang="en-US" sz="2000" dirty="0">
              <a:latin typeface="Arial Narrow" panose="020B0606020202030204" pitchFamily="34" charset="0"/>
              <a:ea typeface="Times New Roman" panose="02020603050405020304" pitchFamily="18" charset="0"/>
            </a:endParaRPr>
          </a:p>
        </p:txBody>
      </p:sp>
      <p:sp>
        <p:nvSpPr>
          <p:cNvPr id="6"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4" name="Obraz 3"/>
          <p:cNvPicPr>
            <a:picLocks noChangeAspect="1"/>
          </p:cNvPicPr>
          <p:nvPr/>
        </p:nvPicPr>
        <p:blipFill>
          <a:blip r:embed="rId2"/>
          <a:stretch>
            <a:fillRect/>
          </a:stretch>
        </p:blipFill>
        <p:spPr>
          <a:xfrm>
            <a:off x="194440" y="2667000"/>
            <a:ext cx="8763000" cy="3928951"/>
          </a:xfrm>
          <a:prstGeom prst="rect">
            <a:avLst/>
          </a:prstGeom>
        </p:spPr>
      </p:pic>
    </p:spTree>
    <p:extLst>
      <p:ext uri="{BB962C8B-B14F-4D97-AF65-F5344CB8AC3E}">
        <p14:creationId xmlns:p14="http://schemas.microsoft.com/office/powerpoint/2010/main" val="2685642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14</a:t>
            </a:fld>
            <a:endParaRPr lang="pl-PL" dirty="0"/>
          </a:p>
        </p:txBody>
      </p:sp>
      <p:sp>
        <p:nvSpPr>
          <p:cNvPr id="3" name="Rectangle 2"/>
          <p:cNvSpPr/>
          <p:nvPr/>
        </p:nvSpPr>
        <p:spPr>
          <a:xfrm>
            <a:off x="0" y="304800"/>
            <a:ext cx="9067800" cy="5439951"/>
          </a:xfrm>
          <a:prstGeom prst="rect">
            <a:avLst/>
          </a:prstGeom>
        </p:spPr>
        <p:txBody>
          <a:bodyPr wrap="square">
            <a:spAutoFit/>
          </a:bodyPr>
          <a:lstStyle/>
          <a:p>
            <a:pPr lvl="0">
              <a:spcAft>
                <a:spcPts val="0"/>
              </a:spcAft>
            </a:pPr>
            <a:r>
              <a:rPr lang="pl-PL" sz="2000" dirty="0">
                <a:latin typeface="Arial Narrow" panose="020B0606020202030204" pitchFamily="34" charset="0"/>
                <a:ea typeface="Times New Roman" panose="02020603050405020304" pitchFamily="18" charset="0"/>
              </a:rPr>
              <a:t>W klasycznych sieciach RNN występuje problem tzw. zanikającego gradientu (ang. </a:t>
            </a:r>
            <a:r>
              <a:rPr lang="pl-PL" sz="2000" i="1" dirty="0">
                <a:latin typeface="Arial Narrow" panose="020B0606020202030204" pitchFamily="34" charset="0"/>
                <a:ea typeface="Times New Roman" panose="02020603050405020304" pitchFamily="18" charset="0"/>
              </a:rPr>
              <a:t>vanishing gradient problem</a:t>
            </a:r>
            <a:r>
              <a:rPr lang="pl-PL" sz="2000" dirty="0">
                <a:latin typeface="Arial Narrow" panose="020B0606020202030204" pitchFamily="34" charset="0"/>
                <a:ea typeface="Times New Roman" panose="02020603050405020304" pitchFamily="18" charset="0"/>
              </a:rPr>
              <a:t>), gdyż podczas uczenia wagi muszą być aktualizowane nie tylko w dół, ale także w poprzek sekwencji. Wraz ze wzrostem długości sekwencji aktualizacja wag jest na granicy błędu statystycznego, przez co uczenie staje się nieefektywne. Problem ten powoduje, że klasyczna sieć RNN nie jest w stanie zapamiętać zbyt długich sekwencji (np. wyrazów). </a:t>
            </a:r>
          </a:p>
          <a:p>
            <a:pPr lvl="0">
              <a:spcAft>
                <a:spcPts val="0"/>
              </a:spcAft>
            </a:pPr>
            <a:endParaRPr lang="pl-PL" sz="2000" dirty="0">
              <a:latin typeface="Arial Narrow" panose="020B0606020202030204" pitchFamily="34" charset="0"/>
              <a:ea typeface="Times New Roman" panose="02020603050405020304" pitchFamily="18" charset="0"/>
            </a:endParaRPr>
          </a:p>
          <a:p>
            <a:pPr>
              <a:spcBef>
                <a:spcPts val="900"/>
              </a:spcBef>
            </a:pPr>
            <a:r>
              <a:rPr lang="pl-PL" sz="2000" b="1" dirty="0">
                <a:latin typeface="Arial Narrow" panose="020B0606020202030204" pitchFamily="34" charset="0"/>
              </a:rPr>
              <a:t>3. Rekurencyjne sieci LSTM</a:t>
            </a:r>
            <a:r>
              <a:rPr lang="pl-PL" sz="2000" dirty="0">
                <a:latin typeface="Arial Narrow" panose="020B0606020202030204" pitchFamily="34" charset="0"/>
              </a:rPr>
              <a:t> (</a:t>
            </a:r>
            <a:r>
              <a:rPr lang="en-US" sz="2000" i="1" dirty="0">
                <a:latin typeface="Arial Narrow" panose="020B0606020202030204" pitchFamily="34" charset="0"/>
              </a:rPr>
              <a:t>Long Short-Term Memory</a:t>
            </a:r>
            <a:r>
              <a:rPr lang="pl-PL" sz="2000" dirty="0">
                <a:latin typeface="Arial Narrow" panose="020B0606020202030204" pitchFamily="34" charset="0"/>
              </a:rPr>
              <a:t> – Bengio 1994)</a:t>
            </a:r>
          </a:p>
          <a:p>
            <a:r>
              <a:rPr lang="pl-PL" sz="2000" dirty="0">
                <a:latin typeface="Arial Narrow" panose="020B0606020202030204" pitchFamily="34" charset="0"/>
              </a:rPr>
              <a:t>Sieć LSTM stanowi rozwiązanie problemu zanikającego gradientu. Sieć uczy się, co przechowywać w stanie długoterminowym. Wykorzystuje informacje z wielu poprzednich kroków. Sieć decyduje, jak dużo informacji z przeszłości należy przechowywać oraz ile informacji z teraźniejszości zastosować. </a:t>
            </a:r>
            <a:br>
              <a:rPr lang="pl-PL" sz="2000" dirty="0">
                <a:latin typeface="Arial Narrow" panose="020B0606020202030204" pitchFamily="34" charset="0"/>
              </a:rPr>
            </a:br>
            <a:r>
              <a:rPr lang="pl-PL" sz="2000" dirty="0">
                <a:latin typeface="Arial Narrow" panose="020B0606020202030204" pitchFamily="34" charset="0"/>
              </a:rPr>
              <a:t>Sieci tego typu znajdują zastosowanie w modelowaniu językowym (np. generowaniu tekstu), gdzie znaczenie zdania złożonego może zależeć od relacji między odległymi słowami.</a:t>
            </a:r>
          </a:p>
          <a:p>
            <a:endParaRPr lang="pl-PL" sz="2000" dirty="0">
              <a:latin typeface="Arial Narrow" panose="020B0606020202030204" pitchFamily="34" charset="0"/>
            </a:endParaRPr>
          </a:p>
          <a:p>
            <a:r>
              <a:rPr lang="pl-PL" sz="2000" dirty="0">
                <a:latin typeface="Arial Narrow" panose="020B0606020202030204" pitchFamily="34" charset="0"/>
              </a:rPr>
              <a:t>Inną siecią mającą podobne działanie, ale o mniejszej złożoności obliczeniowej, jest sieć </a:t>
            </a:r>
            <a:r>
              <a:rPr lang="pl-PL" sz="2000" b="1" dirty="0">
                <a:latin typeface="Arial Narrow" panose="020B0606020202030204" pitchFamily="34" charset="0"/>
              </a:rPr>
              <a:t>GRU</a:t>
            </a:r>
            <a:r>
              <a:rPr lang="pl-PL" sz="2000" dirty="0">
                <a:latin typeface="Arial Narrow" panose="020B0606020202030204" pitchFamily="34" charset="0"/>
              </a:rPr>
              <a:t> (Gatet Recurrent Unit).</a:t>
            </a:r>
            <a:endParaRPr lang="en-US" sz="2000" dirty="0">
              <a:latin typeface="Arial Narrow" panose="020B0606020202030204" pitchFamily="34" charset="0"/>
            </a:endParaRPr>
          </a:p>
          <a:p>
            <a:pPr lvl="0">
              <a:spcAft>
                <a:spcPts val="0"/>
              </a:spcAft>
            </a:pPr>
            <a:endParaRPr lang="en-US" sz="2000" dirty="0">
              <a:latin typeface="Arial Narrow" panose="020B0606020202030204" pitchFamily="34" charset="0"/>
              <a:ea typeface="Times New Roman" panose="02020603050405020304" pitchFamily="18" charset="0"/>
            </a:endParaRPr>
          </a:p>
        </p:txBody>
      </p:sp>
      <p:sp>
        <p:nvSpPr>
          <p:cNvPr id="4"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556245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15</a:t>
            </a:fld>
            <a:endParaRPr lang="pl-PL" dirty="0"/>
          </a:p>
        </p:txBody>
      </p:sp>
      <p:sp>
        <p:nvSpPr>
          <p:cNvPr id="3" name="Rectangle 2"/>
          <p:cNvSpPr/>
          <p:nvPr/>
        </p:nvSpPr>
        <p:spPr>
          <a:xfrm>
            <a:off x="0" y="304800"/>
            <a:ext cx="9067800" cy="1631216"/>
          </a:xfrm>
          <a:prstGeom prst="rect">
            <a:avLst/>
          </a:prstGeom>
        </p:spPr>
        <p:txBody>
          <a:bodyPr wrap="square">
            <a:spAutoFit/>
          </a:bodyPr>
          <a:lstStyle/>
          <a:p>
            <a:pPr>
              <a:spcAft>
                <a:spcPts val="0"/>
              </a:spcAft>
            </a:pPr>
            <a:r>
              <a:rPr lang="pl-PL" sz="2000" b="1" dirty="0">
                <a:latin typeface="Arial Narrow" panose="020B0606020202030204" pitchFamily="34" charset="0"/>
                <a:ea typeface="Calibri" panose="020F0502020204030204" pitchFamily="34" charset="0"/>
                <a:cs typeface="Times New Roman" panose="02020603050405020304" pitchFamily="18" charset="0"/>
              </a:rPr>
              <a:t>4. Samoorganizujące się mapy</a:t>
            </a:r>
            <a:r>
              <a:rPr lang="pl-PL" sz="2000" dirty="0">
                <a:latin typeface="Arial Narrow" panose="020B0606020202030204" pitchFamily="34" charset="0"/>
                <a:ea typeface="Calibri" panose="020F0502020204030204" pitchFamily="34" charset="0"/>
                <a:cs typeface="Times New Roman" panose="02020603050405020304" pitchFamily="18" charset="0"/>
              </a:rPr>
              <a:t> (sieci Kohonena)</a:t>
            </a:r>
          </a:p>
          <a:p>
            <a:pPr>
              <a:spcAft>
                <a:spcPts val="0"/>
              </a:spcAft>
            </a:pPr>
            <a:r>
              <a:rPr lang="pl-PL" sz="2000" dirty="0">
                <a:latin typeface="Arial Narrow" panose="020B0606020202030204" pitchFamily="34" charset="0"/>
                <a:ea typeface="Calibri" panose="020F0502020204030204" pitchFamily="34" charset="0"/>
                <a:cs typeface="Times New Roman" panose="02020603050405020304" pitchFamily="18" charset="0"/>
              </a:rPr>
              <a:t>Są to sieci, z którymi są sprzężone punkty na dowolnej n-wymiarowej przestrzeni. Uczenie ich odbywa się w trybie bez nauczyciela/nadzorcy i polega na zmianie współrzędnych neuronów tak, by dążyły do </a:t>
            </a:r>
            <a:r>
              <a:rPr lang="pl-PL" sz="2000" dirty="0">
                <a:solidFill>
                  <a:srgbClr val="0000FF"/>
                </a:solidFill>
                <a:latin typeface="Arial Narrow" panose="020B0606020202030204" pitchFamily="34" charset="0"/>
                <a:ea typeface="Calibri" panose="020F0502020204030204" pitchFamily="34" charset="0"/>
                <a:cs typeface="Times New Roman" panose="02020603050405020304" pitchFamily="18" charset="0"/>
              </a:rPr>
              <a:t>wzorca</a:t>
            </a:r>
            <a:r>
              <a:rPr lang="pl-PL" sz="2000" dirty="0">
                <a:latin typeface="Arial Narrow" panose="020B0606020202030204" pitchFamily="34" charset="0"/>
                <a:ea typeface="Calibri" panose="020F0502020204030204" pitchFamily="34" charset="0"/>
                <a:cs typeface="Times New Roman" panose="02020603050405020304" pitchFamily="18" charset="0"/>
              </a:rPr>
              <a:t> stworzonego na podstawie danych wejściowych i odwzorowały ich strukturę. Tego rodzaju sieci wykorzystywane są w klasyfikacji wzorców.</a:t>
            </a:r>
            <a:endParaRPr lang="en-US" sz="2000" dirty="0">
              <a:latin typeface="Arial Narrow" panose="020B0606020202030204" pitchFamily="34" charset="0"/>
            </a:endParaRPr>
          </a:p>
        </p:txBody>
      </p:sp>
      <p:pic>
        <p:nvPicPr>
          <p:cNvPr id="4" name="Obraz 21"/>
          <p:cNvPicPr/>
          <p:nvPr/>
        </p:nvPicPr>
        <p:blipFill>
          <a:blip r:embed="rId2">
            <a:extLst>
              <a:ext uri="{28A0092B-C50C-407E-A947-70E740481C1C}">
                <a14:useLocalDpi xmlns:a14="http://schemas.microsoft.com/office/drawing/2010/main" val="0"/>
              </a:ext>
            </a:extLst>
          </a:blip>
          <a:srcRect/>
          <a:stretch>
            <a:fillRect/>
          </a:stretch>
        </p:blipFill>
        <p:spPr bwMode="auto">
          <a:xfrm>
            <a:off x="1847532" y="2316797"/>
            <a:ext cx="5448935" cy="2224405"/>
          </a:xfrm>
          <a:prstGeom prst="rect">
            <a:avLst/>
          </a:prstGeom>
          <a:noFill/>
        </p:spPr>
      </p:pic>
      <p:sp>
        <p:nvSpPr>
          <p:cNvPr id="6"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96422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a:extLst>
              <a:ext uri="{FF2B5EF4-FFF2-40B4-BE49-F238E27FC236}">
                <a16:creationId xmlns:a16="http://schemas.microsoft.com/office/drawing/2014/main" id="{C8ACCCE8-4773-4547-B992-4EF81F3CFC9C}"/>
              </a:ext>
            </a:extLst>
          </p:cNvPr>
          <p:cNvSpPr>
            <a:spLocks noGrp="1"/>
          </p:cNvSpPr>
          <p:nvPr>
            <p:ph type="sldNum" sz="quarter" idx="12"/>
          </p:nvPr>
        </p:nvSpPr>
        <p:spPr/>
        <p:txBody>
          <a:bodyPr/>
          <a:lstStyle/>
          <a:p>
            <a:fld id="{8FBA5C85-AAD4-47BE-B152-06EBA5423A95}" type="slidenum">
              <a:rPr lang="pl-PL" smtClean="0"/>
              <a:pPr/>
              <a:t>16</a:t>
            </a:fld>
            <a:endParaRPr lang="pl-PL" dirty="0"/>
          </a:p>
        </p:txBody>
      </p:sp>
      <p:sp>
        <p:nvSpPr>
          <p:cNvPr id="4" name="Prostokąt 3">
            <a:extLst>
              <a:ext uri="{FF2B5EF4-FFF2-40B4-BE49-F238E27FC236}">
                <a16:creationId xmlns:a16="http://schemas.microsoft.com/office/drawing/2014/main" id="{8D38F881-D903-4064-AA6E-936F1740E924}"/>
              </a:ext>
            </a:extLst>
          </p:cNvPr>
          <p:cNvSpPr/>
          <p:nvPr/>
        </p:nvSpPr>
        <p:spPr>
          <a:xfrm>
            <a:off x="10886" y="304800"/>
            <a:ext cx="8915400" cy="4131900"/>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5. Perceptrony wielowarstwowe (MLP – Multilayer Perceptrons)</a:t>
            </a:r>
            <a:r>
              <a:rPr lang="pl-PL" sz="2000" dirty="0">
                <a:solidFill>
                  <a:srgbClr val="000000"/>
                </a:solidFill>
                <a:latin typeface="Arial Narrow" panose="020B0606020202030204" pitchFamily="34" charset="0"/>
                <a:cs typeface="Calibri" panose="020F0502020204030204" pitchFamily="34" charset="0"/>
              </a:rPr>
              <a:t> </a:t>
            </a:r>
          </a:p>
          <a:p>
            <a:r>
              <a:rPr lang="pl-PL" sz="2000" dirty="0">
                <a:solidFill>
                  <a:srgbClr val="000000"/>
                </a:solidFill>
                <a:latin typeface="Arial Narrow" panose="020B0606020202030204" pitchFamily="34" charset="0"/>
                <a:cs typeface="Calibri" panose="020F0502020204030204" pitchFamily="34" charset="0"/>
              </a:rPr>
              <a:t>Sieci neuronowe z wieloma warstwami ukrytymi, bez sprzężenia zwrotnego. </a:t>
            </a:r>
            <a:r>
              <a:rPr lang="pl-PL" sz="2000">
                <a:solidFill>
                  <a:srgbClr val="000000"/>
                </a:solidFill>
                <a:latin typeface="Arial Narrow" panose="020B0606020202030204" pitchFamily="34" charset="0"/>
                <a:cs typeface="Calibri" panose="020F0502020204030204" pitchFamily="34" charset="0"/>
              </a:rPr>
              <a:t>To jedno </a:t>
            </a:r>
            <a:r>
              <a:rPr lang="pl-PL" sz="2000" dirty="0">
                <a:solidFill>
                  <a:srgbClr val="000000"/>
                </a:solidFill>
                <a:latin typeface="Arial Narrow" panose="020B0606020202030204" pitchFamily="34" charset="0"/>
                <a:cs typeface="Calibri" panose="020F0502020204030204" pitchFamily="34" charset="0"/>
              </a:rPr>
              <a:t>z </a:t>
            </a:r>
            <a:r>
              <a:rPr lang="pl-PL" sz="2000">
                <a:solidFill>
                  <a:srgbClr val="000000"/>
                </a:solidFill>
                <a:latin typeface="Arial Narrow" panose="020B0606020202030204" pitchFamily="34" charset="0"/>
                <a:cs typeface="Calibri" panose="020F0502020204030204" pitchFamily="34" charset="0"/>
              </a:rPr>
              <a:t>pierwszych rozwiązań stosowanych w uczeniu głębokim.</a:t>
            </a:r>
            <a:endParaRPr lang="pl-PL" sz="2000" dirty="0">
              <a:solidFill>
                <a:srgbClr val="000000"/>
              </a:solidFill>
              <a:latin typeface="Arial Narrow" panose="020B0606020202030204" pitchFamily="34" charset="0"/>
              <a:cs typeface="Calibri" panose="020F0502020204030204" pitchFamily="34" charset="0"/>
            </a:endParaRPr>
          </a:p>
          <a:p>
            <a:pPr>
              <a:spcBef>
                <a:spcPts val="900"/>
              </a:spcBef>
            </a:pPr>
            <a:r>
              <a:rPr lang="pl-PL" sz="2000" b="1" dirty="0">
                <a:solidFill>
                  <a:srgbClr val="000000"/>
                </a:solidFill>
                <a:latin typeface="Arial Narrow" panose="020B0606020202030204" pitchFamily="34" charset="0"/>
                <a:cs typeface="Calibri" panose="020F0502020204030204" pitchFamily="34" charset="0"/>
              </a:rPr>
              <a:t>6. Maszyny Boltzmanna</a:t>
            </a:r>
            <a:r>
              <a:rPr lang="pl-PL" sz="2000" dirty="0">
                <a:solidFill>
                  <a:srgbClr val="000000"/>
                </a:solidFill>
                <a:latin typeface="Arial Narrow" panose="020B0606020202030204" pitchFamily="34" charset="0"/>
                <a:cs typeface="Calibri" panose="020F0502020204030204" pitchFamily="34" charset="0"/>
              </a:rPr>
              <a:t> </a:t>
            </a:r>
            <a:r>
              <a:rPr lang="pl-PL" sz="2000" b="1" dirty="0">
                <a:solidFill>
                  <a:srgbClr val="000000"/>
                </a:solidFill>
                <a:latin typeface="Arial Narrow" panose="020B0606020202030204" pitchFamily="34" charset="0"/>
                <a:cs typeface="Calibri" panose="020F0502020204030204" pitchFamily="34" charset="0"/>
              </a:rPr>
              <a:t>(BM – Boltzmann Machines)</a:t>
            </a:r>
            <a:r>
              <a:rPr lang="pl-PL" sz="2000" dirty="0">
                <a:solidFill>
                  <a:srgbClr val="000000"/>
                </a:solidFill>
                <a:latin typeface="Arial Narrow" panose="020B0606020202030204" pitchFamily="34" charset="0"/>
                <a:cs typeface="Calibri" panose="020F0502020204030204" pitchFamily="34" charset="0"/>
              </a:rPr>
              <a:t> </a:t>
            </a:r>
          </a:p>
          <a:p>
            <a:r>
              <a:rPr lang="pl-PL" sz="2000" dirty="0">
                <a:solidFill>
                  <a:srgbClr val="000000"/>
                </a:solidFill>
                <a:latin typeface="Arial Narrow" panose="020B0606020202030204" pitchFamily="34" charset="0"/>
                <a:cs typeface="Calibri" panose="020F0502020204030204" pitchFamily="34" charset="0"/>
              </a:rPr>
              <a:t>Sieci stochastyczne, symetryczne, z połączeniami wewnątrz warstwy.</a:t>
            </a:r>
          </a:p>
          <a:p>
            <a:pPr>
              <a:spcBef>
                <a:spcPts val="900"/>
              </a:spcBef>
            </a:pPr>
            <a:r>
              <a:rPr lang="pl-PL" sz="2000" b="1" dirty="0">
                <a:solidFill>
                  <a:srgbClr val="000000"/>
                </a:solidFill>
                <a:latin typeface="Arial Narrow" panose="020B0606020202030204" pitchFamily="34" charset="0"/>
                <a:cs typeface="Calibri" panose="020F0502020204030204" pitchFamily="34" charset="0"/>
              </a:rPr>
              <a:t>7. Ograniczone maszyny Boltzmanna</a:t>
            </a:r>
            <a:r>
              <a:rPr lang="pl-PL" sz="2000" dirty="0">
                <a:solidFill>
                  <a:srgbClr val="000000"/>
                </a:solidFill>
                <a:latin typeface="Arial Narrow" panose="020B0606020202030204" pitchFamily="34" charset="0"/>
                <a:cs typeface="Calibri" panose="020F0502020204030204" pitchFamily="34" charset="0"/>
              </a:rPr>
              <a:t> </a:t>
            </a:r>
            <a:r>
              <a:rPr lang="pl-PL" sz="2000" b="1" dirty="0">
                <a:solidFill>
                  <a:srgbClr val="000000"/>
                </a:solidFill>
                <a:latin typeface="Arial Narrow" panose="020B0606020202030204" pitchFamily="34" charset="0"/>
                <a:cs typeface="Calibri" panose="020F0502020204030204" pitchFamily="34" charset="0"/>
              </a:rPr>
              <a:t>(RBM – Restricted Boltzmann Machines)</a:t>
            </a:r>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Składają się z połączeń symetrycznych między dwoma warstwami – jedną widoczną i jedną ukrytą, ale w odróżnieniu od ogólnych maszyn Boltzmanna neurony nie mają połączeń wewnątrz warstwy. Mogą być ułożone w stos tworząc w ten sposób sieć DBN (</a:t>
            </a:r>
            <a:r>
              <a:rPr lang="pl-PL" sz="2000" i="1" dirty="0">
                <a:solidFill>
                  <a:srgbClr val="000000"/>
                </a:solidFill>
                <a:latin typeface="Arial Narrow" panose="020B0606020202030204" pitchFamily="34" charset="0"/>
                <a:cs typeface="Calibri" panose="020F0502020204030204" pitchFamily="34" charset="0"/>
              </a:rPr>
              <a:t>Deep Belief Network</a:t>
            </a:r>
            <a:r>
              <a:rPr lang="pl-PL" sz="2000" dirty="0">
                <a:solidFill>
                  <a:srgbClr val="000000"/>
                </a:solidFill>
                <a:latin typeface="Arial Narrow" panose="020B0606020202030204" pitchFamily="34" charset="0"/>
                <a:cs typeface="Calibri" panose="020F0502020204030204" pitchFamily="34" charset="0"/>
              </a:rPr>
              <a:t>). Wykorzystywane w uczeniu nienadzorowanym.</a:t>
            </a:r>
          </a:p>
          <a:p>
            <a:pPr>
              <a:spcBef>
                <a:spcPts val="900"/>
              </a:spcBef>
            </a:pPr>
            <a:r>
              <a:rPr lang="pl-PL" sz="2000" b="1" dirty="0">
                <a:solidFill>
                  <a:srgbClr val="000000"/>
                </a:solidFill>
                <a:latin typeface="Arial Narrow" panose="020B0606020202030204" pitchFamily="34" charset="0"/>
                <a:cs typeface="Calibri" panose="020F0502020204030204" pitchFamily="34" charset="0"/>
              </a:rPr>
              <a:t>8. Skierowane grafy acykliczne</a:t>
            </a:r>
            <a:r>
              <a:rPr lang="pl-PL" sz="2000" dirty="0">
                <a:solidFill>
                  <a:srgbClr val="000000"/>
                </a:solidFill>
                <a:latin typeface="Arial Narrow" panose="020B0606020202030204" pitchFamily="34" charset="0"/>
                <a:cs typeface="Calibri" panose="020F0502020204030204" pitchFamily="34" charset="0"/>
              </a:rPr>
              <a:t> </a:t>
            </a:r>
          </a:p>
          <a:p>
            <a:r>
              <a:rPr lang="pl-PL" sz="2000" dirty="0">
                <a:solidFill>
                  <a:srgbClr val="000000"/>
                </a:solidFill>
                <a:latin typeface="Arial Narrow" panose="020B0606020202030204" pitchFamily="34" charset="0"/>
                <a:cs typeface="Calibri" panose="020F0502020204030204" pitchFamily="34" charset="0"/>
              </a:rPr>
              <a:t>(DAG – </a:t>
            </a:r>
            <a:r>
              <a:rPr lang="pl-PL" sz="2000" i="1" dirty="0">
                <a:solidFill>
                  <a:srgbClr val="000000"/>
                </a:solidFill>
                <a:latin typeface="Arial Narrow" panose="020B0606020202030204" pitchFamily="34" charset="0"/>
                <a:cs typeface="Calibri" panose="020F0502020204030204" pitchFamily="34" charset="0"/>
              </a:rPr>
              <a:t>Directed Acyclic Graph</a:t>
            </a:r>
            <a:r>
              <a:rPr lang="pl-PL" sz="2000" dirty="0">
                <a:solidFill>
                  <a:srgbClr val="000000"/>
                </a:solidFill>
                <a:latin typeface="Arial Narrow" panose="020B0606020202030204" pitchFamily="34" charset="0"/>
                <a:cs typeface="Calibri" panose="020F0502020204030204" pitchFamily="34" charset="0"/>
              </a:rPr>
              <a:t>) – graf skierowany, który nie posiada cykli skierowanych.</a:t>
            </a:r>
          </a:p>
        </p:txBody>
      </p:sp>
      <p:sp>
        <p:nvSpPr>
          <p:cNvPr id="6"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387059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D4B2D9-DB10-4EB9-B7A6-032A6D4E75AC}" type="slidenum">
              <a:rPr lang="pl-PL" smtClean="0"/>
              <a:pPr/>
              <a:t>17</a:t>
            </a:fld>
            <a:endParaRPr lang="pl-PL" dirty="0"/>
          </a:p>
        </p:txBody>
      </p:sp>
      <p:sp>
        <p:nvSpPr>
          <p:cNvPr id="5" name="Prostokąt 3">
            <a:extLst>
              <a:ext uri="{FF2B5EF4-FFF2-40B4-BE49-F238E27FC236}">
                <a16:creationId xmlns:a16="http://schemas.microsoft.com/office/drawing/2014/main" id="{8D38F881-D903-4064-AA6E-936F1740E924}"/>
              </a:ext>
            </a:extLst>
          </p:cNvPr>
          <p:cNvSpPr/>
          <p:nvPr/>
        </p:nvSpPr>
        <p:spPr>
          <a:xfrm>
            <a:off x="10886" y="304800"/>
            <a:ext cx="8915400" cy="378565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9. Sieci „głębokiej wiary” (DBN – </a:t>
            </a:r>
            <a:r>
              <a:rPr lang="pl-PL" sz="2000" b="1" i="1" dirty="0">
                <a:solidFill>
                  <a:srgbClr val="000000"/>
                </a:solidFill>
                <a:latin typeface="Arial Narrow" panose="020B0606020202030204" pitchFamily="34" charset="0"/>
                <a:cs typeface="Calibri" panose="020F0502020204030204" pitchFamily="34" charset="0"/>
              </a:rPr>
              <a:t>Deep Belief Networks</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Górne warstwy są ze sobą połączone symetrycznie, dolne warstwy odbierają od warstw ponad nimi przetworzone informacje za pośrednictwem połączeń jednokierunkowych.</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10. Autoenkodery (</a:t>
            </a:r>
            <a:r>
              <a:rPr lang="pl-PL" sz="2000" b="1" i="1" dirty="0">
                <a:solidFill>
                  <a:srgbClr val="000000"/>
                </a:solidFill>
                <a:latin typeface="Arial Narrow" panose="020B0606020202030204" pitchFamily="34" charset="0"/>
                <a:cs typeface="Calibri" panose="020F0502020204030204" pitchFamily="34" charset="0"/>
              </a:rPr>
              <a:t>Autoencoder</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To jedna z metod redukcji wymiarów oparta o rzutowanie jednego wymiaru na inny.</a:t>
            </a:r>
          </a:p>
          <a:p>
            <a:r>
              <a:rPr lang="pl-PL" sz="2000" dirty="0">
                <a:solidFill>
                  <a:srgbClr val="000000"/>
                </a:solidFill>
                <a:latin typeface="Arial Narrow" panose="020B0606020202030204" pitchFamily="34" charset="0"/>
                <a:cs typeface="Calibri" panose="020F0502020204030204" pitchFamily="34" charset="0"/>
              </a:rPr>
              <a:t>Poszukują reprezentacji zbioru danych poprzez uczenie sieci ignorowania szumu. Wykorzystywane w uczeniu nienadzorowanym.</a:t>
            </a: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11. </a:t>
            </a:r>
            <a:r>
              <a:rPr lang="pl-PL" sz="2000" b="1">
                <a:solidFill>
                  <a:srgbClr val="000000"/>
                </a:solidFill>
                <a:latin typeface="Arial Narrow" panose="020B0606020202030204" pitchFamily="34" charset="0"/>
                <a:cs typeface="Calibri" panose="020F0502020204030204" pitchFamily="34" charset="0"/>
              </a:rPr>
              <a:t>Konwolucyjne</a:t>
            </a:r>
            <a:r>
              <a:rPr lang="pl-PL" sz="2000" b="1" dirty="0">
                <a:solidFill>
                  <a:srgbClr val="000000"/>
                </a:solidFill>
                <a:latin typeface="Arial Narrow" panose="020B0606020202030204" pitchFamily="34" charset="0"/>
                <a:cs typeface="Calibri" panose="020F0502020204030204" pitchFamily="34" charset="0"/>
              </a:rPr>
              <a:t> (splotowe) sieci neuronowe (CNN – </a:t>
            </a:r>
            <a:r>
              <a:rPr lang="pl-PL" sz="2000" b="1" i="1" dirty="0">
                <a:solidFill>
                  <a:srgbClr val="000000"/>
                </a:solidFill>
                <a:latin typeface="Arial Narrow" panose="020B0606020202030204" pitchFamily="34" charset="0"/>
                <a:cs typeface="Calibri" panose="020F0502020204030204" pitchFamily="34" charset="0"/>
              </a:rPr>
              <a:t>Convolutional Neural Networks</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Warstwy stosują filtry do obrazu lub dźwięku wejściowego, przesuwając ten filtr przez cały sygnał wejściowy w celu uzyskania dwuwymiarowej mapy aktywacji.</a:t>
            </a:r>
          </a:p>
        </p:txBody>
      </p:sp>
      <p:sp>
        <p:nvSpPr>
          <p:cNvPr id="6" name="Rectangle 2">
            <a:extLst>
              <a:ext uri="{FF2B5EF4-FFF2-40B4-BE49-F238E27FC236}">
                <a16:creationId xmlns:a16="http://schemas.microsoft.com/office/drawing/2014/main" id="{B0488591-268A-4036-B4B4-5633DF9C997D}"/>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architektury</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Picture 6"/>
          <p:cNvPicPr>
            <a:picLocks noChangeAspect="1"/>
          </p:cNvPicPr>
          <p:nvPr/>
        </p:nvPicPr>
        <p:blipFill>
          <a:blip r:embed="rId2"/>
          <a:stretch>
            <a:fillRect/>
          </a:stretch>
        </p:blipFill>
        <p:spPr>
          <a:xfrm>
            <a:off x="2362200" y="4141387"/>
            <a:ext cx="3733800" cy="2640413"/>
          </a:xfrm>
          <a:prstGeom prst="rect">
            <a:avLst/>
          </a:prstGeom>
        </p:spPr>
      </p:pic>
    </p:spTree>
    <p:extLst>
      <p:ext uri="{BB962C8B-B14F-4D97-AF65-F5344CB8AC3E}">
        <p14:creationId xmlns:p14="http://schemas.microsoft.com/office/powerpoint/2010/main" val="579755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18</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1915180"/>
            <a:ext cx="8915400" cy="523220"/>
          </a:xfrm>
          <a:prstGeom prst="rect">
            <a:avLst/>
          </a:prstGeom>
        </p:spPr>
        <p:txBody>
          <a:bodyPr wrap="square">
            <a:spAutoFit/>
          </a:bodyPr>
          <a:lstStyle/>
          <a:p>
            <a:r>
              <a:rPr lang="pl-PL" sz="2800" b="1" dirty="0">
                <a:solidFill>
                  <a:srgbClr val="0000FF"/>
                </a:solidFill>
                <a:latin typeface="Arial Narrow" panose="020B0606020202030204" pitchFamily="34" charset="0"/>
                <a:cs typeface="Calibri" panose="020F0502020204030204" pitchFamily="34" charset="0"/>
              </a:rPr>
              <a:t>Proces uczenia sieci neuronowych</a:t>
            </a:r>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241273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Picture 6"/>
          <p:cNvPicPr>
            <a:picLocks noChangeAspect="1"/>
          </p:cNvPicPr>
          <p:nvPr/>
        </p:nvPicPr>
        <p:blipFill>
          <a:blip r:embed="rId2"/>
          <a:stretch>
            <a:fillRect/>
          </a:stretch>
        </p:blipFill>
        <p:spPr>
          <a:xfrm>
            <a:off x="625277" y="1066800"/>
            <a:ext cx="7223324" cy="3962400"/>
          </a:xfrm>
          <a:prstGeom prst="rect">
            <a:avLst/>
          </a:prstGeom>
        </p:spPr>
      </p:pic>
      <p:sp>
        <p:nvSpPr>
          <p:cNvPr id="8" name="Prostokąt 3">
            <a:extLst>
              <a:ext uri="{FF2B5EF4-FFF2-40B4-BE49-F238E27FC236}">
                <a16:creationId xmlns:a16="http://schemas.microsoft.com/office/drawing/2014/main" id="{8D38F881-D903-4064-AA6E-936F1740E924}"/>
              </a:ext>
            </a:extLst>
          </p:cNvPr>
          <p:cNvSpPr/>
          <p:nvPr/>
        </p:nvSpPr>
        <p:spPr>
          <a:xfrm>
            <a:off x="10886" y="304800"/>
            <a:ext cx="9133114" cy="707886"/>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Uczenie (trenowanie) polega na poszukiwaniu zbioru wartości wag wszystkich warstw sieci, aby sieć poprawnie mapowała dane wejściowe na dane wyjściowe.</a:t>
            </a:r>
          </a:p>
        </p:txBody>
      </p:sp>
      <p:sp>
        <p:nvSpPr>
          <p:cNvPr id="3" name="Slide Number Placeholder 2"/>
          <p:cNvSpPr>
            <a:spLocks noGrp="1"/>
          </p:cNvSpPr>
          <p:nvPr>
            <p:ph type="sldNum" sz="quarter" idx="12"/>
          </p:nvPr>
        </p:nvSpPr>
        <p:spPr/>
        <p:txBody>
          <a:bodyPr/>
          <a:lstStyle/>
          <a:p>
            <a:fld id="{20D4B2D9-DB10-4EB9-B7A6-032A6D4E75AC}" type="slidenum">
              <a:rPr lang="pl-PL" smtClean="0"/>
              <a:pPr/>
              <a:t>19</a:t>
            </a:fld>
            <a:endParaRPr lang="pl-PL" dirty="0"/>
          </a:p>
        </p:txBody>
      </p:sp>
    </p:spTree>
    <p:extLst>
      <p:ext uri="{BB962C8B-B14F-4D97-AF65-F5344CB8AC3E}">
        <p14:creationId xmlns:p14="http://schemas.microsoft.com/office/powerpoint/2010/main" val="2480565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tokąt 3">
            <a:extLst>
              <a:ext uri="{FF2B5EF4-FFF2-40B4-BE49-F238E27FC236}">
                <a16:creationId xmlns:a16="http://schemas.microsoft.com/office/drawing/2014/main" id="{8D38F881-D903-4064-AA6E-936F1740E924}"/>
              </a:ext>
            </a:extLst>
          </p:cNvPr>
          <p:cNvSpPr/>
          <p:nvPr/>
        </p:nvSpPr>
        <p:spPr>
          <a:xfrm>
            <a:off x="0" y="228600"/>
            <a:ext cx="9144000" cy="5016758"/>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 celu kontrolowania działania wyjść sieci neuronowej należy dysponować sposobem pomiaru tego, jak aktualnie generowane dane odbiegają od oczekiwań. Służy do tego </a:t>
            </a:r>
            <a:r>
              <a:rPr lang="pl-PL" sz="2000" b="1" dirty="0">
                <a:solidFill>
                  <a:srgbClr val="000000"/>
                </a:solidFill>
                <a:latin typeface="Arial Narrow" panose="020B0606020202030204" pitchFamily="34" charset="0"/>
                <a:cs typeface="Calibri" panose="020F0502020204030204" pitchFamily="34" charset="0"/>
              </a:rPr>
              <a:t>funkcja straty</a:t>
            </a:r>
            <a:r>
              <a:rPr lang="pl-PL" sz="2000" dirty="0">
                <a:solidFill>
                  <a:srgbClr val="000000"/>
                </a:solidFill>
                <a:latin typeface="Arial Narrow" panose="020B0606020202030204" pitchFamily="34" charset="0"/>
                <a:cs typeface="Calibri" panose="020F0502020204030204" pitchFamily="34" charset="0"/>
              </a:rPr>
              <a:t> sieci zwana też </a:t>
            </a:r>
            <a:r>
              <a:rPr lang="pl-PL" sz="2000" b="1" dirty="0">
                <a:solidFill>
                  <a:srgbClr val="000000"/>
                </a:solidFill>
                <a:latin typeface="Arial Narrow" panose="020B0606020202030204" pitchFamily="34" charset="0"/>
                <a:cs typeface="Calibri" panose="020F0502020204030204" pitchFamily="34" charset="0"/>
              </a:rPr>
              <a:t>funkcją celu</a:t>
            </a:r>
            <a:r>
              <a:rPr lang="pl-PL" sz="2000" dirty="0">
                <a:solidFill>
                  <a:srgbClr val="000000"/>
                </a:solidFill>
                <a:latin typeface="Arial Narrow" panose="020B0606020202030204" pitchFamily="34" charset="0"/>
                <a:cs typeface="Calibri" panose="020F0502020204030204" pitchFamily="34" charset="0"/>
              </a:rPr>
              <a:t>.</a:t>
            </a:r>
          </a:p>
          <a:p>
            <a:r>
              <a:rPr lang="pl-PL" sz="2000" dirty="0">
                <a:latin typeface="Arial Narrow" panose="020B0606020202030204" pitchFamily="34" charset="0"/>
              </a:rPr>
              <a:t>Funkcja straty (celu) to </a:t>
            </a:r>
            <a:r>
              <a:rPr lang="pl-PL" sz="2000" dirty="0">
                <a:solidFill>
                  <a:srgbClr val="000000"/>
                </a:solidFill>
                <a:latin typeface="Arial Narrow" panose="020B0606020202030204" pitchFamily="34" charset="0"/>
                <a:cs typeface="Calibri" panose="020F0502020204030204" pitchFamily="34" charset="0"/>
              </a:rPr>
              <a:t>wartość, którą sieć próbuje minimalizować podczas trenowania. O</a:t>
            </a:r>
            <a:r>
              <a:rPr lang="pl-PL" sz="2000" dirty="0">
                <a:latin typeface="Arial Narrow" panose="020B0606020202030204" pitchFamily="34" charset="0"/>
              </a:rPr>
              <a:t>blicza, jak bardzo wartości obliczone przez sieć odbiegają od oczekiwanych </a:t>
            </a:r>
            <a:r>
              <a:rPr lang="pl-PL" sz="2000" dirty="0">
                <a:solidFill>
                  <a:srgbClr val="000000"/>
                </a:solidFill>
                <a:latin typeface="Arial Narrow" panose="020B0606020202030204" pitchFamily="34" charset="0"/>
                <a:cs typeface="Calibri" panose="020F0502020204030204" pitchFamily="34" charset="0"/>
              </a:rPr>
              <a:t>i w ten sposób uzyskiwana jest odpowiedź na pytanie, jaka jest odległość rozkładu przewidywanego od rzeczywistego</a:t>
            </a:r>
            <a:r>
              <a:rPr lang="pl-PL" sz="2000" dirty="0">
                <a:latin typeface="Arial Narrow" panose="020B0606020202030204" pitchFamily="34" charset="0"/>
              </a:rPr>
              <a:t>. </a:t>
            </a:r>
            <a:r>
              <a:rPr lang="pl-PL" sz="2000" dirty="0">
                <a:solidFill>
                  <a:srgbClr val="000000"/>
                </a:solidFill>
                <a:latin typeface="Arial Narrow" panose="020B0606020202030204" pitchFamily="34" charset="0"/>
                <a:cs typeface="Calibri" panose="020F0502020204030204" pitchFamily="34" charset="0"/>
              </a:rPr>
              <a:t>Jest miarą sukcesu wykonywanego zadania. </a:t>
            </a:r>
            <a:r>
              <a:rPr lang="pl-PL" sz="2000" dirty="0">
                <a:latin typeface="Arial Narrow" panose="020B0606020202030204" pitchFamily="34" charset="0"/>
              </a:rPr>
              <a:t>Jest używana w charakterze informacji zwrotnej umożliwiającej dostrojenie wartości wag.</a:t>
            </a:r>
          </a:p>
          <a:p>
            <a:endParaRPr lang="pl-PL" sz="2000" dirty="0">
              <a:latin typeface="Arial Narrow" panose="020B0606020202030204" pitchFamily="34" charset="0"/>
            </a:endParaRPr>
          </a:p>
          <a:p>
            <a:r>
              <a:rPr lang="pl-PL" sz="2000" dirty="0">
                <a:solidFill>
                  <a:srgbClr val="000000"/>
                </a:solidFill>
                <a:latin typeface="Arial Narrow" panose="020B0606020202030204" pitchFamily="34" charset="0"/>
                <a:cs typeface="Calibri" panose="020F0502020204030204" pitchFamily="34" charset="0"/>
              </a:rPr>
              <a:t>Funkcje straty są wykorzystywane w </a:t>
            </a:r>
            <a:r>
              <a:rPr lang="pl-PL" sz="2000" b="1" dirty="0">
                <a:solidFill>
                  <a:srgbClr val="000000"/>
                </a:solidFill>
                <a:latin typeface="Arial Narrow" panose="020B0606020202030204" pitchFamily="34" charset="0"/>
                <a:cs typeface="Calibri" panose="020F0502020204030204" pitchFamily="34" charset="0"/>
              </a:rPr>
              <a:t>metodzie spadku wzdłuż gradientu</a:t>
            </a:r>
            <a:r>
              <a:rPr lang="pl-PL" sz="2000" dirty="0">
                <a:solidFill>
                  <a:srgbClr val="000000"/>
                </a:solidFill>
                <a:latin typeface="Arial Narrow" panose="020B0606020202030204" pitchFamily="34" charset="0"/>
                <a:cs typeface="Calibri" panose="020F0502020204030204" pitchFamily="34" charset="0"/>
              </a:rPr>
              <a:t>, który jest iteracyjnym algorytmem przesuwania parametrów (współczynników) w kierunku wartości optymalnych (jak najbardziej zbliżonych do rzeczywistych).</a:t>
            </a:r>
          </a:p>
          <a:p>
            <a:endParaRPr lang="pl-PL" sz="2000" dirty="0">
              <a:latin typeface="Arial Narrow" panose="020B0606020202030204" pitchFamily="34" charset="0"/>
            </a:endParaRPr>
          </a:p>
          <a:p>
            <a:r>
              <a:rPr lang="pl-PL" sz="2000" dirty="0">
                <a:solidFill>
                  <a:srgbClr val="000000"/>
                </a:solidFill>
                <a:latin typeface="Arial Narrow" panose="020B0606020202030204" pitchFamily="34" charset="0"/>
                <a:cs typeface="Calibri" panose="020F0502020204030204" pitchFamily="34" charset="0"/>
              </a:rPr>
              <a:t>Funkcja celu musi być poprawnie dobrana, gdyż sieć będzie robiła wszystko aby minimalizować straty. Przykład: „maksymalizuj średni dobrobyt wszystkich ludzi”. Aby osiągnąć cel funkcja może dążyć do zabicia wszystkich ludzi oprócz kilku najbogatszych.</a:t>
            </a:r>
          </a:p>
        </p:txBody>
      </p:sp>
      <p:sp>
        <p:nvSpPr>
          <p:cNvPr id="3" name="Rectangle 2">
            <a:extLst>
              <a:ext uri="{FF2B5EF4-FFF2-40B4-BE49-F238E27FC236}">
                <a16:creationId xmlns:a16="http://schemas.microsoft.com/office/drawing/2014/main" id="{2C57F797-EE31-4361-9838-EBAAE9E581AA}"/>
              </a:ext>
            </a:extLst>
          </p:cNvPr>
          <p:cNvSpPr txBox="1">
            <a:spLocks noChangeArrowheads="1"/>
          </p:cNvSpPr>
          <p:nvPr/>
        </p:nvSpPr>
        <p:spPr>
          <a:xfrm>
            <a:off x="0" y="-5836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Slide Number Placeholder 5"/>
          <p:cNvSpPr>
            <a:spLocks noGrp="1"/>
          </p:cNvSpPr>
          <p:nvPr>
            <p:ph type="sldNum" sz="quarter" idx="12"/>
          </p:nvPr>
        </p:nvSpPr>
        <p:spPr/>
        <p:txBody>
          <a:bodyPr/>
          <a:lstStyle/>
          <a:p>
            <a:fld id="{20D4B2D9-DB10-4EB9-B7A6-032A6D4E75AC}" type="slidenum">
              <a:rPr lang="pl-PL" smtClean="0"/>
              <a:pPr/>
              <a:t>20</a:t>
            </a:fld>
            <a:endParaRPr lang="pl-PL" dirty="0"/>
          </a:p>
        </p:txBody>
      </p:sp>
    </p:spTree>
    <p:extLst>
      <p:ext uri="{BB962C8B-B14F-4D97-AF65-F5344CB8AC3E}">
        <p14:creationId xmlns:p14="http://schemas.microsoft.com/office/powerpoint/2010/main" val="67794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 calcmode="lin" valueType="num">
                                      <p:cBhvr additive="base">
                                        <p:cTn id="1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D4B2D9-DB10-4EB9-B7A6-032A6D4E75AC}" type="slidenum">
              <a:rPr lang="pl-PL" smtClean="0"/>
              <a:pPr/>
              <a:t>21</a:t>
            </a:fld>
            <a:endParaRPr lang="pl-PL" dirty="0"/>
          </a:p>
        </p:txBody>
      </p:sp>
      <p:sp>
        <p:nvSpPr>
          <p:cNvPr id="3"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Prostokąt 3">
            <a:extLst>
              <a:ext uri="{FF2B5EF4-FFF2-40B4-BE49-F238E27FC236}">
                <a16:creationId xmlns:a16="http://schemas.microsoft.com/office/drawing/2014/main" id="{8D38F881-D903-4064-AA6E-936F1740E924}"/>
              </a:ext>
            </a:extLst>
          </p:cNvPr>
          <p:cNvSpPr/>
          <p:nvPr/>
        </p:nvSpPr>
        <p:spPr>
          <a:xfrm>
            <a:off x="0" y="246434"/>
            <a:ext cx="9056914" cy="5016758"/>
          </a:xfrm>
          <a:prstGeom prst="rect">
            <a:avLst/>
          </a:prstGeom>
        </p:spPr>
        <p:txBody>
          <a:bodyPr wrap="square">
            <a:spAutoFit/>
          </a:bodyPr>
          <a:lstStyle/>
          <a:p>
            <a:r>
              <a:rPr lang="pl-PL" sz="2000" dirty="0">
                <a:latin typeface="Arial Narrow" panose="020B0606020202030204" pitchFamily="34" charset="0"/>
              </a:rPr>
              <a:t>Nie istnieje jedna uniwersalna funkcja straty, która sprawdzałaby się w każdym rodzaju problemu. Musi być ona dobrana na podstawie analizy typu problemu i zestawu danych wejściowych.</a:t>
            </a:r>
          </a:p>
          <a:p>
            <a:endParaRPr lang="pl-PL" sz="2000" dirty="0">
              <a:latin typeface="Arial Narrow" panose="020B0606020202030204" pitchFamily="34" charset="0"/>
            </a:endParaRPr>
          </a:p>
          <a:p>
            <a:r>
              <a:rPr lang="pl-PL" sz="2000" dirty="0">
                <a:latin typeface="Arial Narrow" panose="020B0606020202030204" pitchFamily="34" charset="0"/>
              </a:rPr>
              <a:t>Istnieją wskazówki umożliwiające </a:t>
            </a:r>
            <a:r>
              <a:rPr lang="pl-PL" sz="2000" b="1" dirty="0">
                <a:latin typeface="Arial Narrow" panose="020B0606020202030204" pitchFamily="34" charset="0"/>
              </a:rPr>
              <a:t>wybór właściwej funkcji straty</a:t>
            </a:r>
            <a:r>
              <a:rPr lang="pl-PL" sz="2000" dirty="0">
                <a:latin typeface="Arial Narrow" panose="020B0606020202030204" pitchFamily="34" charset="0"/>
              </a:rPr>
              <a:t>. Np.:</a:t>
            </a:r>
          </a:p>
          <a:p>
            <a:pPr marL="177800" indent="-177800">
              <a:buFont typeface="Arial" panose="020B0604020202020204" pitchFamily="34" charset="0"/>
              <a:buChar char="•"/>
            </a:pPr>
            <a:r>
              <a:rPr lang="pl-PL" sz="2000" dirty="0">
                <a:latin typeface="Arial Narrow" panose="020B0606020202030204" pitchFamily="34" charset="0"/>
              </a:rPr>
              <a:t>do zadania klasyfikacji najczęściej korzysta się z entropii krzyżowej, w zadaniach klasyfikacji binarnej jest to </a:t>
            </a:r>
            <a:r>
              <a:rPr lang="pl-PL" sz="2000" b="1" dirty="0">
                <a:latin typeface="Arial Narrow" panose="020B0606020202030204" pitchFamily="34" charset="0"/>
              </a:rPr>
              <a:t>binarna entropia krzyżowa</a:t>
            </a:r>
            <a:r>
              <a:rPr lang="pl-PL" sz="2000" dirty="0">
                <a:latin typeface="Arial Narrow" panose="020B0606020202030204" pitchFamily="34" charset="0"/>
              </a:rPr>
              <a:t> (binary_crossentropy), a w klasyfikacji wieloklasowej </a:t>
            </a:r>
            <a:r>
              <a:rPr lang="pl-PL" sz="2000" b="1" dirty="0">
                <a:latin typeface="Arial Narrow" panose="020B0606020202030204" pitchFamily="34" charset="0"/>
              </a:rPr>
              <a:t>kategoryzacyjna entropia krzyżowa</a:t>
            </a:r>
            <a:r>
              <a:rPr lang="pl-PL" sz="2000" dirty="0">
                <a:latin typeface="Arial Narrow" panose="020B0606020202030204" pitchFamily="34" charset="0"/>
              </a:rPr>
              <a:t> (categorical_crossentropy). Inne funkcje straty wykorzystywane w zadaniach klasyfikacji to funkcja logarytmiczna, rozbieżność Kullbacka-Leiblera czy funkcja wykładnicza,</a:t>
            </a:r>
          </a:p>
          <a:p>
            <a:pPr marL="177800" indent="-177800">
              <a:buFont typeface="Arial" panose="020B0604020202020204" pitchFamily="34" charset="0"/>
              <a:buChar char="•"/>
            </a:pPr>
            <a:r>
              <a:rPr lang="pl-PL" sz="2000" dirty="0">
                <a:latin typeface="Arial Narrow" panose="020B0606020202030204" pitchFamily="34" charset="0"/>
              </a:rPr>
              <a:t>problem regresji jest rozwiązywany za pomocą </a:t>
            </a:r>
            <a:r>
              <a:rPr lang="pl-PL" sz="2000" b="1" dirty="0">
                <a:latin typeface="Arial Narrow" panose="020B0606020202030204" pitchFamily="34" charset="0"/>
              </a:rPr>
              <a:t>średniego błędu kwadratowego</a:t>
            </a:r>
            <a:r>
              <a:rPr lang="pl-PL" sz="2000" dirty="0">
                <a:latin typeface="Arial Narrow" panose="020B0606020202030204" pitchFamily="34" charset="0"/>
              </a:rPr>
              <a:t> (mse – </a:t>
            </a:r>
            <a:r>
              <a:rPr lang="pl-PL" sz="2000" i="1" dirty="0">
                <a:latin typeface="Arial Narrow" panose="020B0606020202030204" pitchFamily="34" charset="0"/>
              </a:rPr>
              <a:t>mean squared error</a:t>
            </a:r>
            <a:r>
              <a:rPr lang="pl-PL" sz="2000" dirty="0">
                <a:latin typeface="Arial Narrow" panose="020B0606020202030204" pitchFamily="34" charset="0"/>
              </a:rPr>
              <a:t>), średniego błędu bezwzględnego (mae – </a:t>
            </a:r>
            <a:r>
              <a:rPr lang="pl-PL" sz="2000" i="1" dirty="0">
                <a:latin typeface="Arial Narrow" panose="020B0606020202030204" pitchFamily="34" charset="0"/>
              </a:rPr>
              <a:t>mean absolute error</a:t>
            </a:r>
            <a:r>
              <a:rPr lang="pl-PL" sz="2000" dirty="0">
                <a:latin typeface="Arial Narrow" panose="020B0606020202030204" pitchFamily="34" charset="0"/>
              </a:rPr>
              <a:t>), funkcji Hubera (odmiana mae) czy logarytmicznego cosinusa hiperbolicznego.</a:t>
            </a:r>
          </a:p>
          <a:p>
            <a:endParaRPr lang="pl-PL" sz="2000" dirty="0">
              <a:latin typeface="Arial Narrow" panose="020B0606020202030204" pitchFamily="34" charset="0"/>
            </a:endParaRPr>
          </a:p>
          <a:p>
            <a:r>
              <a:rPr lang="pl-PL" sz="2000" dirty="0">
                <a:latin typeface="Arial Narrow" panose="020B0606020202030204" pitchFamily="34" charset="0"/>
              </a:rPr>
              <a:t>Funkcje celu należy dobierać samodzielnie w zasadzie tylko podczas pracy z nowym problemem badawczym.</a:t>
            </a:r>
            <a:endParaRPr lang="pl-PL" sz="2000" dirty="0">
              <a:solidFill>
                <a:srgbClr val="000000"/>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285676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additive="base">
                                        <p:cTn id="2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22</a:t>
            </a:fld>
            <a:endParaRPr lang="pl-PL" dirty="0"/>
          </a:p>
        </p:txBody>
      </p:sp>
      <p:sp>
        <p:nvSpPr>
          <p:cNvPr id="3"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Rectangle 4">
            <a:extLst>
              <a:ext uri="{FF2B5EF4-FFF2-40B4-BE49-F238E27FC236}">
                <a16:creationId xmlns:a16="http://schemas.microsoft.com/office/drawing/2014/main" id="{47AF3F40-5135-4052-A0E2-68347E44F158}"/>
              </a:ext>
            </a:extLst>
          </p:cNvPr>
          <p:cNvSpPr/>
          <p:nvPr/>
        </p:nvSpPr>
        <p:spPr>
          <a:xfrm>
            <a:off x="0" y="304800"/>
            <a:ext cx="9144000" cy="2862322"/>
          </a:xfrm>
          <a:prstGeom prst="rect">
            <a:avLst/>
          </a:prstGeom>
        </p:spPr>
        <p:txBody>
          <a:bodyPr wrap="square">
            <a:spAutoFit/>
          </a:bodyPr>
          <a:lstStyle/>
          <a:p>
            <a:r>
              <a:rPr lang="pl-PL" sz="2000" b="1" dirty="0">
                <a:latin typeface="Arial Narrow" panose="020B0606020202030204" pitchFamily="34" charset="0"/>
              </a:rPr>
              <a:t>Metoda entropii krzyżowej </a:t>
            </a:r>
            <a:r>
              <a:rPr lang="pl-PL" sz="2000" dirty="0">
                <a:latin typeface="Arial Narrow" panose="020B0606020202030204" pitchFamily="34" charset="0"/>
              </a:rPr>
              <a:t>(algorytm uczenia przez wzmacnianie) –</a:t>
            </a:r>
          </a:p>
          <a:p>
            <a:r>
              <a:rPr lang="pl-PL" sz="2000" dirty="0">
                <a:latin typeface="Arial Narrow" panose="020B0606020202030204" pitchFamily="34" charset="0"/>
              </a:rPr>
              <a:t>to technika rozwiązywania zadań optymalizacji, czyli takich, które polegają na znalezieniu najlepszych parametrów pozwalających zminimalizować lub zmaksymalizować daną funkcję.</a:t>
            </a:r>
          </a:p>
          <a:p>
            <a:r>
              <a:rPr lang="pl-PL" sz="2000" dirty="0">
                <a:latin typeface="Arial Narrow" panose="020B0606020202030204" pitchFamily="34" charset="0"/>
              </a:rPr>
              <a:t>W metodzie tej wykorzystywane są informacje zwrotne w celu znalezienia optymalnego rozwiązania problemu.</a:t>
            </a:r>
          </a:p>
          <a:p>
            <a:endParaRPr lang="pl-PL" sz="2000" dirty="0">
              <a:latin typeface="Arial Narrow" panose="020B0606020202030204" pitchFamily="34" charset="0"/>
            </a:endParaRPr>
          </a:p>
          <a:p>
            <a:r>
              <a:rPr lang="pl-PL" sz="2000" dirty="0">
                <a:latin typeface="Arial Narrow" panose="020B0606020202030204" pitchFamily="34" charset="0"/>
              </a:rPr>
              <a:t>Przykład:</a:t>
            </a:r>
          </a:p>
          <a:p>
            <a:r>
              <a:rPr lang="pl-PL" sz="2000" dirty="0">
                <a:latin typeface="Arial Narrow" panose="020B0606020202030204" pitchFamily="34" charset="0"/>
              </a:rPr>
              <a:t>Jak dobrać parametry elementów samolotu (wielkość skrzydeł, kąt ich nachylenia, waga samolotu, itd.), żeby przeleciał jak najdłuższą trasę w określonych warunkach.</a:t>
            </a:r>
          </a:p>
        </p:txBody>
      </p:sp>
    </p:spTree>
    <p:extLst>
      <p:ext uri="{BB962C8B-B14F-4D97-AF65-F5344CB8AC3E}">
        <p14:creationId xmlns:p14="http://schemas.microsoft.com/office/powerpoint/2010/main" val="3249562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23</a:t>
            </a:fld>
            <a:endParaRPr lang="pl-PL" dirty="0"/>
          </a:p>
        </p:txBody>
      </p:sp>
      <p:sp>
        <p:nvSpPr>
          <p:cNvPr id="5" name="Rectangle 2">
            <a:extLst>
              <a:ext uri="{FF2B5EF4-FFF2-40B4-BE49-F238E27FC236}">
                <a16:creationId xmlns:a16="http://schemas.microsoft.com/office/drawing/2014/main" id="{F7B0D6A4-3488-4D87-9BEF-2B353DBB7940}"/>
              </a:ext>
            </a:extLst>
          </p:cNvPr>
          <p:cNvSpPr txBox="1">
            <a:spLocks noChangeArrowheads="1"/>
          </p:cNvSpPr>
          <p:nvPr/>
        </p:nvSpPr>
        <p:spPr>
          <a:xfrm>
            <a:off x="0" y="-5836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8" name="Prostokąt 4">
            <a:extLst>
              <a:ext uri="{FF2B5EF4-FFF2-40B4-BE49-F238E27FC236}">
                <a16:creationId xmlns:a16="http://schemas.microsoft.com/office/drawing/2014/main" id="{97549EC5-5A66-44FE-9E4A-12FFDC68996A}"/>
              </a:ext>
            </a:extLst>
          </p:cNvPr>
          <p:cNvSpPr/>
          <p:nvPr/>
        </p:nvSpPr>
        <p:spPr>
          <a:xfrm>
            <a:off x="0" y="261080"/>
            <a:ext cx="8915400" cy="707886"/>
          </a:xfrm>
          <a:prstGeom prst="rect">
            <a:avLst/>
          </a:prstGeom>
        </p:spPr>
        <p:txBody>
          <a:bodyPr wrap="square">
            <a:spAutoFit/>
          </a:bodyPr>
          <a:lstStyle/>
          <a:p>
            <a:r>
              <a:rPr lang="pl-PL" sz="2000" b="1" dirty="0">
                <a:solidFill>
                  <a:srgbClr val="0070C0"/>
                </a:solidFill>
                <a:latin typeface="Arial Narrow" panose="020B0606020202030204" pitchFamily="34" charset="0"/>
                <a:cs typeface="Calibri" panose="020F0502020204030204" pitchFamily="34" charset="0"/>
              </a:rPr>
              <a:t>Działanie funkcji straty na przykładzie entropii krzyżowej.</a:t>
            </a:r>
          </a:p>
          <a:p>
            <a:r>
              <a:rPr lang="pl-PL" sz="2000" b="1" dirty="0">
                <a:solidFill>
                  <a:srgbClr val="000000"/>
                </a:solidFill>
                <a:latin typeface="Arial Narrow" panose="020B0606020202030204" pitchFamily="34" charset="0"/>
                <a:cs typeface="Calibri" panose="020F0502020204030204" pitchFamily="34" charset="0"/>
              </a:rPr>
              <a:t>Entropia krzyżowa</a:t>
            </a:r>
            <a:r>
              <a:rPr lang="pl-PL" sz="2000" dirty="0">
                <a:solidFill>
                  <a:srgbClr val="000000"/>
                </a:solidFill>
                <a:latin typeface="Arial Narrow" panose="020B0606020202030204" pitchFamily="34" charset="0"/>
                <a:cs typeface="Calibri" panose="020F0502020204030204" pitchFamily="34" charset="0"/>
              </a:rPr>
              <a:t> jest obliczana według wzoru:</a:t>
            </a:r>
          </a:p>
        </p:txBody>
      </p:sp>
      <p:sp>
        <p:nvSpPr>
          <p:cNvPr id="10" name="Prostokąt 4">
            <a:extLst>
              <a:ext uri="{FF2B5EF4-FFF2-40B4-BE49-F238E27FC236}">
                <a16:creationId xmlns:a16="http://schemas.microsoft.com/office/drawing/2014/main" id="{AB75AF36-BEDF-4292-A485-F09CE7677BA5}"/>
              </a:ext>
            </a:extLst>
          </p:cNvPr>
          <p:cNvSpPr/>
          <p:nvPr/>
        </p:nvSpPr>
        <p:spPr>
          <a:xfrm>
            <a:off x="19455" y="1947208"/>
            <a:ext cx="8915400" cy="1938992"/>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gdzie:</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p(x) prawdopodobieństwo rzeczywiste</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q(x) prawdopodobieństwo obliczone</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Zwykle jako podstawa logarytmu wykorzystywana jest liczba 2.</a:t>
            </a:r>
          </a:p>
          <a:p>
            <a:r>
              <a:rPr lang="pl-PL" sz="2000" dirty="0">
                <a:solidFill>
                  <a:srgbClr val="000000"/>
                </a:solidFill>
                <a:latin typeface="Arial Narrow" panose="020B0606020202030204" pitchFamily="34" charset="0"/>
                <a:cs typeface="Calibri" panose="020F0502020204030204" pitchFamily="34" charset="0"/>
              </a:rPr>
              <a:t>Jeśli liczba logarytmowana jest równa zero [q(x)=0], przyjmuje się, że logarytm wynosi 0.</a:t>
            </a:r>
          </a:p>
        </p:txBody>
      </p:sp>
      <p:pic>
        <p:nvPicPr>
          <p:cNvPr id="2" name="Obraz 1"/>
          <p:cNvPicPr>
            <a:picLocks noChangeAspect="1"/>
          </p:cNvPicPr>
          <p:nvPr/>
        </p:nvPicPr>
        <p:blipFill>
          <a:blip r:embed="rId2"/>
          <a:stretch>
            <a:fillRect/>
          </a:stretch>
        </p:blipFill>
        <p:spPr>
          <a:xfrm>
            <a:off x="2857500" y="1219200"/>
            <a:ext cx="2857500" cy="590550"/>
          </a:xfrm>
          <a:prstGeom prst="rect">
            <a:avLst/>
          </a:prstGeom>
        </p:spPr>
      </p:pic>
    </p:spTree>
    <p:extLst>
      <p:ext uri="{BB962C8B-B14F-4D97-AF65-F5344CB8AC3E}">
        <p14:creationId xmlns:p14="http://schemas.microsoft.com/office/powerpoint/2010/main" val="3300736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24</a:t>
            </a:fld>
            <a:endParaRPr lang="pl-PL" dirty="0"/>
          </a:p>
        </p:txBody>
      </p:sp>
      <p:sp>
        <p:nvSpPr>
          <p:cNvPr id="6" name="Prostokąt 4"/>
          <p:cNvSpPr/>
          <p:nvPr/>
        </p:nvSpPr>
        <p:spPr>
          <a:xfrm>
            <a:off x="0" y="4815681"/>
            <a:ext cx="8915400" cy="707886"/>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Czyli strata H(p,q) jest równa:</a:t>
            </a:r>
          </a:p>
          <a:p>
            <a:r>
              <a:rPr lang="pl-PL" sz="2000" b="1" dirty="0">
                <a:solidFill>
                  <a:srgbClr val="000000"/>
                </a:solidFill>
                <a:latin typeface="Arial Narrow" panose="020B0606020202030204" pitchFamily="34" charset="0"/>
                <a:cs typeface="Calibri" panose="020F0502020204030204" pitchFamily="34" charset="0"/>
              </a:rPr>
              <a:t>–</a:t>
            </a:r>
            <a:r>
              <a:rPr lang="pl-PL" sz="2000" dirty="0">
                <a:solidFill>
                  <a:srgbClr val="000000"/>
                </a:solidFill>
                <a:latin typeface="Arial Narrow" panose="020B0606020202030204" pitchFamily="34" charset="0"/>
                <a:cs typeface="Calibri" panose="020F0502020204030204" pitchFamily="34" charset="0"/>
              </a:rPr>
              <a:t>(0*log</a:t>
            </a:r>
            <a:r>
              <a:rPr lang="pl-PL" sz="2000" baseline="-25000" dirty="0">
                <a:solidFill>
                  <a:srgbClr val="000000"/>
                </a:solidFill>
                <a:latin typeface="Arial Narrow" panose="020B0606020202030204" pitchFamily="34" charset="0"/>
                <a:cs typeface="Calibri" panose="020F0502020204030204" pitchFamily="34" charset="0"/>
              </a:rPr>
              <a:t>2</a:t>
            </a:r>
            <a:r>
              <a:rPr lang="pl-PL" sz="2000" dirty="0">
                <a:solidFill>
                  <a:srgbClr val="000000"/>
                </a:solidFill>
                <a:latin typeface="Arial Narrow" panose="020B0606020202030204" pitchFamily="34" charset="0"/>
                <a:cs typeface="Calibri" panose="020F0502020204030204" pitchFamily="34" charset="0"/>
              </a:rPr>
              <a:t>0,03 + 0*log</a:t>
            </a:r>
            <a:r>
              <a:rPr lang="pl-PL" sz="2000" baseline="-25000" dirty="0">
                <a:solidFill>
                  <a:srgbClr val="000000"/>
                </a:solidFill>
                <a:latin typeface="Arial Narrow" panose="020B0606020202030204" pitchFamily="34" charset="0"/>
                <a:cs typeface="Calibri" panose="020F0502020204030204" pitchFamily="34" charset="0"/>
              </a:rPr>
              <a:t>2</a:t>
            </a:r>
            <a:r>
              <a:rPr lang="pl-PL" sz="2000" dirty="0">
                <a:solidFill>
                  <a:srgbClr val="000000"/>
                </a:solidFill>
                <a:latin typeface="Arial Narrow" panose="020B0606020202030204" pitchFamily="34" charset="0"/>
                <a:cs typeface="Calibri" panose="020F0502020204030204" pitchFamily="34" charset="0"/>
              </a:rPr>
              <a:t>0,05 + </a:t>
            </a:r>
            <a:r>
              <a:rPr lang="pl-PL" sz="2000" b="1" dirty="0">
                <a:solidFill>
                  <a:srgbClr val="000000"/>
                </a:solidFill>
                <a:latin typeface="Arial Narrow" panose="020B0606020202030204" pitchFamily="34" charset="0"/>
                <a:cs typeface="Calibri" panose="020F0502020204030204" pitchFamily="34" charset="0"/>
              </a:rPr>
              <a:t>1*log</a:t>
            </a:r>
            <a:r>
              <a:rPr lang="pl-PL" sz="2000" b="1" baseline="-25000" dirty="0">
                <a:solidFill>
                  <a:srgbClr val="000000"/>
                </a:solidFill>
                <a:latin typeface="Arial Narrow" panose="020B0606020202030204" pitchFamily="34" charset="0"/>
                <a:cs typeface="Calibri" panose="020F0502020204030204" pitchFamily="34" charset="0"/>
              </a:rPr>
              <a:t>2</a:t>
            </a:r>
            <a:r>
              <a:rPr lang="pl-PL" sz="2000" b="1" dirty="0">
                <a:solidFill>
                  <a:srgbClr val="000000"/>
                </a:solidFill>
                <a:latin typeface="Arial Narrow" panose="020B0606020202030204" pitchFamily="34" charset="0"/>
                <a:cs typeface="Calibri" panose="020F0502020204030204" pitchFamily="34" charset="0"/>
              </a:rPr>
              <a:t>0,87</a:t>
            </a:r>
            <a:r>
              <a:rPr lang="pl-PL" sz="2000" dirty="0">
                <a:solidFill>
                  <a:srgbClr val="000000"/>
                </a:solidFill>
                <a:latin typeface="Arial Narrow" panose="020B0606020202030204" pitchFamily="34" charset="0"/>
                <a:cs typeface="Calibri" panose="020F0502020204030204" pitchFamily="34" charset="0"/>
              </a:rPr>
              <a:t> + 0*log</a:t>
            </a:r>
            <a:r>
              <a:rPr lang="pl-PL" sz="2000" baseline="-25000" dirty="0">
                <a:solidFill>
                  <a:srgbClr val="000000"/>
                </a:solidFill>
                <a:latin typeface="Arial Narrow" panose="020B0606020202030204" pitchFamily="34" charset="0"/>
                <a:cs typeface="Calibri" panose="020F0502020204030204" pitchFamily="34" charset="0"/>
              </a:rPr>
              <a:t>2</a:t>
            </a:r>
            <a:r>
              <a:rPr lang="pl-PL" sz="2000" dirty="0">
                <a:solidFill>
                  <a:srgbClr val="000000"/>
                </a:solidFill>
                <a:latin typeface="Arial Narrow" panose="020B0606020202030204" pitchFamily="34" charset="0"/>
                <a:cs typeface="Calibri" panose="020F0502020204030204" pitchFamily="34" charset="0"/>
              </a:rPr>
              <a:t>0,05) = –1*log</a:t>
            </a:r>
            <a:r>
              <a:rPr lang="pl-PL" sz="2000" baseline="-25000" dirty="0">
                <a:solidFill>
                  <a:srgbClr val="000000"/>
                </a:solidFill>
                <a:latin typeface="Arial Narrow" panose="020B0606020202030204" pitchFamily="34" charset="0"/>
                <a:cs typeface="Calibri" panose="020F0502020204030204" pitchFamily="34" charset="0"/>
              </a:rPr>
              <a:t>2</a:t>
            </a:r>
            <a:r>
              <a:rPr lang="pl-PL" sz="2000" dirty="0">
                <a:solidFill>
                  <a:srgbClr val="000000"/>
                </a:solidFill>
                <a:latin typeface="Arial Narrow" panose="020B0606020202030204" pitchFamily="34" charset="0"/>
                <a:cs typeface="Calibri" panose="020F0502020204030204" pitchFamily="34" charset="0"/>
              </a:rPr>
              <a:t>0,87 = </a:t>
            </a:r>
            <a:r>
              <a:rPr lang="pl-PL" sz="2000" b="1" dirty="0">
                <a:solidFill>
                  <a:srgbClr val="000000"/>
                </a:solidFill>
                <a:latin typeface="Arial Narrow" panose="020B0606020202030204" pitchFamily="34" charset="0"/>
                <a:cs typeface="Calibri" panose="020F0502020204030204" pitchFamily="34" charset="0"/>
              </a:rPr>
              <a:t>0,20</a:t>
            </a:r>
          </a:p>
        </p:txBody>
      </p:sp>
      <p:sp>
        <p:nvSpPr>
          <p:cNvPr id="10" name="Prostokąt 4"/>
          <p:cNvSpPr/>
          <p:nvPr/>
        </p:nvSpPr>
        <p:spPr>
          <a:xfrm>
            <a:off x="10886" y="228600"/>
            <a:ext cx="9133114" cy="193899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Entropia krzyżowa</a:t>
            </a:r>
            <a:r>
              <a:rPr lang="pl-PL" sz="2000" dirty="0">
                <a:solidFill>
                  <a:srgbClr val="000000"/>
                </a:solidFill>
                <a:latin typeface="Arial Narrow" panose="020B0606020202030204" pitchFamily="34" charset="0"/>
                <a:cs typeface="Calibri" panose="020F0502020204030204" pitchFamily="34" charset="0"/>
              </a:rPr>
              <a:t> – przykład:</a:t>
            </a:r>
          </a:p>
          <a:p>
            <a:r>
              <a:rPr lang="pl-PL" sz="2000" dirty="0">
                <a:solidFill>
                  <a:srgbClr val="000000"/>
                </a:solidFill>
                <a:latin typeface="Arial Narrow" panose="020B0606020202030204" pitchFamily="34" charset="0"/>
                <a:cs typeface="Calibri" panose="020F0502020204030204" pitchFamily="34" charset="0"/>
              </a:rPr>
              <a:t>Zadanie polega na rozpoznaniu, czy na zdjęciu jest kot, pies, słoń czy zebra. Klasa (czyli zbiór etykiet) jest zbiorem czteroelementowym: K, P, S, Z.</a:t>
            </a:r>
          </a:p>
          <a:p>
            <a:r>
              <a:rPr lang="pl-PL" sz="2000" dirty="0">
                <a:solidFill>
                  <a:srgbClr val="000000"/>
                </a:solidFill>
                <a:latin typeface="Arial Narrow" panose="020B0606020202030204" pitchFamily="34" charset="0"/>
                <a:cs typeface="Calibri" panose="020F0502020204030204" pitchFamily="34" charset="0"/>
              </a:rPr>
              <a:t>Rzeczywista (jednorazowa) dystrybucja (rozkład) prawdopodobieństwa to dystrybucja prawdziwa. Jeśli na zdjęciu jest słoń, to rzeczywisty rozkład prawdopodobieństwa jest następujący:</a:t>
            </a:r>
          </a:p>
        </p:txBody>
      </p:sp>
      <p:graphicFrame>
        <p:nvGraphicFramePr>
          <p:cNvPr id="11" name="Table 10"/>
          <p:cNvGraphicFramePr>
            <a:graphicFrameLocks noGrp="1"/>
          </p:cNvGraphicFramePr>
          <p:nvPr>
            <p:extLst>
              <p:ext uri="{D42A27DB-BD31-4B8C-83A1-F6EECF244321}">
                <p14:modId xmlns:p14="http://schemas.microsoft.com/office/powerpoint/2010/main" val="600793355"/>
              </p:ext>
            </p:extLst>
          </p:nvPr>
        </p:nvGraphicFramePr>
        <p:xfrm>
          <a:off x="3120600" y="2240280"/>
          <a:ext cx="2289600" cy="731520"/>
        </p:xfrm>
        <a:graphic>
          <a:graphicData uri="http://schemas.openxmlformats.org/drawingml/2006/table">
            <a:tbl>
              <a:tblPr firstRow="1" bandRow="1">
                <a:tableStyleId>{5940675A-B579-460E-94D1-54222C63F5DA}</a:tableStyleId>
              </a:tblPr>
              <a:tblGrid>
                <a:gridCol w="572400">
                  <a:extLst>
                    <a:ext uri="{9D8B030D-6E8A-4147-A177-3AD203B41FA5}">
                      <a16:colId xmlns:a16="http://schemas.microsoft.com/office/drawing/2014/main" val="1670658136"/>
                    </a:ext>
                  </a:extLst>
                </a:gridCol>
                <a:gridCol w="572400">
                  <a:extLst>
                    <a:ext uri="{9D8B030D-6E8A-4147-A177-3AD203B41FA5}">
                      <a16:colId xmlns:a16="http://schemas.microsoft.com/office/drawing/2014/main" val="4100964076"/>
                    </a:ext>
                  </a:extLst>
                </a:gridCol>
                <a:gridCol w="572400">
                  <a:extLst>
                    <a:ext uri="{9D8B030D-6E8A-4147-A177-3AD203B41FA5}">
                      <a16:colId xmlns:a16="http://schemas.microsoft.com/office/drawing/2014/main" val="4096896317"/>
                    </a:ext>
                  </a:extLst>
                </a:gridCol>
                <a:gridCol w="572400">
                  <a:extLst>
                    <a:ext uri="{9D8B030D-6E8A-4147-A177-3AD203B41FA5}">
                      <a16:colId xmlns:a16="http://schemas.microsoft.com/office/drawing/2014/main" val="4059178730"/>
                    </a:ext>
                  </a:extLst>
                </a:gridCol>
              </a:tblGrid>
              <a:tr h="213360">
                <a:tc>
                  <a:txBody>
                    <a:bodyPr/>
                    <a:lstStyle/>
                    <a:p>
                      <a:pPr algn="ctr"/>
                      <a:r>
                        <a:rPr lang="pl-PL" b="1" dirty="0">
                          <a:latin typeface="Arial Narrow" panose="020B0606020202030204" pitchFamily="34" charset="0"/>
                        </a:rPr>
                        <a:t>K</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P</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S</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Z</a:t>
                      </a:r>
                      <a:endParaRPr lang="en-US" b="1" dirty="0">
                        <a:latin typeface="Arial Narrow" panose="020B0606020202030204" pitchFamily="34" charset="0"/>
                      </a:endParaRPr>
                    </a:p>
                  </a:txBody>
                  <a:tcPr/>
                </a:tc>
                <a:extLst>
                  <a:ext uri="{0D108BD9-81ED-4DB2-BD59-A6C34878D82A}">
                    <a16:rowId xmlns:a16="http://schemas.microsoft.com/office/drawing/2014/main" val="1201505137"/>
                  </a:ext>
                </a:extLst>
              </a:tr>
              <a:tr h="324000">
                <a:tc>
                  <a:txBody>
                    <a:bodyPr/>
                    <a:lstStyle/>
                    <a:p>
                      <a:pPr algn="ctr"/>
                      <a:r>
                        <a:rPr lang="pl-PL" dirty="0">
                          <a:latin typeface="Arial Narrow" panose="020B0606020202030204" pitchFamily="34" charset="0"/>
                        </a:rPr>
                        <a:t>0</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0</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1</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0</a:t>
                      </a:r>
                      <a:endParaRPr lang="en-US" dirty="0">
                        <a:latin typeface="Arial Narrow" panose="020B0606020202030204" pitchFamily="34" charset="0"/>
                      </a:endParaRPr>
                    </a:p>
                  </a:txBody>
                  <a:tcPr/>
                </a:tc>
                <a:extLst>
                  <a:ext uri="{0D108BD9-81ED-4DB2-BD59-A6C34878D82A}">
                    <a16:rowId xmlns:a16="http://schemas.microsoft.com/office/drawing/2014/main" val="741506085"/>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943075748"/>
              </p:ext>
            </p:extLst>
          </p:nvPr>
        </p:nvGraphicFramePr>
        <p:xfrm>
          <a:off x="3124200" y="3810000"/>
          <a:ext cx="2286000" cy="73152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val="1670658136"/>
                    </a:ext>
                  </a:extLst>
                </a:gridCol>
                <a:gridCol w="571500">
                  <a:extLst>
                    <a:ext uri="{9D8B030D-6E8A-4147-A177-3AD203B41FA5}">
                      <a16:colId xmlns:a16="http://schemas.microsoft.com/office/drawing/2014/main" val="4100964076"/>
                    </a:ext>
                  </a:extLst>
                </a:gridCol>
                <a:gridCol w="571500">
                  <a:extLst>
                    <a:ext uri="{9D8B030D-6E8A-4147-A177-3AD203B41FA5}">
                      <a16:colId xmlns:a16="http://schemas.microsoft.com/office/drawing/2014/main" val="4096896317"/>
                    </a:ext>
                  </a:extLst>
                </a:gridCol>
                <a:gridCol w="571500">
                  <a:extLst>
                    <a:ext uri="{9D8B030D-6E8A-4147-A177-3AD203B41FA5}">
                      <a16:colId xmlns:a16="http://schemas.microsoft.com/office/drawing/2014/main" val="4059178730"/>
                    </a:ext>
                  </a:extLst>
                </a:gridCol>
              </a:tblGrid>
              <a:tr h="213360">
                <a:tc>
                  <a:txBody>
                    <a:bodyPr/>
                    <a:lstStyle/>
                    <a:p>
                      <a:pPr algn="ctr"/>
                      <a:r>
                        <a:rPr lang="pl-PL" b="1" dirty="0">
                          <a:latin typeface="Arial Narrow" panose="020B0606020202030204" pitchFamily="34" charset="0"/>
                        </a:rPr>
                        <a:t>K</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P</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S</a:t>
                      </a:r>
                      <a:endParaRPr lang="en-US" b="1" dirty="0">
                        <a:latin typeface="Arial Narrow" panose="020B0606020202030204" pitchFamily="34" charset="0"/>
                      </a:endParaRPr>
                    </a:p>
                  </a:txBody>
                  <a:tcPr/>
                </a:tc>
                <a:tc>
                  <a:txBody>
                    <a:bodyPr/>
                    <a:lstStyle/>
                    <a:p>
                      <a:pPr algn="ctr"/>
                      <a:r>
                        <a:rPr lang="pl-PL" b="1" dirty="0">
                          <a:latin typeface="Arial Narrow" panose="020B0606020202030204" pitchFamily="34" charset="0"/>
                        </a:rPr>
                        <a:t>Z</a:t>
                      </a:r>
                      <a:endParaRPr lang="en-US" b="1" dirty="0">
                        <a:latin typeface="Arial Narrow" panose="020B0606020202030204" pitchFamily="34" charset="0"/>
                      </a:endParaRPr>
                    </a:p>
                  </a:txBody>
                  <a:tcPr/>
                </a:tc>
                <a:extLst>
                  <a:ext uri="{0D108BD9-81ED-4DB2-BD59-A6C34878D82A}">
                    <a16:rowId xmlns:a16="http://schemas.microsoft.com/office/drawing/2014/main" val="1201505137"/>
                  </a:ext>
                </a:extLst>
              </a:tr>
              <a:tr h="324000">
                <a:tc>
                  <a:txBody>
                    <a:bodyPr/>
                    <a:lstStyle/>
                    <a:p>
                      <a:pPr algn="ctr"/>
                      <a:r>
                        <a:rPr lang="pl-PL" dirty="0">
                          <a:latin typeface="Arial Narrow" panose="020B0606020202030204" pitchFamily="34" charset="0"/>
                        </a:rPr>
                        <a:t>0.03</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0.05</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0.87</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0.05</a:t>
                      </a:r>
                      <a:endParaRPr lang="en-US" dirty="0">
                        <a:latin typeface="Arial Narrow" panose="020B0606020202030204" pitchFamily="34" charset="0"/>
                      </a:endParaRPr>
                    </a:p>
                  </a:txBody>
                  <a:tcPr/>
                </a:tc>
                <a:extLst>
                  <a:ext uri="{0D108BD9-81ED-4DB2-BD59-A6C34878D82A}">
                    <a16:rowId xmlns:a16="http://schemas.microsoft.com/office/drawing/2014/main" val="741506085"/>
                  </a:ext>
                </a:extLst>
              </a:tr>
            </a:tbl>
          </a:graphicData>
        </a:graphic>
      </p:graphicFrame>
      <p:sp>
        <p:nvSpPr>
          <p:cNvPr id="13" name="Prostokąt 4"/>
          <p:cNvSpPr/>
          <p:nvPr/>
        </p:nvSpPr>
        <p:spPr>
          <a:xfrm>
            <a:off x="0" y="3124200"/>
            <a:ext cx="8915400" cy="707886"/>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Załóżmy, że w procesie uczenia maszynowego uzyskano następujący rozkład prawdopodobieństwa:</a:t>
            </a:r>
          </a:p>
        </p:txBody>
      </p:sp>
      <p:sp>
        <p:nvSpPr>
          <p:cNvPr id="9" name="Rectangle 2">
            <a:extLst>
              <a:ext uri="{FF2B5EF4-FFF2-40B4-BE49-F238E27FC236}">
                <a16:creationId xmlns:a16="http://schemas.microsoft.com/office/drawing/2014/main" id="{2C9C2390-5F03-44FD-9577-4A1498218BA6}"/>
              </a:ext>
            </a:extLst>
          </p:cNvPr>
          <p:cNvSpPr txBox="1">
            <a:spLocks noChangeArrowheads="1"/>
          </p:cNvSpPr>
          <p:nvPr/>
        </p:nvSpPr>
        <p:spPr>
          <a:xfrm>
            <a:off x="0" y="-5836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2" name="Obraz 1"/>
          <p:cNvPicPr>
            <a:picLocks noChangeAspect="1"/>
          </p:cNvPicPr>
          <p:nvPr/>
        </p:nvPicPr>
        <p:blipFill>
          <a:blip r:embed="rId2"/>
          <a:stretch>
            <a:fillRect/>
          </a:stretch>
        </p:blipFill>
        <p:spPr>
          <a:xfrm>
            <a:off x="6286500" y="4514850"/>
            <a:ext cx="2857500" cy="590550"/>
          </a:xfrm>
          <a:prstGeom prst="rect">
            <a:avLst/>
          </a:prstGeom>
        </p:spPr>
      </p:pic>
    </p:spTree>
    <p:extLst>
      <p:ext uri="{BB962C8B-B14F-4D97-AF65-F5344CB8AC3E}">
        <p14:creationId xmlns:p14="http://schemas.microsoft.com/office/powerpoint/2010/main" val="49873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25</a:t>
            </a:fld>
            <a:endParaRPr lang="pl-PL" dirty="0"/>
          </a:p>
        </p:txBody>
      </p:sp>
      <p:sp>
        <p:nvSpPr>
          <p:cNvPr id="5" name="Rectangle 2">
            <a:extLst>
              <a:ext uri="{FF2B5EF4-FFF2-40B4-BE49-F238E27FC236}">
                <a16:creationId xmlns:a16="http://schemas.microsoft.com/office/drawing/2014/main" id="{2C9C2390-5F03-44FD-9577-4A1498218BA6}"/>
              </a:ext>
            </a:extLst>
          </p:cNvPr>
          <p:cNvSpPr txBox="1">
            <a:spLocks noChangeArrowheads="1"/>
          </p:cNvSpPr>
          <p:nvPr/>
        </p:nvSpPr>
        <p:spPr>
          <a:xfrm>
            <a:off x="0" y="-5836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Rectangle 3"/>
          <p:cNvSpPr/>
          <p:nvPr/>
        </p:nvSpPr>
        <p:spPr>
          <a:xfrm>
            <a:off x="0" y="304800"/>
            <a:ext cx="8991600" cy="2246769"/>
          </a:xfrm>
          <a:prstGeom prst="rect">
            <a:avLst/>
          </a:prstGeom>
        </p:spPr>
        <p:txBody>
          <a:bodyPr wrap="square">
            <a:spAutoFit/>
          </a:bodyPr>
          <a:lstStyle/>
          <a:p>
            <a:r>
              <a:rPr lang="pl-PL" sz="2000" dirty="0">
                <a:latin typeface="Arial Narrow" panose="020B0606020202030204" pitchFamily="34" charset="0"/>
              </a:rPr>
              <a:t>W procesie uczenia sieci wykorzystywana jest tzw. </a:t>
            </a:r>
            <a:r>
              <a:rPr lang="pl-PL" sz="2000" b="1" dirty="0">
                <a:latin typeface="Arial Narrow" panose="020B0606020202030204" pitchFamily="34" charset="0"/>
              </a:rPr>
              <a:t>propagacja w przód </a:t>
            </a:r>
            <a:r>
              <a:rPr lang="pl-PL" sz="2000" dirty="0">
                <a:latin typeface="Arial Narrow" panose="020B0606020202030204" pitchFamily="34" charset="0"/>
              </a:rPr>
              <a:t>(ang. </a:t>
            </a:r>
            <a:r>
              <a:rPr lang="pl-PL" sz="2000" i="1" dirty="0">
                <a:latin typeface="Arial Narrow" panose="020B0606020202030204" pitchFamily="34" charset="0"/>
              </a:rPr>
              <a:t>feedforward propagation</a:t>
            </a:r>
            <a:r>
              <a:rPr lang="pl-PL" sz="2000" dirty="0">
                <a:latin typeface="Arial Narrow" panose="020B0606020202030204" pitchFamily="34" charset="0"/>
              </a:rPr>
              <a:t>) – przepływ informacji odbywa się do przodu. Dane wejściowe są wykorzystywane do obliczenia wartości pewnej funkcji pośredniej w warstwie ukrytej, która jest następnie wykorzystywana do obliczenia danych wyjściowych.</a:t>
            </a:r>
          </a:p>
          <a:p>
            <a:endParaRPr lang="pl-PL" sz="2000" dirty="0">
              <a:latin typeface="Arial Narrow" panose="020B0606020202030204" pitchFamily="34" charset="0"/>
            </a:endParaRPr>
          </a:p>
          <a:p>
            <a:r>
              <a:rPr lang="pl-PL" sz="2000" dirty="0">
                <a:latin typeface="Arial Narrow" panose="020B0606020202030204" pitchFamily="34" charset="0"/>
              </a:rPr>
              <a:t>W propagacji w przód funkcja aktywacji jest matematyczną „bramką” pomiędzy wejściem zasilającym aktualny neuron a jego wyjściem, które trafia do następnej warstwy.</a:t>
            </a:r>
            <a:endParaRPr lang="en-US" sz="2000" dirty="0">
              <a:latin typeface="Arial Narrow" panose="020B0606020202030204" pitchFamily="34" charset="0"/>
            </a:endParaRPr>
          </a:p>
        </p:txBody>
      </p:sp>
      <p:pic>
        <p:nvPicPr>
          <p:cNvPr id="7" name="Obraz 6"/>
          <p:cNvPicPr>
            <a:picLocks noChangeAspect="1"/>
          </p:cNvPicPr>
          <p:nvPr/>
        </p:nvPicPr>
        <p:blipFill>
          <a:blip r:embed="rId2"/>
          <a:stretch>
            <a:fillRect/>
          </a:stretch>
        </p:blipFill>
        <p:spPr>
          <a:xfrm>
            <a:off x="616488" y="2886075"/>
            <a:ext cx="7917912" cy="1990725"/>
          </a:xfrm>
          <a:prstGeom prst="rect">
            <a:avLst/>
          </a:prstGeom>
        </p:spPr>
      </p:pic>
    </p:spTree>
    <p:extLst>
      <p:ext uri="{BB962C8B-B14F-4D97-AF65-F5344CB8AC3E}">
        <p14:creationId xmlns:p14="http://schemas.microsoft.com/office/powerpoint/2010/main" val="1768169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D4B2D9-DB10-4EB9-B7A6-032A6D4E75AC}" type="slidenum">
              <a:rPr lang="pl-PL" smtClean="0"/>
              <a:pPr/>
              <a:t>26</a:t>
            </a:fld>
            <a:endParaRPr lang="pl-PL" dirty="0"/>
          </a:p>
        </p:txBody>
      </p:sp>
      <p:sp>
        <p:nvSpPr>
          <p:cNvPr id="3" name="Prostokąt 3">
            <a:extLst>
              <a:ext uri="{FF2B5EF4-FFF2-40B4-BE49-F238E27FC236}">
                <a16:creationId xmlns:a16="http://schemas.microsoft.com/office/drawing/2014/main" id="{8D38F881-D903-4064-AA6E-936F1740E924}"/>
              </a:ext>
            </a:extLst>
          </p:cNvPr>
          <p:cNvSpPr/>
          <p:nvPr/>
        </p:nvSpPr>
        <p:spPr>
          <a:xfrm>
            <a:off x="0" y="285345"/>
            <a:ext cx="9056914" cy="1015663"/>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Wynik obliczony przez funkcję straty stanowi informację zwrotną umożliwiającą dostrojenie wartości wag w taki sposób, aby zmniejszyć wartość błędu. Dostrajanie wag jest wykonywane przez </a:t>
            </a:r>
            <a:r>
              <a:rPr lang="pl-PL" sz="2000" b="1" dirty="0">
                <a:solidFill>
                  <a:srgbClr val="000000"/>
                </a:solidFill>
                <a:latin typeface="Arial Narrow" panose="020B0606020202030204" pitchFamily="34" charset="0"/>
                <a:cs typeface="Calibri" panose="020F0502020204030204" pitchFamily="34" charset="0"/>
              </a:rPr>
              <a:t>optymalizator</a:t>
            </a:r>
            <a:r>
              <a:rPr lang="pl-PL" sz="2000" dirty="0">
                <a:solidFill>
                  <a:srgbClr val="000000"/>
                </a:solidFill>
                <a:latin typeface="Arial Narrow" panose="020B0606020202030204" pitchFamily="34" charset="0"/>
                <a:cs typeface="Calibri" panose="020F0502020204030204" pitchFamily="34" charset="0"/>
              </a:rPr>
              <a:t> implementujący algorytm </a:t>
            </a:r>
            <a:r>
              <a:rPr lang="pl-PL" sz="2000" b="1" dirty="0">
                <a:solidFill>
                  <a:srgbClr val="000000"/>
                </a:solidFill>
                <a:latin typeface="Arial Narrow" panose="020B0606020202030204" pitchFamily="34" charset="0"/>
                <a:cs typeface="Calibri" panose="020F0502020204030204" pitchFamily="34" charset="0"/>
              </a:rPr>
              <a:t>propagacji wstecznej</a:t>
            </a:r>
            <a:r>
              <a:rPr lang="pl-PL" sz="2000" dirty="0">
                <a:solidFill>
                  <a:srgbClr val="000000"/>
                </a:solidFill>
                <a:latin typeface="Arial Narrow" panose="020B0606020202030204" pitchFamily="34" charset="0"/>
                <a:cs typeface="Calibri" panose="020F0502020204030204" pitchFamily="34" charset="0"/>
              </a:rPr>
              <a:t>.</a:t>
            </a:r>
          </a:p>
        </p:txBody>
      </p:sp>
      <p:sp>
        <p:nvSpPr>
          <p:cNvPr id="4"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Picture 4"/>
          <p:cNvPicPr>
            <a:picLocks noChangeAspect="1"/>
          </p:cNvPicPr>
          <p:nvPr/>
        </p:nvPicPr>
        <p:blipFill>
          <a:blip r:embed="rId2"/>
          <a:stretch>
            <a:fillRect/>
          </a:stretch>
        </p:blipFill>
        <p:spPr>
          <a:xfrm>
            <a:off x="152400" y="1915493"/>
            <a:ext cx="5439125" cy="4256707"/>
          </a:xfrm>
          <a:prstGeom prst="rect">
            <a:avLst/>
          </a:prstGeom>
        </p:spPr>
      </p:pic>
      <p:sp>
        <p:nvSpPr>
          <p:cNvPr id="6" name="Prostokąt 3">
            <a:extLst>
              <a:ext uri="{FF2B5EF4-FFF2-40B4-BE49-F238E27FC236}">
                <a16:creationId xmlns:a16="http://schemas.microsoft.com/office/drawing/2014/main" id="{8D38F881-D903-4064-AA6E-936F1740E924}"/>
              </a:ext>
            </a:extLst>
          </p:cNvPr>
          <p:cNvSpPr/>
          <p:nvPr/>
        </p:nvSpPr>
        <p:spPr>
          <a:xfrm>
            <a:off x="5791200" y="1981200"/>
            <a:ext cx="3048000" cy="3693319"/>
          </a:xfrm>
          <a:prstGeom prst="rect">
            <a:avLst/>
          </a:prstGeom>
        </p:spPr>
        <p:txBody>
          <a:bodyPr wrap="square">
            <a:spAutoFit/>
          </a:bodyPr>
          <a:lstStyle/>
          <a:p>
            <a:r>
              <a:rPr lang="pl-PL" dirty="0">
                <a:solidFill>
                  <a:srgbClr val="000000"/>
                </a:solidFill>
                <a:latin typeface="Arial Narrow" panose="020B0606020202030204" pitchFamily="34" charset="0"/>
                <a:cs typeface="Calibri" panose="020F0502020204030204" pitchFamily="34" charset="0"/>
              </a:rPr>
              <a:t>Początkowo wagom przypisuje się losowe wartości, więc strata sieci jest duża. Ale po dostrojeniu podczas kolejnej iteracji algorytmu wartość straty maleje. Jest to tzw. </a:t>
            </a:r>
            <a:r>
              <a:rPr lang="pl-PL" b="1" dirty="0">
                <a:solidFill>
                  <a:srgbClr val="000000"/>
                </a:solidFill>
                <a:latin typeface="Arial Narrow" panose="020B0606020202030204" pitchFamily="34" charset="0"/>
                <a:cs typeface="Calibri" panose="020F0502020204030204" pitchFamily="34" charset="0"/>
              </a:rPr>
              <a:t>pętla trenowania</a:t>
            </a:r>
            <a:r>
              <a:rPr lang="pl-PL" dirty="0">
                <a:solidFill>
                  <a:srgbClr val="000000"/>
                </a:solidFill>
                <a:latin typeface="Arial Narrow" panose="020B0606020202030204" pitchFamily="34" charset="0"/>
                <a:cs typeface="Calibri" panose="020F0502020204030204" pitchFamily="34" charset="0"/>
              </a:rPr>
              <a:t>, która polega na wielokrotnej iteracji algorytmu propagacji wstecznej w celu dostrajania wag i zmniejszania funkcji straty. Sieć z minimalną stratą generuje dane wyjściowe zbliżone do oczekiwanych. Taką sieć nazywamy </a:t>
            </a:r>
            <a:r>
              <a:rPr lang="pl-PL" b="1" dirty="0">
                <a:solidFill>
                  <a:srgbClr val="000000"/>
                </a:solidFill>
                <a:latin typeface="Arial Narrow" panose="020B0606020202030204" pitchFamily="34" charset="0"/>
                <a:cs typeface="Calibri" panose="020F0502020204030204" pitchFamily="34" charset="0"/>
              </a:rPr>
              <a:t>wytrenowaną</a:t>
            </a:r>
            <a:r>
              <a:rPr lang="pl-PL" dirty="0">
                <a:solidFill>
                  <a:srgbClr val="000000"/>
                </a:solidFill>
                <a:latin typeface="Arial Narrow" panose="020B0606020202030204" pitchFamily="34" charset="0"/>
                <a:cs typeface="Calibri" panose="020F0502020204030204" pitchFamily="34" charset="0"/>
              </a:rPr>
              <a:t>.</a:t>
            </a:r>
          </a:p>
        </p:txBody>
      </p:sp>
    </p:spTree>
    <p:extLst>
      <p:ext uri="{BB962C8B-B14F-4D97-AF65-F5344CB8AC3E}">
        <p14:creationId xmlns:p14="http://schemas.microsoft.com/office/powerpoint/2010/main" val="445528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27</a:t>
            </a:fld>
            <a:endParaRPr lang="pl-PL" dirty="0"/>
          </a:p>
        </p:txBody>
      </p:sp>
      <p:sp>
        <p:nvSpPr>
          <p:cNvPr id="3" name="Rectangle 3"/>
          <p:cNvSpPr/>
          <p:nvPr/>
        </p:nvSpPr>
        <p:spPr>
          <a:xfrm>
            <a:off x="0" y="304800"/>
            <a:ext cx="8991600" cy="3785652"/>
          </a:xfrm>
          <a:prstGeom prst="rect">
            <a:avLst/>
          </a:prstGeom>
        </p:spPr>
        <p:txBody>
          <a:bodyPr wrap="square">
            <a:spAutoFit/>
          </a:bodyPr>
          <a:lstStyle/>
          <a:p>
            <a:r>
              <a:rPr lang="pl-PL" sz="2000" b="1" dirty="0">
                <a:latin typeface="Arial Narrow" panose="020B0606020202030204" pitchFamily="34" charset="0"/>
              </a:rPr>
              <a:t>Algorytm wstecznej propagacji błędów</a:t>
            </a:r>
            <a:r>
              <a:rPr lang="pl-PL" sz="2000" dirty="0">
                <a:latin typeface="Arial Narrow" panose="020B0606020202030204" pitchFamily="34" charset="0"/>
              </a:rPr>
              <a:t> (ang. </a:t>
            </a:r>
            <a:r>
              <a:rPr lang="pl-PL" sz="2000" i="1" dirty="0">
                <a:latin typeface="Arial Narrow" panose="020B0606020202030204" pitchFamily="34" charset="0"/>
              </a:rPr>
              <a:t>back propation algorithm</a:t>
            </a:r>
            <a:r>
              <a:rPr lang="pl-PL" sz="2000" dirty="0">
                <a:latin typeface="Arial Narrow" panose="020B0606020202030204" pitchFamily="34" charset="0"/>
              </a:rPr>
              <a:t>)</a:t>
            </a:r>
          </a:p>
          <a:p>
            <a:r>
              <a:rPr lang="pl-PL" sz="2000" dirty="0">
                <a:latin typeface="Arial Narrow" panose="020B0606020202030204" pitchFamily="34" charset="0"/>
              </a:rPr>
              <a:t>jest najbardziej popularnym algorytmem wykorzystywanym do uczenia sieci wielowarstwowych.</a:t>
            </a:r>
          </a:p>
          <a:p>
            <a:endParaRPr lang="pl-PL" sz="2000" dirty="0">
              <a:latin typeface="Arial Narrow" panose="020B0606020202030204" pitchFamily="34" charset="0"/>
            </a:endParaRPr>
          </a:p>
          <a:p>
            <a:r>
              <a:rPr lang="pl-PL" sz="2000" dirty="0">
                <a:latin typeface="Arial Narrow" panose="020B0606020202030204" pitchFamily="34" charset="0"/>
              </a:rPr>
              <a:t>Działanie tego algorytmu polega na wielokrotnym dopasowywaniu wag neuronów w celu zminimalizowania różnicy między wektorem wyjściowym sieci a rzeczywistym wektorem wyjściowym.</a:t>
            </a:r>
          </a:p>
          <a:p>
            <a:endParaRPr lang="pl-PL" sz="2000" dirty="0">
              <a:latin typeface="Arial Narrow" panose="020B0606020202030204" pitchFamily="34" charset="0"/>
            </a:endParaRPr>
          </a:p>
          <a:p>
            <a:r>
              <a:rPr lang="pl-PL" sz="2000" dirty="0">
                <a:latin typeface="Arial Narrow" panose="020B0606020202030204" pitchFamily="34" charset="0"/>
              </a:rPr>
              <a:t>Jego działanie oparte jest na tzw. regule delta: wyznaczamy funkcję błędu dla sieci, a następnie dążymy do znalezienia minimum tej funkcji względem wektora w. Uczenie składa się z dwóch naprzemiennych faz:</a:t>
            </a:r>
          </a:p>
          <a:p>
            <a:r>
              <a:rPr lang="pl-PL" sz="2000" dirty="0">
                <a:latin typeface="Arial Narrow" panose="020B0606020202030204" pitchFamily="34" charset="0"/>
              </a:rPr>
              <a:t>1. Fazy propagacji sygnału od wejść (wektora x) do wyjścia.</a:t>
            </a:r>
          </a:p>
          <a:p>
            <a:r>
              <a:rPr lang="pl-PL" sz="2000" dirty="0">
                <a:latin typeface="Arial Narrow" panose="020B0606020202030204" pitchFamily="34" charset="0"/>
              </a:rPr>
              <a:t>2. Fazy wstecznej propagacji błędu od wyjścia y w kierunku wejść sieci.</a:t>
            </a:r>
            <a:endParaRPr lang="en-US" sz="2000" dirty="0">
              <a:latin typeface="Arial Narrow" panose="020B0606020202030204" pitchFamily="34" charset="0"/>
            </a:endParaRPr>
          </a:p>
        </p:txBody>
      </p:sp>
      <p:sp>
        <p:nvSpPr>
          <p:cNvPr id="4"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198288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tokąt 3">
            <a:extLst>
              <a:ext uri="{FF2B5EF4-FFF2-40B4-BE49-F238E27FC236}">
                <a16:creationId xmlns:a16="http://schemas.microsoft.com/office/drawing/2014/main" id="{8D38F881-D903-4064-AA6E-936F1740E924}"/>
              </a:ext>
            </a:extLst>
          </p:cNvPr>
          <p:cNvSpPr/>
          <p:nvPr/>
        </p:nvSpPr>
        <p:spPr>
          <a:xfrm>
            <a:off x="0" y="304800"/>
            <a:ext cx="9144000" cy="1631216"/>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Aby obliczyć wartość, o jaką dany współczynnik powinien zostać pomniejszony lub powiększony oblicza się </a:t>
            </a:r>
            <a:r>
              <a:rPr lang="pl-PL" sz="2000" b="1" dirty="0">
                <a:solidFill>
                  <a:srgbClr val="000000"/>
                </a:solidFill>
                <a:latin typeface="Arial Narrow" panose="020B0606020202030204" pitchFamily="34" charset="0"/>
                <a:cs typeface="Calibri" panose="020F0502020204030204" pitchFamily="34" charset="0"/>
              </a:rPr>
              <a:t>gradient</a:t>
            </a:r>
            <a:r>
              <a:rPr lang="pl-PL" sz="2000" dirty="0">
                <a:solidFill>
                  <a:srgbClr val="000000"/>
                </a:solidFill>
                <a:latin typeface="Arial Narrow" panose="020B0606020202030204" pitchFamily="34" charset="0"/>
                <a:cs typeface="Calibri" panose="020F0502020204030204" pitchFamily="34" charset="0"/>
              </a:rPr>
              <a:t> straty z uwzględnieniem współczynników sieci.</a:t>
            </a:r>
          </a:p>
          <a:p>
            <a:r>
              <a:rPr lang="pl-PL" sz="2000" dirty="0">
                <a:solidFill>
                  <a:srgbClr val="000000"/>
                </a:solidFill>
                <a:latin typeface="Arial Narrow" panose="020B0606020202030204" pitchFamily="34" charset="0"/>
                <a:cs typeface="Calibri" panose="020F0502020204030204" pitchFamily="34" charset="0"/>
              </a:rPr>
              <a:t>W celu zmniejszenia straty podczas kolejnej iteracji, należy przesunąć współczynniki w kierunku </a:t>
            </a:r>
            <a:r>
              <a:rPr lang="pl-PL" sz="2000" b="1" dirty="0">
                <a:solidFill>
                  <a:srgbClr val="000000"/>
                </a:solidFill>
                <a:latin typeface="Arial Narrow" panose="020B0606020202030204" pitchFamily="34" charset="0"/>
                <a:cs typeface="Calibri" panose="020F0502020204030204" pitchFamily="34" charset="0"/>
              </a:rPr>
              <a:t>przeciwnym do kierunku gradientu</a:t>
            </a:r>
            <a:r>
              <a:rPr lang="pl-PL" sz="2000"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Dlaczego?…</a:t>
            </a:r>
          </a:p>
        </p:txBody>
      </p:sp>
      <p:sp>
        <p:nvSpPr>
          <p:cNvPr id="3"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Slide Number Placeholder 3"/>
          <p:cNvSpPr>
            <a:spLocks noGrp="1"/>
          </p:cNvSpPr>
          <p:nvPr>
            <p:ph type="sldNum" sz="quarter" idx="12"/>
          </p:nvPr>
        </p:nvSpPr>
        <p:spPr/>
        <p:txBody>
          <a:bodyPr/>
          <a:lstStyle/>
          <a:p>
            <a:fld id="{20D4B2D9-DB10-4EB9-B7A6-032A6D4E75AC}" type="slidenum">
              <a:rPr lang="pl-PL" smtClean="0"/>
              <a:pPr/>
              <a:t>28</a:t>
            </a:fld>
            <a:endParaRPr lang="pl-PL" dirty="0"/>
          </a:p>
        </p:txBody>
      </p:sp>
      <p:pic>
        <p:nvPicPr>
          <p:cNvPr id="5" name="Picture 4"/>
          <p:cNvPicPr>
            <a:picLocks noChangeAspect="1"/>
          </p:cNvPicPr>
          <p:nvPr/>
        </p:nvPicPr>
        <p:blipFill>
          <a:blip r:embed="rId2"/>
          <a:stretch>
            <a:fillRect/>
          </a:stretch>
        </p:blipFill>
        <p:spPr>
          <a:xfrm>
            <a:off x="228600" y="1981200"/>
            <a:ext cx="5286725" cy="4137438"/>
          </a:xfrm>
          <a:prstGeom prst="rect">
            <a:avLst/>
          </a:prstGeom>
        </p:spPr>
      </p:pic>
    </p:spTree>
    <p:extLst>
      <p:ext uri="{BB962C8B-B14F-4D97-AF65-F5344CB8AC3E}">
        <p14:creationId xmlns:p14="http://schemas.microsoft.com/office/powerpoint/2010/main" val="2084498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Prostokąt 3">
            <a:extLst>
              <a:ext uri="{FF2B5EF4-FFF2-40B4-BE49-F238E27FC236}">
                <a16:creationId xmlns:a16="http://schemas.microsoft.com/office/drawing/2014/main" id="{8D38F881-D903-4064-AA6E-936F1740E924}"/>
              </a:ext>
            </a:extLst>
          </p:cNvPr>
          <p:cNvSpPr/>
          <p:nvPr/>
        </p:nvSpPr>
        <p:spPr>
          <a:xfrm>
            <a:off x="0" y="304800"/>
            <a:ext cx="5181600" cy="6247864"/>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Załóżmy, że funkcja straty jest funkcją kwadratową:</a:t>
            </a:r>
          </a:p>
          <a:p>
            <a:r>
              <a:rPr lang="pl-PL" sz="2000" b="1" dirty="0">
                <a:solidFill>
                  <a:srgbClr val="0000FF"/>
                </a:solidFill>
                <a:latin typeface="Arial Narrow" panose="020B0606020202030204" pitchFamily="34" charset="0"/>
                <a:cs typeface="Calibri" panose="020F0502020204030204" pitchFamily="34" charset="0"/>
              </a:rPr>
              <a:t>y=x</a:t>
            </a:r>
            <a:r>
              <a:rPr lang="pl-PL" sz="2000" b="1" baseline="30000" dirty="0">
                <a:solidFill>
                  <a:srgbClr val="0000FF"/>
                </a:solidFill>
                <a:latin typeface="Arial Narrow" panose="020B0606020202030204" pitchFamily="34" charset="0"/>
                <a:cs typeface="Calibri" panose="020F0502020204030204" pitchFamily="34" charset="0"/>
              </a:rPr>
              <a:t>2 </a:t>
            </a:r>
            <a:r>
              <a:rPr lang="pl-PL" sz="2000" b="1" dirty="0">
                <a:solidFill>
                  <a:srgbClr val="0000FF"/>
                </a:solidFill>
                <a:latin typeface="Arial Narrow" panose="020B0606020202030204" pitchFamily="34" charset="0"/>
                <a:cs typeface="Calibri" panose="020F0502020204030204" pitchFamily="34" charset="0"/>
              </a:rPr>
              <a:t>– 6x + 3</a:t>
            </a:r>
          </a:p>
          <a:p>
            <a:r>
              <a:rPr lang="pl-PL" sz="2000" dirty="0">
                <a:solidFill>
                  <a:srgbClr val="000000"/>
                </a:solidFill>
                <a:latin typeface="Arial Narrow" panose="020B0606020202030204" pitchFamily="34" charset="0"/>
                <a:cs typeface="Calibri" panose="020F0502020204030204" pitchFamily="34" charset="0"/>
              </a:rPr>
              <a:t>Dążymy do minimalizacji straty, więc szukamy minimum funkcji (</a:t>
            </a:r>
            <a:r>
              <a:rPr lang="pl-PL" sz="2000" b="1" dirty="0">
                <a:solidFill>
                  <a:srgbClr val="C00000"/>
                </a:solidFill>
                <a:latin typeface="Arial Narrow" panose="020B0606020202030204" pitchFamily="34" charset="0"/>
                <a:cs typeface="Calibri" panose="020F0502020204030204" pitchFamily="34" charset="0"/>
              </a:rPr>
              <a:t>min</a:t>
            </a:r>
            <a:r>
              <a:rPr lang="pl-PL" sz="2000"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Załóżmy, że po wykonaniu pierwszej iteracji (po pierwszym przejściu przez sieć) wartość funkcji straty znajduje się w punkcie A. </a:t>
            </a:r>
          </a:p>
          <a:p>
            <a:r>
              <a:rPr lang="pl-PL" sz="2000" dirty="0">
                <a:solidFill>
                  <a:srgbClr val="000000"/>
                </a:solidFill>
                <a:latin typeface="Arial Narrow" panose="020B0606020202030204" pitchFamily="34" charset="0"/>
                <a:cs typeface="Calibri" panose="020F0502020204030204" pitchFamily="34" charset="0"/>
              </a:rPr>
              <a:t>Powstaje pytanie, w którym kierunku należy podążać aby w następnym kroku zmniejszyć stratę i znaleźć się np. w punkcie B?</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Wyznaczamy pochodną funkcji y:</a:t>
            </a:r>
          </a:p>
          <a:p>
            <a:r>
              <a:rPr lang="pl-PL" sz="2000" b="1" dirty="0">
                <a:solidFill>
                  <a:srgbClr val="000000"/>
                </a:solidFill>
                <a:latin typeface="Arial Narrow" panose="020B0606020202030204" pitchFamily="34" charset="0"/>
                <a:cs typeface="Calibri" panose="020F0502020204030204" pitchFamily="34" charset="0"/>
              </a:rPr>
              <a:t>y' = 2x – 6</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Liczymy pochodną w punkcie A (dla x=0,25):</a:t>
            </a:r>
          </a:p>
          <a:p>
            <a:r>
              <a:rPr lang="pl-PL" sz="2000" dirty="0">
                <a:solidFill>
                  <a:srgbClr val="000000"/>
                </a:solidFill>
                <a:latin typeface="Arial Narrow" panose="020B0606020202030204" pitchFamily="34" charset="0"/>
                <a:cs typeface="Calibri" panose="020F0502020204030204" pitchFamily="34" charset="0"/>
              </a:rPr>
              <a:t>2*0,25–6 = –5,5</a:t>
            </a:r>
          </a:p>
          <a:p>
            <a:r>
              <a:rPr lang="pl-PL" sz="2000" dirty="0">
                <a:solidFill>
                  <a:srgbClr val="000000"/>
                </a:solidFill>
                <a:latin typeface="Arial Narrow" panose="020B0606020202030204" pitchFamily="34" charset="0"/>
                <a:cs typeface="Calibri" panose="020F0502020204030204" pitchFamily="34" charset="0"/>
              </a:rPr>
              <a:t>Pochodna jest ujemna, więc poruszamy się w przeciwnym kierunku minimalnie </a:t>
            </a:r>
            <a:r>
              <a:rPr lang="pl-PL" sz="2000" b="1" dirty="0">
                <a:solidFill>
                  <a:srgbClr val="000000"/>
                </a:solidFill>
                <a:latin typeface="Arial Narrow" panose="020B0606020202030204" pitchFamily="34" charset="0"/>
                <a:cs typeface="Calibri" panose="020F0502020204030204" pitchFamily="34" charset="0"/>
              </a:rPr>
              <a:t>zwiększając</a:t>
            </a:r>
            <a:r>
              <a:rPr lang="pl-PL" sz="2000" dirty="0">
                <a:solidFill>
                  <a:srgbClr val="000000"/>
                </a:solidFill>
                <a:latin typeface="Arial Narrow" panose="020B0606020202030204" pitchFamily="34" charset="0"/>
                <a:cs typeface="Calibri" panose="020F0502020204030204" pitchFamily="34" charset="0"/>
              </a:rPr>
              <a:t> wartość x – po następnej iteracji znajdziemy się w punkcie B, czyli bliżej minimum.</a:t>
            </a:r>
          </a:p>
        </p:txBody>
      </p:sp>
      <p:pic>
        <p:nvPicPr>
          <p:cNvPr id="6" name="Picture 5"/>
          <p:cNvPicPr>
            <a:picLocks noChangeAspect="1"/>
          </p:cNvPicPr>
          <p:nvPr/>
        </p:nvPicPr>
        <p:blipFill>
          <a:blip r:embed="rId2"/>
          <a:stretch>
            <a:fillRect/>
          </a:stretch>
        </p:blipFill>
        <p:spPr>
          <a:xfrm>
            <a:off x="5334000" y="1219200"/>
            <a:ext cx="3810000" cy="3790950"/>
          </a:xfrm>
          <a:prstGeom prst="rect">
            <a:avLst/>
          </a:prstGeom>
        </p:spPr>
      </p:pic>
      <p:sp>
        <p:nvSpPr>
          <p:cNvPr id="3" name="Slide Number Placeholder 2"/>
          <p:cNvSpPr>
            <a:spLocks noGrp="1"/>
          </p:cNvSpPr>
          <p:nvPr>
            <p:ph type="sldNum" sz="quarter" idx="12"/>
          </p:nvPr>
        </p:nvSpPr>
        <p:spPr/>
        <p:txBody>
          <a:bodyPr/>
          <a:lstStyle/>
          <a:p>
            <a:fld id="{20D4B2D9-DB10-4EB9-B7A6-032A6D4E75AC}" type="slidenum">
              <a:rPr lang="pl-PL" smtClean="0"/>
              <a:pPr/>
              <a:t>29</a:t>
            </a:fld>
            <a:endParaRPr lang="pl-PL" dirty="0"/>
          </a:p>
        </p:txBody>
      </p:sp>
    </p:spTree>
    <p:extLst>
      <p:ext uri="{BB962C8B-B14F-4D97-AF65-F5344CB8AC3E}">
        <p14:creationId xmlns:p14="http://schemas.microsoft.com/office/powerpoint/2010/main" val="289650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1000"/>
                                        <p:tgtEl>
                                          <p:spTgt spid="4">
                                            <p:txEl>
                                              <p:pRg st="6" end="6"/>
                                            </p:txEl>
                                          </p:spTgt>
                                        </p:tgtEl>
                                      </p:cBhvr>
                                    </p:animEffect>
                                    <p:anim calcmode="lin" valueType="num">
                                      <p:cBhvr>
                                        <p:cTn id="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fade">
                                      <p:cBhvr>
                                        <p:cTn id="12" dur="1000"/>
                                        <p:tgtEl>
                                          <p:spTgt spid="4">
                                            <p:txEl>
                                              <p:pRg st="7" end="7"/>
                                            </p:txEl>
                                          </p:spTgt>
                                        </p:tgtEl>
                                      </p:cBhvr>
                                    </p:animEffect>
                                    <p:anim calcmode="lin" valueType="num">
                                      <p:cBhvr>
                                        <p:cTn id="1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 calcmode="lin" valueType="num">
                                      <p:cBhvr additive="base">
                                        <p:cTn id="2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 calcmode="lin" valueType="num">
                                      <p:cBhvr additive="base">
                                        <p:cTn id="2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3" name="Prostokąt 3">
            <a:extLst>
              <a:ext uri="{FF2B5EF4-FFF2-40B4-BE49-F238E27FC236}">
                <a16:creationId xmlns:a16="http://schemas.microsoft.com/office/drawing/2014/main" id="{8D38F881-D903-4064-AA6E-936F1740E924}"/>
              </a:ext>
            </a:extLst>
          </p:cNvPr>
          <p:cNvSpPr/>
          <p:nvPr/>
        </p:nvSpPr>
        <p:spPr>
          <a:xfrm>
            <a:off x="0" y="304800"/>
            <a:ext cx="5181600" cy="4093428"/>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y=x</a:t>
            </a:r>
            <a:r>
              <a:rPr lang="pl-PL" sz="2000" b="1" baseline="30000" dirty="0">
                <a:solidFill>
                  <a:srgbClr val="0000FF"/>
                </a:solidFill>
                <a:latin typeface="Arial Narrow" panose="020B0606020202030204" pitchFamily="34" charset="0"/>
                <a:cs typeface="Calibri" panose="020F0502020204030204" pitchFamily="34" charset="0"/>
              </a:rPr>
              <a:t>2 </a:t>
            </a:r>
            <a:r>
              <a:rPr lang="pl-PL" sz="2000" b="1" dirty="0">
                <a:solidFill>
                  <a:srgbClr val="0000FF"/>
                </a:solidFill>
                <a:latin typeface="Arial Narrow" panose="020B0606020202030204" pitchFamily="34" charset="0"/>
                <a:cs typeface="Calibri" panose="020F0502020204030204" pitchFamily="34" charset="0"/>
              </a:rPr>
              <a:t>– 6x + 3</a:t>
            </a:r>
          </a:p>
          <a:p>
            <a:r>
              <a:rPr lang="pl-PL" sz="2000" b="1" dirty="0">
                <a:solidFill>
                  <a:srgbClr val="000000"/>
                </a:solidFill>
                <a:latin typeface="Arial Narrow" panose="020B0606020202030204" pitchFamily="34" charset="0"/>
                <a:cs typeface="Calibri" panose="020F0502020204030204" pitchFamily="34" charset="0"/>
              </a:rPr>
              <a:t>y' = 2x – 6</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Załóżmy, że po pierwszej iteracji znaleźliśmy się w punkcie C. Liczymy pochodną w punkcie C (dla x=5):</a:t>
            </a:r>
          </a:p>
          <a:p>
            <a:r>
              <a:rPr lang="pl-PL" sz="2000" dirty="0">
                <a:solidFill>
                  <a:srgbClr val="000000"/>
                </a:solidFill>
                <a:latin typeface="Arial Narrow" panose="020B0606020202030204" pitchFamily="34" charset="0"/>
                <a:cs typeface="Calibri" panose="020F0502020204030204" pitchFamily="34" charset="0"/>
              </a:rPr>
              <a:t>2*5–6 = 4</a:t>
            </a:r>
          </a:p>
          <a:p>
            <a:r>
              <a:rPr lang="pl-PL" sz="2000" dirty="0">
                <a:solidFill>
                  <a:srgbClr val="000000"/>
                </a:solidFill>
                <a:latin typeface="Arial Narrow" panose="020B0606020202030204" pitchFamily="34" charset="0"/>
                <a:cs typeface="Calibri" panose="020F0502020204030204" pitchFamily="34" charset="0"/>
              </a:rPr>
              <a:t>Pochodna jest dodatnia, więc poruszamy się w przeciwnym kierunku minimalnie zmniejszając wartość x – po następnej iteracji znajdziemy się w punkcie C, czyli bliżej minimum.</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Dysponując pochodną możemy znaleźć minimum funkcji, gdyż w minimum pochodna jest równa 0.</a:t>
            </a:r>
          </a:p>
        </p:txBody>
      </p:sp>
      <p:pic>
        <p:nvPicPr>
          <p:cNvPr id="4" name="Picture 3"/>
          <p:cNvPicPr>
            <a:picLocks noChangeAspect="1"/>
          </p:cNvPicPr>
          <p:nvPr/>
        </p:nvPicPr>
        <p:blipFill>
          <a:blip r:embed="rId2"/>
          <a:stretch>
            <a:fillRect/>
          </a:stretch>
        </p:blipFill>
        <p:spPr>
          <a:xfrm>
            <a:off x="5334000" y="1219200"/>
            <a:ext cx="3810000" cy="3790950"/>
          </a:xfrm>
          <a:prstGeom prst="rect">
            <a:avLst/>
          </a:prstGeom>
        </p:spPr>
      </p:pic>
      <p:sp>
        <p:nvSpPr>
          <p:cNvPr id="5" name="Slide Number Placeholder 4"/>
          <p:cNvSpPr>
            <a:spLocks noGrp="1"/>
          </p:cNvSpPr>
          <p:nvPr>
            <p:ph type="sldNum" sz="quarter" idx="12"/>
          </p:nvPr>
        </p:nvSpPr>
        <p:spPr/>
        <p:txBody>
          <a:bodyPr/>
          <a:lstStyle/>
          <a:p>
            <a:fld id="{20D4B2D9-DB10-4EB9-B7A6-032A6D4E75AC}" type="slidenum">
              <a:rPr lang="pl-PL" smtClean="0"/>
              <a:pPr/>
              <a:t>30</a:t>
            </a:fld>
            <a:endParaRPr lang="pl-PL" dirty="0"/>
          </a:p>
        </p:txBody>
      </p:sp>
      <p:sp>
        <p:nvSpPr>
          <p:cNvPr id="6" name="Prostokąt 5"/>
          <p:cNvSpPr/>
          <p:nvPr/>
        </p:nvSpPr>
        <p:spPr>
          <a:xfrm>
            <a:off x="0" y="5562600"/>
            <a:ext cx="8839200" cy="707886"/>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Gradient jest pochodną funkcji tensorowej</a:t>
            </a:r>
            <a:r>
              <a:rPr lang="pl-PL" sz="2000" dirty="0">
                <a:solidFill>
                  <a:srgbClr val="000000"/>
                </a:solidFill>
                <a:latin typeface="Arial Narrow" panose="020B0606020202030204" pitchFamily="34" charset="0"/>
                <a:cs typeface="Calibri" panose="020F0502020204030204" pitchFamily="34" charset="0"/>
              </a:rPr>
              <a:t>. Jest to uogólnienie koncepcji pochodnych funkcji przyjmujących wiele argumentów, tj. funkcji przetwarzających tensory.</a:t>
            </a:r>
            <a:endParaRPr lang="pl-PL" sz="2000" dirty="0"/>
          </a:p>
        </p:txBody>
      </p:sp>
    </p:spTree>
    <p:extLst>
      <p:ext uri="{BB962C8B-B14F-4D97-AF65-F5344CB8AC3E}">
        <p14:creationId xmlns:p14="http://schemas.microsoft.com/office/powerpoint/2010/main" val="261052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tokąt 3">
            <a:extLst>
              <a:ext uri="{FF2B5EF4-FFF2-40B4-BE49-F238E27FC236}">
                <a16:creationId xmlns:a16="http://schemas.microsoft.com/office/drawing/2014/main" id="{8D38F881-D903-4064-AA6E-936F1740E924}"/>
              </a:ext>
            </a:extLst>
          </p:cNvPr>
          <p:cNvSpPr/>
          <p:nvPr/>
        </p:nvSpPr>
        <p:spPr>
          <a:xfrm>
            <a:off x="0" y="304800"/>
            <a:ext cx="9067800" cy="3170099"/>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Aby znaleźć minimum funkcji straty należy postępować według następującego algorytmu – jest to tzw. </a:t>
            </a:r>
            <a:r>
              <a:rPr lang="pl-PL" sz="2000" b="1" dirty="0">
                <a:solidFill>
                  <a:srgbClr val="000000"/>
                </a:solidFill>
                <a:latin typeface="Arial Narrow" panose="020B0606020202030204" pitchFamily="34" charset="0"/>
                <a:cs typeface="Calibri" panose="020F0502020204030204" pitchFamily="34" charset="0"/>
              </a:rPr>
              <a:t>algorytm stochastycznego spadku wzdłuż gradientu mini-batch (mini-batch SGD)</a:t>
            </a:r>
            <a:r>
              <a:rPr lang="pl-PL" sz="2000" dirty="0">
                <a:solidFill>
                  <a:srgbClr val="000000"/>
                </a:solidFill>
                <a:latin typeface="Arial Narrow" panose="020B0606020202030204" pitchFamily="34" charset="0"/>
                <a:cs typeface="Calibri" panose="020F0502020204030204" pitchFamily="34" charset="0"/>
              </a:rPr>
              <a:t>:</a:t>
            </a:r>
          </a:p>
          <a:p>
            <a:pPr marL="269875" indent="-269875">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Wygeneruj wsad składający się z próbek treningowych (x) i odpowiadających im wartości docelowych (y).</a:t>
            </a:r>
          </a:p>
          <a:p>
            <a:pPr marL="269875" indent="-269875">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Uruchom sieć na próbkach (x) w celu uzyskania przewidywanych wartości (y_pred).</a:t>
            </a:r>
          </a:p>
          <a:p>
            <a:pPr marL="269875" indent="-269875">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Oblicz stratę sieci i zmierz różnice między wartościami docelowymi (y) a przewidywanymi (y_pred).</a:t>
            </a:r>
          </a:p>
          <a:p>
            <a:pPr marL="269875" indent="-269875">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Oblicz gradient straty w odniesieniu do parametrów sieci.</a:t>
            </a:r>
          </a:p>
          <a:p>
            <a:pPr marL="269875" indent="-269875">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Przesuń wartości parametrów w kierunku przeciwnym do gradientu, co powinno nieco zredukować stratę na analizowanej próbce danych treningowych.</a:t>
            </a:r>
          </a:p>
        </p:txBody>
      </p:sp>
      <p:pic>
        <p:nvPicPr>
          <p:cNvPr id="3" name="Picture 2"/>
          <p:cNvPicPr>
            <a:picLocks noChangeAspect="1"/>
          </p:cNvPicPr>
          <p:nvPr/>
        </p:nvPicPr>
        <p:blipFill>
          <a:blip r:embed="rId3"/>
          <a:stretch>
            <a:fillRect/>
          </a:stretch>
        </p:blipFill>
        <p:spPr>
          <a:xfrm>
            <a:off x="609599" y="3810000"/>
            <a:ext cx="3534449" cy="3009901"/>
          </a:xfrm>
          <a:prstGeom prst="rect">
            <a:avLst/>
          </a:prstGeom>
        </p:spPr>
      </p:pic>
      <p:sp>
        <p:nvSpPr>
          <p:cNvPr id="4"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5" name="Rectangle 4"/>
          <p:cNvSpPr/>
          <p:nvPr/>
        </p:nvSpPr>
        <p:spPr>
          <a:xfrm>
            <a:off x="4038600" y="4800600"/>
            <a:ext cx="4572000" cy="646331"/>
          </a:xfrm>
          <a:prstGeom prst="rect">
            <a:avLst/>
          </a:prstGeom>
        </p:spPr>
        <p:txBody>
          <a:bodyPr>
            <a:spAutoFit/>
          </a:bodyPr>
          <a:lstStyle/>
          <a:p>
            <a:r>
              <a:rPr lang="pl-PL" dirty="0">
                <a:solidFill>
                  <a:srgbClr val="000000"/>
                </a:solidFill>
                <a:latin typeface="Arial Narrow" panose="020B0606020202030204" pitchFamily="34" charset="0"/>
                <a:cs typeface="Calibri" panose="020F0502020204030204" pitchFamily="34" charset="0"/>
              </a:rPr>
              <a:t>Stosowanie algorytmu mini-batch SGD wymaga używania małego kroku (aby nie minąć minimum). </a:t>
            </a:r>
            <a:endParaRPr lang="en-US" dirty="0"/>
          </a:p>
        </p:txBody>
      </p:sp>
      <p:sp>
        <p:nvSpPr>
          <p:cNvPr id="6" name="Slide Number Placeholder 5"/>
          <p:cNvSpPr>
            <a:spLocks noGrp="1"/>
          </p:cNvSpPr>
          <p:nvPr>
            <p:ph type="sldNum" sz="quarter" idx="12"/>
          </p:nvPr>
        </p:nvSpPr>
        <p:spPr/>
        <p:txBody>
          <a:bodyPr/>
          <a:lstStyle/>
          <a:p>
            <a:fld id="{20D4B2D9-DB10-4EB9-B7A6-032A6D4E75AC}" type="slidenum">
              <a:rPr lang="pl-PL" smtClean="0"/>
              <a:pPr/>
              <a:t>31</a:t>
            </a:fld>
            <a:endParaRPr lang="pl-PL" dirty="0"/>
          </a:p>
        </p:txBody>
      </p:sp>
    </p:spTree>
    <p:extLst>
      <p:ext uri="{BB962C8B-B14F-4D97-AF65-F5344CB8AC3E}">
        <p14:creationId xmlns:p14="http://schemas.microsoft.com/office/powerpoint/2010/main" val="2322870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32</a:t>
            </a:fld>
            <a:endParaRPr lang="pl-PL" dirty="0"/>
          </a:p>
        </p:txBody>
      </p:sp>
      <p:sp>
        <p:nvSpPr>
          <p:cNvPr id="3" name="Prostokąt 3">
            <a:extLst>
              <a:ext uri="{FF2B5EF4-FFF2-40B4-BE49-F238E27FC236}">
                <a16:creationId xmlns:a16="http://schemas.microsoft.com/office/drawing/2014/main" id="{8D38F881-D903-4064-AA6E-936F1740E924}"/>
              </a:ext>
            </a:extLst>
          </p:cNvPr>
          <p:cNvSpPr/>
          <p:nvPr/>
        </p:nvSpPr>
        <p:spPr>
          <a:xfrm>
            <a:off x="0" y="304800"/>
            <a:ext cx="9067800" cy="3170099"/>
          </a:xfrm>
          <a:prstGeom prst="rect">
            <a:avLst/>
          </a:prstGeom>
        </p:spPr>
        <p:txBody>
          <a:bodyPr wrap="square">
            <a:spAutoFit/>
          </a:bodyPr>
          <a:lstStyle/>
          <a:p>
            <a:r>
              <a:rPr lang="pl-PL" sz="2000" dirty="0">
                <a:latin typeface="Arial Narrow" panose="020B0606020202030204" pitchFamily="34" charset="0"/>
              </a:rPr>
              <a:t>Gradient ustala tylko, w którym kierunku powinny zostać zmienione wagi. Nie ustala on, jak szybko trzeba się poruszać w obrębie funkcji, żeby dotrzeć do jej minimum. Jeżeli wartość </a:t>
            </a:r>
            <a:r>
              <a:rPr lang="pl-PL" sz="2000" b="1" dirty="0">
                <a:latin typeface="Arial Narrow" panose="020B0606020202030204" pitchFamily="34" charset="0"/>
              </a:rPr>
              <a:t>współczynnika uczenia</a:t>
            </a:r>
            <a:r>
              <a:rPr lang="pl-PL" sz="2000" dirty="0">
                <a:latin typeface="Arial Narrow" panose="020B0606020202030204" pitchFamily="34" charset="0"/>
              </a:rPr>
              <a:t> zostanie ustalona przez badacza jako za duża, minimum zostanie przestrzelone. Z tego powodu, sieć będzie uczyć się długo i będzie oscylowała daleko od minimum. Z kolei, jeżeli wartość ta zostanie wybrana jako za mała, sieć będzie uczyła się zbyt wolno.</a:t>
            </a:r>
          </a:p>
          <a:p>
            <a:r>
              <a:rPr lang="pl-PL" sz="2000" dirty="0">
                <a:latin typeface="Arial Narrow" panose="020B0606020202030204" pitchFamily="34" charset="0"/>
              </a:rPr>
              <a:t>Nie jest możliwe wyznaczenie współczynnika uczenia za pomocą metod analitycznych. Wstępnie ustalany jest z reguły jako wartość w przedziale od 0.1 do 0.01, po czym jest on dostosowywany do modelu. Jedynym sposobem na to dostosowywanie jest metoda prób i błędów. </a:t>
            </a:r>
            <a:endParaRPr lang="pl-PL" sz="2000" dirty="0">
              <a:solidFill>
                <a:srgbClr val="000000"/>
              </a:solidFill>
              <a:latin typeface="Arial Narrow" panose="020B0606020202030204" pitchFamily="34" charset="0"/>
              <a:cs typeface="Calibri" panose="020F0502020204030204" pitchFamily="34" charset="0"/>
            </a:endParaRPr>
          </a:p>
        </p:txBody>
      </p:sp>
      <p:sp>
        <p:nvSpPr>
          <p:cNvPr id="4"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Obraz 6"/>
          <p:cNvPicPr>
            <a:picLocks noChangeAspect="1"/>
          </p:cNvPicPr>
          <p:nvPr/>
        </p:nvPicPr>
        <p:blipFill>
          <a:blip r:embed="rId2"/>
          <a:stretch>
            <a:fillRect/>
          </a:stretch>
        </p:blipFill>
        <p:spPr>
          <a:xfrm>
            <a:off x="685800" y="3581400"/>
            <a:ext cx="7717199" cy="3063875"/>
          </a:xfrm>
          <a:prstGeom prst="rect">
            <a:avLst/>
          </a:prstGeom>
        </p:spPr>
      </p:pic>
    </p:spTree>
    <p:extLst>
      <p:ext uri="{BB962C8B-B14F-4D97-AF65-F5344CB8AC3E}">
        <p14:creationId xmlns:p14="http://schemas.microsoft.com/office/powerpoint/2010/main" val="3738825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stokąt 3">
            <a:extLst>
              <a:ext uri="{FF2B5EF4-FFF2-40B4-BE49-F238E27FC236}">
                <a16:creationId xmlns:a16="http://schemas.microsoft.com/office/drawing/2014/main" id="{8D38F881-D903-4064-AA6E-936F1740E924}"/>
              </a:ext>
            </a:extLst>
          </p:cNvPr>
          <p:cNvSpPr/>
          <p:nvPr/>
        </p:nvSpPr>
        <p:spPr>
          <a:xfrm>
            <a:off x="0" y="304800"/>
            <a:ext cx="9067800" cy="400110"/>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Kolejnym problemem jest wpadnięcie w lokalne minimum:</a:t>
            </a:r>
          </a:p>
        </p:txBody>
      </p:sp>
      <p:sp>
        <p:nvSpPr>
          <p:cNvPr id="3"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4" name="Picture 3"/>
          <p:cNvPicPr>
            <a:picLocks noChangeAspect="1"/>
          </p:cNvPicPr>
          <p:nvPr/>
        </p:nvPicPr>
        <p:blipFill>
          <a:blip r:embed="rId2"/>
          <a:stretch>
            <a:fillRect/>
          </a:stretch>
        </p:blipFill>
        <p:spPr>
          <a:xfrm>
            <a:off x="2600325" y="722358"/>
            <a:ext cx="3657600" cy="2325642"/>
          </a:xfrm>
          <a:prstGeom prst="rect">
            <a:avLst/>
          </a:prstGeom>
        </p:spPr>
      </p:pic>
      <p:sp>
        <p:nvSpPr>
          <p:cNvPr id="6" name="Prostokąt 3">
            <a:extLst>
              <a:ext uri="{FF2B5EF4-FFF2-40B4-BE49-F238E27FC236}">
                <a16:creationId xmlns:a16="http://schemas.microsoft.com/office/drawing/2014/main" id="{8D38F881-D903-4064-AA6E-936F1740E924}"/>
              </a:ext>
            </a:extLst>
          </p:cNvPr>
          <p:cNvSpPr/>
          <p:nvPr/>
        </p:nvSpPr>
        <p:spPr>
          <a:xfrm>
            <a:off x="0" y="3200400"/>
            <a:ext cx="9144000" cy="2246769"/>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 celu rozwiązania tego problemu wykorzystano pojęcie pędu. Proces optymalizacji można porównać do staczającej się kuli. Jeśli kula będzie miała wystarczająco duży pęd, nie utknie w minimum lokalnym, tylko potoczy się dalej. Pęd jest implementowany poprzez wykonywanie kolejnych kroków nie tylko na podstawie aktualnej wartości nachylenia (aktualnego przyspieszenia) ale także aktualnej prędkości wynikającej z poprzedniego przyspieszenia. W praktyce oznacza to aktualizację parametrów nie tylko na podstawie bieżącej wartości gradientu ale na podstawie wcześniejszych zmian tych parametrów.</a:t>
            </a:r>
          </a:p>
        </p:txBody>
      </p:sp>
      <p:sp>
        <p:nvSpPr>
          <p:cNvPr id="7" name="Prostokąt 3">
            <a:extLst>
              <a:ext uri="{FF2B5EF4-FFF2-40B4-BE49-F238E27FC236}">
                <a16:creationId xmlns:a16="http://schemas.microsoft.com/office/drawing/2014/main" id="{8D38F881-D903-4064-AA6E-936F1740E924}"/>
              </a:ext>
            </a:extLst>
          </p:cNvPr>
          <p:cNvSpPr/>
          <p:nvPr/>
        </p:nvSpPr>
        <p:spPr>
          <a:xfrm>
            <a:off x="0" y="5447169"/>
            <a:ext cx="9144000" cy="1334631"/>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Istnieją wersje algorytmu SGD, które podczas obliczania kolejnych wag biorą pod uwagę ich wcześniejsze aktualizacje oraz uwzględniają pęd. Istnieją też inne algorytmy oparte na tych rozwiązaniach: AdaGrad i RMSProp. Takie rozwiązania nazywa się </a:t>
            </a:r>
            <a:r>
              <a:rPr lang="pl-PL" sz="2000" b="1" dirty="0">
                <a:solidFill>
                  <a:srgbClr val="000000"/>
                </a:solidFill>
                <a:latin typeface="Arial Narrow" panose="020B0606020202030204" pitchFamily="34" charset="0"/>
                <a:cs typeface="Calibri" panose="020F0502020204030204" pitchFamily="34" charset="0"/>
              </a:rPr>
              <a:t>metodami optymalizacji</a:t>
            </a:r>
            <a:r>
              <a:rPr lang="pl-PL" sz="2000" dirty="0">
                <a:solidFill>
                  <a:srgbClr val="000000"/>
                </a:solidFill>
                <a:latin typeface="Arial Narrow" panose="020B0606020202030204" pitchFamily="34" charset="0"/>
                <a:cs typeface="Calibri" panose="020F0502020204030204" pitchFamily="34" charset="0"/>
              </a:rPr>
              <a:t> lub </a:t>
            </a:r>
            <a:r>
              <a:rPr lang="pl-PL" sz="2000" b="1" dirty="0">
                <a:solidFill>
                  <a:srgbClr val="000000"/>
                </a:solidFill>
                <a:latin typeface="Arial Narrow" panose="020B0606020202030204" pitchFamily="34" charset="0"/>
                <a:cs typeface="Calibri" panose="020F0502020204030204" pitchFamily="34" charset="0"/>
              </a:rPr>
              <a:t>optymalizatorami</a:t>
            </a:r>
            <a:r>
              <a:rPr lang="pl-PL" sz="2000" dirty="0">
                <a:solidFill>
                  <a:srgbClr val="000000"/>
                </a:solidFill>
                <a:latin typeface="Arial Narrow" panose="020B0606020202030204" pitchFamily="34" charset="0"/>
                <a:cs typeface="Calibri" panose="020F0502020204030204" pitchFamily="34" charset="0"/>
              </a:rPr>
              <a:t>.</a:t>
            </a:r>
          </a:p>
        </p:txBody>
      </p:sp>
      <p:sp>
        <p:nvSpPr>
          <p:cNvPr id="5" name="Slide Number Placeholder 4"/>
          <p:cNvSpPr>
            <a:spLocks noGrp="1"/>
          </p:cNvSpPr>
          <p:nvPr>
            <p:ph type="sldNum" sz="quarter" idx="12"/>
          </p:nvPr>
        </p:nvSpPr>
        <p:spPr/>
        <p:txBody>
          <a:bodyPr/>
          <a:lstStyle/>
          <a:p>
            <a:fld id="{20D4B2D9-DB10-4EB9-B7A6-032A6D4E75AC}" type="slidenum">
              <a:rPr lang="pl-PL" smtClean="0"/>
              <a:pPr/>
              <a:t>33</a:t>
            </a:fld>
            <a:endParaRPr lang="pl-PL" dirty="0"/>
          </a:p>
        </p:txBody>
      </p:sp>
    </p:spTree>
    <p:extLst>
      <p:ext uri="{BB962C8B-B14F-4D97-AF65-F5344CB8AC3E}">
        <p14:creationId xmlns:p14="http://schemas.microsoft.com/office/powerpoint/2010/main" val="366124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6EB9EF-875B-44A3-9FE3-7E38BAF56671}"/>
              </a:ext>
            </a:extLst>
          </p:cNvPr>
          <p:cNvSpPr/>
          <p:nvPr/>
        </p:nvSpPr>
        <p:spPr>
          <a:xfrm>
            <a:off x="0" y="304800"/>
            <a:ext cx="9144000" cy="6247864"/>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Optymalizator</a:t>
            </a:r>
            <a:r>
              <a:rPr lang="pl-PL" sz="2000" dirty="0">
                <a:solidFill>
                  <a:srgbClr val="000000"/>
                </a:solidFill>
                <a:latin typeface="Arial Narrow" panose="020B0606020202030204" pitchFamily="34" charset="0"/>
                <a:cs typeface="Calibri" panose="020F0502020204030204" pitchFamily="34" charset="0"/>
              </a:rPr>
              <a:t> – narzędzie służące do dostrajania wartości wag na podstawie funkcji straty. Implementuje on określony wariant algorytmu spadku wzdłuż gradientu.</a:t>
            </a:r>
            <a:endParaRPr lang="en-US" sz="2000" dirty="0"/>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Koncepcja gradientu prostego</a:t>
            </a:r>
            <a:r>
              <a:rPr lang="pl-PL" sz="2000"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iteracyjny algorytm optymalizacji w celu znalezienia minimum funkcji. Jest to metoda kosztowna, ponieważ robimy tylko jeden krok (raz aktualizujemy wagi) po pojedynczym przejściu przez cały zbiór danych treningowych.</a:t>
            </a:r>
          </a:p>
          <a:p>
            <a:r>
              <a:rPr lang="pl-PL" sz="2000" dirty="0">
                <a:solidFill>
                  <a:srgbClr val="000000"/>
                </a:solidFill>
                <a:latin typeface="Arial Narrow" panose="020B0606020202030204" pitchFamily="34" charset="0"/>
                <a:cs typeface="Calibri" panose="020F0502020204030204" pitchFamily="34" charset="0"/>
              </a:rPr>
              <a:t>W metodzie </a:t>
            </a:r>
            <a:r>
              <a:rPr lang="pl-PL" sz="2000" b="1" dirty="0">
                <a:solidFill>
                  <a:srgbClr val="000000"/>
                </a:solidFill>
                <a:latin typeface="Arial Narrow" panose="020B0606020202030204" pitchFamily="34" charset="0"/>
                <a:cs typeface="Calibri" panose="020F0502020204030204" pitchFamily="34" charset="0"/>
              </a:rPr>
              <a:t>stochastycznego spadku wzdłuż gradientu</a:t>
            </a:r>
            <a:r>
              <a:rPr lang="pl-PL" sz="2000" dirty="0">
                <a:solidFill>
                  <a:srgbClr val="000000"/>
                </a:solidFill>
                <a:latin typeface="Arial Narrow" panose="020B0606020202030204" pitchFamily="34" charset="0"/>
                <a:cs typeface="Calibri" panose="020F0502020204030204" pitchFamily="34" charset="0"/>
              </a:rPr>
              <a:t> (SGD – </a:t>
            </a:r>
            <a:r>
              <a:rPr lang="pl-PL" sz="2000" i="1" dirty="0">
                <a:solidFill>
                  <a:srgbClr val="000000"/>
                </a:solidFill>
                <a:latin typeface="Arial Narrow" panose="020B0606020202030204" pitchFamily="34" charset="0"/>
                <a:cs typeface="Calibri" panose="020F0502020204030204" pitchFamily="34" charset="0"/>
              </a:rPr>
              <a:t>Stochastic Gradient Descent</a:t>
            </a:r>
            <a:r>
              <a:rPr lang="pl-PL" sz="2000" dirty="0">
                <a:solidFill>
                  <a:srgbClr val="000000"/>
                </a:solidFill>
                <a:latin typeface="Arial Narrow" panose="020B0606020202030204" pitchFamily="34" charset="0"/>
                <a:cs typeface="Calibri" panose="020F0502020204030204" pitchFamily="34" charset="0"/>
              </a:rPr>
              <a:t>), aktualizacja wag następuje po każdym przykładzie treningowym, bez czekania aż cały zestaw danych przejdzie przez algorytm.</a:t>
            </a: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Adam</a:t>
            </a:r>
            <a:r>
              <a:rPr lang="pl-PL" sz="2000" dirty="0">
                <a:solidFill>
                  <a:srgbClr val="000000"/>
                </a:solidFill>
                <a:latin typeface="Arial Narrow" panose="020B0606020202030204" pitchFamily="34" charset="0"/>
                <a:cs typeface="Calibri" panose="020F0502020204030204" pitchFamily="34" charset="0"/>
              </a:rPr>
              <a:t> (ang. </a:t>
            </a:r>
            <a:r>
              <a:rPr lang="pl-PL" sz="2000" i="1" dirty="0">
                <a:solidFill>
                  <a:srgbClr val="000000"/>
                </a:solidFill>
                <a:latin typeface="Arial Narrow" panose="020B0606020202030204" pitchFamily="34" charset="0"/>
                <a:cs typeface="Calibri" panose="020F0502020204030204" pitchFamily="34" charset="0"/>
              </a:rPr>
              <a:t>Adaptive Moment Estimation</a:t>
            </a:r>
            <a:r>
              <a:rPr lang="pl-PL" sz="2000" dirty="0">
                <a:solidFill>
                  <a:srgbClr val="000000"/>
                </a:solidFill>
                <a:latin typeface="Arial Narrow" panose="020B0606020202030204" pitchFamily="34" charset="0"/>
                <a:cs typeface="Calibri" panose="020F0502020204030204" pitchFamily="34" charset="0"/>
              </a:rPr>
              <a:t>) jest wariantem SGD. W optymalizacji Adam aktualizujemy wskaźnik uczenia (wagę) na podstawie średniej i wariancji poprzednich gradientów tego parametru. Optymalizacja ta okazała się niezwykle skuteczna i szybka w rozwiązywaniu wielu problemów uczenia głębokiego. Często stosowany i jeden z najefektywniejszych.</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a:solidFill>
                  <a:srgbClr val="000000"/>
                </a:solidFill>
                <a:latin typeface="Arial Narrow" panose="020B0606020202030204" pitchFamily="34" charset="0"/>
                <a:cs typeface="Calibri" panose="020F0502020204030204" pitchFamily="34" charset="0"/>
              </a:rPr>
              <a:t>Adadelta</a:t>
            </a:r>
            <a:r>
              <a:rPr lang="pl-PL" sz="2000" dirty="0">
                <a:solidFill>
                  <a:srgbClr val="000000"/>
                </a:solidFill>
                <a:latin typeface="Arial Narrow" panose="020B0606020202030204" pitchFamily="34" charset="0"/>
                <a:cs typeface="Calibri" panose="020F0502020204030204" pitchFamily="34" charset="0"/>
              </a:rPr>
              <a:t> automatycznie dopasowuje tempo uczenia w zależności od gradientu. W ten sposób sieć nie uczy się zbyt wolno i nie przeskakuje minimów z powodu zbyt dużych kroków. Optymalizacja Adadelta pozwala dynamicznie regulować parametry wraz z upływem czasu. Podobnie działają wspomniane </a:t>
            </a:r>
            <a:r>
              <a:rPr lang="pl-PL" sz="2000" b="1" dirty="0">
                <a:solidFill>
                  <a:srgbClr val="000000"/>
                </a:solidFill>
                <a:latin typeface="Arial Narrow" panose="020B0606020202030204" pitchFamily="34" charset="0"/>
                <a:cs typeface="Calibri" panose="020F0502020204030204" pitchFamily="34" charset="0"/>
              </a:rPr>
              <a:t>AdaGrad</a:t>
            </a:r>
            <a:r>
              <a:rPr lang="pl-PL" sz="2000" dirty="0">
                <a:solidFill>
                  <a:srgbClr val="000000"/>
                </a:solidFill>
                <a:latin typeface="Arial Narrow" panose="020B0606020202030204" pitchFamily="34" charset="0"/>
                <a:cs typeface="Calibri" panose="020F0502020204030204" pitchFamily="34" charset="0"/>
              </a:rPr>
              <a:t> i </a:t>
            </a:r>
            <a:r>
              <a:rPr lang="pl-PL" sz="2000" b="1" dirty="0">
                <a:solidFill>
                  <a:srgbClr val="000000"/>
                </a:solidFill>
                <a:latin typeface="Arial Narrow" panose="020B0606020202030204" pitchFamily="34" charset="0"/>
                <a:cs typeface="Calibri" panose="020F0502020204030204" pitchFamily="34" charset="0"/>
              </a:rPr>
              <a:t>RMSProp</a:t>
            </a:r>
            <a:r>
              <a:rPr lang="pl-PL" sz="2000" dirty="0">
                <a:solidFill>
                  <a:srgbClr val="000000"/>
                </a:solidFill>
                <a:latin typeface="Arial Narrow" panose="020B0606020202030204" pitchFamily="34" charset="0"/>
                <a:cs typeface="Calibri" panose="020F0502020204030204" pitchFamily="34" charset="0"/>
              </a:rPr>
              <a:t>.</a:t>
            </a:r>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Slide Number Placeholder 3"/>
          <p:cNvSpPr>
            <a:spLocks noGrp="1"/>
          </p:cNvSpPr>
          <p:nvPr>
            <p:ph type="sldNum" sz="quarter" idx="12"/>
          </p:nvPr>
        </p:nvSpPr>
        <p:spPr/>
        <p:txBody>
          <a:bodyPr/>
          <a:lstStyle/>
          <a:p>
            <a:fld id="{20D4B2D9-DB10-4EB9-B7A6-032A6D4E75AC}" type="slidenum">
              <a:rPr lang="pl-PL" smtClean="0"/>
              <a:pPr/>
              <a:t>34</a:t>
            </a:fld>
            <a:endParaRPr lang="pl-PL" dirty="0"/>
          </a:p>
        </p:txBody>
      </p:sp>
    </p:spTree>
    <p:extLst>
      <p:ext uri="{BB962C8B-B14F-4D97-AF65-F5344CB8AC3E}">
        <p14:creationId xmlns:p14="http://schemas.microsoft.com/office/powerpoint/2010/main" val="1790154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Prostokąt 3">
            <a:extLst>
              <a:ext uri="{FF2B5EF4-FFF2-40B4-BE49-F238E27FC236}">
                <a16:creationId xmlns:a16="http://schemas.microsoft.com/office/drawing/2014/main" id="{8D38F881-D903-4064-AA6E-936F1740E924}"/>
              </a:ext>
            </a:extLst>
          </p:cNvPr>
          <p:cNvSpPr/>
          <p:nvPr/>
        </p:nvSpPr>
        <p:spPr>
          <a:xfrm>
            <a:off x="0" y="304800"/>
            <a:ext cx="9067800" cy="3785652"/>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Funkcja sieci neuronowej składa się z całego łańcucha operacji tensorowych, dla których należy określić wspólną pochodną.</a:t>
            </a:r>
          </a:p>
          <a:p>
            <a:r>
              <a:rPr lang="pl-PL" sz="2000" dirty="0">
                <a:solidFill>
                  <a:srgbClr val="000000"/>
                </a:solidFill>
                <a:latin typeface="Arial Narrow" panose="020B0606020202030204" pitchFamily="34" charset="0"/>
                <a:cs typeface="Calibri" panose="020F0502020204030204" pitchFamily="34" charset="0"/>
              </a:rPr>
              <a:t>Przykład:</a:t>
            </a:r>
          </a:p>
          <a:p>
            <a:r>
              <a:rPr lang="pl-PL" sz="2000" dirty="0">
                <a:solidFill>
                  <a:srgbClr val="000000"/>
                </a:solidFill>
                <a:latin typeface="Arial Narrow" panose="020B0606020202030204" pitchFamily="34" charset="0"/>
                <a:cs typeface="Calibri" panose="020F0502020204030204" pitchFamily="34" charset="0"/>
              </a:rPr>
              <a:t>Sieć f składa się z trzech operacji tensorowych (a, b, c) z matrycami wag W1, W2 i W3:</a:t>
            </a:r>
          </a:p>
          <a:p>
            <a:r>
              <a:rPr lang="pl-PL" sz="2000" dirty="0">
                <a:solidFill>
                  <a:srgbClr val="000000"/>
                </a:solidFill>
                <a:latin typeface="Arial Narrow" panose="020B0606020202030204" pitchFamily="34" charset="0"/>
                <a:cs typeface="Calibri" panose="020F0502020204030204" pitchFamily="34" charset="0"/>
              </a:rPr>
              <a:t>f(W1, W2, W3) = a(W1, b(W2, c(W3)))</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Pochodną takiego łańcucha można obliczyć korzystając z reguły łańcuchowej:</a:t>
            </a:r>
          </a:p>
          <a:p>
            <a:r>
              <a:rPr lang="pl-PL" sz="2000" dirty="0">
                <a:solidFill>
                  <a:srgbClr val="000000"/>
                </a:solidFill>
                <a:latin typeface="Arial Narrow" panose="020B0606020202030204" pitchFamily="34" charset="0"/>
                <a:cs typeface="Calibri" panose="020F0502020204030204" pitchFamily="34" charset="0"/>
              </a:rPr>
              <a:t>f(g(x)) = f'(g(x)) * g'(x).</a:t>
            </a:r>
          </a:p>
          <a:p>
            <a:r>
              <a:rPr lang="pl-PL" sz="2000" dirty="0">
                <a:solidFill>
                  <a:srgbClr val="000000"/>
                </a:solidFill>
                <a:latin typeface="Arial Narrow" panose="020B0606020202030204" pitchFamily="34" charset="0"/>
                <a:cs typeface="Calibri" panose="020F0502020204030204" pitchFamily="34" charset="0"/>
              </a:rPr>
              <a:t>Zastosowanie reguły łańcuchowej prowadzi do uzyskania </a:t>
            </a:r>
            <a:r>
              <a:rPr lang="pl-PL" sz="2000" b="1" dirty="0">
                <a:solidFill>
                  <a:srgbClr val="000000"/>
                </a:solidFill>
                <a:latin typeface="Arial Narrow" panose="020B0606020202030204" pitchFamily="34" charset="0"/>
                <a:cs typeface="Calibri" panose="020F0502020204030204" pitchFamily="34" charset="0"/>
              </a:rPr>
              <a:t>algorytmu</a:t>
            </a:r>
            <a:r>
              <a:rPr lang="pl-PL" sz="2000" dirty="0">
                <a:solidFill>
                  <a:srgbClr val="000000"/>
                </a:solidFill>
                <a:latin typeface="Arial Narrow" panose="020B0606020202030204" pitchFamily="34" charset="0"/>
                <a:cs typeface="Calibri" panose="020F0502020204030204" pitchFamily="34" charset="0"/>
              </a:rPr>
              <a:t> </a:t>
            </a:r>
            <a:r>
              <a:rPr lang="pl-PL" sz="2000" b="1" dirty="0">
                <a:solidFill>
                  <a:srgbClr val="000000"/>
                </a:solidFill>
                <a:latin typeface="Arial Narrow" panose="020B0606020202030204" pitchFamily="34" charset="0"/>
                <a:cs typeface="Calibri" panose="020F0502020204030204" pitchFamily="34" charset="0"/>
              </a:rPr>
              <a:t>propagacji wstecznej</a:t>
            </a:r>
            <a:r>
              <a:rPr lang="pl-PL" sz="2000"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Propagacja wsteczna zaczyna się od ostatniej wartości straty i przetwarza warstwy od końca z zastosowaniem reguły łańcuchowej w celu obliczenia wpływu każdego parametru na wartość straty.</a:t>
            </a:r>
          </a:p>
        </p:txBody>
      </p:sp>
      <p:sp>
        <p:nvSpPr>
          <p:cNvPr id="4" name="Rectangle 2">
            <a:extLst>
              <a:ext uri="{FF2B5EF4-FFF2-40B4-BE49-F238E27FC236}">
                <a16:creationId xmlns:a16="http://schemas.microsoft.com/office/drawing/2014/main" id="{2C57F797-EE31-4361-9838-EBAAE9E581AA}"/>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uczenie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2" name="Slide Number Placeholder 1"/>
          <p:cNvSpPr>
            <a:spLocks noGrp="1"/>
          </p:cNvSpPr>
          <p:nvPr>
            <p:ph type="sldNum" sz="quarter" idx="12"/>
          </p:nvPr>
        </p:nvSpPr>
        <p:spPr/>
        <p:txBody>
          <a:bodyPr/>
          <a:lstStyle/>
          <a:p>
            <a:fld id="{20D4B2D9-DB10-4EB9-B7A6-032A6D4E75AC}" type="slidenum">
              <a:rPr lang="pl-PL" smtClean="0"/>
              <a:pPr/>
              <a:t>35</a:t>
            </a:fld>
            <a:endParaRPr lang="pl-PL" dirty="0"/>
          </a:p>
        </p:txBody>
      </p:sp>
    </p:spTree>
    <p:extLst>
      <p:ext uri="{BB962C8B-B14F-4D97-AF65-F5344CB8AC3E}">
        <p14:creationId xmlns:p14="http://schemas.microsoft.com/office/powerpoint/2010/main" val="3886013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36</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1915180"/>
            <a:ext cx="8915400" cy="523220"/>
          </a:xfrm>
          <a:prstGeom prst="rect">
            <a:avLst/>
          </a:prstGeom>
        </p:spPr>
        <p:txBody>
          <a:bodyPr wrap="square">
            <a:spAutoFit/>
          </a:bodyPr>
          <a:lstStyle/>
          <a:p>
            <a:r>
              <a:rPr lang="pl-PL" sz="2800" b="1" dirty="0">
                <a:solidFill>
                  <a:srgbClr val="0000FF"/>
                </a:solidFill>
                <a:latin typeface="Arial Narrow" panose="020B0606020202030204" pitchFamily="34" charset="0"/>
                <a:cs typeface="Calibri" panose="020F0502020204030204" pitchFamily="34" charset="0"/>
              </a:rPr>
              <a:t>Funkcje aktywacji</a:t>
            </a:r>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351023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Obraz 12"/>
          <p:cNvPicPr>
            <a:picLocks noChangeAspect="1"/>
          </p:cNvPicPr>
          <p:nvPr/>
        </p:nvPicPr>
        <p:blipFill>
          <a:blip r:embed="rId2"/>
          <a:stretch>
            <a:fillRect/>
          </a:stretch>
        </p:blipFill>
        <p:spPr>
          <a:xfrm>
            <a:off x="76199" y="3307140"/>
            <a:ext cx="5285001" cy="3550860"/>
          </a:xfrm>
          <a:prstGeom prst="rect">
            <a:avLst/>
          </a:prstGeom>
        </p:spPr>
      </p:pic>
      <p:sp>
        <p:nvSpPr>
          <p:cNvPr id="2" name="Symbol zastępczy numeru slajdu 1"/>
          <p:cNvSpPr>
            <a:spLocks noGrp="1"/>
          </p:cNvSpPr>
          <p:nvPr>
            <p:ph type="sldNum" sz="quarter" idx="12"/>
          </p:nvPr>
        </p:nvSpPr>
        <p:spPr/>
        <p:txBody>
          <a:bodyPr/>
          <a:lstStyle/>
          <a:p>
            <a:fld id="{20D4B2D9-DB10-4EB9-B7A6-032A6D4E75AC}" type="slidenum">
              <a:rPr lang="pl-PL" smtClean="0"/>
              <a:pPr/>
              <a:t>37</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265889"/>
            <a:ext cx="8915400" cy="2708434"/>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Funkcja aktywacji </a:t>
            </a:r>
            <a:r>
              <a:rPr lang="pl-PL" sz="2000" dirty="0">
                <a:solidFill>
                  <a:srgbClr val="000000"/>
                </a:solidFill>
                <a:latin typeface="Arial Narrow" panose="020B0606020202030204" pitchFamily="34" charset="0"/>
                <a:cs typeface="Calibri" panose="020F0502020204030204" pitchFamily="34" charset="0"/>
              </a:rPr>
              <a:t>służy do obliczenia wartości wyjścia neuronów.</a:t>
            </a:r>
          </a:p>
          <a:p>
            <a:r>
              <a:rPr lang="pl-PL" sz="2000" dirty="0">
                <a:solidFill>
                  <a:srgbClr val="000000"/>
                </a:solidFill>
                <a:latin typeface="Arial Narrow" panose="020B0606020202030204" pitchFamily="34" charset="0"/>
                <a:cs typeface="Calibri" panose="020F0502020204030204" pitchFamily="34" charset="0"/>
              </a:rPr>
              <a:t>Pobiera ona wszystkie wejścia neuronu, oblicza jego wyjście i decyduje, czy przepuścić wartość wyjściową danego neuronu do kolejnej warstwy.</a:t>
            </a:r>
          </a:p>
          <a:p>
            <a:pPr>
              <a:spcBef>
                <a:spcPts val="600"/>
              </a:spcBef>
            </a:pPr>
            <a:r>
              <a:rPr lang="pl-PL" sz="2000" dirty="0">
                <a:solidFill>
                  <a:srgbClr val="000000"/>
                </a:solidFill>
                <a:latin typeface="Arial Narrow" panose="020B0606020202030204" pitchFamily="34" charset="0"/>
                <a:cs typeface="Calibri" panose="020F0502020204030204" pitchFamily="34" charset="0"/>
              </a:rPr>
              <a:t>Zadaniem funkcji aktywacji jest wprowadzenie nieliniowości do sieci neuronowych. Bez tego sieci miałyby mniej skomplikowaną budowę, ale rozwiązanie za ich pomocą złożonych zadań byłoby niemożliwe. Modele bez funkcji aktywacji byłyby zwykłymi liniowymi modelami regresji.</a:t>
            </a:r>
          </a:p>
          <a:p>
            <a:pPr>
              <a:spcBef>
                <a:spcPts val="600"/>
              </a:spcBef>
            </a:pPr>
            <a:r>
              <a:rPr lang="pl-PL" sz="2000" b="1" dirty="0">
                <a:solidFill>
                  <a:srgbClr val="000000"/>
                </a:solidFill>
                <a:latin typeface="Arial Narrow" panose="020B0606020202030204" pitchFamily="34" charset="0"/>
                <a:cs typeface="Calibri" panose="020F0502020204030204" pitchFamily="34" charset="0"/>
              </a:rPr>
              <a:t>Funkcja aktywacji</a:t>
            </a:r>
            <a:r>
              <a:rPr lang="pl-PL" sz="2000" dirty="0">
                <a:solidFill>
                  <a:srgbClr val="000000"/>
                </a:solidFill>
                <a:latin typeface="Arial Narrow" panose="020B0606020202030204" pitchFamily="34" charset="0"/>
                <a:cs typeface="Calibri" panose="020F0502020204030204" pitchFamily="34" charset="0"/>
              </a:rPr>
              <a:t> pomaga sieci neuronowej wykorzystywać istotne informacje oraz tłumić mniej ważne.</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pole tekstowe 5"/>
          <p:cNvSpPr txBox="1"/>
          <p:nvPr/>
        </p:nvSpPr>
        <p:spPr>
          <a:xfrm>
            <a:off x="6019800" y="3307140"/>
            <a:ext cx="777777" cy="1569660"/>
          </a:xfrm>
          <a:prstGeom prst="rect">
            <a:avLst/>
          </a:prstGeom>
          <a:noFill/>
        </p:spPr>
        <p:txBody>
          <a:bodyPr wrap="none" rtlCol="0">
            <a:spAutoFit/>
          </a:bodyPr>
          <a:lstStyle/>
          <a:p>
            <a:r>
              <a:rPr lang="pl-PL" sz="2400" dirty="0">
                <a:latin typeface="Arial Narrow" panose="020B0606020202030204" pitchFamily="34" charset="0"/>
              </a:rPr>
              <a:t>w</a:t>
            </a:r>
            <a:r>
              <a:rPr lang="pl-PL" sz="2400" baseline="-25000" dirty="0">
                <a:latin typeface="Arial Narrow" panose="020B0606020202030204" pitchFamily="34" charset="0"/>
              </a:rPr>
              <a:t>1</a:t>
            </a:r>
            <a:r>
              <a:rPr lang="pl-PL" sz="2400" dirty="0">
                <a:latin typeface="Arial Narrow" panose="020B0606020202030204" pitchFamily="34" charset="0"/>
              </a:rPr>
              <a:t>*x</a:t>
            </a:r>
            <a:r>
              <a:rPr lang="pl-PL" sz="2400" baseline="-25000" dirty="0">
                <a:latin typeface="Arial Narrow" panose="020B0606020202030204" pitchFamily="34" charset="0"/>
              </a:rPr>
              <a:t>1</a:t>
            </a:r>
          </a:p>
          <a:p>
            <a:r>
              <a:rPr lang="pl-PL" sz="2400" dirty="0">
                <a:latin typeface="Arial Narrow" panose="020B0606020202030204" pitchFamily="34" charset="0"/>
              </a:rPr>
              <a:t>w</a:t>
            </a:r>
            <a:r>
              <a:rPr lang="pl-PL" sz="2400" baseline="-25000" dirty="0">
                <a:latin typeface="Arial Narrow" panose="020B0606020202030204" pitchFamily="34" charset="0"/>
              </a:rPr>
              <a:t>2</a:t>
            </a:r>
            <a:r>
              <a:rPr lang="pl-PL" sz="2400" dirty="0">
                <a:latin typeface="Arial Narrow" panose="020B0606020202030204" pitchFamily="34" charset="0"/>
              </a:rPr>
              <a:t>*x</a:t>
            </a:r>
            <a:r>
              <a:rPr lang="pl-PL" sz="2400" baseline="-25000" dirty="0">
                <a:latin typeface="Arial Narrow" panose="020B0606020202030204" pitchFamily="34" charset="0"/>
              </a:rPr>
              <a:t>2</a:t>
            </a:r>
          </a:p>
          <a:p>
            <a:endParaRPr lang="pl-PL" sz="2400" dirty="0">
              <a:latin typeface="Arial Narrow" panose="020B0606020202030204" pitchFamily="34" charset="0"/>
            </a:endParaRPr>
          </a:p>
          <a:p>
            <a:r>
              <a:rPr lang="pl-PL" sz="2400" dirty="0">
                <a:latin typeface="Arial Narrow" panose="020B0606020202030204" pitchFamily="34" charset="0"/>
              </a:rPr>
              <a:t>w</a:t>
            </a:r>
            <a:r>
              <a:rPr lang="pl-PL" sz="2400" baseline="-25000" dirty="0">
                <a:latin typeface="Arial Narrow" panose="020B0606020202030204" pitchFamily="34" charset="0"/>
              </a:rPr>
              <a:t>n</a:t>
            </a:r>
            <a:r>
              <a:rPr lang="pl-PL" sz="2400" dirty="0">
                <a:latin typeface="Arial Narrow" panose="020B0606020202030204" pitchFamily="34" charset="0"/>
              </a:rPr>
              <a:t>*x</a:t>
            </a:r>
            <a:r>
              <a:rPr lang="pl-PL" sz="2400" baseline="-25000" dirty="0">
                <a:latin typeface="Arial Narrow" panose="020B0606020202030204" pitchFamily="34" charset="0"/>
              </a:rPr>
              <a:t>n</a:t>
            </a:r>
            <a:endParaRPr lang="pl-PL" baseline="-25000" dirty="0">
              <a:latin typeface="Arial Narrow" panose="020B0606020202030204" pitchFamily="34" charset="0"/>
            </a:endParaRPr>
          </a:p>
        </p:txBody>
      </p:sp>
      <p:sp>
        <p:nvSpPr>
          <p:cNvPr id="7" name="Nawias klamrowy zamykający 6"/>
          <p:cNvSpPr/>
          <p:nvPr/>
        </p:nvSpPr>
        <p:spPr>
          <a:xfrm>
            <a:off x="6645177" y="3440490"/>
            <a:ext cx="365223" cy="14172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pl-PL" dirty="0"/>
          </a:p>
        </p:txBody>
      </p:sp>
      <p:sp>
        <p:nvSpPr>
          <p:cNvPr id="8" name="pole tekstowe 7"/>
          <p:cNvSpPr txBox="1"/>
          <p:nvPr/>
        </p:nvSpPr>
        <p:spPr>
          <a:xfrm>
            <a:off x="7010400" y="3856732"/>
            <a:ext cx="1874231" cy="584775"/>
          </a:xfrm>
          <a:prstGeom prst="rect">
            <a:avLst/>
          </a:prstGeom>
          <a:noFill/>
        </p:spPr>
        <p:txBody>
          <a:bodyPr wrap="none" rtlCol="0">
            <a:spAutoFit/>
          </a:bodyPr>
          <a:lstStyle/>
          <a:p>
            <a:r>
              <a:rPr lang="pl-PL" sz="3200" dirty="0">
                <a:solidFill>
                  <a:srgbClr val="FF0000"/>
                </a:solidFill>
                <a:latin typeface="Arial Narrow" panose="020B0606020202030204" pitchFamily="34" charset="0"/>
              </a:rPr>
              <a:t>z</a:t>
            </a:r>
            <a:r>
              <a:rPr lang="pl-PL" sz="3200" dirty="0">
                <a:latin typeface="Arial Narrow" panose="020B0606020202030204" pitchFamily="34" charset="0"/>
              </a:rPr>
              <a:t>=</a:t>
            </a:r>
            <a:r>
              <a:rPr lang="el-GR" sz="3200">
                <a:latin typeface="Arial Narrow" panose="020B0606020202030204" pitchFamily="34" charset="0"/>
              </a:rPr>
              <a:t>Σ</a:t>
            </a:r>
            <a:r>
              <a:rPr lang="pl-PL" sz="3200" dirty="0">
                <a:latin typeface="Arial Narrow" panose="020B0606020202030204" pitchFamily="34" charset="0"/>
              </a:rPr>
              <a:t> w</a:t>
            </a:r>
            <a:r>
              <a:rPr lang="pl-PL" sz="3200" baseline="-25000" dirty="0">
                <a:latin typeface="Arial Narrow" panose="020B0606020202030204" pitchFamily="34" charset="0"/>
              </a:rPr>
              <a:t>i</a:t>
            </a:r>
            <a:r>
              <a:rPr lang="pl-PL" sz="3200" dirty="0">
                <a:latin typeface="Arial Narrow" panose="020B0606020202030204" pitchFamily="34" charset="0"/>
              </a:rPr>
              <a:t>*x</a:t>
            </a:r>
            <a:r>
              <a:rPr lang="pl-PL" sz="3200" baseline="-25000" dirty="0">
                <a:latin typeface="Arial Narrow" panose="020B0606020202030204" pitchFamily="34" charset="0"/>
              </a:rPr>
              <a:t>i</a:t>
            </a:r>
            <a:r>
              <a:rPr lang="pl-PL" sz="3200" dirty="0">
                <a:latin typeface="Arial Narrow" panose="020B0606020202030204" pitchFamily="34" charset="0"/>
              </a:rPr>
              <a:t>+b</a:t>
            </a:r>
            <a:endParaRPr lang="pl-PL" sz="3200" b="1" dirty="0">
              <a:solidFill>
                <a:srgbClr val="00B050"/>
              </a:solidFill>
              <a:latin typeface="Arial Narrow" panose="020B0606020202030204" pitchFamily="34" charset="0"/>
            </a:endParaRPr>
          </a:p>
        </p:txBody>
      </p:sp>
      <p:sp>
        <p:nvSpPr>
          <p:cNvPr id="9" name="Oval 8"/>
          <p:cNvSpPr/>
          <p:nvPr/>
        </p:nvSpPr>
        <p:spPr>
          <a:xfrm>
            <a:off x="3429000" y="5150070"/>
            <a:ext cx="5334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n>
                <a:solidFill>
                  <a:srgbClr val="FF0000"/>
                </a:solidFill>
              </a:ln>
              <a:noFill/>
            </a:endParaRPr>
          </a:p>
        </p:txBody>
      </p:sp>
      <p:sp>
        <p:nvSpPr>
          <p:cNvPr id="10" name="Rectangle 9"/>
          <p:cNvSpPr/>
          <p:nvPr/>
        </p:nvSpPr>
        <p:spPr>
          <a:xfrm>
            <a:off x="4462563" y="6015070"/>
            <a:ext cx="2090637" cy="369332"/>
          </a:xfrm>
          <a:prstGeom prst="rect">
            <a:avLst/>
          </a:prstGeom>
        </p:spPr>
        <p:txBody>
          <a:bodyPr wrap="none">
            <a:spAutoFit/>
          </a:bodyPr>
          <a:lstStyle/>
          <a:p>
            <a:r>
              <a:rPr lang="pl-PL" dirty="0">
                <a:solidFill>
                  <a:srgbClr val="FF0000"/>
                </a:solidFill>
                <a:latin typeface="Arial Narrow" panose="020B0606020202030204" pitchFamily="34" charset="0"/>
              </a:rPr>
              <a:t>f(z) – funkcja aktywacji</a:t>
            </a:r>
            <a:endParaRPr lang="en-GB" dirty="0">
              <a:solidFill>
                <a:srgbClr val="FF0000"/>
              </a:solidFill>
            </a:endParaRPr>
          </a:p>
        </p:txBody>
      </p:sp>
      <p:cxnSp>
        <p:nvCxnSpPr>
          <p:cNvPr id="12" name="Straight Arrow Connector 11"/>
          <p:cNvCxnSpPr/>
          <p:nvPr/>
        </p:nvCxnSpPr>
        <p:spPr>
          <a:xfrm flipH="1" flipV="1">
            <a:off x="3962400" y="5677997"/>
            <a:ext cx="506186" cy="4942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506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38</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265889"/>
            <a:ext cx="8915400" cy="3785652"/>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Różne typy neuronów (w naturze są ich tysiące) można zamodelować przy pomocy różnych funkcji aktywacji.</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Funkcja aktywacji może przyjmować jedną z trzech postaci:</a:t>
            </a:r>
          </a:p>
          <a:p>
            <a:pPr marL="176213" indent="-176213">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liniowa,</a:t>
            </a:r>
          </a:p>
          <a:p>
            <a:pPr marL="176213" indent="-176213">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nieliniowa,</a:t>
            </a:r>
          </a:p>
          <a:p>
            <a:pPr marL="176213" indent="-176213">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skoku jednostkowego.</a:t>
            </a:r>
          </a:p>
          <a:p>
            <a:pPr marL="176213" indent="-176213">
              <a:buFont typeface="Arial" panose="020B0604020202020204" pitchFamily="34" charset="0"/>
              <a:buChar char="•"/>
            </a:pPr>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Wybór funkcji zależy od rodzaju problemu. Najczęściej stosowane są funkcje nieliniowe gdyż neurony o takich charakterystykach wykazują największe zdolności do nauki.</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Zwykle neurony należące do tej samej warstwy mają tę samą funkcję aktywacji. </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93175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39</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1938992"/>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Funkcja progowa</a:t>
            </a:r>
            <a:r>
              <a:rPr lang="pl-PL" sz="2000" b="1" dirty="0">
                <a:solidFill>
                  <a:srgbClr val="000000"/>
                </a:solidFill>
                <a:latin typeface="Arial Narrow" panose="020B0606020202030204" pitchFamily="34" charset="0"/>
                <a:cs typeface="Calibri" panose="020F0502020204030204" pitchFamily="34" charset="0"/>
              </a:rPr>
              <a:t> (ang. </a:t>
            </a:r>
            <a:r>
              <a:rPr lang="pl-PL" sz="2000" b="1" i="1" dirty="0">
                <a:solidFill>
                  <a:srgbClr val="000000"/>
                </a:solidFill>
                <a:latin typeface="Arial Narrow" panose="020B0606020202030204" pitchFamily="34" charset="0"/>
                <a:cs typeface="Calibri" panose="020F0502020204030204" pitchFamily="34" charset="0"/>
              </a:rPr>
              <a:t>binary step function</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latin typeface="Arial Narrow" panose="020B0606020202030204" pitchFamily="34" charset="0"/>
              </a:rPr>
              <a:t>Przyjmuje wartości binarne (0 lub 1). W funkcji tej wybierana jest </a:t>
            </a:r>
            <a:r>
              <a:rPr lang="pl-PL" sz="2000" b="1" dirty="0">
                <a:solidFill>
                  <a:srgbClr val="7030A0"/>
                </a:solidFill>
                <a:latin typeface="Arial Narrow" panose="020B0606020202030204" pitchFamily="34" charset="0"/>
              </a:rPr>
              <a:t>wartość progu</a:t>
            </a:r>
            <a:r>
              <a:rPr lang="pl-PL" sz="2000" dirty="0">
                <a:latin typeface="Arial Narrow" panose="020B0606020202030204" pitchFamily="34" charset="0"/>
              </a:rPr>
              <a:t>.</a:t>
            </a:r>
          </a:p>
          <a:p>
            <a:pPr marL="180975" indent="-180975">
              <a:buFont typeface="Arial" panose="020B0604020202020204" pitchFamily="34" charset="0"/>
              <a:buChar char="•"/>
            </a:pPr>
            <a:r>
              <a:rPr lang="pl-PL" sz="2000" dirty="0">
                <a:latin typeface="Arial Narrow" panose="020B0606020202030204" pitchFamily="34" charset="0"/>
              </a:rPr>
              <a:t>jeżeli wartość wejściowa znajduje się poniżej progu, neuron nie jest aktywowany (przyjmuje wartość 0, jego wyjście nie jest przekazywane do kolejnej warstwy ukrytej), </a:t>
            </a:r>
          </a:p>
          <a:p>
            <a:pPr marL="180975" indent="-180975">
              <a:buFont typeface="Arial" panose="020B0604020202020204" pitchFamily="34" charset="0"/>
              <a:buChar char="•"/>
            </a:pPr>
            <a:r>
              <a:rPr lang="pl-PL" sz="2000" dirty="0">
                <a:latin typeface="Arial Narrow" panose="020B0606020202030204" pitchFamily="34" charset="0"/>
              </a:rPr>
              <a:t>jeżeli wartość wejściowa znajduje się powyżej progu, neuron jest aktywowany </a:t>
            </a:r>
            <a:br>
              <a:rPr lang="pl-PL" sz="2000" dirty="0">
                <a:latin typeface="Arial Narrow" panose="020B0606020202030204" pitchFamily="34" charset="0"/>
              </a:rPr>
            </a:br>
            <a:r>
              <a:rPr lang="pl-PL" sz="2000" dirty="0">
                <a:latin typeface="Arial Narrow" panose="020B0606020202030204" pitchFamily="34" charset="0"/>
              </a:rPr>
              <a:t>(przyjmuje wartość 1).</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grpSp>
        <p:nvGrpSpPr>
          <p:cNvPr id="8" name="Grupa 7"/>
          <p:cNvGrpSpPr/>
          <p:nvPr/>
        </p:nvGrpSpPr>
        <p:grpSpPr>
          <a:xfrm>
            <a:off x="161925" y="2211901"/>
            <a:ext cx="3409950" cy="3198299"/>
            <a:chOff x="161925" y="3200400"/>
            <a:chExt cx="3409950" cy="3198299"/>
          </a:xfrm>
        </p:grpSpPr>
        <p:cxnSp>
          <p:nvCxnSpPr>
            <p:cNvPr id="10" name="Łącznik prosty ze strzałką 9"/>
            <p:cNvCxnSpPr/>
            <p:nvPr/>
          </p:nvCxnSpPr>
          <p:spPr>
            <a:xfrm flipV="1">
              <a:off x="2066925" y="5484480"/>
              <a:ext cx="0" cy="53340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4">
              <a:extLst>
                <a:ext uri="{FF2B5EF4-FFF2-40B4-BE49-F238E27FC236}">
                  <a16:creationId xmlns:a16="http://schemas.microsoft.com/office/drawing/2014/main" id="{C7D00268-5146-4B41-8419-2F63AF741FC0}"/>
                </a:ext>
              </a:extLst>
            </p:cNvPr>
            <p:cNvSpPr/>
            <p:nvPr/>
          </p:nvSpPr>
          <p:spPr>
            <a:xfrm>
              <a:off x="1228725" y="5998589"/>
              <a:ext cx="1676400" cy="400110"/>
            </a:xfrm>
            <a:prstGeom prst="rect">
              <a:avLst/>
            </a:prstGeom>
          </p:spPr>
          <p:txBody>
            <a:bodyPr wrap="square">
              <a:spAutoFit/>
            </a:bodyPr>
            <a:lstStyle/>
            <a:p>
              <a:r>
                <a:rPr lang="pl-PL" sz="2000" b="1" dirty="0">
                  <a:solidFill>
                    <a:srgbClr val="7030A0"/>
                  </a:solidFill>
                  <a:latin typeface="Arial Narrow" panose="020B0606020202030204" pitchFamily="34" charset="0"/>
                  <a:cs typeface="Calibri" panose="020F0502020204030204" pitchFamily="34" charset="0"/>
                </a:rPr>
                <a:t>wartość progu</a:t>
              </a:r>
              <a:endParaRPr lang="pl-PL" sz="2800" dirty="0">
                <a:solidFill>
                  <a:srgbClr val="7030A0"/>
                </a:solidFill>
                <a:latin typeface="Arial Narrow" panose="020B0606020202030204" pitchFamily="34" charset="0"/>
              </a:endParaRPr>
            </a:p>
          </p:txBody>
        </p:sp>
        <p:pic>
          <p:nvPicPr>
            <p:cNvPr id="6" name="Obraz 5"/>
            <p:cNvPicPr>
              <a:picLocks noChangeAspect="1"/>
            </p:cNvPicPr>
            <p:nvPr/>
          </p:nvPicPr>
          <p:blipFill>
            <a:blip r:embed="rId2"/>
            <a:stretch>
              <a:fillRect/>
            </a:stretch>
          </p:blipFill>
          <p:spPr>
            <a:xfrm>
              <a:off x="161925" y="3200400"/>
              <a:ext cx="3409950" cy="2253359"/>
            </a:xfrm>
            <a:prstGeom prst="rect">
              <a:avLst/>
            </a:prstGeom>
          </p:spPr>
        </p:pic>
      </p:grpSp>
      <p:pic>
        <p:nvPicPr>
          <p:cNvPr id="7" name="Obraz 6"/>
          <p:cNvPicPr>
            <a:picLocks noChangeAspect="1"/>
          </p:cNvPicPr>
          <p:nvPr/>
        </p:nvPicPr>
        <p:blipFill>
          <a:blip r:embed="rId3"/>
          <a:stretch>
            <a:fillRect/>
          </a:stretch>
        </p:blipFill>
        <p:spPr>
          <a:xfrm>
            <a:off x="4724400" y="2838517"/>
            <a:ext cx="3524250" cy="1000125"/>
          </a:xfrm>
          <a:prstGeom prst="rect">
            <a:avLst/>
          </a:prstGeom>
        </p:spPr>
      </p:pic>
      <p:sp>
        <p:nvSpPr>
          <p:cNvPr id="12" name="Rectangle 4">
            <a:extLst>
              <a:ext uri="{FF2B5EF4-FFF2-40B4-BE49-F238E27FC236}">
                <a16:creationId xmlns:a16="http://schemas.microsoft.com/office/drawing/2014/main" id="{C7D00268-5146-4B41-8419-2F63AF741FC0}"/>
              </a:ext>
            </a:extLst>
          </p:cNvPr>
          <p:cNvSpPr/>
          <p:nvPr/>
        </p:nvSpPr>
        <p:spPr>
          <a:xfrm>
            <a:off x="0" y="5534561"/>
            <a:ext cx="9144000" cy="1323439"/>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Funkcja progowa – własności:</a:t>
            </a:r>
            <a:endParaRPr lang="pl-PL" sz="2000" dirty="0">
              <a:latin typeface="Arial Narrow" panose="020B0606020202030204" pitchFamily="34" charset="0"/>
            </a:endParaRPr>
          </a:p>
          <a:p>
            <a:pPr marL="180975" indent="-180975">
              <a:buFont typeface="Arial" panose="020B0604020202020204" pitchFamily="34" charset="0"/>
              <a:buChar char="•"/>
            </a:pPr>
            <a:r>
              <a:rPr lang="pl-PL" sz="2000" dirty="0">
                <a:latin typeface="Arial Narrow" panose="020B0606020202030204" pitchFamily="34" charset="0"/>
              </a:rPr>
              <a:t>jest nieróżniczkowalna (jej gradient wynosi 0), więc przy jej użyciu nie można zastosować algorytmu propagacji wstecznej, </a:t>
            </a:r>
          </a:p>
          <a:p>
            <a:pPr marL="180975" indent="-180975">
              <a:buFont typeface="Arial" panose="020B0604020202020204" pitchFamily="34" charset="0"/>
              <a:buChar char="•"/>
            </a:pPr>
            <a:r>
              <a:rPr lang="pl-PL" sz="2000" dirty="0">
                <a:latin typeface="Arial Narrow" panose="020B0606020202030204" pitchFamily="34" charset="0"/>
              </a:rPr>
              <a:t>sprawdza się w zadaniach klasyfikacji binarnej.</a:t>
            </a:r>
            <a:endParaRPr lang="pl-PL" sz="2800" dirty="0">
              <a:latin typeface="Arial Narrow" panose="020B0606020202030204" pitchFamily="34" charset="0"/>
            </a:endParaRPr>
          </a:p>
        </p:txBody>
      </p:sp>
    </p:spTree>
    <p:extLst>
      <p:ext uri="{BB962C8B-B14F-4D97-AF65-F5344CB8AC3E}">
        <p14:creationId xmlns:p14="http://schemas.microsoft.com/office/powerpoint/2010/main" val="3876516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40</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1015663"/>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Funkcja liniowa</a:t>
            </a:r>
            <a:r>
              <a:rPr lang="pl-PL" sz="2000" b="1" dirty="0">
                <a:solidFill>
                  <a:srgbClr val="000000"/>
                </a:solidFill>
                <a:latin typeface="Arial Narrow" panose="020B0606020202030204" pitchFamily="34" charset="0"/>
                <a:cs typeface="Calibri" panose="020F0502020204030204" pitchFamily="34" charset="0"/>
              </a:rPr>
              <a:t>, inaczej funkcja tożsamości (ang. </a:t>
            </a:r>
            <a:r>
              <a:rPr lang="pl-PL" sz="2000" b="1" i="1" dirty="0">
                <a:solidFill>
                  <a:srgbClr val="000000"/>
                </a:solidFill>
                <a:latin typeface="Arial Narrow" panose="020B0606020202030204" pitchFamily="34" charset="0"/>
                <a:cs typeface="Calibri" panose="020F0502020204030204" pitchFamily="34" charset="0"/>
              </a:rPr>
              <a:t>linear activation function, identity function</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latin typeface="Arial Narrow" panose="020B0606020202030204" pitchFamily="34" charset="0"/>
              </a:rPr>
              <a:t>Wartość aktywacji jest proporcjonalna do wartości wejścia.</a:t>
            </a:r>
            <a:endParaRPr lang="pl-PL" sz="2800" dirty="0">
              <a:latin typeface="Arial Narrow" panose="020B0606020202030204" pitchFamily="34" charset="0"/>
            </a:endParaRP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Obraz 4"/>
          <p:cNvPicPr>
            <a:picLocks noChangeAspect="1"/>
          </p:cNvPicPr>
          <p:nvPr/>
        </p:nvPicPr>
        <p:blipFill>
          <a:blip r:embed="rId2"/>
          <a:stretch>
            <a:fillRect/>
          </a:stretch>
        </p:blipFill>
        <p:spPr>
          <a:xfrm>
            <a:off x="838200" y="1507814"/>
            <a:ext cx="3429000" cy="2429752"/>
          </a:xfrm>
          <a:prstGeom prst="rect">
            <a:avLst/>
          </a:prstGeom>
        </p:spPr>
      </p:pic>
      <p:pic>
        <p:nvPicPr>
          <p:cNvPr id="6" name="Obraz 5"/>
          <p:cNvPicPr>
            <a:picLocks noChangeAspect="1"/>
          </p:cNvPicPr>
          <p:nvPr/>
        </p:nvPicPr>
        <p:blipFill>
          <a:blip r:embed="rId3"/>
          <a:stretch>
            <a:fillRect/>
          </a:stretch>
        </p:blipFill>
        <p:spPr>
          <a:xfrm>
            <a:off x="6096000" y="2344581"/>
            <a:ext cx="1609725" cy="714375"/>
          </a:xfrm>
          <a:prstGeom prst="rect">
            <a:avLst/>
          </a:prstGeom>
        </p:spPr>
      </p:pic>
      <p:sp>
        <p:nvSpPr>
          <p:cNvPr id="7" name="Rectangle 4">
            <a:extLst>
              <a:ext uri="{FF2B5EF4-FFF2-40B4-BE49-F238E27FC236}">
                <a16:creationId xmlns:a16="http://schemas.microsoft.com/office/drawing/2014/main" id="{C7D00268-5146-4B41-8419-2F63AF741FC0}"/>
              </a:ext>
            </a:extLst>
          </p:cNvPr>
          <p:cNvSpPr/>
          <p:nvPr/>
        </p:nvSpPr>
        <p:spPr>
          <a:xfrm>
            <a:off x="0" y="4419600"/>
            <a:ext cx="9144000" cy="193899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Funkcja liniowa – własności:</a:t>
            </a:r>
          </a:p>
          <a:p>
            <a:pPr marL="180975" indent="-180975">
              <a:buFont typeface="Arial" panose="020B0604020202020204" pitchFamily="34" charset="0"/>
              <a:buChar char="•"/>
            </a:pPr>
            <a:r>
              <a:rPr lang="pl-PL" sz="2000" dirty="0">
                <a:latin typeface="Arial Narrow" panose="020B0606020202030204" pitchFamily="34" charset="0"/>
              </a:rPr>
              <a:t>pochodną funkcji liniowej jest wartość stała, która nie ma związku z wartością wejściową (x), w związku z tym przy użyciu tej funkcji nie można wykorzystać algorytmu propagacji wstecznej,</a:t>
            </a:r>
          </a:p>
          <a:p>
            <a:pPr marL="180975" indent="-180975">
              <a:buFont typeface="Arial" panose="020B0604020202020204" pitchFamily="34" charset="0"/>
              <a:buChar char="•"/>
            </a:pPr>
            <a:r>
              <a:rPr lang="pl-PL" sz="2000" dirty="0">
                <a:latin typeface="Arial Narrow" panose="020B0606020202030204" pitchFamily="34" charset="0"/>
              </a:rPr>
              <a:t>zastosowanie tej funkcji spowoduje, że wszystkie warstwy sieci neuronowej zredukują się do jednej. Bez względu więc na liczbę warstw, ostatnia nadal będzie liniową funkcją pierwszej. Tak więc, liniowa funkcja aktywacji zamienia sieć neuronową w jedną warstwę.</a:t>
            </a:r>
            <a:endParaRPr lang="pl-PL" sz="2800" dirty="0">
              <a:latin typeface="Arial Narrow" panose="020B0606020202030204" pitchFamily="34" charset="0"/>
            </a:endParaRPr>
          </a:p>
        </p:txBody>
      </p:sp>
    </p:spTree>
    <p:extLst>
      <p:ext uri="{BB962C8B-B14F-4D97-AF65-F5344CB8AC3E}">
        <p14:creationId xmlns:p14="http://schemas.microsoft.com/office/powerpoint/2010/main" val="23490724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41</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4401205"/>
          </a:xfrm>
          <a:prstGeom prst="rect">
            <a:avLst/>
          </a:prstGeom>
        </p:spPr>
        <p:txBody>
          <a:bodyPr wrap="square">
            <a:spAutoFit/>
          </a:bodyPr>
          <a:lstStyle/>
          <a:p>
            <a:r>
              <a:rPr lang="pl-PL" sz="2400" b="1" dirty="0">
                <a:solidFill>
                  <a:srgbClr val="0000FF"/>
                </a:solidFill>
                <a:latin typeface="Arial Narrow" panose="020B0606020202030204" pitchFamily="34" charset="0"/>
                <a:cs typeface="Calibri" panose="020F0502020204030204" pitchFamily="34" charset="0"/>
              </a:rPr>
              <a:t>Nieliniowe funkcje aktywacji</a:t>
            </a:r>
          </a:p>
          <a:p>
            <a:endParaRPr lang="pl-PL" sz="2000" dirty="0">
              <a:latin typeface="Arial Narrow" panose="020B0606020202030204" pitchFamily="34" charset="0"/>
            </a:endParaRPr>
          </a:p>
          <a:p>
            <a:r>
              <a:rPr lang="pl-PL" sz="2400" dirty="0">
                <a:latin typeface="Arial Narrow" panose="020B0606020202030204" pitchFamily="34" charset="0"/>
              </a:rPr>
              <a:t>Nieliniowe funkcje aktywacji rozwiązują następujące ograniczenia funkcji liniowych:</a:t>
            </a:r>
          </a:p>
          <a:p>
            <a:pPr marL="180975" indent="-180975">
              <a:buFont typeface="Arial" panose="020B0604020202020204" pitchFamily="34" charset="0"/>
              <a:buChar char="•"/>
            </a:pPr>
            <a:r>
              <a:rPr lang="pl-PL" sz="2400" dirty="0">
                <a:latin typeface="Arial Narrow" panose="020B0606020202030204" pitchFamily="34" charset="0"/>
              </a:rPr>
              <a:t>umożliwiają wykorzystanie algorytmu propagacji wstecznej, ponieważ ich pochodna jest związana z danymi wejściowymi i możliwe jest wskazanie, które wagi w neuronach wejściowych mogą zapewnić lepszą predykcję,</a:t>
            </a:r>
          </a:p>
          <a:p>
            <a:pPr marL="180975" indent="-180975">
              <a:buFont typeface="Arial" panose="020B0604020202020204" pitchFamily="34" charset="0"/>
              <a:buChar char="•"/>
            </a:pPr>
            <a:r>
              <a:rPr lang="pl-PL" sz="2400" dirty="0">
                <a:latin typeface="Arial Narrow" panose="020B0606020202030204" pitchFamily="34" charset="0"/>
              </a:rPr>
              <a:t>umożliwiają tworzenie sieci wielowarstwowych, ponieważ ich wyjście jest nieliniową kombinacją danych wejściowych przepuszczonych przez wiele warstw. Każde wyjście może być reprezentowane jako wartość funkcji w sieci neuronowej.</a:t>
            </a:r>
          </a:p>
          <a:p>
            <a:endParaRPr lang="pl-PL" sz="2000" dirty="0">
              <a:latin typeface="Arial Narrow" panose="020B0606020202030204" pitchFamily="34" charset="0"/>
            </a:endParaRP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503094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a:extLst>
              <a:ext uri="{FF2B5EF4-FFF2-40B4-BE49-F238E27FC236}">
                <a16:creationId xmlns:a16="http://schemas.microsoft.com/office/drawing/2014/main" id="{A589E598-C0CF-4266-83E5-9B902BCEA171}"/>
              </a:ext>
            </a:extLst>
          </p:cNvPr>
          <p:cNvSpPr>
            <a:spLocks noGrp="1"/>
          </p:cNvSpPr>
          <p:nvPr>
            <p:ph type="sldNum" sz="quarter" idx="12"/>
          </p:nvPr>
        </p:nvSpPr>
        <p:spPr/>
        <p:txBody>
          <a:bodyPr/>
          <a:lstStyle/>
          <a:p>
            <a:fld id="{8FBA5C85-AAD4-47BE-B152-06EBA5423A95}" type="slidenum">
              <a:rPr lang="pl-PL" smtClean="0"/>
              <a:pPr/>
              <a:t>42</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707886"/>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F</a:t>
            </a:r>
            <a:r>
              <a:rPr lang="pl-PL" sz="2000" b="1" dirty="0">
                <a:solidFill>
                  <a:srgbClr val="0000FF"/>
                </a:solidFill>
                <a:latin typeface="Arial Narrow" panose="020B0606020202030204" pitchFamily="34" charset="0"/>
              </a:rPr>
              <a:t>unkcja</a:t>
            </a:r>
            <a:r>
              <a:rPr lang="pl-PL" sz="2000" dirty="0">
                <a:solidFill>
                  <a:srgbClr val="0000FF"/>
                </a:solidFill>
                <a:latin typeface="Arial Narrow" panose="020B0606020202030204" pitchFamily="34" charset="0"/>
              </a:rPr>
              <a:t> </a:t>
            </a:r>
            <a:r>
              <a:rPr lang="pl-PL" sz="2000" b="1" dirty="0">
                <a:solidFill>
                  <a:srgbClr val="0000FF"/>
                </a:solidFill>
                <a:latin typeface="Arial Narrow" panose="020B0606020202030204" pitchFamily="34" charset="0"/>
              </a:rPr>
              <a:t>logistyczna</a:t>
            </a:r>
            <a:r>
              <a:rPr lang="pl-PL" sz="2000" dirty="0">
                <a:latin typeface="Arial Narrow" panose="020B0606020202030204" pitchFamily="34" charset="0"/>
              </a:rPr>
              <a:t>, inaczej </a:t>
            </a:r>
            <a:r>
              <a:rPr lang="pl-PL" sz="2000" b="1" dirty="0">
                <a:solidFill>
                  <a:srgbClr val="0000FF"/>
                </a:solidFill>
                <a:latin typeface="Arial Narrow" panose="020B0606020202030204" pitchFamily="34" charset="0"/>
              </a:rPr>
              <a:t>sigmoidalna</a:t>
            </a:r>
            <a:r>
              <a:rPr lang="pl-PL" sz="2000" dirty="0">
                <a:latin typeface="Arial Narrow" panose="020B0606020202030204" pitchFamily="34" charset="0"/>
              </a:rPr>
              <a:t> – (ang. </a:t>
            </a:r>
            <a:r>
              <a:rPr lang="pl-PL" sz="2000" b="1" i="1" dirty="0">
                <a:latin typeface="Arial Narrow" panose="020B0606020202030204" pitchFamily="34" charset="0"/>
              </a:rPr>
              <a:t>sigmoid/logistic activation function</a:t>
            </a:r>
            <a:r>
              <a:rPr lang="pl-PL" sz="2000" dirty="0">
                <a:latin typeface="Arial Narrow" panose="020B0606020202030204" pitchFamily="34" charset="0"/>
              </a:rPr>
              <a:t>)</a:t>
            </a:r>
          </a:p>
          <a:p>
            <a:r>
              <a:rPr lang="pl-PL" sz="2000" dirty="0">
                <a:latin typeface="Arial Narrow" panose="020B0606020202030204" pitchFamily="34" charset="0"/>
              </a:rPr>
              <a:t>Przekształca wartość wejściową w wartości z zakresu 0-1.</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Rectangle 4">
            <a:extLst>
              <a:ext uri="{FF2B5EF4-FFF2-40B4-BE49-F238E27FC236}">
                <a16:creationId xmlns:a16="http://schemas.microsoft.com/office/drawing/2014/main" id="{C7D00268-5146-4B41-8419-2F63AF741FC0}"/>
              </a:ext>
            </a:extLst>
          </p:cNvPr>
          <p:cNvSpPr/>
          <p:nvPr/>
        </p:nvSpPr>
        <p:spPr>
          <a:xfrm>
            <a:off x="0" y="3810000"/>
            <a:ext cx="9144000" cy="286232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Funkcja logistyczna – własności:</a:t>
            </a:r>
          </a:p>
          <a:p>
            <a:pPr marL="180975" indent="-180975">
              <a:buFont typeface="Arial" panose="020B0604020202020204" pitchFamily="34" charset="0"/>
              <a:buChar char="•"/>
            </a:pPr>
            <a:r>
              <a:rPr lang="pl-PL" sz="2000" dirty="0">
                <a:latin typeface="Arial Narrow" panose="020B0606020202030204" pitchFamily="34" charset="0"/>
              </a:rPr>
              <a:t>jest jedną z najczęściej wykorzystywanych funkcji aktywacji,</a:t>
            </a:r>
          </a:p>
          <a:p>
            <a:pPr marL="180975" indent="-180975">
              <a:buFont typeface="Arial" panose="020B0604020202020204" pitchFamily="34" charset="0"/>
              <a:buChar char="•"/>
            </a:pPr>
            <a:r>
              <a:rPr lang="pl-PL" sz="2000" dirty="0">
                <a:latin typeface="Arial Narrow" panose="020B0606020202030204" pitchFamily="34" charset="0"/>
              </a:rPr>
              <a:t>jest powszechnie używana w modelach, w których należy obliczyć prawdopodobieństwo jako wartość wyjściową, gdyż prawdopodobieństwo jest obliczane w przedziale od 0 do 1,</a:t>
            </a:r>
          </a:p>
          <a:p>
            <a:pPr marL="180975" indent="-180975">
              <a:buFont typeface="Arial" panose="020B0604020202020204" pitchFamily="34" charset="0"/>
              <a:buChar char="•"/>
            </a:pPr>
            <a:r>
              <a:rPr lang="pl-PL" sz="2000" dirty="0">
                <a:latin typeface="Arial Narrow" panose="020B0606020202030204" pitchFamily="34" charset="0"/>
              </a:rPr>
              <a:t>jest różniczkowalna i daje płynną wartość gradientu, tzn. zapobiega skokom wartości wyjściowych. Jest to reprezentowane przez kształt litery S tej funkcji,</a:t>
            </a:r>
          </a:p>
          <a:p>
            <a:pPr marL="180975" indent="-180975">
              <a:buFont typeface="Arial" panose="020B0604020202020204" pitchFamily="34" charset="0"/>
              <a:buChar char="•"/>
            </a:pPr>
            <a:r>
              <a:rPr lang="pl-PL" sz="2000" dirty="0">
                <a:latin typeface="Arial Narrow" panose="020B0606020202030204" pitchFamily="34" charset="0"/>
              </a:rPr>
              <a:t>wyjście nie jest symetryczne wokół zera, zatem wyjścia wszystkich neuronów będą miały ten sam znak. To sprawia, że trening sieci neuronowej jest trudniejszy i niestabilny,</a:t>
            </a:r>
          </a:p>
          <a:p>
            <a:pPr marL="180975" indent="-180975">
              <a:buFont typeface="Arial" panose="020B0604020202020204" pitchFamily="34" charset="0"/>
              <a:buChar char="•"/>
            </a:pPr>
            <a:r>
              <a:rPr lang="pl-PL" sz="2000" dirty="0">
                <a:latin typeface="Arial Narrow" panose="020B0606020202030204" pitchFamily="34" charset="0"/>
              </a:rPr>
              <a:t>dobrze sprawdza się w zadaniach klasyfikacji.</a:t>
            </a:r>
            <a:endParaRPr lang="pl-PL" sz="2800" dirty="0">
              <a:latin typeface="Arial Narrow" panose="020B0606020202030204" pitchFamily="34" charset="0"/>
            </a:endParaRPr>
          </a:p>
        </p:txBody>
      </p:sp>
      <p:pic>
        <p:nvPicPr>
          <p:cNvPr id="7" name="Obraz 6"/>
          <p:cNvPicPr>
            <a:picLocks noChangeAspect="1"/>
          </p:cNvPicPr>
          <p:nvPr/>
        </p:nvPicPr>
        <p:blipFill>
          <a:blip r:embed="rId2"/>
          <a:stretch>
            <a:fillRect/>
          </a:stretch>
        </p:blipFill>
        <p:spPr>
          <a:xfrm>
            <a:off x="152400" y="1209914"/>
            <a:ext cx="3305175" cy="2335072"/>
          </a:xfrm>
          <a:prstGeom prst="rect">
            <a:avLst/>
          </a:prstGeom>
        </p:spPr>
      </p:pic>
      <p:pic>
        <p:nvPicPr>
          <p:cNvPr id="8" name="Obraz 7"/>
          <p:cNvPicPr>
            <a:picLocks noChangeAspect="1"/>
          </p:cNvPicPr>
          <p:nvPr/>
        </p:nvPicPr>
        <p:blipFill>
          <a:blip r:embed="rId3"/>
          <a:stretch>
            <a:fillRect/>
          </a:stretch>
        </p:blipFill>
        <p:spPr>
          <a:xfrm>
            <a:off x="5181600" y="1600200"/>
            <a:ext cx="2724150" cy="1162050"/>
          </a:xfrm>
          <a:prstGeom prst="rect">
            <a:avLst/>
          </a:prstGeom>
        </p:spPr>
      </p:pic>
    </p:spTree>
    <p:extLst>
      <p:ext uri="{BB962C8B-B14F-4D97-AF65-F5344CB8AC3E}">
        <p14:creationId xmlns:p14="http://schemas.microsoft.com/office/powerpoint/2010/main" val="677615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43</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1323439"/>
          </a:xfrm>
          <a:prstGeom prst="rect">
            <a:avLst/>
          </a:prstGeom>
        </p:spPr>
        <p:txBody>
          <a:bodyPr wrap="square">
            <a:spAutoFit/>
          </a:bodyPr>
          <a:lstStyle/>
          <a:p>
            <a:r>
              <a:rPr lang="pl-PL" sz="2000" b="1" dirty="0">
                <a:solidFill>
                  <a:srgbClr val="0000FF"/>
                </a:solidFill>
                <a:latin typeface="Arial Narrow" panose="020B0606020202030204" pitchFamily="34" charset="0"/>
              </a:rPr>
              <a:t>Tangens hiperboliczny</a:t>
            </a:r>
            <a:r>
              <a:rPr lang="pl-PL" sz="2000" dirty="0">
                <a:latin typeface="Arial Narrow" panose="020B0606020202030204" pitchFamily="34" charset="0"/>
              </a:rPr>
              <a:t> (ang. </a:t>
            </a:r>
            <a:r>
              <a:rPr lang="pl-PL" sz="2000" b="1" i="1" dirty="0">
                <a:latin typeface="Arial Narrow" panose="020B0606020202030204" pitchFamily="34" charset="0"/>
              </a:rPr>
              <a:t>hyperbolic tangent</a:t>
            </a:r>
            <a:r>
              <a:rPr lang="pl-PL" sz="2000" dirty="0">
                <a:latin typeface="Arial Narrow" panose="020B0606020202030204" pitchFamily="34" charset="0"/>
              </a:rPr>
              <a:t>, </a:t>
            </a:r>
            <a:r>
              <a:rPr lang="pl-PL" sz="2000" b="1" dirty="0">
                <a:latin typeface="Arial Narrow" panose="020B0606020202030204" pitchFamily="34" charset="0"/>
              </a:rPr>
              <a:t>tanh</a:t>
            </a:r>
            <a:r>
              <a:rPr lang="pl-PL" sz="2000" dirty="0">
                <a:latin typeface="Arial Narrow" panose="020B0606020202030204" pitchFamily="34" charset="0"/>
              </a:rPr>
              <a:t>)</a:t>
            </a:r>
          </a:p>
          <a:p>
            <a:r>
              <a:rPr lang="pl-PL" sz="2000" dirty="0">
                <a:latin typeface="Arial Narrow" panose="020B0606020202030204" pitchFamily="34" charset="0"/>
              </a:rPr>
              <a:t>Przypomina funkcję sigmoidalną. Różni się od niej zakresem osi rzędnych (od –1 do 1), i jest od niej węższa. Dzięki temu ma większe pochodne, przez co minimalizuje błąd funkcji kosztu szybciej niż funkcja sigmoidalna.</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Obraz 6"/>
          <p:cNvPicPr>
            <a:picLocks noChangeAspect="1"/>
          </p:cNvPicPr>
          <p:nvPr/>
        </p:nvPicPr>
        <p:blipFill>
          <a:blip r:embed="rId2"/>
          <a:stretch>
            <a:fillRect/>
          </a:stretch>
        </p:blipFill>
        <p:spPr>
          <a:xfrm>
            <a:off x="5105400" y="2286000"/>
            <a:ext cx="2819400" cy="1272758"/>
          </a:xfrm>
          <a:prstGeom prst="rect">
            <a:avLst/>
          </a:prstGeom>
        </p:spPr>
      </p:pic>
      <p:sp>
        <p:nvSpPr>
          <p:cNvPr id="8" name="Rectangle 4">
            <a:extLst>
              <a:ext uri="{FF2B5EF4-FFF2-40B4-BE49-F238E27FC236}">
                <a16:creationId xmlns:a16="http://schemas.microsoft.com/office/drawing/2014/main" id="{C7D00268-5146-4B41-8419-2F63AF741FC0}"/>
              </a:ext>
            </a:extLst>
          </p:cNvPr>
          <p:cNvSpPr/>
          <p:nvPr/>
        </p:nvSpPr>
        <p:spPr>
          <a:xfrm>
            <a:off x="0" y="4315361"/>
            <a:ext cx="9144000" cy="193899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Tangens hiperboliczny – własności:</a:t>
            </a:r>
          </a:p>
          <a:p>
            <a:pPr marL="180975" indent="-180975">
              <a:buFont typeface="Arial" panose="020B0604020202020204" pitchFamily="34" charset="0"/>
              <a:buChar char="•"/>
            </a:pPr>
            <a:r>
              <a:rPr lang="pl-PL" sz="2000" dirty="0">
                <a:latin typeface="Arial Narrow" panose="020B0606020202030204" pitchFamily="34" charset="0"/>
              </a:rPr>
              <a:t>wyjście jest symetryczne wokół zera, dzięki czemu można łatwo mapować wartości wyjściowe jako silnie negatywne, neutralne lub silnie pozytywne,</a:t>
            </a:r>
            <a:endParaRPr lang="pl-PL" sz="2800" dirty="0">
              <a:latin typeface="Arial Narrow" panose="020B0606020202030204" pitchFamily="34" charset="0"/>
            </a:endParaRPr>
          </a:p>
          <a:p>
            <a:pPr marL="180975" indent="-180975">
              <a:buFont typeface="Arial" panose="020B0604020202020204" pitchFamily="34" charset="0"/>
              <a:buChar char="•"/>
            </a:pPr>
            <a:r>
              <a:rPr lang="pl-PL" sz="2000" dirty="0">
                <a:latin typeface="Arial Narrow" panose="020B0606020202030204" pitchFamily="34" charset="0"/>
              </a:rPr>
              <a:t>często stosowana w warstwach ukrytych sieci neuronowej, ponieważ jej wartości mieszczą się w przedziale od –1 do 1, dlatego średnia dla warstwy ukrytej wynosi 0 lub jest bardzo do niej zbliżona. Pomaga to w centrowaniu danych i ułatwia uczenie dla następnej warstwy.</a:t>
            </a:r>
          </a:p>
        </p:txBody>
      </p:sp>
      <p:pic>
        <p:nvPicPr>
          <p:cNvPr id="9" name="Obraz 8"/>
          <p:cNvPicPr>
            <a:picLocks noChangeAspect="1"/>
          </p:cNvPicPr>
          <p:nvPr/>
        </p:nvPicPr>
        <p:blipFill>
          <a:blip r:embed="rId3"/>
          <a:stretch>
            <a:fillRect/>
          </a:stretch>
        </p:blipFill>
        <p:spPr>
          <a:xfrm>
            <a:off x="762000" y="1704182"/>
            <a:ext cx="2843212" cy="2436393"/>
          </a:xfrm>
          <a:prstGeom prst="rect">
            <a:avLst/>
          </a:prstGeom>
        </p:spPr>
      </p:pic>
    </p:spTree>
    <p:extLst>
      <p:ext uri="{BB962C8B-B14F-4D97-AF65-F5344CB8AC3E}">
        <p14:creationId xmlns:p14="http://schemas.microsoft.com/office/powerpoint/2010/main" val="706503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44</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1323439"/>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R</a:t>
            </a:r>
            <a:r>
              <a:rPr lang="pl-PL" sz="2000" b="1" dirty="0">
                <a:solidFill>
                  <a:srgbClr val="0000FF"/>
                </a:solidFill>
                <a:latin typeface="Arial Narrow" panose="020B0606020202030204" pitchFamily="34" charset="0"/>
              </a:rPr>
              <a:t>ektyfikator</a:t>
            </a:r>
            <a:r>
              <a:rPr lang="pl-PL" sz="2000" dirty="0">
                <a:latin typeface="Arial Narrow" panose="020B0606020202030204" pitchFamily="34" charset="0"/>
              </a:rPr>
              <a:t> (ang. </a:t>
            </a:r>
            <a:r>
              <a:rPr lang="pl-PL" sz="2000" b="1" i="1" dirty="0">
                <a:latin typeface="Arial Narrow" panose="020B0606020202030204" pitchFamily="34" charset="0"/>
              </a:rPr>
              <a:t>Rectified Linear Unit</a:t>
            </a:r>
            <a:r>
              <a:rPr lang="pl-PL" sz="2000" i="1" dirty="0">
                <a:latin typeface="Arial Narrow" panose="020B0606020202030204" pitchFamily="34" charset="0"/>
              </a:rPr>
              <a:t> – </a:t>
            </a:r>
            <a:r>
              <a:rPr lang="pl-PL" sz="2000" b="1" dirty="0">
                <a:latin typeface="Arial Narrow" panose="020B0606020202030204" pitchFamily="34" charset="0"/>
              </a:rPr>
              <a:t>ReLU</a:t>
            </a:r>
            <a:r>
              <a:rPr lang="pl-PL" sz="2000" dirty="0">
                <a:latin typeface="Arial Narrow" panose="020B0606020202030204" pitchFamily="34" charset="0"/>
              </a:rPr>
              <a:t>)</a:t>
            </a:r>
          </a:p>
          <a:p>
            <a:r>
              <a:rPr lang="pl-PL" sz="2000" dirty="0">
                <a:latin typeface="Arial Narrow" panose="020B0606020202030204" pitchFamily="34" charset="0"/>
              </a:rPr>
              <a:t>Przybiera wartość (0, x), dzięki czemu zeruje wartości ujemne. </a:t>
            </a:r>
          </a:p>
          <a:p>
            <a:r>
              <a:rPr lang="pl-PL" sz="2000" dirty="0">
                <a:latin typeface="Arial Narrow" panose="020B0606020202030204" pitchFamily="34" charset="0"/>
              </a:rPr>
              <a:t>Chociaż sprawia wrażenie funkcji liniowej, posiada funkcję pochodnej i pozwala na wsteczną propagację. </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Obraz 4"/>
          <p:cNvPicPr>
            <a:picLocks noChangeAspect="1"/>
          </p:cNvPicPr>
          <p:nvPr/>
        </p:nvPicPr>
        <p:blipFill>
          <a:blip r:embed="rId2"/>
          <a:stretch>
            <a:fillRect/>
          </a:stretch>
        </p:blipFill>
        <p:spPr>
          <a:xfrm>
            <a:off x="587775" y="1600200"/>
            <a:ext cx="3141262" cy="2578853"/>
          </a:xfrm>
          <a:prstGeom prst="rect">
            <a:avLst/>
          </a:prstGeom>
        </p:spPr>
      </p:pic>
      <p:pic>
        <p:nvPicPr>
          <p:cNvPr id="8" name="Obraz 7"/>
          <p:cNvPicPr>
            <a:picLocks noChangeAspect="1"/>
          </p:cNvPicPr>
          <p:nvPr/>
        </p:nvPicPr>
        <p:blipFill>
          <a:blip r:embed="rId3"/>
          <a:stretch>
            <a:fillRect/>
          </a:stretch>
        </p:blipFill>
        <p:spPr>
          <a:xfrm>
            <a:off x="4895850" y="2398465"/>
            <a:ext cx="3486150" cy="781050"/>
          </a:xfrm>
          <a:prstGeom prst="rect">
            <a:avLst/>
          </a:prstGeom>
        </p:spPr>
      </p:pic>
    </p:spTree>
    <p:extLst>
      <p:ext uri="{BB962C8B-B14F-4D97-AF65-F5344CB8AC3E}">
        <p14:creationId xmlns:p14="http://schemas.microsoft.com/office/powerpoint/2010/main" val="1739069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45</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2554545"/>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ReLU – własności:</a:t>
            </a:r>
          </a:p>
          <a:p>
            <a:pPr marL="180975" indent="-180975">
              <a:buFont typeface="Arial" panose="020B0604020202020204" pitchFamily="34" charset="0"/>
              <a:buChar char="•"/>
            </a:pPr>
            <a:r>
              <a:rPr lang="pl-PL" sz="2000" dirty="0">
                <a:latin typeface="Arial Narrow" panose="020B0606020202030204" pitchFamily="34" charset="0"/>
              </a:rPr>
              <a:t>ponieważ aktywuje tylko pewną liczbę neuronów, jest wydajniejsza obliczeniowo (szybsza) w porównaniu z funkcjami sigmoid i tanh,</a:t>
            </a:r>
          </a:p>
          <a:p>
            <a:pPr marL="180975" indent="-180975">
              <a:buFont typeface="Arial" panose="020B0604020202020204" pitchFamily="34" charset="0"/>
              <a:buChar char="•"/>
            </a:pPr>
            <a:r>
              <a:rPr lang="pl-PL" sz="2000" dirty="0">
                <a:latin typeface="Arial Narrow" panose="020B0606020202030204" pitchFamily="34" charset="0"/>
              </a:rPr>
              <a:t>przyspiesza zejście gradientowe w kierunku globalnego minimum funkcji straty dzięki liniowej własności,</a:t>
            </a:r>
          </a:p>
          <a:p>
            <a:pPr marL="180975" indent="-180975">
              <a:buFont typeface="Arial" panose="020B0604020202020204" pitchFamily="34" charset="0"/>
              <a:buChar char="•"/>
            </a:pPr>
            <a:r>
              <a:rPr lang="pl-PL" sz="2000" dirty="0">
                <a:latin typeface="Arial Narrow" panose="020B0606020202030204" pitchFamily="34" charset="0"/>
              </a:rPr>
              <a:t>podczas procesu wstecznej propagacji wagi dla niektórych neuronów nie są aktualizowane. Może to spowodować powstanie martwych neuronów, które nigdy nie zostaną uaktywnione,</a:t>
            </a:r>
          </a:p>
          <a:p>
            <a:pPr marL="180975" indent="-180975">
              <a:buFont typeface="Arial" panose="020B0604020202020204" pitchFamily="34" charset="0"/>
              <a:buChar char="•"/>
            </a:pPr>
            <a:r>
              <a:rPr lang="pl-PL" sz="2000" dirty="0">
                <a:latin typeface="Arial Narrow" panose="020B0606020202030204" pitchFamily="34" charset="0"/>
              </a:rPr>
              <a:t>dobrze sprawdza się w zadaniach regresji.</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924103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46</a:t>
            </a:fld>
            <a:endParaRPr lang="pl-PL" dirty="0"/>
          </a:p>
        </p:txBody>
      </p:sp>
      <p:sp>
        <p:nvSpPr>
          <p:cNvPr id="3"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Rectangle 4">
            <a:extLst>
              <a:ext uri="{FF2B5EF4-FFF2-40B4-BE49-F238E27FC236}">
                <a16:creationId xmlns:a16="http://schemas.microsoft.com/office/drawing/2014/main" id="{C7D00268-5146-4B41-8419-2F63AF741FC0}"/>
              </a:ext>
            </a:extLst>
          </p:cNvPr>
          <p:cNvSpPr/>
          <p:nvPr/>
        </p:nvSpPr>
        <p:spPr>
          <a:xfrm>
            <a:off x="0" y="304800"/>
            <a:ext cx="9144000" cy="400110"/>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Wersje ReLU:</a:t>
            </a:r>
          </a:p>
        </p:txBody>
      </p:sp>
      <p:pic>
        <p:nvPicPr>
          <p:cNvPr id="5" name="Obraz 4"/>
          <p:cNvPicPr>
            <a:picLocks noChangeAspect="1"/>
          </p:cNvPicPr>
          <p:nvPr/>
        </p:nvPicPr>
        <p:blipFill>
          <a:blip r:embed="rId2"/>
          <a:stretch>
            <a:fillRect/>
          </a:stretch>
        </p:blipFill>
        <p:spPr>
          <a:xfrm>
            <a:off x="19050" y="685800"/>
            <a:ext cx="2746094" cy="1981200"/>
          </a:xfrm>
          <a:prstGeom prst="rect">
            <a:avLst/>
          </a:prstGeom>
        </p:spPr>
      </p:pic>
      <p:sp>
        <p:nvSpPr>
          <p:cNvPr id="6" name="Rectangle 4">
            <a:extLst>
              <a:ext uri="{FF2B5EF4-FFF2-40B4-BE49-F238E27FC236}">
                <a16:creationId xmlns:a16="http://schemas.microsoft.com/office/drawing/2014/main" id="{C7D00268-5146-4B41-8419-2F63AF741FC0}"/>
              </a:ext>
            </a:extLst>
          </p:cNvPr>
          <p:cNvSpPr/>
          <p:nvPr/>
        </p:nvSpPr>
        <p:spPr>
          <a:xfrm>
            <a:off x="2895600" y="762000"/>
            <a:ext cx="6172200" cy="1323439"/>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Leaky ReLU</a:t>
            </a:r>
            <a:endParaRPr lang="pl-PL" sz="2000" b="1"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Ulepszona wersja ReLU, rozwiązuje problem zanikających neuronów, ponieważ ma małe dodatnie nachylenie w obszarze ujemnym.</a:t>
            </a:r>
          </a:p>
        </p:txBody>
      </p:sp>
      <p:pic>
        <p:nvPicPr>
          <p:cNvPr id="7" name="Obraz 6"/>
          <p:cNvPicPr>
            <a:picLocks noChangeAspect="1"/>
          </p:cNvPicPr>
          <p:nvPr/>
        </p:nvPicPr>
        <p:blipFill>
          <a:blip r:embed="rId3"/>
          <a:stretch>
            <a:fillRect/>
          </a:stretch>
        </p:blipFill>
        <p:spPr>
          <a:xfrm>
            <a:off x="187465" y="2895600"/>
            <a:ext cx="2661786" cy="1752600"/>
          </a:xfrm>
          <a:prstGeom prst="rect">
            <a:avLst/>
          </a:prstGeom>
        </p:spPr>
      </p:pic>
      <p:sp>
        <p:nvSpPr>
          <p:cNvPr id="8" name="Rectangle 4">
            <a:extLst>
              <a:ext uri="{FF2B5EF4-FFF2-40B4-BE49-F238E27FC236}">
                <a16:creationId xmlns:a16="http://schemas.microsoft.com/office/drawing/2014/main" id="{C7D00268-5146-4B41-8419-2F63AF741FC0}"/>
              </a:ext>
            </a:extLst>
          </p:cNvPr>
          <p:cNvSpPr/>
          <p:nvPr/>
        </p:nvSpPr>
        <p:spPr>
          <a:xfrm>
            <a:off x="2895600" y="2791361"/>
            <a:ext cx="6172200" cy="1323439"/>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Parametric ReLU</a:t>
            </a:r>
            <a:endParaRPr lang="pl-PL" sz="2000" b="1"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Sparametryzowana funkcja ReLU jest używana, Leaky ReLU nie rozwiązuje problemu martwych neuronów, a istotne informacje nie są skutecznie przekazywane do następnej warstwy.</a:t>
            </a:r>
          </a:p>
        </p:txBody>
      </p:sp>
      <p:pic>
        <p:nvPicPr>
          <p:cNvPr id="9" name="Obraz 8"/>
          <p:cNvPicPr>
            <a:picLocks noChangeAspect="1"/>
          </p:cNvPicPr>
          <p:nvPr/>
        </p:nvPicPr>
        <p:blipFill>
          <a:blip r:embed="rId4"/>
          <a:stretch>
            <a:fillRect/>
          </a:stretch>
        </p:blipFill>
        <p:spPr>
          <a:xfrm>
            <a:off x="187465" y="4905315"/>
            <a:ext cx="2738950" cy="1595304"/>
          </a:xfrm>
          <a:prstGeom prst="rect">
            <a:avLst/>
          </a:prstGeom>
        </p:spPr>
      </p:pic>
      <p:sp>
        <p:nvSpPr>
          <p:cNvPr id="10" name="Rectangle 4">
            <a:extLst>
              <a:ext uri="{FF2B5EF4-FFF2-40B4-BE49-F238E27FC236}">
                <a16:creationId xmlns:a16="http://schemas.microsoft.com/office/drawing/2014/main" id="{C7D00268-5146-4B41-8419-2F63AF741FC0}"/>
              </a:ext>
            </a:extLst>
          </p:cNvPr>
          <p:cNvSpPr/>
          <p:nvPr/>
        </p:nvSpPr>
        <p:spPr>
          <a:xfrm>
            <a:off x="2895600" y="4724400"/>
            <a:ext cx="6172200" cy="1631216"/>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Exponential Linear Units (ELU)</a:t>
            </a:r>
            <a:endParaRPr lang="pl-PL" sz="2000" b="1"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Rozwiązuje problem zanikających neuronów występujący w ReLU poprzez wprowadzenie krzywej logarytmicznej dla ujemnych wartości danych wejściowych. Pomaga to sieci kierować wagi i skosy we właściwym kierunku.</a:t>
            </a:r>
          </a:p>
        </p:txBody>
      </p:sp>
    </p:spTree>
    <p:extLst>
      <p:ext uri="{BB962C8B-B14F-4D97-AF65-F5344CB8AC3E}">
        <p14:creationId xmlns:p14="http://schemas.microsoft.com/office/powerpoint/2010/main" val="898445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47</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1323439"/>
          </a:xfrm>
          <a:prstGeom prst="rect">
            <a:avLst/>
          </a:prstGeom>
        </p:spPr>
        <p:txBody>
          <a:bodyPr wrap="square">
            <a:spAutoFit/>
          </a:bodyPr>
          <a:lstStyle/>
          <a:p>
            <a:r>
              <a:rPr lang="pl-PL" sz="2000" b="1">
                <a:solidFill>
                  <a:srgbClr val="0000FF"/>
                </a:solidFill>
                <a:latin typeface="Arial Narrow" panose="020B0606020202030204" pitchFamily="34" charset="0"/>
                <a:cs typeface="Calibri" panose="020F0502020204030204" pitchFamily="34" charset="0"/>
              </a:rPr>
              <a:t>Softmax</a:t>
            </a:r>
            <a:endParaRPr lang="pl-PL" sz="2000" dirty="0">
              <a:latin typeface="Arial Narrow" panose="020B0606020202030204" pitchFamily="34" charset="0"/>
            </a:endParaRPr>
          </a:p>
          <a:p>
            <a:r>
              <a:rPr lang="pl-PL" sz="2000" dirty="0">
                <a:latin typeface="Arial Narrow" panose="020B0606020202030204" pitchFamily="34" charset="0"/>
              </a:rPr>
              <a:t>Jest kombinacją wielu sigmoidów.</a:t>
            </a:r>
          </a:p>
          <a:p>
            <a:r>
              <a:rPr lang="pl-PL" sz="2000" dirty="0">
                <a:latin typeface="Arial Narrow" panose="020B0606020202030204" pitchFamily="34" charset="0"/>
              </a:rPr>
              <a:t>Jest najczęściej stosowana jako funkcja aktywacji dla ostatniej warstwy sieci neuronowej w przypadku klasyfikacji wieloklasowej.</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Obraz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92760"/>
            <a:ext cx="3429000" cy="2203040"/>
          </a:xfrm>
          <a:prstGeom prst="rect">
            <a:avLst/>
          </a:prstGeom>
        </p:spPr>
      </p:pic>
      <p:pic>
        <p:nvPicPr>
          <p:cNvPr id="6" name="Obraz 5"/>
          <p:cNvPicPr>
            <a:picLocks noChangeAspect="1"/>
          </p:cNvPicPr>
          <p:nvPr/>
        </p:nvPicPr>
        <p:blipFill>
          <a:blip r:embed="rId3"/>
          <a:stretch>
            <a:fillRect/>
          </a:stretch>
        </p:blipFill>
        <p:spPr>
          <a:xfrm>
            <a:off x="4419600" y="2804074"/>
            <a:ext cx="3509962" cy="1237069"/>
          </a:xfrm>
          <a:prstGeom prst="rect">
            <a:avLst/>
          </a:prstGeom>
        </p:spPr>
      </p:pic>
    </p:spTree>
    <p:extLst>
      <p:ext uri="{BB962C8B-B14F-4D97-AF65-F5344CB8AC3E}">
        <p14:creationId xmlns:p14="http://schemas.microsoft.com/office/powerpoint/2010/main" val="371998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48</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3477875"/>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Inne funkcje aktywacji:</a:t>
            </a:r>
          </a:p>
          <a:p>
            <a:r>
              <a:rPr lang="pl-PL" sz="2000" b="1" dirty="0">
                <a:solidFill>
                  <a:srgbClr val="0000FF"/>
                </a:solidFill>
                <a:latin typeface="Arial Narrow" panose="020B0606020202030204" pitchFamily="34" charset="0"/>
              </a:rPr>
              <a:t>Swish					Scalled Exponential Linear Unit (SELU)</a:t>
            </a: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pPr marL="173038" indent="-173038">
              <a:buFont typeface="Arial" panose="020B0604020202020204" pitchFamily="34" charset="0"/>
              <a:buChar char="•"/>
            </a:pPr>
            <a:endParaRPr lang="pl-PL" sz="2000" dirty="0">
              <a:latin typeface="Arial Narrow" panose="020B0606020202030204" pitchFamily="34" charset="0"/>
            </a:endParaRPr>
          </a:p>
          <a:p>
            <a:r>
              <a:rPr lang="pl-PL" sz="2000" b="1" dirty="0">
                <a:solidFill>
                  <a:srgbClr val="0000FF"/>
                </a:solidFill>
                <a:latin typeface="Arial Narrow" panose="020B0606020202030204" pitchFamily="34" charset="0"/>
              </a:rPr>
              <a:t>Gaussian Error Linear Unit (GELU)		</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Obraz 4"/>
          <p:cNvPicPr>
            <a:picLocks noChangeAspect="1"/>
          </p:cNvPicPr>
          <p:nvPr/>
        </p:nvPicPr>
        <p:blipFill>
          <a:blip r:embed="rId2"/>
          <a:stretch>
            <a:fillRect/>
          </a:stretch>
        </p:blipFill>
        <p:spPr>
          <a:xfrm>
            <a:off x="609600" y="1066800"/>
            <a:ext cx="2775786" cy="1866900"/>
          </a:xfrm>
          <a:prstGeom prst="rect">
            <a:avLst/>
          </a:prstGeom>
        </p:spPr>
      </p:pic>
      <p:pic>
        <p:nvPicPr>
          <p:cNvPr id="6" name="Obraz 5"/>
          <p:cNvPicPr>
            <a:picLocks noChangeAspect="1"/>
          </p:cNvPicPr>
          <p:nvPr/>
        </p:nvPicPr>
        <p:blipFill>
          <a:blip r:embed="rId3"/>
          <a:stretch>
            <a:fillRect/>
          </a:stretch>
        </p:blipFill>
        <p:spPr>
          <a:xfrm>
            <a:off x="361950" y="3733800"/>
            <a:ext cx="3333750" cy="2500313"/>
          </a:xfrm>
          <a:prstGeom prst="rect">
            <a:avLst/>
          </a:prstGeom>
        </p:spPr>
      </p:pic>
      <p:pic>
        <p:nvPicPr>
          <p:cNvPr id="7" name="Obraz 6"/>
          <p:cNvPicPr>
            <a:picLocks noChangeAspect="1"/>
          </p:cNvPicPr>
          <p:nvPr/>
        </p:nvPicPr>
        <p:blipFill>
          <a:blip r:embed="rId4"/>
          <a:stretch>
            <a:fillRect/>
          </a:stretch>
        </p:blipFill>
        <p:spPr>
          <a:xfrm>
            <a:off x="4876800" y="1138237"/>
            <a:ext cx="2209800" cy="1950301"/>
          </a:xfrm>
          <a:prstGeom prst="rect">
            <a:avLst/>
          </a:prstGeom>
        </p:spPr>
      </p:pic>
    </p:spTree>
    <p:extLst>
      <p:ext uri="{BB962C8B-B14F-4D97-AF65-F5344CB8AC3E}">
        <p14:creationId xmlns:p14="http://schemas.microsoft.com/office/powerpoint/2010/main" val="17224877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49</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1138535"/>
            <a:ext cx="3494314" cy="830997"/>
          </a:xfrm>
          <a:prstGeom prst="rect">
            <a:avLst/>
          </a:prstGeom>
        </p:spPr>
        <p:txBody>
          <a:bodyPr wrap="square">
            <a:spAutoFit/>
          </a:bodyPr>
          <a:lstStyle/>
          <a:p>
            <a:r>
              <a:rPr lang="pl-PL" sz="2400" b="1" dirty="0">
                <a:solidFill>
                  <a:srgbClr val="0000FF"/>
                </a:solidFill>
                <a:latin typeface="Arial Narrow" panose="020B0606020202030204" pitchFamily="34" charset="0"/>
                <a:cs typeface="Calibri" panose="020F0502020204030204" pitchFamily="34" charset="0"/>
              </a:rPr>
              <a:t>Zestawienie wybranych funkcji aktywacji</a:t>
            </a:r>
          </a:p>
        </p:txBody>
      </p:sp>
      <p:sp>
        <p:nvSpPr>
          <p:cNvPr id="5" name="Prostokąt 4">
            <a:extLst>
              <a:ext uri="{FF2B5EF4-FFF2-40B4-BE49-F238E27FC236}">
                <a16:creationId xmlns:a16="http://schemas.microsoft.com/office/drawing/2014/main" id="{27C14A22-0610-4873-96D9-29769ABE6D47}"/>
              </a:ext>
            </a:extLst>
          </p:cNvPr>
          <p:cNvSpPr/>
          <p:nvPr/>
        </p:nvSpPr>
        <p:spPr>
          <a:xfrm>
            <a:off x="-9525" y="6273225"/>
            <a:ext cx="6389914" cy="584775"/>
          </a:xfrm>
          <a:prstGeom prst="rect">
            <a:avLst/>
          </a:prstGeom>
        </p:spPr>
        <p:txBody>
          <a:bodyPr wrap="square">
            <a:spAutoFit/>
          </a:bodyPr>
          <a:lstStyle/>
          <a:p>
            <a:r>
              <a:rPr lang="pl-PL" sz="1600" dirty="0">
                <a:latin typeface="Arial Narrow" panose="020B0606020202030204" pitchFamily="34" charset="0"/>
                <a:cs typeface="Calibri" panose="020F0502020204030204" pitchFamily="34" charset="0"/>
                <a:hlinkClick r:id="rId2"/>
              </a:rPr>
              <a:t>https://www.v7labs.com/blog/neural-networks-activation-functions</a:t>
            </a:r>
            <a:endParaRPr lang="pl-PL" sz="1600" dirty="0">
              <a:latin typeface="Arial Narrow" panose="020B0606020202030204" pitchFamily="34" charset="0"/>
              <a:cs typeface="Calibri" panose="020F0502020204030204" pitchFamily="34" charset="0"/>
            </a:endParaRPr>
          </a:p>
          <a:p>
            <a:r>
              <a:rPr lang="pl-PL" sz="1600" dirty="0">
                <a:latin typeface="Arial Narrow" panose="020B0606020202030204" pitchFamily="34" charset="0"/>
                <a:hlinkClick r:id="rId3"/>
              </a:rPr>
              <a:t>https://ml-cheatsheet.readthedocs.io/en/latest/activation_functions.html</a:t>
            </a:r>
            <a:endParaRPr lang="pl-PL" sz="1600" dirty="0">
              <a:latin typeface="Arial Narrow" panose="020B0606020202030204" pitchFamily="34" charset="0"/>
              <a:cs typeface="Calibri" panose="020F0502020204030204" pitchFamily="34" charset="0"/>
            </a:endParaRPr>
          </a:p>
        </p:txBody>
      </p:sp>
      <p:pic>
        <p:nvPicPr>
          <p:cNvPr id="6" name="Obraz 5"/>
          <p:cNvPicPr>
            <a:picLocks noChangeAspect="1"/>
          </p:cNvPicPr>
          <p:nvPr/>
        </p:nvPicPr>
        <p:blipFill>
          <a:blip r:embed="rId4"/>
          <a:stretch>
            <a:fillRect/>
          </a:stretch>
        </p:blipFill>
        <p:spPr>
          <a:xfrm>
            <a:off x="3586163" y="9525"/>
            <a:ext cx="5253037" cy="6305288"/>
          </a:xfrm>
          <a:prstGeom prst="rect">
            <a:avLst/>
          </a:prstGeom>
        </p:spPr>
      </p:pic>
    </p:spTree>
    <p:extLst>
      <p:ext uri="{BB962C8B-B14F-4D97-AF65-F5344CB8AC3E}">
        <p14:creationId xmlns:p14="http://schemas.microsoft.com/office/powerpoint/2010/main" val="319221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50</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3554819"/>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Wybór funkcji aktywacji w </a:t>
            </a:r>
            <a:r>
              <a:rPr lang="pl-PL" sz="2000" b="1" dirty="0">
                <a:solidFill>
                  <a:srgbClr val="FF0000"/>
                </a:solidFill>
                <a:latin typeface="Arial Narrow" panose="020B0606020202030204" pitchFamily="34" charset="0"/>
                <a:cs typeface="Calibri" panose="020F0502020204030204" pitchFamily="34" charset="0"/>
              </a:rPr>
              <a:t>warstwach ukrytych</a:t>
            </a:r>
            <a:r>
              <a:rPr lang="pl-PL" sz="2000" b="1" dirty="0">
                <a:solidFill>
                  <a:srgbClr val="000000"/>
                </a:solidFill>
                <a:latin typeface="Arial Narrow" panose="020B0606020202030204" pitchFamily="34" charset="0"/>
                <a:cs typeface="Calibri" panose="020F0502020204030204" pitchFamily="34" charset="0"/>
              </a:rPr>
              <a:t>:</a:t>
            </a:r>
          </a:p>
          <a:p>
            <a:pPr marL="180975" indent="-180975">
              <a:spcBef>
                <a:spcPts val="60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jedne funkcje aktywacji lepiej sprawdzają się w warstwach ukrytych, inne w warstwie wyjściowej,</a:t>
            </a:r>
          </a:p>
          <a:p>
            <a:pPr marL="180975" indent="-180975">
              <a:spcBef>
                <a:spcPts val="600"/>
              </a:spcBef>
              <a:buFont typeface="Arial" panose="020B0604020202020204" pitchFamily="34" charset="0"/>
              <a:buChar char="•"/>
            </a:pPr>
            <a:r>
              <a:rPr lang="pl-PL" sz="2000" dirty="0">
                <a:latin typeface="Arial Narrow" panose="020B0606020202030204" pitchFamily="34" charset="0"/>
              </a:rPr>
              <a:t>zwykle wykorzystuje się tę samą funkcję aktywacji we wszystkich warstwach ukrytych,</a:t>
            </a:r>
          </a:p>
          <a:p>
            <a:pPr marL="180975" indent="-180975">
              <a:spcBef>
                <a:spcPts val="60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funkcję aktywacji dobiera się do rodzaju problemu,</a:t>
            </a:r>
          </a:p>
          <a:p>
            <a:pPr marL="180975" indent="-180975">
              <a:spcBef>
                <a:spcPts val="60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funkcja aktywacji ReLU jest najczęściej używaną funkcją w warstwach ukrytych i nie powinna być używana w warstwie wyjściowej; jedna z zasad mówi, że należy zacząć od użycia w warstwach ukrytych funkcji aktywacji ReLU, a następnie próbować wybierać inne funkcje, jeśli ReLU nie zapewnia optymalnych wyników,</a:t>
            </a:r>
          </a:p>
          <a:p>
            <a:pPr marL="180975" indent="-180975">
              <a:spcBef>
                <a:spcPts val="60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funkcja Swish jest stosowana w sieciach neuronowych o głębokości powyżej 40 warstw,</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641775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51</a:t>
            </a:fld>
            <a:endParaRPr lang="pl-PL" dirty="0"/>
          </a:p>
        </p:txBody>
      </p:sp>
      <p:pic>
        <p:nvPicPr>
          <p:cNvPr id="3" name="Obraz 2"/>
          <p:cNvPicPr>
            <a:picLocks noChangeAspect="1"/>
          </p:cNvPicPr>
          <p:nvPr/>
        </p:nvPicPr>
        <p:blipFill>
          <a:blip r:embed="rId3"/>
          <a:stretch>
            <a:fillRect/>
          </a:stretch>
        </p:blipFill>
        <p:spPr>
          <a:xfrm>
            <a:off x="1323975" y="2381250"/>
            <a:ext cx="6496050" cy="3028950"/>
          </a:xfrm>
          <a:prstGeom prst="rect">
            <a:avLst/>
          </a:prstGeom>
        </p:spPr>
      </p:pic>
      <p:sp>
        <p:nvSpPr>
          <p:cNvPr id="4" name="Rectangle 4">
            <a:extLst>
              <a:ext uri="{FF2B5EF4-FFF2-40B4-BE49-F238E27FC236}">
                <a16:creationId xmlns:a16="http://schemas.microsoft.com/office/drawing/2014/main" id="{C7D00268-5146-4B41-8419-2F63AF741FC0}"/>
              </a:ext>
            </a:extLst>
          </p:cNvPr>
          <p:cNvSpPr/>
          <p:nvPr/>
        </p:nvSpPr>
        <p:spPr>
          <a:xfrm>
            <a:off x="0" y="304800"/>
            <a:ext cx="9144000" cy="1631216"/>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Wybór funkcji aktywacji w</a:t>
            </a:r>
            <a:r>
              <a:rPr lang="pl-PL" sz="2000" b="1" dirty="0">
                <a:solidFill>
                  <a:srgbClr val="FF0000"/>
                </a:solidFill>
                <a:latin typeface="Arial Narrow" panose="020B0606020202030204" pitchFamily="34" charset="0"/>
                <a:cs typeface="Calibri" panose="020F0502020204030204" pitchFamily="34" charset="0"/>
              </a:rPr>
              <a:t> warstwach ukrytych</a:t>
            </a:r>
            <a:r>
              <a:rPr lang="pl-PL" sz="2000" b="1" dirty="0">
                <a:solidFill>
                  <a:srgbClr val="000000"/>
                </a:solidFill>
                <a:latin typeface="Arial Narrow" panose="020B0606020202030204" pitchFamily="34" charset="0"/>
                <a:cs typeface="Calibri" panose="020F0502020204030204" pitchFamily="34" charset="0"/>
              </a:rPr>
              <a:t>, c.d.:</a:t>
            </a:r>
          </a:p>
          <a:p>
            <a:pPr marL="180975" indent="-180975">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zależnie od struktury sieci, w </a:t>
            </a:r>
            <a:r>
              <a:rPr lang="pl-PL" sz="2000" b="1" dirty="0">
                <a:solidFill>
                  <a:srgbClr val="000000"/>
                </a:solidFill>
                <a:latin typeface="Arial Narrow" panose="020B0606020202030204" pitchFamily="34" charset="0"/>
                <a:cs typeface="Calibri" panose="020F0502020204030204" pitchFamily="34" charset="0"/>
              </a:rPr>
              <a:t>warstwach ukrytych</a:t>
            </a:r>
            <a:r>
              <a:rPr lang="pl-PL" sz="2000" dirty="0">
                <a:solidFill>
                  <a:srgbClr val="000000"/>
                </a:solidFill>
                <a:latin typeface="Arial Narrow" panose="020B0606020202030204" pitchFamily="34" charset="0"/>
                <a:cs typeface="Calibri" panose="020F0502020204030204" pitchFamily="34" charset="0"/>
              </a:rPr>
              <a:t> zazwyczaj należy stosować:</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sieci konwolucyjne (CNN)		ReLU lub odmiany ReLU</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sieci rekurencyjne (RNN)		Tanh lub Sigmoid</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perceptrony wielowarstwowe (MLP)	ReLU lub odmiany ReLU</a:t>
            </a:r>
            <a:endParaRPr lang="pl-PL" sz="2000" b="1" dirty="0">
              <a:solidFill>
                <a:srgbClr val="000000"/>
              </a:solidFill>
              <a:latin typeface="Arial Narrow" panose="020B0606020202030204" pitchFamily="34" charset="0"/>
              <a:cs typeface="Calibri" panose="020F0502020204030204" pitchFamily="34" charset="0"/>
            </a:endParaRPr>
          </a:p>
        </p:txBody>
      </p:sp>
      <p:sp>
        <p:nvSpPr>
          <p:cNvPr id="5"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806251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52</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2015936"/>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Wybór odpowiedniej funkcji aktywacji w </a:t>
            </a:r>
            <a:r>
              <a:rPr lang="pl-PL" sz="2000" b="1" dirty="0">
                <a:solidFill>
                  <a:srgbClr val="FF0000"/>
                </a:solidFill>
                <a:latin typeface="Arial Narrow" panose="020B0606020202030204" pitchFamily="34" charset="0"/>
                <a:cs typeface="Calibri" panose="020F0502020204030204" pitchFamily="34" charset="0"/>
              </a:rPr>
              <a:t>warstwie wyjściowej</a:t>
            </a:r>
            <a:r>
              <a:rPr lang="pl-PL" sz="2000" b="1" dirty="0">
                <a:solidFill>
                  <a:srgbClr val="000000"/>
                </a:solidFill>
                <a:latin typeface="Arial Narrow" panose="020B0606020202030204" pitchFamily="34" charset="0"/>
                <a:cs typeface="Calibri" panose="020F0502020204030204" pitchFamily="34" charset="0"/>
              </a:rPr>
              <a:t>:</a:t>
            </a:r>
          </a:p>
          <a:p>
            <a:pPr marL="180975" indent="-180975">
              <a:spcBef>
                <a:spcPts val="60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zależnie od rozwiązywanego problemu w </a:t>
            </a:r>
            <a:r>
              <a:rPr lang="pl-PL" sz="2000" b="1" dirty="0">
                <a:solidFill>
                  <a:srgbClr val="000000"/>
                </a:solidFill>
                <a:latin typeface="Arial Narrow" panose="020B0606020202030204" pitchFamily="34" charset="0"/>
                <a:cs typeface="Calibri" panose="020F0502020204030204" pitchFamily="34" charset="0"/>
              </a:rPr>
              <a:t>warstwie wyjściowej</a:t>
            </a:r>
            <a:r>
              <a:rPr lang="pl-PL" sz="2000" dirty="0">
                <a:solidFill>
                  <a:srgbClr val="000000"/>
                </a:solidFill>
                <a:latin typeface="Arial Narrow" panose="020B0606020202030204" pitchFamily="34" charset="0"/>
                <a:cs typeface="Calibri" panose="020F0502020204030204" pitchFamily="34" charset="0"/>
              </a:rPr>
              <a:t> powinno się stosować:</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regresja					funkcja liniowa</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klasyfikacja binarna (binary classification)		sigmoid</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klasyfikacja wieloklasowa (multiclass classification)	softmax</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klasyfikacja </a:t>
            </a:r>
            <a:r>
              <a:rPr lang="pl-PL" sz="2000" dirty="0" err="1">
                <a:solidFill>
                  <a:srgbClr val="000000"/>
                </a:solidFill>
                <a:latin typeface="Arial Narrow" panose="020B0606020202030204" pitchFamily="34" charset="0"/>
                <a:cs typeface="Calibri" panose="020F0502020204030204" pitchFamily="34" charset="0"/>
              </a:rPr>
              <a:t>wieloetykietowa</a:t>
            </a:r>
            <a:r>
              <a:rPr lang="pl-PL" sz="2000">
                <a:solidFill>
                  <a:srgbClr val="000000"/>
                </a:solidFill>
                <a:latin typeface="Arial Narrow" panose="020B0606020202030204" pitchFamily="34" charset="0"/>
                <a:cs typeface="Calibri" panose="020F0502020204030204" pitchFamily="34" charset="0"/>
              </a:rPr>
              <a:t> (multilabel classification)	sigmoid</a:t>
            </a: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5" name="Obraz 4"/>
          <p:cNvPicPr>
            <a:picLocks noChangeAspect="1"/>
          </p:cNvPicPr>
          <p:nvPr/>
        </p:nvPicPr>
        <p:blipFill>
          <a:blip r:embed="rId3"/>
          <a:stretch>
            <a:fillRect/>
          </a:stretch>
        </p:blipFill>
        <p:spPr>
          <a:xfrm>
            <a:off x="1295400" y="2381250"/>
            <a:ext cx="6581775" cy="3790950"/>
          </a:xfrm>
          <a:prstGeom prst="rect">
            <a:avLst/>
          </a:prstGeom>
        </p:spPr>
      </p:pic>
    </p:spTree>
    <p:extLst>
      <p:ext uri="{BB962C8B-B14F-4D97-AF65-F5344CB8AC3E}">
        <p14:creationId xmlns:p14="http://schemas.microsoft.com/office/powerpoint/2010/main" val="1846146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53</a:t>
            </a:fld>
            <a:endParaRPr lang="pl-PL" dirty="0"/>
          </a:p>
        </p:txBody>
      </p:sp>
      <p:sp>
        <p:nvSpPr>
          <p:cNvPr id="3" name="Rectangle 4">
            <a:extLst>
              <a:ext uri="{FF2B5EF4-FFF2-40B4-BE49-F238E27FC236}">
                <a16:creationId xmlns:a16="http://schemas.microsoft.com/office/drawing/2014/main" id="{C7D00268-5146-4B41-8419-2F63AF741FC0}"/>
              </a:ext>
            </a:extLst>
          </p:cNvPr>
          <p:cNvSpPr/>
          <p:nvPr/>
        </p:nvSpPr>
        <p:spPr>
          <a:xfrm>
            <a:off x="0" y="304800"/>
            <a:ext cx="9144000" cy="3862596"/>
          </a:xfrm>
          <a:prstGeom prst="rect">
            <a:avLst/>
          </a:prstGeom>
        </p:spPr>
        <p:txBody>
          <a:bodyPr wrap="square">
            <a:spAutoFit/>
          </a:bodyPr>
          <a:lstStyle/>
          <a:p>
            <a:r>
              <a:rPr lang="pl-PL" sz="2000" b="1" dirty="0">
                <a:latin typeface="Arial Narrow" panose="020B0606020202030204" pitchFamily="34" charset="0"/>
                <a:cs typeface="Calibri" panose="020F0502020204030204" pitchFamily="34" charset="0"/>
              </a:rPr>
              <a:t>Funkcje aktywacji – podsumowanie:</a:t>
            </a:r>
            <a:endParaRPr lang="pl-PL" sz="2000" dirty="0">
              <a:latin typeface="Arial Narrow" panose="020B0606020202030204" pitchFamily="34" charset="0"/>
              <a:cs typeface="Calibri" panose="020F0502020204030204" pitchFamily="34" charset="0"/>
            </a:endParaRPr>
          </a:p>
          <a:p>
            <a:pPr marL="180975" indent="-180975">
              <a:spcBef>
                <a:spcPts val="600"/>
              </a:spcBef>
              <a:buFont typeface="Arial" panose="020B0604020202020204" pitchFamily="34" charset="0"/>
              <a:buChar char="•"/>
            </a:pPr>
            <a:r>
              <a:rPr lang="pl-PL" sz="2000" dirty="0">
                <a:latin typeface="Arial Narrow" panose="020B0606020202030204" pitchFamily="34" charset="0"/>
                <a:cs typeface="Calibri" panose="020F0502020204030204" pitchFamily="34" charset="0"/>
              </a:rPr>
              <a:t>są wykorzystywane do wprowadzenia nieliniowości do sieci neuronowej</a:t>
            </a:r>
            <a:r>
              <a:rPr lang="pl-PL" sz="2000" dirty="0">
                <a:latin typeface="Arial Narrow" panose="020B0606020202030204" pitchFamily="34" charset="0"/>
              </a:rPr>
              <a:t>, </a:t>
            </a:r>
          </a:p>
          <a:p>
            <a:pPr marL="180975" indent="-180975">
              <a:spcBef>
                <a:spcPts val="600"/>
              </a:spcBef>
              <a:buFont typeface="Arial" panose="020B0604020202020204" pitchFamily="34" charset="0"/>
              <a:buChar char="•"/>
            </a:pPr>
            <a:r>
              <a:rPr lang="pl-PL" sz="2000" dirty="0">
                <a:latin typeface="Arial Narrow" panose="020B0606020202030204" pitchFamily="34" charset="0"/>
              </a:rPr>
              <a:t>sieć neuronowa prawie zawsze będzie miała tę samą funkcję aktywacji we wszystkich warstwach ukrytych. Użyta funkcja aktywacji powinna być różniczkowalna, aby parametry sieci mogły być uczone z wykorzystaniem algorytmu wstecznej propagacji błędów,</a:t>
            </a:r>
          </a:p>
          <a:p>
            <a:pPr marL="180975" indent="-180975">
              <a:spcBef>
                <a:spcPts val="600"/>
              </a:spcBef>
              <a:buFont typeface="Arial" panose="020B0604020202020204" pitchFamily="34" charset="0"/>
              <a:buChar char="•"/>
            </a:pPr>
            <a:r>
              <a:rPr lang="pl-PL" sz="2000" dirty="0">
                <a:latin typeface="Arial Narrow" panose="020B0606020202030204" pitchFamily="34" charset="0"/>
              </a:rPr>
              <a:t>przy wyborze funkcji aktywacji należy brać pod uwagę problemy, z jakimi może się to wiązać, np</a:t>
            </a:r>
            <a:r>
              <a:rPr lang="pl-PL" sz="2000">
                <a:latin typeface="Arial Narrow" panose="020B0606020202030204" pitchFamily="34" charset="0"/>
              </a:rPr>
              <a:t>. zanikające </a:t>
            </a:r>
            <a:r>
              <a:rPr lang="pl-PL" sz="2000" dirty="0">
                <a:latin typeface="Arial Narrow" panose="020B0606020202030204" pitchFamily="34" charset="0"/>
              </a:rPr>
              <a:t>i eksplodujące gradienty,</a:t>
            </a:r>
          </a:p>
          <a:p>
            <a:pPr marL="180975" indent="-180975">
              <a:spcBef>
                <a:spcPts val="600"/>
              </a:spcBef>
              <a:buFont typeface="Arial" panose="020B0604020202020204" pitchFamily="34" charset="0"/>
              <a:buChar char="•"/>
            </a:pPr>
            <a:r>
              <a:rPr lang="pl-PL" sz="2000" dirty="0">
                <a:latin typeface="Arial Narrow" panose="020B0606020202030204" pitchFamily="34" charset="0"/>
              </a:rPr>
              <a:t>w przypadku warstwy wyjściowej należy zawsze brać pod uwagę zakres oczekiwanych wartości predykcji. Jeśli może to być dowolna wartość liczbowa (jak w przypadku problemu regresji), można użyć liniowej funkcji aktywacji lub ReLU,</a:t>
            </a:r>
          </a:p>
          <a:p>
            <a:pPr marL="180975" indent="-180975">
              <a:spcBef>
                <a:spcPts val="600"/>
              </a:spcBef>
              <a:buFont typeface="Arial" panose="020B0604020202020204" pitchFamily="34" charset="0"/>
              <a:buChar char="•"/>
            </a:pPr>
            <a:endParaRPr lang="pl-PL" sz="2000" dirty="0">
              <a:latin typeface="Arial Narrow" panose="020B0606020202030204" pitchFamily="34" charset="0"/>
            </a:endParaRPr>
          </a:p>
        </p:txBody>
      </p:sp>
      <p:sp>
        <p:nvSpPr>
          <p:cNvPr id="4"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funkcje aktywacji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831106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54</a:t>
            </a:fld>
            <a:endParaRPr lang="pl-PL" dirty="0"/>
          </a:p>
        </p:txBody>
      </p:sp>
      <p:sp>
        <p:nvSpPr>
          <p:cNvPr id="3" name="Prostokąt 2">
            <a:extLst>
              <a:ext uri="{FF2B5EF4-FFF2-40B4-BE49-F238E27FC236}">
                <a16:creationId xmlns:a16="http://schemas.microsoft.com/office/drawing/2014/main" id="{27C14A22-0610-4873-96D9-29769ABE6D47}"/>
              </a:ext>
            </a:extLst>
          </p:cNvPr>
          <p:cNvSpPr/>
          <p:nvPr/>
        </p:nvSpPr>
        <p:spPr>
          <a:xfrm>
            <a:off x="10886" y="1915180"/>
            <a:ext cx="8915400" cy="523220"/>
          </a:xfrm>
          <a:prstGeom prst="rect">
            <a:avLst/>
          </a:prstGeom>
        </p:spPr>
        <p:txBody>
          <a:bodyPr wrap="square">
            <a:spAutoFit/>
          </a:bodyPr>
          <a:lstStyle/>
          <a:p>
            <a:r>
              <a:rPr lang="pl-PL" sz="2800" b="1" dirty="0">
                <a:solidFill>
                  <a:srgbClr val="0000FF"/>
                </a:solidFill>
                <a:latin typeface="Arial Narrow" panose="020B0606020202030204" pitchFamily="34" charset="0"/>
                <a:cs typeface="Calibri" panose="020F0502020204030204" pitchFamily="34" charset="0"/>
              </a:rPr>
              <a:t>Przeuczenie i regularyzacja</a:t>
            </a:r>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2930803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0" y="304800"/>
            <a:ext cx="9144000" cy="3429000"/>
          </a:xfrm>
          <a:prstGeom prst="rect">
            <a:avLst/>
          </a:prstGeom>
          <a:noFill/>
        </p:spPr>
        <p:txBody>
          <a:bodyPr wrap="square" lIns="36000" tIns="36000" rIns="36000" bIns="36000" rtlCol="0">
            <a:noAutofit/>
          </a:bodyPr>
          <a:lstStyle/>
          <a:p>
            <a:r>
              <a:rPr lang="pl-PL" altLang="en-US" sz="2000" dirty="0">
                <a:latin typeface="Arial Narrow" panose="020B0606020202030204" pitchFamily="34" charset="0"/>
              </a:rPr>
              <a:t>Istotnym problemem w głębokich sieciach neuronowych, szczególnie jeśli w danych występuje wiele parametrów, jest problem </a:t>
            </a:r>
            <a:r>
              <a:rPr lang="pl-PL" altLang="en-US" sz="2000" b="1" dirty="0">
                <a:latin typeface="Arial Narrow" panose="020B0606020202030204" pitchFamily="34" charset="0"/>
              </a:rPr>
              <a:t>przeuczenia</a:t>
            </a:r>
            <a:r>
              <a:rPr lang="pl-PL" altLang="en-US" sz="2000" dirty="0">
                <a:latin typeface="Arial Narrow" panose="020B0606020202030204" pitchFamily="34" charset="0"/>
              </a:rPr>
              <a:t> czyli nadmiernego </a:t>
            </a:r>
            <a:r>
              <a:rPr lang="pl-PL" sz="2000" dirty="0">
                <a:latin typeface="Arial Narrow" panose="020B0606020202030204" pitchFamily="34" charset="0"/>
              </a:rPr>
              <a:t>dopasowywania się do danych treningowych</a:t>
            </a:r>
            <a:r>
              <a:rPr lang="pl-PL" altLang="en-US" sz="2000" dirty="0">
                <a:latin typeface="Arial Narrow" panose="020B0606020202030204" pitchFamily="34" charset="0"/>
              </a:rPr>
              <a:t>.</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Nadmierne dopasowanie (przetrenowanie, przeuczenie) modelu ma miejsce, gdy wydajność modelu podczas przetwarzania nowych danych zaczyna się pogarszać w porównaniu z wydajnością podczas przetwarzania zbioru treningowego. Nadmierne dopasowanie oznacza, że model idealnie pasuje do danych treningowych ale nie da się go uogólnić dla nowych danych pochodzących ze zbioru testowego. Jeśli dokładność modelu dla danych testowych nie jest zbliżona do dokładności dla danych treningowych, oznacza to, że model jest nadmiernie dopasowany.</a:t>
            </a:r>
          </a:p>
        </p:txBody>
      </p:sp>
      <p:sp>
        <p:nvSpPr>
          <p:cNvPr id="12"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2" name="Picture 1"/>
          <p:cNvPicPr>
            <a:picLocks noChangeAspect="1"/>
          </p:cNvPicPr>
          <p:nvPr/>
        </p:nvPicPr>
        <p:blipFill>
          <a:blip r:embed="rId2"/>
          <a:stretch>
            <a:fillRect/>
          </a:stretch>
        </p:blipFill>
        <p:spPr>
          <a:xfrm>
            <a:off x="2362200" y="3753255"/>
            <a:ext cx="3714750" cy="2619375"/>
          </a:xfrm>
          <a:prstGeom prst="rect">
            <a:avLst/>
          </a:prstGeom>
        </p:spPr>
      </p:pic>
      <p:sp>
        <p:nvSpPr>
          <p:cNvPr id="3" name="Slide Number Placeholder 2"/>
          <p:cNvSpPr>
            <a:spLocks noGrp="1"/>
          </p:cNvSpPr>
          <p:nvPr>
            <p:ph type="sldNum" sz="quarter" idx="12"/>
          </p:nvPr>
        </p:nvSpPr>
        <p:spPr/>
        <p:txBody>
          <a:bodyPr/>
          <a:lstStyle/>
          <a:p>
            <a:fld id="{20D4B2D9-DB10-4EB9-B7A6-032A6D4E75AC}" type="slidenum">
              <a:rPr lang="pl-PL" smtClean="0"/>
              <a:pPr/>
              <a:t>55</a:t>
            </a:fld>
            <a:endParaRPr lang="pl-PL" dirty="0"/>
          </a:p>
        </p:txBody>
      </p:sp>
    </p:spTree>
    <p:extLst>
      <p:ext uri="{BB962C8B-B14F-4D97-AF65-F5344CB8AC3E}">
        <p14:creationId xmlns:p14="http://schemas.microsoft.com/office/powerpoint/2010/main" val="1638398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38100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Jeśli sieć dysponuje zbyt małą zdolnością zapamiętywania, to nie będzie się w stanie nauczyć bezpośredniego mapowania (zapamiętywania), a więc w celu minimalizacji strat będzie musiała nauczyć się przewidywać, a o to nam właśnie chodzi.</a:t>
            </a:r>
          </a:p>
          <a:p>
            <a:endParaRPr lang="pl-PL" sz="2000" dirty="0">
              <a:latin typeface="Arial Narrow" panose="020B0606020202030204" pitchFamily="34" charset="0"/>
            </a:endParaRPr>
          </a:p>
          <a:p>
            <a:r>
              <a:rPr lang="pl-PL" sz="2000" dirty="0">
                <a:latin typeface="Arial Narrow" panose="020B0606020202030204" pitchFamily="34" charset="0"/>
              </a:rPr>
              <a:t>Jednocześnie modele powinny mieć na tyle dużo parametrów aby nie ulec zbyt słabemu dopasowaniu, model musi mieć możliwość zapamiętywania kolejnych cech.</a:t>
            </a:r>
          </a:p>
          <a:p>
            <a:r>
              <a:rPr lang="pl-PL" sz="2000" dirty="0">
                <a:latin typeface="Arial Narrow" panose="020B0606020202030204" pitchFamily="34" charset="0"/>
              </a:rPr>
              <a:t>Oznacza to, że trzeba znaleźć kompromis między zbyt dużą pojemnością a zbyt małą pojemnością.</a:t>
            </a:r>
          </a:p>
          <a:p>
            <a:endParaRPr lang="pl-PL" sz="2000" dirty="0">
              <a:latin typeface="Arial Narrow" panose="020B0606020202030204" pitchFamily="34" charset="0"/>
            </a:endParaRPr>
          </a:p>
        </p:txBody>
      </p:sp>
      <p:sp>
        <p:nvSpPr>
          <p:cNvPr id="3"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Slide Number Placeholder 3"/>
          <p:cNvSpPr>
            <a:spLocks noGrp="1"/>
          </p:cNvSpPr>
          <p:nvPr>
            <p:ph type="sldNum" sz="quarter" idx="12"/>
          </p:nvPr>
        </p:nvSpPr>
        <p:spPr/>
        <p:txBody>
          <a:bodyPr/>
          <a:lstStyle/>
          <a:p>
            <a:fld id="{20D4B2D9-DB10-4EB9-B7A6-032A6D4E75AC}" type="slidenum">
              <a:rPr lang="pl-PL" smtClean="0"/>
              <a:pPr/>
              <a:t>56</a:t>
            </a:fld>
            <a:endParaRPr lang="pl-PL" dirty="0"/>
          </a:p>
        </p:txBody>
      </p:sp>
    </p:spTree>
    <p:extLst>
      <p:ext uri="{BB962C8B-B14F-4D97-AF65-F5344CB8AC3E}">
        <p14:creationId xmlns:p14="http://schemas.microsoft.com/office/powerpoint/2010/main" val="3818963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57</a:t>
            </a:fld>
            <a:endParaRPr lang="pl-PL" dirty="0"/>
          </a:p>
        </p:txBody>
      </p:sp>
      <p:sp>
        <p:nvSpPr>
          <p:cNvPr id="5" name="TextBox 12">
            <a:extLst>
              <a:ext uri="{FF2B5EF4-FFF2-40B4-BE49-F238E27FC236}">
                <a16:creationId xmlns:a16="http://schemas.microsoft.com/office/drawing/2014/main" id="{06D07FF0-3127-4547-B0B2-5765C79C80AA}"/>
              </a:ext>
            </a:extLst>
          </p:cNvPr>
          <p:cNvSpPr txBox="1"/>
          <p:nvPr/>
        </p:nvSpPr>
        <p:spPr>
          <a:xfrm>
            <a:off x="0" y="304800"/>
            <a:ext cx="9067800" cy="22860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Podstawowym problemem uczenia maszynowego jest więc kompromis między optymalizacją a uogólnianiem.</a:t>
            </a:r>
          </a:p>
          <a:p>
            <a:r>
              <a:rPr lang="pl-PL" sz="2000" b="1" dirty="0">
                <a:latin typeface="Arial Narrow" panose="020B0606020202030204" pitchFamily="34" charset="0"/>
              </a:rPr>
              <a:t>Optymalizacja</a:t>
            </a:r>
            <a:r>
              <a:rPr lang="pl-PL" sz="2000" dirty="0">
                <a:latin typeface="Arial Narrow" panose="020B0606020202030204" pitchFamily="34" charset="0"/>
              </a:rPr>
              <a:t> to proces dostrajania modelu w celu uzyskania najlepszej możliwej wydajności na danych treningowych a </a:t>
            </a:r>
            <a:r>
              <a:rPr lang="pl-PL" sz="2000" b="1" dirty="0">
                <a:latin typeface="Arial Narrow" panose="020B0606020202030204" pitchFamily="34" charset="0"/>
              </a:rPr>
              <a:t>uogólnianie</a:t>
            </a:r>
            <a:r>
              <a:rPr lang="pl-PL" sz="2000" dirty="0">
                <a:latin typeface="Arial Narrow" panose="020B0606020202030204" pitchFamily="34" charset="0"/>
              </a:rPr>
              <a:t> pokazuje, jak dobrze zachowuje się model dla danych testowych, których nigdy nie przetwarzał. Uczenie maszynowe polega na dążeniu do jak najlepszej jakości uogólnienia ale nie mamy na to wpływu w sposób bezpośredni, gdyż podczas trenowania używane są tylko dane treningowe.</a:t>
            </a:r>
          </a:p>
        </p:txBody>
      </p:sp>
      <p:sp>
        <p:nvSpPr>
          <p:cNvPr id="8"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480143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2">
            <a:extLst>
              <a:ext uri="{FF2B5EF4-FFF2-40B4-BE49-F238E27FC236}">
                <a16:creationId xmlns:a16="http://schemas.microsoft.com/office/drawing/2014/main" id="{06D07FF0-3127-4547-B0B2-5765C79C80AA}"/>
              </a:ext>
            </a:extLst>
          </p:cNvPr>
          <p:cNvSpPr txBox="1"/>
          <p:nvPr/>
        </p:nvSpPr>
        <p:spPr>
          <a:xfrm>
            <a:off x="0" y="304800"/>
            <a:ext cx="9067800" cy="25908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Przykład:</a:t>
            </a:r>
          </a:p>
          <a:p>
            <a:r>
              <a:rPr lang="pl-PL" sz="2000" dirty="0">
                <a:latin typeface="Arial Narrow" panose="020B0606020202030204" pitchFamily="34" charset="0"/>
              </a:rPr>
              <a:t>Na początku trenowania optymalizacja i uogólnianie są ze sobą skorelowane – </a:t>
            </a:r>
            <a:r>
              <a:rPr lang="pl-PL" sz="2000" dirty="0">
                <a:solidFill>
                  <a:srgbClr val="0000FF"/>
                </a:solidFill>
                <a:latin typeface="Arial Narrow" panose="020B0606020202030204" pitchFamily="34" charset="0"/>
              </a:rPr>
              <a:t>strata dla danych treningowych i walidacyjnych maleje</a:t>
            </a:r>
            <a:r>
              <a:rPr lang="pl-PL" sz="2000" dirty="0">
                <a:latin typeface="Arial Narrow" panose="020B0606020202030204" pitchFamily="34" charset="0"/>
              </a:rPr>
              <a:t>. </a:t>
            </a:r>
          </a:p>
          <a:p>
            <a:r>
              <a:rPr lang="pl-PL" sz="2000" dirty="0">
                <a:latin typeface="Arial Narrow" panose="020B0606020202030204" pitchFamily="34" charset="0"/>
              </a:rPr>
              <a:t>Po pewnej liczbie iteracji (epok) </a:t>
            </a:r>
            <a:r>
              <a:rPr lang="pl-PL" sz="2000" dirty="0">
                <a:solidFill>
                  <a:schemeClr val="accent6">
                    <a:lumMod val="50000"/>
                  </a:schemeClr>
                </a:solidFill>
                <a:latin typeface="Arial Narrow" panose="020B0606020202030204" pitchFamily="34" charset="0"/>
              </a:rPr>
              <a:t>wyniki trenowania przestają ulegać poprawie a metryka walidacji przyjmuje wartość stałą lub się pogarsza</a:t>
            </a:r>
            <a:r>
              <a:rPr lang="pl-PL" sz="2000" dirty="0">
                <a:latin typeface="Arial Narrow" panose="020B0606020202030204" pitchFamily="34" charset="0"/>
              </a:rPr>
              <a:t> – zaczyna pojawiać się nadmierne dopasowanie: model zaczyna uczyć się wzorców, które są specyficzne dla danych treningowych i nieprzydatne do przetwarzania nowych danych.</a:t>
            </a:r>
          </a:p>
        </p:txBody>
      </p:sp>
      <p:pic>
        <p:nvPicPr>
          <p:cNvPr id="8" name="Picture 7"/>
          <p:cNvPicPr>
            <a:picLocks noChangeAspect="1"/>
          </p:cNvPicPr>
          <p:nvPr/>
        </p:nvPicPr>
        <p:blipFill>
          <a:blip r:embed="rId2"/>
          <a:stretch>
            <a:fillRect/>
          </a:stretch>
        </p:blipFill>
        <p:spPr>
          <a:xfrm>
            <a:off x="2000250" y="2743200"/>
            <a:ext cx="4933950" cy="3479067"/>
          </a:xfrm>
          <a:prstGeom prst="rect">
            <a:avLst/>
          </a:prstGeom>
        </p:spPr>
      </p:pic>
      <p:sp>
        <p:nvSpPr>
          <p:cNvPr id="9" name="Slide Number Placeholder 8"/>
          <p:cNvSpPr>
            <a:spLocks noGrp="1"/>
          </p:cNvSpPr>
          <p:nvPr>
            <p:ph type="sldNum" sz="quarter" idx="12"/>
          </p:nvPr>
        </p:nvSpPr>
        <p:spPr/>
        <p:txBody>
          <a:bodyPr/>
          <a:lstStyle/>
          <a:p>
            <a:fld id="{20D4B2D9-DB10-4EB9-B7A6-032A6D4E75AC}" type="slidenum">
              <a:rPr lang="pl-PL" smtClean="0"/>
              <a:pPr/>
              <a:t>58</a:t>
            </a:fld>
            <a:endParaRPr lang="pl-PL" dirty="0"/>
          </a:p>
        </p:txBody>
      </p:sp>
      <p:sp>
        <p:nvSpPr>
          <p:cNvPr id="6"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6080542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2">
            <a:extLst>
              <a:ext uri="{FF2B5EF4-FFF2-40B4-BE49-F238E27FC236}">
                <a16:creationId xmlns:a16="http://schemas.microsoft.com/office/drawing/2014/main" id="{06D07FF0-3127-4547-B0B2-5765C79C80AA}"/>
              </a:ext>
            </a:extLst>
          </p:cNvPr>
          <p:cNvSpPr txBox="1"/>
          <p:nvPr/>
        </p:nvSpPr>
        <p:spPr>
          <a:xfrm>
            <a:off x="0" y="304800"/>
            <a:ext cx="9067800" cy="12954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Celem uczenia maszynowego jest uzyskanie modelu zdolnego do jak najlepszych uogólnień a nie jak najlepiej dopasowanego do danych treningowych.</a:t>
            </a:r>
          </a:p>
          <a:p>
            <a:endParaRPr lang="en-GB" sz="2000" dirty="0">
              <a:latin typeface="Arial Narrow" panose="020B0606020202030204" pitchFamily="34" charset="0"/>
            </a:endParaRPr>
          </a:p>
          <a:p>
            <a:r>
              <a:rPr lang="pl-PL" sz="2000" dirty="0">
                <a:latin typeface="Arial Narrow" panose="020B0606020202030204" pitchFamily="34" charset="0"/>
              </a:rPr>
              <a:t>Proces walki z nadmiernym dopasowaniem nazywany jest </a:t>
            </a:r>
            <a:r>
              <a:rPr lang="pl-PL" sz="2000" b="1" dirty="0">
                <a:latin typeface="Arial Narrow" panose="020B0606020202030204" pitchFamily="34" charset="0"/>
              </a:rPr>
              <a:t>regularyzacją</a:t>
            </a:r>
            <a:r>
              <a:rPr lang="pl-PL" sz="2000" dirty="0">
                <a:latin typeface="Arial Narrow" panose="020B0606020202030204" pitchFamily="34" charset="0"/>
              </a:rPr>
              <a:t> sieci. </a:t>
            </a:r>
          </a:p>
          <a:p>
            <a:r>
              <a:rPr lang="pl-PL" sz="2000" dirty="0">
                <a:latin typeface="Arial Narrow" panose="020B0606020202030204" pitchFamily="34" charset="0"/>
              </a:rPr>
              <a:t>Regularyzacja to każdy mechanizm ułatwiający sieci poznanie istotnych cech rozkładu głównego a nie szczegółów zestawu danych.</a:t>
            </a:r>
          </a:p>
          <a:p>
            <a:endParaRPr lang="pl-PL" sz="2000" dirty="0">
              <a:latin typeface="Arial Narrow" panose="020B0606020202030204" pitchFamily="34" charset="0"/>
            </a:endParaRPr>
          </a:p>
        </p:txBody>
      </p:sp>
      <p:sp>
        <p:nvSpPr>
          <p:cNvPr id="6" name="Slide Number Placeholder 5"/>
          <p:cNvSpPr>
            <a:spLocks noGrp="1"/>
          </p:cNvSpPr>
          <p:nvPr>
            <p:ph type="sldNum" sz="quarter" idx="12"/>
          </p:nvPr>
        </p:nvSpPr>
        <p:spPr/>
        <p:txBody>
          <a:bodyPr/>
          <a:lstStyle/>
          <a:p>
            <a:fld id="{20D4B2D9-DB10-4EB9-B7A6-032A6D4E75AC}" type="slidenum">
              <a:rPr lang="pl-PL" smtClean="0"/>
              <a:pPr/>
              <a:t>59</a:t>
            </a:fld>
            <a:endParaRPr lang="pl-PL" dirty="0"/>
          </a:p>
        </p:txBody>
      </p:sp>
      <p:sp>
        <p:nvSpPr>
          <p:cNvPr id="7"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7566035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60</a:t>
            </a:fld>
            <a:endParaRPr lang="pl-PL" dirty="0"/>
          </a:p>
        </p:txBody>
      </p:sp>
      <p:sp>
        <p:nvSpPr>
          <p:cNvPr id="9" name="Rectangle 3"/>
          <p:cNvSpPr>
            <a:spLocks noChangeArrowheads="1"/>
          </p:cNvSpPr>
          <p:nvPr/>
        </p:nvSpPr>
        <p:spPr bwMode="auto">
          <a:xfrm>
            <a:off x="0" y="305336"/>
            <a:ext cx="914400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l-PL" altLang="en-US" sz="2000" b="1" i="0" u="none" strike="noStrike" cap="none" normalizeH="0" baseline="0" dirty="0">
                <a:ln>
                  <a:noFill/>
                </a:ln>
                <a:solidFill>
                  <a:srgbClr val="0070C0"/>
                </a:solidFill>
                <a:effectLst/>
                <a:latin typeface="Arial Narrow" panose="020B0606020202030204" pitchFamily="34" charset="0"/>
              </a:rPr>
              <a:t>Techniki zmniejszające niebezpieczeństwo przeuczenia sieci:</a:t>
            </a:r>
          </a:p>
          <a:p>
            <a:pPr>
              <a:spcBef>
                <a:spcPts val="600"/>
              </a:spcBef>
            </a:pPr>
            <a:r>
              <a:rPr lang="pl-PL" sz="2000" b="1" dirty="0">
                <a:latin typeface="Arial Narrow" panose="020B0606020202030204" pitchFamily="34" charset="0"/>
              </a:rPr>
              <a:t>Wczesne zatrzymanie </a:t>
            </a:r>
            <a:r>
              <a:rPr lang="pl-PL" sz="2000" dirty="0">
                <a:latin typeface="Arial Narrow" panose="020B0606020202030204" pitchFamily="34" charset="0"/>
              </a:rPr>
              <a:t>– polega na znalezieniu </a:t>
            </a:r>
            <a:r>
              <a:rPr lang="pl-PL" sz="2000" dirty="0">
                <a:solidFill>
                  <a:srgbClr val="0000FF"/>
                </a:solidFill>
                <a:latin typeface="Arial Narrow" panose="020B0606020202030204" pitchFamily="34" charset="0"/>
              </a:rPr>
              <a:t>punktu, w którym błąd na próbie testowej jest jak najmniejszy</a:t>
            </a:r>
            <a:r>
              <a:rPr lang="pl-PL" sz="2000" dirty="0">
                <a:latin typeface="Arial Narrow" panose="020B0606020202030204" pitchFamily="34" charset="0"/>
              </a:rPr>
              <a:t>. Jeśli proces uczenia zostanie skończony przed tym punktem – model będzie niedouczony. Jeśli zostanie zatrzymany po tym punkcie – model będzie przeuczony.</a:t>
            </a:r>
          </a:p>
          <a:p>
            <a:pPr>
              <a:spcBef>
                <a:spcPts val="600"/>
              </a:spcBef>
            </a:pPr>
            <a:r>
              <a:rPr lang="pl-PL" sz="2000" dirty="0">
                <a:latin typeface="Arial Narrow" panose="020B0606020202030204" pitchFamily="34" charset="0"/>
              </a:rPr>
              <a:t>Sposobem na znalezienie tego punktu jest obserwacja działania algorytmu na dwóch zbiorach: treningowym i walidacyjnym. Jeżeli przy zmniejszaniu błędu na zbiorze treningowym, błąd na zbiorze walidacyjnym zaczyna rosnąć, należy przerwać uczenie sieci.</a:t>
            </a:r>
            <a:endParaRPr lang="pl-PL" sz="2400" dirty="0">
              <a:latin typeface="Arial Narrow" panose="020B0606020202030204" pitchFamily="34" charset="0"/>
            </a:endParaRPr>
          </a:p>
        </p:txBody>
      </p:sp>
      <p:sp>
        <p:nvSpPr>
          <p:cNvPr id="5"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2" name="Obraz 1"/>
          <p:cNvPicPr>
            <a:picLocks noChangeAspect="1"/>
          </p:cNvPicPr>
          <p:nvPr/>
        </p:nvPicPr>
        <p:blipFill>
          <a:blip r:embed="rId2"/>
          <a:stretch>
            <a:fillRect/>
          </a:stretch>
        </p:blipFill>
        <p:spPr>
          <a:xfrm>
            <a:off x="2695575" y="3028950"/>
            <a:ext cx="3752850" cy="2609850"/>
          </a:xfrm>
          <a:prstGeom prst="rect">
            <a:avLst/>
          </a:prstGeom>
        </p:spPr>
      </p:pic>
    </p:spTree>
    <p:extLst>
      <p:ext uri="{BB962C8B-B14F-4D97-AF65-F5344CB8AC3E}">
        <p14:creationId xmlns:p14="http://schemas.microsoft.com/office/powerpoint/2010/main" val="2289656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61</a:t>
            </a:fld>
            <a:endParaRPr lang="pl-PL" dirty="0"/>
          </a:p>
        </p:txBody>
      </p:sp>
      <p:sp>
        <p:nvSpPr>
          <p:cNvPr id="5" name="Rectangle 3"/>
          <p:cNvSpPr>
            <a:spLocks noChangeArrowheads="1"/>
          </p:cNvSpPr>
          <p:nvPr/>
        </p:nvSpPr>
        <p:spPr bwMode="auto">
          <a:xfrm>
            <a:off x="0" y="305336"/>
            <a:ext cx="9144000"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l-PL" altLang="en-US" sz="2000" b="1" i="0" u="none" strike="noStrike" cap="none" normalizeH="0" baseline="0" dirty="0">
                <a:ln>
                  <a:noFill/>
                </a:ln>
                <a:solidFill>
                  <a:srgbClr val="0070C0"/>
                </a:solidFill>
                <a:effectLst/>
                <a:latin typeface="Arial Narrow" panose="020B0606020202030204" pitchFamily="34" charset="0"/>
              </a:rPr>
              <a:t>Techniki zmniejszające niebezpieczeństwo przeuczenia sieci, c.d.:</a:t>
            </a:r>
          </a:p>
          <a:p>
            <a:pPr>
              <a:spcBef>
                <a:spcPts val="600"/>
              </a:spcBef>
            </a:pPr>
            <a:r>
              <a:rPr lang="pl-PL" sz="2000" b="1" dirty="0">
                <a:latin typeface="Arial Narrow" panose="020B0606020202030204" pitchFamily="34" charset="0"/>
              </a:rPr>
              <a:t>Redukcja rozmiaru sieci </a:t>
            </a:r>
            <a:r>
              <a:rPr lang="pl-PL" sz="2000" dirty="0">
                <a:latin typeface="Arial Narrow" panose="020B0606020202030204" pitchFamily="34" charset="0"/>
              </a:rPr>
              <a:t>– polega na zmniejszeniu rozmiaru modelu, czyli liczby uczonych parametrów (liczba uczonych parametrów to tzw. </a:t>
            </a:r>
            <a:r>
              <a:rPr lang="pl-PL" sz="2000" b="1" dirty="0">
                <a:latin typeface="Arial Narrow" panose="020B0606020202030204" pitchFamily="34" charset="0"/>
              </a:rPr>
              <a:t>pojemność modelu</a:t>
            </a:r>
            <a:r>
              <a:rPr lang="pl-PL" sz="2000" dirty="0">
                <a:latin typeface="Arial Narrow" panose="020B0606020202030204" pitchFamily="34" charset="0"/>
              </a:rPr>
              <a:t>) – warstw i tworzących je jednostek (neuronów).</a:t>
            </a:r>
          </a:p>
          <a:p>
            <a:pPr>
              <a:spcBef>
                <a:spcPts val="600"/>
              </a:spcBef>
            </a:pPr>
            <a:r>
              <a:rPr lang="pl-PL" sz="2000" b="1" dirty="0">
                <a:latin typeface="Arial Narrow" panose="020B0606020202030204" pitchFamily="34" charset="0"/>
              </a:rPr>
              <a:t>Ekspansja danych</a:t>
            </a:r>
            <a:r>
              <a:rPr lang="pl-PL" sz="2000" dirty="0">
                <a:latin typeface="Arial Narrow" panose="020B0606020202030204" pitchFamily="34" charset="0"/>
              </a:rPr>
              <a:t> – dodatkowe dane w zbiorze treningowym mogą wpłynąć pozytywnie na jakość predykcji systemu. Zwiększenie liczby danych można uzyskać za pomocą następujących metod:</a:t>
            </a:r>
          </a:p>
          <a:p>
            <a:pPr marL="177800" indent="-177800">
              <a:spcBef>
                <a:spcPts val="0"/>
              </a:spcBef>
              <a:buFont typeface="Arial" panose="020B0604020202020204" pitchFamily="34" charset="0"/>
              <a:buChar char="•"/>
            </a:pPr>
            <a:r>
              <a:rPr lang="pl-PL" sz="2000" dirty="0">
                <a:latin typeface="Arial Narrow" panose="020B0606020202030204" pitchFamily="34" charset="0"/>
              </a:rPr>
              <a:t>zwiększenie zbioru danych w sposób konwencjonalny,</a:t>
            </a:r>
          </a:p>
          <a:p>
            <a:pPr marL="177800" lvl="0" indent="-177800">
              <a:buFont typeface="Arial" panose="020B0604020202020204" pitchFamily="34" charset="0"/>
              <a:buChar char="•"/>
            </a:pPr>
            <a:r>
              <a:rPr lang="pl-PL" sz="2000" dirty="0">
                <a:latin typeface="Arial Narrow" panose="020B0606020202030204" pitchFamily="34" charset="0"/>
              </a:rPr>
              <a:t>dodanie szumu informacyjnego do posiadanych danych, </a:t>
            </a:r>
          </a:p>
          <a:p>
            <a:pPr marL="177800" lvl="0" indent="-177800">
              <a:buFont typeface="Arial" panose="020B0604020202020204" pitchFamily="34" charset="0"/>
              <a:buChar char="•"/>
            </a:pPr>
            <a:r>
              <a:rPr lang="pl-PL" sz="2000">
                <a:latin typeface="Arial Narrow" panose="020B0606020202030204" pitchFamily="34" charset="0"/>
              </a:rPr>
              <a:t>przeprocesowanie i tym samym rozszerzenie zbioru danych (tzw. </a:t>
            </a:r>
            <a:r>
              <a:rPr lang="pl-PL" sz="2000" i="1">
                <a:latin typeface="Arial Narrow" panose="020B0606020202030204" pitchFamily="34" charset="0"/>
              </a:rPr>
              <a:t>augmentacja</a:t>
            </a:r>
            <a:r>
              <a:rPr lang="pl-PL" sz="2000">
                <a:latin typeface="Arial Narrow" panose="020B0606020202030204" pitchFamily="34" charset="0"/>
              </a:rPr>
              <a:t>, ang. </a:t>
            </a:r>
            <a:r>
              <a:rPr lang="pl-PL" sz="2000" i="1">
                <a:latin typeface="Arial Narrow" panose="020B0606020202030204" pitchFamily="34" charset="0"/>
              </a:rPr>
              <a:t>data augmentation</a:t>
            </a:r>
            <a:r>
              <a:rPr lang="pl-PL" sz="2000">
                <a:latin typeface="Arial Narrow" panose="020B0606020202030204" pitchFamily="34" charset="0"/>
              </a:rPr>
              <a:t>), np. w przypadku zdjęć </a:t>
            </a:r>
            <a:r>
              <a:rPr lang="pl-PL" sz="2000" dirty="0">
                <a:latin typeface="Arial Narrow" panose="020B0606020202030204" pitchFamily="34" charset="0"/>
              </a:rPr>
              <a:t>może to </a:t>
            </a:r>
            <a:r>
              <a:rPr lang="pl-PL" sz="2000">
                <a:latin typeface="Arial Narrow" panose="020B0606020202030204" pitchFamily="34" charset="0"/>
              </a:rPr>
              <a:t>być dodanie lustrzanego odbicia,</a:t>
            </a:r>
            <a:endParaRPr lang="pl-PL" sz="2000" dirty="0">
              <a:latin typeface="Arial Narrow" panose="020B0606020202030204" pitchFamily="34" charset="0"/>
            </a:endParaRPr>
          </a:p>
          <a:p>
            <a:pPr marL="177800" indent="-177800">
              <a:buFont typeface="Arial" panose="020B0604020202020204" pitchFamily="34" charset="0"/>
              <a:buChar char="•"/>
            </a:pPr>
            <a:r>
              <a:rPr lang="pl-PL" sz="2000" dirty="0">
                <a:latin typeface="Arial Narrow" panose="020B0606020202030204" pitchFamily="34" charset="0"/>
              </a:rPr>
              <a:t>tzw. </a:t>
            </a:r>
            <a:r>
              <a:rPr lang="pl-PL" sz="2000" b="1" dirty="0">
                <a:latin typeface="Arial Narrow" panose="020B0606020202030204" pitchFamily="34" charset="0"/>
              </a:rPr>
              <a:t>regularyzacja, </a:t>
            </a:r>
            <a:r>
              <a:rPr lang="pl-PL" sz="2000" dirty="0">
                <a:latin typeface="Arial Narrow" panose="020B0606020202030204" pitchFamily="34" charset="0"/>
              </a:rPr>
              <a:t>ang.</a:t>
            </a:r>
            <a:r>
              <a:rPr lang="pl-PL" sz="2000" b="1" dirty="0">
                <a:latin typeface="Arial Narrow" panose="020B0606020202030204" pitchFamily="34" charset="0"/>
              </a:rPr>
              <a:t> </a:t>
            </a:r>
            <a:r>
              <a:rPr lang="pl-PL" sz="2000" b="1" i="1" dirty="0">
                <a:latin typeface="Arial Narrow" panose="020B0606020202030204" pitchFamily="34" charset="0"/>
              </a:rPr>
              <a:t>regularization</a:t>
            </a:r>
            <a:r>
              <a:rPr lang="pl-PL" sz="2000" dirty="0">
                <a:latin typeface="Arial Narrow" panose="020B0606020202030204" pitchFamily="34" charset="0"/>
              </a:rPr>
              <a:t> – modyfikacja algorytmu uczącego mająca na celu zmniejszenie błędu na próbie testowej (ale nie </a:t>
            </a:r>
            <a:r>
              <a:rPr lang="pl-PL" sz="2000">
                <a:latin typeface="Arial Narrow" panose="020B0606020202030204" pitchFamily="34" charset="0"/>
              </a:rPr>
              <a:t>treningowej).</a:t>
            </a:r>
          </a:p>
          <a:p>
            <a:pPr>
              <a:spcBef>
                <a:spcPts val="600"/>
              </a:spcBef>
            </a:pPr>
            <a:endParaRPr kumimoji="0" lang="en-US" altLang="en-US" sz="2000" b="0" i="0" u="none" strike="noStrike" cap="none" normalizeH="0" baseline="0" dirty="0">
              <a:ln>
                <a:noFill/>
              </a:ln>
              <a:solidFill>
                <a:schemeClr val="tx1"/>
              </a:solidFill>
              <a:effectLst/>
              <a:latin typeface="Arial Narrow" panose="020B0606020202030204" pitchFamily="34" charset="0"/>
            </a:endParaRPr>
          </a:p>
        </p:txBody>
      </p:sp>
      <p:sp>
        <p:nvSpPr>
          <p:cNvPr id="6"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4602693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62</a:t>
            </a:fld>
            <a:endParaRPr lang="pl-PL" dirty="0"/>
          </a:p>
        </p:txBody>
      </p:sp>
      <p:sp>
        <p:nvSpPr>
          <p:cNvPr id="5" name="Rectangle 3"/>
          <p:cNvSpPr>
            <a:spLocks noChangeArrowheads="1"/>
          </p:cNvSpPr>
          <p:nvPr/>
        </p:nvSpPr>
        <p:spPr bwMode="auto">
          <a:xfrm>
            <a:off x="0" y="305336"/>
            <a:ext cx="9144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l-PL" altLang="en-US" sz="2000" b="1" i="0" u="none" strike="noStrike" cap="none" normalizeH="0" baseline="0" dirty="0">
                <a:ln>
                  <a:noFill/>
                </a:ln>
                <a:solidFill>
                  <a:srgbClr val="0070C0"/>
                </a:solidFill>
                <a:effectLst/>
                <a:latin typeface="Arial Narrow" panose="020B0606020202030204" pitchFamily="34" charset="0"/>
              </a:rPr>
              <a:t>Regularyzacja</a:t>
            </a:r>
            <a:r>
              <a:rPr kumimoji="0" lang="pl-PL" altLang="en-US" sz="2000" b="0" i="0" u="none" strike="noStrike" cap="none" normalizeH="0" baseline="0" dirty="0">
                <a:ln>
                  <a:noFill/>
                </a:ln>
                <a:solidFill>
                  <a:srgbClr val="0070C0"/>
                </a:solidFill>
                <a:effectLst/>
                <a:latin typeface="Arial Narrow" panose="020B0606020202030204" pitchFamily="34" charset="0"/>
              </a:rPr>
              <a:t>:</a:t>
            </a:r>
          </a:p>
          <a:p>
            <a:pPr lvl="0" algn="just" eaLnBrk="0" hangingPunct="0"/>
            <a:endParaRPr lang="pl-PL" sz="2000" dirty="0">
              <a:latin typeface="Arial Narrow" panose="020B0606020202030204" pitchFamily="34" charset="0"/>
            </a:endParaRPr>
          </a:p>
          <a:p>
            <a:pPr lvl="0" algn="just" eaLnBrk="0" hangingPunct="0"/>
            <a:r>
              <a:rPr lang="pl-PL" sz="2000" dirty="0">
                <a:latin typeface="Arial Narrow" panose="020B0606020202030204" pitchFamily="34" charset="0"/>
              </a:rPr>
              <a:t>Model zawierający kilka wag o dużych wartościach jest bardziej skomplikowany od modelu mającego mniejsze wagi. Utrzymywanie wag o małych wartościach powinno umożliwić sieci implementowanie prostszej funkcji i lepiej dopasowanej do wyznaczonego zadania.</a:t>
            </a:r>
          </a:p>
          <a:p>
            <a:pPr lvl="0" algn="just" eaLnBrk="0" hangingPunct="0"/>
            <a:endParaRPr lang="pl-PL" sz="2000" dirty="0">
              <a:latin typeface="Arial Narrow" panose="020B0606020202030204" pitchFamily="34" charset="0"/>
            </a:endParaRPr>
          </a:p>
          <a:p>
            <a:pPr lvl="0" algn="just" eaLnBrk="0" hangingPunct="0"/>
            <a:r>
              <a:rPr lang="pl-PL" sz="2000" dirty="0">
                <a:latin typeface="Arial Narrow" panose="020B0606020202030204" pitchFamily="34" charset="0"/>
              </a:rPr>
              <a:t>Poprzez  regularyzację minimalizuje się wagi wejść, które </a:t>
            </a:r>
            <a:r>
              <a:rPr lang="pl-PL" sz="2000">
                <a:latin typeface="Arial Narrow" panose="020B0606020202030204" pitchFamily="34" charset="0"/>
              </a:rPr>
              <a:t>mają niewielki </a:t>
            </a:r>
            <a:r>
              <a:rPr lang="pl-PL" sz="2000" dirty="0">
                <a:latin typeface="Arial Narrow" panose="020B0606020202030204" pitchFamily="34" charset="0"/>
              </a:rPr>
              <a:t>wpływ na końcową klasyfikację bądź też wybiera się tylko te neurony, które są użyteczne dla modelu. Jednakże, nie zawsze wiadomo, które wagi są bezużyteczne, więc minimalizujemy ich wpływ za pomocą modyfikacji funkcji straty. </a:t>
            </a:r>
          </a:p>
          <a:p>
            <a:pPr lvl="0" algn="just" eaLnBrk="0" hangingPunct="0"/>
            <a:endParaRPr lang="pl-PL" sz="2000" dirty="0">
              <a:latin typeface="Arial Narrow" panose="020B0606020202030204" pitchFamily="34" charset="0"/>
            </a:endParaRPr>
          </a:p>
          <a:p>
            <a:pPr lvl="0" algn="just" eaLnBrk="0" hangingPunct="0"/>
            <a:r>
              <a:rPr lang="pl-PL" sz="2000" dirty="0">
                <a:latin typeface="Arial Narrow" panose="020B0606020202030204" pitchFamily="34" charset="0"/>
              </a:rPr>
              <a:t>W tym celu dodajemy do funkcji kosztu </a:t>
            </a:r>
            <a:r>
              <a:rPr lang="pl-PL" sz="2000" b="1" dirty="0">
                <a:latin typeface="Arial Narrow" panose="020B0606020202030204" pitchFamily="34" charset="0"/>
              </a:rPr>
              <a:t>regularyzator</a:t>
            </a:r>
            <a:r>
              <a:rPr lang="pl-PL" sz="2000" dirty="0">
                <a:latin typeface="Arial Narrow" panose="020B0606020202030204" pitchFamily="34" charset="0"/>
              </a:rPr>
              <a:t>. Implementuje się go poprzez dodanie do funkcji straty kosztu związanego z dużymi wartościami wag. Wtedy model staje się bardziej regularny.</a:t>
            </a:r>
            <a:endParaRPr kumimoji="0" lang="en-US" altLang="en-US" sz="2000" b="0" i="0" u="none" strike="noStrike" cap="none" normalizeH="0" baseline="0" dirty="0">
              <a:ln>
                <a:noFill/>
              </a:ln>
              <a:solidFill>
                <a:schemeClr val="tx1"/>
              </a:solidFill>
              <a:effectLst/>
              <a:latin typeface="Arial Narrow" panose="020B0606020202030204" pitchFamily="34" charset="0"/>
            </a:endParaRPr>
          </a:p>
        </p:txBody>
      </p:sp>
      <p:sp>
        <p:nvSpPr>
          <p:cNvPr id="6"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6556380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63</a:t>
            </a:fld>
            <a:endParaRPr lang="pl-PL" dirty="0"/>
          </a:p>
        </p:txBody>
      </p:sp>
      <p:sp>
        <p:nvSpPr>
          <p:cNvPr id="5" name="Rectangle 3"/>
          <p:cNvSpPr>
            <a:spLocks noChangeArrowheads="1"/>
          </p:cNvSpPr>
          <p:nvPr/>
        </p:nvSpPr>
        <p:spPr bwMode="auto">
          <a:xfrm>
            <a:off x="0" y="305336"/>
            <a:ext cx="9144000" cy="647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l-PL" altLang="en-US" sz="2000" b="1" i="0" u="none" strike="noStrike" cap="none" normalizeH="0" baseline="0" dirty="0">
                <a:ln>
                  <a:noFill/>
                </a:ln>
                <a:solidFill>
                  <a:srgbClr val="0070C0"/>
                </a:solidFill>
                <a:effectLst/>
                <a:latin typeface="Arial Narrow" panose="020B0606020202030204" pitchFamily="34" charset="0"/>
              </a:rPr>
              <a:t>Regularyzacja</a:t>
            </a:r>
            <a:r>
              <a:rPr kumimoji="0" lang="pl-PL" altLang="en-US" sz="2000" b="0" i="0" u="none" strike="noStrike" cap="none" normalizeH="0" baseline="0" dirty="0">
                <a:ln>
                  <a:noFill/>
                </a:ln>
                <a:solidFill>
                  <a:srgbClr val="0070C0"/>
                </a:solidFill>
                <a:effectLst/>
                <a:latin typeface="Arial Narrow" panose="020B0606020202030204" pitchFamily="34" charset="0"/>
              </a:rPr>
              <a:t> sieci, c.d.: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l-PL" altLang="en-US" sz="2000" b="0" i="0" u="none" strike="noStrike" cap="none" normalizeH="0" baseline="0" dirty="0">
              <a:ln>
                <a:noFill/>
              </a:ln>
              <a:solidFill>
                <a:schemeClr val="accent6">
                  <a:lumMod val="50000"/>
                </a:schemeClr>
              </a:solidFill>
              <a:effectLst/>
              <a:latin typeface="Arial Narrow" panose="020B0606020202030204" pitchFamily="34" charset="0"/>
            </a:endParaRPr>
          </a:p>
          <a:p>
            <a:pPr lvl="0" algn="just" eaLnBrk="0" hangingPunct="0"/>
            <a:r>
              <a:rPr lang="pl-PL" sz="2000" dirty="0">
                <a:latin typeface="Arial Narrow" panose="020B0606020202030204" pitchFamily="34" charset="0"/>
              </a:rPr>
              <a:t>Istnieją trzy podstawowe metody regularyzacji:</a:t>
            </a:r>
          </a:p>
          <a:p>
            <a:pPr algn="just" eaLnBrk="0" hangingPunct="0">
              <a:spcBef>
                <a:spcPts val="600"/>
              </a:spcBef>
            </a:pPr>
            <a:r>
              <a:rPr lang="pl-PL" sz="2000" b="1" dirty="0">
                <a:latin typeface="Arial Narrow" panose="020B0606020202030204" pitchFamily="34" charset="0"/>
              </a:rPr>
              <a:t>L2</a:t>
            </a:r>
            <a:r>
              <a:rPr lang="pl-PL" sz="2000" dirty="0">
                <a:latin typeface="Arial Narrow" panose="020B0606020202030204" pitchFamily="34" charset="0"/>
              </a:rPr>
              <a:t> – pomaga utrzymywać małe wagi sieci. Dodaje do funkcji straty stały człon (tzw. koszt) proporcjonalnie do </a:t>
            </a:r>
            <a:r>
              <a:rPr lang="pl-PL" sz="2000" b="1" dirty="0">
                <a:latin typeface="Arial Narrow" panose="020B0606020202030204" pitchFamily="34" charset="0"/>
              </a:rPr>
              <a:t>kwadratu wartości</a:t>
            </a:r>
            <a:r>
              <a:rPr lang="pl-PL" sz="2000" dirty="0">
                <a:latin typeface="Arial Narrow" panose="020B0606020202030204" pitchFamily="34" charset="0"/>
              </a:rPr>
              <a:t> współczynników wag. Sieć, zamiast zerować nieznaczące wagi, daje im niższą wartość. </a:t>
            </a:r>
            <a:r>
              <a:rPr lang="pl-PL" altLang="en-US" sz="2000" dirty="0">
                <a:latin typeface="Arial Narrow" panose="020B0606020202030204" pitchFamily="34" charset="0"/>
              </a:rPr>
              <a:t>Regularyzacja </a:t>
            </a:r>
            <a:r>
              <a:rPr lang="en-US" sz="2000" b="1" dirty="0">
                <a:latin typeface="Arial Narrow" panose="020B0606020202030204" pitchFamily="34" charset="0"/>
              </a:rPr>
              <a:t>L2 </a:t>
            </a:r>
            <a:r>
              <a:rPr lang="pl-PL" sz="2000" dirty="0">
                <a:latin typeface="Arial Narrow" panose="020B0606020202030204" pitchFamily="34" charset="0"/>
              </a:rPr>
              <a:t>utrzymuje wagi na niskim poziomie ale pilnuje, aby nie były równe zero. </a:t>
            </a:r>
            <a:r>
              <a:rPr lang="pl-PL" altLang="en-US" sz="2000" dirty="0">
                <a:latin typeface="Arial Narrow" panose="020B0606020202030204" pitchFamily="34" charset="0"/>
              </a:rPr>
              <a:t>Taka technika zapewnia, że żadne wejście nie zostanie pominięte.</a:t>
            </a:r>
          </a:p>
          <a:p>
            <a:pPr lvl="0" algn="just" eaLnBrk="0" hangingPunct="0">
              <a:spcBef>
                <a:spcPts val="600"/>
              </a:spcBef>
            </a:pPr>
            <a:r>
              <a:rPr lang="pl-PL" sz="2000" b="1" dirty="0">
                <a:latin typeface="Arial Narrow" panose="020B0606020202030204" pitchFamily="34" charset="0"/>
              </a:rPr>
              <a:t>L1</a:t>
            </a:r>
            <a:r>
              <a:rPr lang="pl-PL" sz="2000" dirty="0">
                <a:latin typeface="Arial Narrow" panose="020B0606020202030204" pitchFamily="34" charset="0"/>
              </a:rPr>
              <a:t> – pomaga utrzymywać małe wagi sieci. Koszt jest dodawany proporcjonalnie do </a:t>
            </a:r>
            <a:r>
              <a:rPr lang="pl-PL" sz="2000" b="1" dirty="0">
                <a:latin typeface="Arial Narrow" panose="020B0606020202030204" pitchFamily="34" charset="0"/>
              </a:rPr>
              <a:t>wartości bezwzględnej</a:t>
            </a:r>
            <a:r>
              <a:rPr lang="pl-PL" sz="2000" dirty="0">
                <a:latin typeface="Arial Narrow" panose="020B0606020202030204" pitchFamily="34" charset="0"/>
              </a:rPr>
              <a:t> współczynników wag. Rzadziej stosowana niż L2.</a:t>
            </a:r>
          </a:p>
          <a:p>
            <a:pPr>
              <a:spcBef>
                <a:spcPts val="600"/>
              </a:spcBef>
            </a:pPr>
            <a:r>
              <a:rPr lang="en-US" altLang="en-US" sz="2000" b="1" dirty="0">
                <a:latin typeface="Arial Narrow" panose="020B0606020202030204" pitchFamily="34" charset="0"/>
              </a:rPr>
              <a:t>Dropout</a:t>
            </a:r>
            <a:r>
              <a:rPr lang="pl-PL" altLang="en-US" sz="2000" dirty="0">
                <a:latin typeface="Arial Narrow" panose="020B0606020202030204" pitchFamily="34" charset="0"/>
              </a:rPr>
              <a:t> – polega na losowym usuwaniu neuronów</a:t>
            </a:r>
            <a:r>
              <a:rPr lang="en-US" altLang="en-US" sz="2000" dirty="0">
                <a:latin typeface="Arial Narrow" panose="020B0606020202030204" pitchFamily="34" charset="0"/>
              </a:rPr>
              <a:t> (</a:t>
            </a:r>
            <a:r>
              <a:rPr lang="pl-PL" altLang="en-US" sz="2000" dirty="0">
                <a:latin typeface="Arial Narrow" panose="020B0606020202030204" pitchFamily="34" charset="0"/>
              </a:rPr>
              <a:t>wraz z ich połączeniami</a:t>
            </a:r>
            <a:r>
              <a:rPr lang="en-US" altLang="en-US" sz="2000" dirty="0">
                <a:latin typeface="Arial Narrow" panose="020B0606020202030204" pitchFamily="34" charset="0"/>
              </a:rPr>
              <a:t>) </a:t>
            </a:r>
            <a:r>
              <a:rPr lang="pl-PL" altLang="en-US" sz="2000" dirty="0">
                <a:latin typeface="Arial Narrow" panose="020B0606020202030204" pitchFamily="34" charset="0"/>
              </a:rPr>
              <a:t>podczas treningu</a:t>
            </a:r>
            <a:r>
              <a:rPr lang="en-US" altLang="en-US" sz="2000" dirty="0">
                <a:latin typeface="Arial Narrow" panose="020B0606020202030204" pitchFamily="34" charset="0"/>
              </a:rPr>
              <a:t>. </a:t>
            </a:r>
            <a:r>
              <a:rPr lang="pl-PL" sz="2000" dirty="0">
                <a:latin typeface="Arial Narrow" panose="020B0606020202030204" pitchFamily="34" charset="0"/>
              </a:rPr>
              <a:t>Parametrem dropout jest liczba rzeczywista, np.: Dropout(0.25) oznacza, że każdy neuron jest losowo odrzucany raz na cztery cykle. Wyboru neuronów do usunięcia dokonuje się w sposób losowy, z ustalonym z góry prawdopodobieństwem dla każdego neuronu. Takie podejście zmusza sieć do mniejszego polegania na pojedynczych neuronach, ponieważ mogą one zostać nieuwzględnione w strukturze sieci podczas dowolnej iteracji.</a:t>
            </a:r>
            <a:br>
              <a:rPr lang="pl-PL" sz="2000" dirty="0">
                <a:latin typeface="Arial Narrow" panose="020B0606020202030204" pitchFamily="34" charset="0"/>
              </a:rPr>
            </a:br>
            <a:r>
              <a:rPr lang="pl-PL" altLang="en-US" sz="2000" dirty="0">
                <a:latin typeface="Arial Narrow" panose="020B0606020202030204" pitchFamily="34" charset="0"/>
              </a:rPr>
              <a:t>Z doświadczeń wynika, że Dropout poprawia parametry modeli uczenia nadzorowanego wykorzystywanych do rozpoznawania obrazów, mowy</a:t>
            </a:r>
            <a:r>
              <a:rPr lang="en-US" altLang="en-US" sz="2000" dirty="0">
                <a:latin typeface="Arial Narrow" panose="020B0606020202030204" pitchFamily="34" charset="0"/>
              </a:rPr>
              <a:t>, </a:t>
            </a:r>
            <a:r>
              <a:rPr lang="pl-PL" altLang="en-US" sz="2000" dirty="0">
                <a:latin typeface="Arial Narrow" panose="020B0606020202030204" pitchFamily="34" charset="0"/>
              </a:rPr>
              <a:t>klasyfikacji tekstu</a:t>
            </a:r>
            <a:r>
              <a:rPr lang="en-US" altLang="en-US" sz="2000" dirty="0">
                <a:latin typeface="Arial Narrow" panose="020B0606020202030204" pitchFamily="34" charset="0"/>
              </a:rPr>
              <a:t>.</a:t>
            </a:r>
            <a:r>
              <a:rPr lang="pl-PL" altLang="en-US" sz="2000" dirty="0">
                <a:latin typeface="Arial Narrow" panose="020B0606020202030204" pitchFamily="34" charset="0"/>
              </a:rPr>
              <a:t> </a:t>
            </a:r>
            <a:r>
              <a:rPr lang="pl-PL" sz="2000" dirty="0">
                <a:latin typeface="Arial Narrow" panose="020B0606020202030204" pitchFamily="34" charset="0"/>
              </a:rPr>
              <a:t>Dropout wprowadzamy bezpośrednio przed warstwą spłaszczoną (Flatten). Aby zwiększyć dokładność modelu można dodać więcej warstw Dropout za warstwą ukrytą.</a:t>
            </a:r>
            <a:endParaRPr kumimoji="0" lang="en-US" altLang="en-US" sz="2000" b="0" i="0" u="none" strike="noStrike" cap="none" normalizeH="0" baseline="0" dirty="0">
              <a:ln>
                <a:noFill/>
              </a:ln>
              <a:solidFill>
                <a:schemeClr val="tx1"/>
              </a:solidFill>
              <a:effectLst/>
              <a:latin typeface="Arial Narrow" panose="020B0606020202030204" pitchFamily="34" charset="0"/>
            </a:endParaRPr>
          </a:p>
        </p:txBody>
      </p:sp>
      <p:sp>
        <p:nvSpPr>
          <p:cNvPr id="6"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6795208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64</a:t>
            </a:fld>
            <a:endParaRPr lang="pl-PL" dirty="0"/>
          </a:p>
        </p:txBody>
      </p:sp>
      <p:sp>
        <p:nvSpPr>
          <p:cNvPr id="5" name="Rectangle 3"/>
          <p:cNvSpPr>
            <a:spLocks noChangeArrowheads="1"/>
          </p:cNvSpPr>
          <p:nvPr/>
        </p:nvSpPr>
        <p:spPr bwMode="auto">
          <a:xfrm>
            <a:off x="0" y="305336"/>
            <a:ext cx="9144000"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l-PL" altLang="en-US" sz="2000" b="1" i="0" u="none" strike="noStrike" cap="none" normalizeH="0" baseline="0" dirty="0">
                <a:ln>
                  <a:noFill/>
                </a:ln>
                <a:solidFill>
                  <a:srgbClr val="0070C0"/>
                </a:solidFill>
                <a:effectLst/>
                <a:latin typeface="Arial Narrow" panose="020B0606020202030204" pitchFamily="34" charset="0"/>
              </a:rPr>
              <a:t>Regularyzacja</a:t>
            </a:r>
            <a:r>
              <a:rPr kumimoji="0" lang="pl-PL" altLang="en-US" sz="2000" b="0" i="0" u="none" strike="noStrike" cap="none" normalizeH="0" baseline="0" dirty="0">
                <a:ln>
                  <a:noFill/>
                </a:ln>
                <a:solidFill>
                  <a:srgbClr val="0070C0"/>
                </a:solidFill>
                <a:effectLst/>
                <a:latin typeface="Arial Narrow" panose="020B0606020202030204" pitchFamily="34" charset="0"/>
              </a:rPr>
              <a:t> sieci, c.d.:</a:t>
            </a:r>
          </a:p>
          <a:p>
            <a:pPr marL="0" marR="0" lvl="0" indent="0" algn="just" defTabSz="914400" rtl="0" eaLnBrk="0" fontAlgn="base" latinLnBrk="0" hangingPunct="0">
              <a:lnSpc>
                <a:spcPct val="100000"/>
              </a:lnSpc>
              <a:spcBef>
                <a:spcPts val="6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Narrow" panose="020B0606020202030204" pitchFamily="34" charset="0"/>
              </a:rPr>
              <a:t>Batch</a:t>
            </a:r>
            <a:r>
              <a:rPr kumimoji="0" lang="pl-PL" altLang="en-US" sz="2000" b="1" i="0" u="none" strike="noStrike" cap="none" normalizeH="0" baseline="0" dirty="0">
                <a:ln>
                  <a:noFill/>
                </a:ln>
                <a:solidFill>
                  <a:schemeClr val="tx1"/>
                </a:solidFill>
                <a:effectLst/>
                <a:latin typeface="Arial Narrow" panose="020B0606020202030204" pitchFamily="34" charset="0"/>
              </a:rPr>
              <a:t> </a:t>
            </a:r>
            <a:r>
              <a:rPr kumimoji="0" lang="en-US" altLang="en-US" sz="2000" b="1" i="0" u="none" strike="noStrike" cap="none" normalizeH="0" baseline="0" dirty="0">
                <a:ln>
                  <a:noFill/>
                </a:ln>
                <a:solidFill>
                  <a:schemeClr val="tx1"/>
                </a:solidFill>
                <a:effectLst/>
                <a:latin typeface="Arial Narrow" panose="020B0606020202030204" pitchFamily="34" charset="0"/>
              </a:rPr>
              <a:t>Normalization</a:t>
            </a:r>
            <a:r>
              <a:rPr kumimoji="0" lang="en-US" altLang="en-US" sz="2000" b="0" i="0" u="none" strike="noStrike" cap="none" normalizeH="0" baseline="0" dirty="0">
                <a:ln>
                  <a:noFill/>
                </a:ln>
                <a:solidFill>
                  <a:schemeClr val="tx1"/>
                </a:solidFill>
                <a:effectLst/>
                <a:latin typeface="Arial Narrow" panose="020B0606020202030204" pitchFamily="34" charset="0"/>
              </a:rPr>
              <a:t> </a:t>
            </a:r>
            <a:r>
              <a:rPr kumimoji="0" lang="pl-PL" altLang="en-US" sz="2000" b="0" i="0" u="none" strike="noStrike" cap="none" normalizeH="0" baseline="0" dirty="0">
                <a:ln>
                  <a:noFill/>
                </a:ln>
                <a:solidFill>
                  <a:schemeClr val="tx1"/>
                </a:solidFill>
                <a:effectLst/>
                <a:latin typeface="Arial Narrow" panose="020B0606020202030204" pitchFamily="34" charset="0"/>
              </a:rPr>
              <a:t>– normalizuje aktywację warstwy we</a:t>
            </a:r>
            <a:r>
              <a:rPr kumimoji="0" lang="pl-PL" altLang="en-US" sz="2000" b="0" i="0" u="none" strike="noStrike" cap="none" normalizeH="0" dirty="0">
                <a:ln>
                  <a:noFill/>
                </a:ln>
                <a:solidFill>
                  <a:schemeClr val="tx1"/>
                </a:solidFill>
                <a:effectLst/>
                <a:latin typeface="Arial Narrow" panose="020B0606020202030204" pitchFamily="34" charset="0"/>
              </a:rPr>
              <a:t> wsadzie</a:t>
            </a:r>
            <a:r>
              <a:rPr kumimoji="0" lang="en-US" altLang="en-US" sz="2000" b="0" i="0" u="none" strike="noStrike" cap="none" normalizeH="0" baseline="0" dirty="0">
                <a:ln>
                  <a:noFill/>
                </a:ln>
                <a:solidFill>
                  <a:schemeClr val="tx1"/>
                </a:solidFill>
                <a:effectLst/>
                <a:latin typeface="Arial Narrow" panose="020B0606020202030204" pitchFamily="34" charset="0"/>
              </a:rPr>
              <a:t>, </a:t>
            </a:r>
            <a:r>
              <a:rPr kumimoji="0" lang="pl-PL" altLang="en-US" sz="2000" b="0" i="0" u="none" strike="noStrike" cap="none" normalizeH="0" baseline="0" dirty="0">
                <a:ln>
                  <a:noFill/>
                </a:ln>
                <a:solidFill>
                  <a:schemeClr val="tx1"/>
                </a:solidFill>
                <a:effectLst/>
                <a:latin typeface="Arial Narrow" panose="020B0606020202030204" pitchFamily="34" charset="0"/>
              </a:rPr>
              <a:t>np. wykonuje transformację,</a:t>
            </a:r>
            <a:r>
              <a:rPr kumimoji="0" lang="pl-PL" altLang="en-US" sz="2000" b="0" i="0" u="none" strike="noStrike" cap="none" normalizeH="0" dirty="0">
                <a:ln>
                  <a:noFill/>
                </a:ln>
                <a:solidFill>
                  <a:schemeClr val="tx1"/>
                </a:solidFill>
                <a:effectLst/>
                <a:latin typeface="Arial Narrow" panose="020B0606020202030204" pitchFamily="34" charset="0"/>
              </a:rPr>
              <a:t> która utrzymuje średnią aktywację wokół 0 z odchyleniem standardowym </a:t>
            </a:r>
            <a:r>
              <a:rPr kumimoji="0" lang="pl-PL" altLang="en-US" sz="2000" b="0" i="0" u="none" strike="noStrike" cap="none" normalizeH="0" baseline="0" dirty="0">
                <a:ln>
                  <a:noFill/>
                </a:ln>
                <a:solidFill>
                  <a:schemeClr val="tx1"/>
                </a:solidFill>
                <a:effectLst/>
                <a:latin typeface="Arial Narrow" panose="020B0606020202030204" pitchFamily="34" charset="0"/>
              </a:rPr>
              <a:t>bliskim</a:t>
            </a:r>
            <a:r>
              <a:rPr kumimoji="0" lang="en-US" altLang="en-US" sz="2000" b="0" i="0" u="none" strike="noStrike" cap="none" normalizeH="0" baseline="0" dirty="0">
                <a:ln>
                  <a:noFill/>
                </a:ln>
                <a:solidFill>
                  <a:schemeClr val="tx1"/>
                </a:solidFill>
                <a:effectLst/>
                <a:latin typeface="Arial Narrow" panose="020B0606020202030204" pitchFamily="34" charset="0"/>
              </a:rPr>
              <a:t> 1. </a:t>
            </a:r>
            <a:r>
              <a:rPr kumimoji="0" lang="pl-PL" altLang="en-US" sz="2000" b="0" i="0" u="none" strike="noStrike" cap="none" normalizeH="0" baseline="0" dirty="0">
                <a:ln>
                  <a:noFill/>
                </a:ln>
                <a:solidFill>
                  <a:schemeClr val="tx1"/>
                </a:solidFill>
                <a:effectLst/>
                <a:latin typeface="Arial Narrow" panose="020B0606020202030204" pitchFamily="34" charset="0"/>
              </a:rPr>
              <a:t>Technika ta także pełni rolę optymalizatora</a:t>
            </a:r>
            <a:r>
              <a:rPr kumimoji="0" lang="en-US" altLang="en-US" sz="2000" b="0" i="0" u="none" strike="noStrike" cap="none" normalizeH="0" baseline="0" dirty="0">
                <a:ln>
                  <a:noFill/>
                </a:ln>
                <a:solidFill>
                  <a:schemeClr val="tx1"/>
                </a:solidFill>
                <a:effectLst/>
                <a:latin typeface="Arial Narrow" panose="020B0606020202030204" pitchFamily="34" charset="0"/>
              </a:rPr>
              <a:t>, </a:t>
            </a:r>
            <a:r>
              <a:rPr kumimoji="0" lang="pl-PL" altLang="en-US" sz="2000" b="0" i="0" u="none" strike="noStrike" cap="none" normalizeH="0" baseline="0" dirty="0">
                <a:ln>
                  <a:noFill/>
                </a:ln>
                <a:solidFill>
                  <a:schemeClr val="tx1"/>
                </a:solidFill>
                <a:effectLst/>
                <a:latin typeface="Arial Narrow" panose="020B0606020202030204" pitchFamily="34" charset="0"/>
              </a:rPr>
              <a:t>w pewnych przypadkach eliminując potrzebę używania </a:t>
            </a:r>
            <a:r>
              <a:rPr kumimoji="0" lang="en-US" altLang="en-US" sz="2000" b="0" i="0" u="none" strike="noStrike" cap="none" normalizeH="0" baseline="0" dirty="0">
                <a:ln>
                  <a:noFill/>
                </a:ln>
                <a:solidFill>
                  <a:schemeClr val="tx1"/>
                </a:solidFill>
                <a:effectLst/>
                <a:latin typeface="Arial Narrow" panose="020B0606020202030204" pitchFamily="34" charset="0"/>
              </a:rPr>
              <a:t>Dropout. </a:t>
            </a:r>
            <a:r>
              <a:rPr kumimoji="0" lang="pl-PL" altLang="en-US" sz="2000" b="0" i="0" u="none" strike="noStrike" cap="none" normalizeH="0" baseline="0" dirty="0">
                <a:ln>
                  <a:noFill/>
                </a:ln>
                <a:solidFill>
                  <a:schemeClr val="tx1"/>
                </a:solidFill>
                <a:effectLst/>
                <a:latin typeface="Arial Narrow" panose="020B0606020202030204" pitchFamily="34" charset="0"/>
              </a:rPr>
              <a:t>Użycie </a:t>
            </a:r>
            <a:r>
              <a:rPr kumimoji="0" lang="en-US" altLang="en-US" sz="2000" b="0" i="0" u="none" strike="noStrike" cap="none" normalizeH="0" baseline="0" dirty="0">
                <a:ln>
                  <a:noFill/>
                </a:ln>
                <a:solidFill>
                  <a:schemeClr val="tx1"/>
                </a:solidFill>
                <a:effectLst/>
                <a:latin typeface="Arial Narrow" panose="020B0606020202030204" pitchFamily="34" charset="0"/>
              </a:rPr>
              <a:t>Batch Normalization </a:t>
            </a:r>
            <a:r>
              <a:rPr kumimoji="0" lang="pl-PL" altLang="en-US" sz="2000" b="0" i="0" u="none" strike="noStrike" cap="none" normalizeH="0" baseline="0" dirty="0">
                <a:ln>
                  <a:noFill/>
                </a:ln>
                <a:solidFill>
                  <a:schemeClr val="tx1"/>
                </a:solidFill>
                <a:effectLst/>
                <a:latin typeface="Arial Narrow" panose="020B0606020202030204" pitchFamily="34" charset="0"/>
              </a:rPr>
              <a:t>pozwala na uzyskanie porównywalnej dokładności trenowania przy mniejszej liczbie kroków</a:t>
            </a:r>
            <a:r>
              <a:rPr kumimoji="0" lang="en-US" altLang="en-US" sz="2000" b="0" i="0" u="none" strike="noStrike" cap="none" normalizeH="0" baseline="0" dirty="0">
                <a:ln>
                  <a:noFill/>
                </a:ln>
                <a:solidFill>
                  <a:schemeClr val="tx1"/>
                </a:solidFill>
                <a:effectLst/>
                <a:latin typeface="Arial Narrow" panose="020B0606020202030204" pitchFamily="34" charset="0"/>
              </a:rPr>
              <a:t> </a:t>
            </a:r>
            <a:r>
              <a:rPr kumimoji="0" lang="pl-PL" altLang="en-US" sz="2000" b="0" i="0" u="none" strike="noStrike" cap="none" normalizeH="0" baseline="0" dirty="0">
                <a:ln>
                  <a:noFill/>
                </a:ln>
                <a:solidFill>
                  <a:schemeClr val="tx1"/>
                </a:solidFill>
                <a:effectLst/>
                <a:latin typeface="Arial Narrow" panose="020B0606020202030204" pitchFamily="34" charset="0"/>
              </a:rPr>
              <a:t>oraz przyspiesza sam proces trenowania</a:t>
            </a:r>
            <a:r>
              <a:rPr kumimoji="0" lang="en-US" altLang="en-US" sz="2000" b="0" i="0" u="none" strike="noStrike" cap="none" normalizeH="0" baseline="0" dirty="0">
                <a:ln>
                  <a:noFill/>
                </a:ln>
                <a:solidFill>
                  <a:schemeClr val="tx1"/>
                </a:solidFill>
                <a:effectLst/>
                <a:latin typeface="Arial Narrow" panose="020B0606020202030204" pitchFamily="34" charset="0"/>
              </a:rPr>
              <a:t>.</a:t>
            </a:r>
          </a:p>
        </p:txBody>
      </p:sp>
      <p:sp>
        <p:nvSpPr>
          <p:cNvPr id="6" name="Rectangle 2">
            <a:extLst>
              <a:ext uri="{FF2B5EF4-FFF2-40B4-BE49-F238E27FC236}">
                <a16:creationId xmlns:a16="http://schemas.microsoft.com/office/drawing/2014/main" id="{574812B8-449F-4474-BDD3-B64F2F6C357E}"/>
              </a:ext>
            </a:extLst>
          </p:cNvPr>
          <p:cNvSpPr txBox="1">
            <a:spLocks noChangeArrowheads="1"/>
          </p:cNvSpPr>
          <p:nvPr/>
        </p:nvSpPr>
        <p:spPr>
          <a:xfrm>
            <a:off x="0" y="-19455"/>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Sieci neuronowe – przeuczenie i regularyzacja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4168854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65</a:t>
            </a:fld>
            <a:endParaRPr lang="pl-PL" dirty="0"/>
          </a:p>
        </p:txBody>
      </p:sp>
      <p:sp>
        <p:nvSpPr>
          <p:cNvPr id="5" name="Prostokąt 4">
            <a:extLst>
              <a:ext uri="{FF2B5EF4-FFF2-40B4-BE49-F238E27FC236}">
                <a16:creationId xmlns:a16="http://schemas.microsoft.com/office/drawing/2014/main" id="{27C14A22-0610-4873-96D9-29769ABE6D47}"/>
              </a:ext>
            </a:extLst>
          </p:cNvPr>
          <p:cNvSpPr/>
          <p:nvPr/>
        </p:nvSpPr>
        <p:spPr>
          <a:xfrm>
            <a:off x="10886" y="1915180"/>
            <a:ext cx="8915400" cy="523220"/>
          </a:xfrm>
          <a:prstGeom prst="rect">
            <a:avLst/>
          </a:prstGeom>
        </p:spPr>
        <p:txBody>
          <a:bodyPr wrap="square">
            <a:spAutoFit/>
          </a:bodyPr>
          <a:lstStyle/>
          <a:p>
            <a:r>
              <a:rPr lang="pl-PL" sz="2800" b="1" dirty="0">
                <a:solidFill>
                  <a:srgbClr val="0000FF"/>
                </a:solidFill>
                <a:latin typeface="Arial Narrow" panose="020B0606020202030204" pitchFamily="34" charset="0"/>
                <a:cs typeface="Calibri" panose="020F0502020204030204" pitchFamily="34" charset="0"/>
              </a:rPr>
              <a:t>Metody ewaluacji modeli</a:t>
            </a:r>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18429227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66</a:t>
            </a:fld>
            <a:endParaRPr lang="pl-PL" dirty="0"/>
          </a:p>
        </p:txBody>
      </p:sp>
      <p:sp>
        <p:nvSpPr>
          <p:cNvPr id="5" name="TextBox 4"/>
          <p:cNvSpPr txBox="1"/>
          <p:nvPr/>
        </p:nvSpPr>
        <p:spPr>
          <a:xfrm>
            <a:off x="0" y="304800"/>
            <a:ext cx="9067800" cy="13716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Metody </a:t>
            </a:r>
            <a:r>
              <a:rPr lang="pl-PL" sz="2000" b="1" dirty="0">
                <a:latin typeface="Arial Narrow" panose="020B0606020202030204" pitchFamily="34" charset="0"/>
              </a:rPr>
              <a:t>ewaluacji</a:t>
            </a:r>
            <a:r>
              <a:rPr lang="pl-PL" sz="2000" dirty="0">
                <a:latin typeface="Arial Narrow" panose="020B0606020202030204" pitchFamily="34" charset="0"/>
              </a:rPr>
              <a:t> (walidacji) modeli, czyli miary wydajności:</a:t>
            </a:r>
          </a:p>
          <a:p>
            <a:pPr>
              <a:spcBef>
                <a:spcPts val="600"/>
              </a:spcBef>
            </a:pPr>
            <a:r>
              <a:rPr lang="pl-PL" sz="2000" b="1" dirty="0">
                <a:solidFill>
                  <a:srgbClr val="0000FF"/>
                </a:solidFill>
                <a:latin typeface="Arial Narrow" panose="020B0606020202030204" pitchFamily="34" charset="0"/>
              </a:rPr>
              <a:t>1. Walidacja na odłożonych danych</a:t>
            </a:r>
            <a:r>
              <a:rPr lang="pl-PL" sz="2000" dirty="0">
                <a:solidFill>
                  <a:srgbClr val="0000FF"/>
                </a:solidFill>
                <a:latin typeface="Arial Narrow" panose="020B0606020202030204" pitchFamily="34" charset="0"/>
              </a:rPr>
              <a:t> (ang. </a:t>
            </a:r>
            <a:r>
              <a:rPr lang="pl-PL" sz="2000" i="1" dirty="0">
                <a:solidFill>
                  <a:srgbClr val="0000FF"/>
                </a:solidFill>
                <a:latin typeface="Arial Narrow" panose="020B0606020202030204" pitchFamily="34" charset="0"/>
              </a:rPr>
              <a:t>hold-out data</a:t>
            </a:r>
            <a:r>
              <a:rPr lang="pl-PL" sz="2000" dirty="0">
                <a:solidFill>
                  <a:srgbClr val="0000FF"/>
                </a:solidFill>
                <a:latin typeface="Arial Narrow" panose="020B0606020202030204" pitchFamily="34" charset="0"/>
              </a:rPr>
              <a:t>)</a:t>
            </a:r>
          </a:p>
          <a:p>
            <a:pPr>
              <a:spcBef>
                <a:spcPts val="600"/>
              </a:spcBef>
            </a:pPr>
            <a:r>
              <a:rPr lang="pl-PL" sz="2000" b="1" dirty="0">
                <a:solidFill>
                  <a:srgbClr val="0000FF"/>
                </a:solidFill>
                <a:latin typeface="Arial Narrow" panose="020B0606020202030204" pitchFamily="34" charset="0"/>
              </a:rPr>
              <a:t>2. Dokładność trenowania</a:t>
            </a:r>
            <a:r>
              <a:rPr lang="pl-PL" sz="2000" dirty="0">
                <a:solidFill>
                  <a:srgbClr val="0000FF"/>
                </a:solidFill>
                <a:latin typeface="Arial Narrow" panose="020B0606020202030204" pitchFamily="34" charset="0"/>
              </a:rPr>
              <a:t> (ang. </a:t>
            </a:r>
            <a:r>
              <a:rPr lang="pl-PL" sz="2000" i="1" dirty="0">
                <a:solidFill>
                  <a:srgbClr val="0000FF"/>
                </a:solidFill>
                <a:latin typeface="Arial Narrow" panose="020B0606020202030204" pitchFamily="34" charset="0"/>
              </a:rPr>
              <a:t>accuracy</a:t>
            </a:r>
            <a:r>
              <a:rPr lang="pl-PL" sz="2000" dirty="0">
                <a:solidFill>
                  <a:srgbClr val="0000FF"/>
                </a:solidFill>
                <a:latin typeface="Arial Narrow" panose="020B0606020202030204" pitchFamily="34" charset="0"/>
              </a:rPr>
              <a:t>)</a:t>
            </a:r>
          </a:p>
          <a:p>
            <a:pPr>
              <a:spcBef>
                <a:spcPts val="600"/>
              </a:spcBef>
            </a:pPr>
            <a:r>
              <a:rPr lang="pl-PL" sz="2000" b="1" dirty="0">
                <a:solidFill>
                  <a:srgbClr val="0000FF"/>
                </a:solidFill>
                <a:latin typeface="Arial Narrow" panose="020B0606020202030204" pitchFamily="34" charset="0"/>
              </a:rPr>
              <a:t>3. Walidacja krzyżowa</a:t>
            </a:r>
            <a:r>
              <a:rPr lang="pl-PL" sz="2000" dirty="0">
                <a:solidFill>
                  <a:srgbClr val="0000FF"/>
                </a:solidFill>
                <a:latin typeface="Arial Narrow" panose="020B0606020202030204" pitchFamily="34" charset="0"/>
              </a:rPr>
              <a:t>:</a:t>
            </a:r>
            <a:br>
              <a:rPr lang="pl-PL" sz="2000" dirty="0">
                <a:solidFill>
                  <a:srgbClr val="0000FF"/>
                </a:solidFill>
                <a:latin typeface="Arial Narrow" panose="020B0606020202030204" pitchFamily="34" charset="0"/>
              </a:rPr>
            </a:br>
            <a:r>
              <a:rPr lang="pl-PL" sz="2000" dirty="0">
                <a:solidFill>
                  <a:srgbClr val="0000FF"/>
                </a:solidFill>
                <a:latin typeface="Arial Narrow" panose="020B0606020202030204" pitchFamily="34" charset="0"/>
              </a:rPr>
              <a:t>	k-krotna (klasyczna),</a:t>
            </a:r>
            <a:br>
              <a:rPr lang="pl-PL" sz="2000" dirty="0">
                <a:solidFill>
                  <a:srgbClr val="0000FF"/>
                </a:solidFill>
                <a:latin typeface="Arial Narrow" panose="020B0606020202030204" pitchFamily="34" charset="0"/>
              </a:rPr>
            </a:br>
            <a:r>
              <a:rPr lang="pl-PL" sz="2000" dirty="0">
                <a:solidFill>
                  <a:srgbClr val="0000FF"/>
                </a:solidFill>
                <a:latin typeface="Arial Narrow" panose="020B0606020202030204" pitchFamily="34" charset="0"/>
              </a:rPr>
              <a:t>	k-krotna z losowaniem,</a:t>
            </a:r>
            <a:br>
              <a:rPr lang="pl-PL" sz="2000" dirty="0">
                <a:solidFill>
                  <a:srgbClr val="0000FF"/>
                </a:solidFill>
                <a:latin typeface="Arial Narrow" panose="020B0606020202030204" pitchFamily="34" charset="0"/>
              </a:rPr>
            </a:br>
            <a:r>
              <a:rPr lang="pl-PL" sz="2000" dirty="0">
                <a:solidFill>
                  <a:srgbClr val="0000FF"/>
                </a:solidFill>
                <a:latin typeface="Arial Narrow" panose="020B0606020202030204" pitchFamily="34" charset="0"/>
              </a:rPr>
              <a:t>	stratyfikowana,</a:t>
            </a:r>
          </a:p>
          <a:p>
            <a:pPr>
              <a:spcBef>
                <a:spcPts val="600"/>
              </a:spcBef>
            </a:pPr>
            <a:r>
              <a:rPr lang="pl-PL" sz="2000" b="1" dirty="0">
                <a:solidFill>
                  <a:srgbClr val="0000FF"/>
                </a:solidFill>
                <a:latin typeface="Arial Narrow" panose="020B0606020202030204" pitchFamily="34" charset="0"/>
              </a:rPr>
              <a:t>4. Macierz pomyłek</a:t>
            </a:r>
            <a:endParaRPr lang="pl-PL" sz="2000" dirty="0">
              <a:solidFill>
                <a:srgbClr val="0000FF"/>
              </a:solidFill>
              <a:latin typeface="Arial Narrow" panose="020B0606020202030204" pitchFamily="34" charset="0"/>
            </a:endParaRPr>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752574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67</a:t>
            </a:fld>
            <a:endParaRPr lang="pl-PL" dirty="0"/>
          </a:p>
        </p:txBody>
      </p:sp>
      <p:sp>
        <p:nvSpPr>
          <p:cNvPr id="5" name="TextBox 4"/>
          <p:cNvSpPr txBox="1"/>
          <p:nvPr/>
        </p:nvSpPr>
        <p:spPr>
          <a:xfrm>
            <a:off x="0" y="304800"/>
            <a:ext cx="9067800" cy="1059398"/>
          </a:xfrm>
          <a:prstGeom prst="rect">
            <a:avLst/>
          </a:prstGeom>
          <a:noFill/>
        </p:spPr>
        <p:txBody>
          <a:bodyPr wrap="square" lIns="18000" tIns="18000" rIns="18000" bIns="18000" rtlCol="0">
            <a:noAutofit/>
          </a:bodyPr>
          <a:lstStyle/>
          <a:p>
            <a:r>
              <a:rPr lang="pl-PL" sz="2000" b="1" dirty="0">
                <a:solidFill>
                  <a:srgbClr val="0000FF"/>
                </a:solidFill>
                <a:latin typeface="Arial Narrow" panose="020B0606020202030204" pitchFamily="34" charset="0"/>
              </a:rPr>
              <a:t>Walidacja na odłożonych danych</a:t>
            </a:r>
            <a:r>
              <a:rPr lang="pl-PL" sz="2000" dirty="0">
                <a:latin typeface="Arial Narrow" panose="020B0606020202030204" pitchFamily="34" charset="0"/>
              </a:rPr>
              <a:t>:</a:t>
            </a:r>
          </a:p>
          <a:p>
            <a:pPr marL="266700" indent="-266700">
              <a:buFont typeface="+mj-lt"/>
              <a:buAutoNum type="arabicPeriod"/>
            </a:pPr>
            <a:r>
              <a:rPr lang="pl-PL" sz="2000" dirty="0">
                <a:latin typeface="Arial Narrow" panose="020B0606020202030204" pitchFamily="34" charset="0"/>
              </a:rPr>
              <a:t>Trenowanie modelu </a:t>
            </a:r>
            <a:br>
              <a:rPr lang="pl-PL" sz="2000" dirty="0">
                <a:latin typeface="Arial Narrow" panose="020B0606020202030204" pitchFamily="34" charset="0"/>
              </a:rPr>
            </a:br>
            <a:r>
              <a:rPr lang="pl-PL" sz="2000" dirty="0">
                <a:latin typeface="Arial Narrow" panose="020B0606020202030204" pitchFamily="34" charset="0"/>
              </a:rPr>
              <a:t>na danych </a:t>
            </a:r>
            <a:r>
              <a:rPr lang="pl-PL" sz="2000" b="1" dirty="0">
                <a:latin typeface="Arial Narrow" panose="020B0606020202030204" pitchFamily="34" charset="0"/>
              </a:rPr>
              <a:t>treningowych</a:t>
            </a:r>
            <a:endParaRPr lang="pl-PL" sz="2000" dirty="0">
              <a:latin typeface="Arial Narrow" panose="020B0606020202030204" pitchFamily="34" charset="0"/>
            </a:endParaRPr>
          </a:p>
          <a:p>
            <a:pPr marL="266700" indent="-266700">
              <a:buFont typeface="+mj-lt"/>
              <a:buAutoNum type="arabicPeriod"/>
            </a:pPr>
            <a:r>
              <a:rPr lang="pl-PL" sz="2000" dirty="0">
                <a:latin typeface="Arial Narrow" panose="020B0606020202030204" pitchFamily="34" charset="0"/>
              </a:rPr>
              <a:t>Ewaluacja modelu na </a:t>
            </a:r>
            <a:br>
              <a:rPr lang="pl-PL" sz="2000" dirty="0">
                <a:latin typeface="Arial Narrow" panose="020B0606020202030204" pitchFamily="34" charset="0"/>
              </a:rPr>
            </a:br>
            <a:r>
              <a:rPr lang="pl-PL" sz="2000" dirty="0">
                <a:latin typeface="Arial Narrow" panose="020B0606020202030204" pitchFamily="34" charset="0"/>
              </a:rPr>
              <a:t>danych </a:t>
            </a:r>
            <a:r>
              <a:rPr lang="pl-PL" sz="2000" b="1" dirty="0">
                <a:latin typeface="Arial Narrow" panose="020B0606020202030204" pitchFamily="34" charset="0"/>
              </a:rPr>
              <a:t>walidacyjnych</a:t>
            </a:r>
            <a:endParaRPr lang="pl-PL" sz="2000" dirty="0">
              <a:latin typeface="Arial Narrow" panose="020B0606020202030204" pitchFamily="34" charset="0"/>
            </a:endParaRPr>
          </a:p>
          <a:p>
            <a:pPr marL="266700" indent="-266700">
              <a:buFont typeface="+mj-lt"/>
              <a:buAutoNum type="arabicPeriod"/>
            </a:pPr>
            <a:r>
              <a:rPr lang="pl-PL" sz="2000" dirty="0">
                <a:latin typeface="Arial Narrow" panose="020B0606020202030204" pitchFamily="34" charset="0"/>
              </a:rPr>
              <a:t>Dostrajanie hiperparametrów</a:t>
            </a:r>
            <a:br>
              <a:rPr lang="pl-PL" sz="2000" dirty="0">
                <a:latin typeface="Arial Narrow" panose="020B0606020202030204" pitchFamily="34" charset="0"/>
              </a:rPr>
            </a:br>
            <a:r>
              <a:rPr lang="pl-PL" sz="2000" dirty="0">
                <a:latin typeface="Arial Narrow" panose="020B0606020202030204" pitchFamily="34" charset="0"/>
              </a:rPr>
              <a:t>na podstawie wyników ewaluacji </a:t>
            </a:r>
            <a:br>
              <a:rPr lang="pl-PL" sz="2000" dirty="0">
                <a:latin typeface="Arial Narrow" panose="020B0606020202030204" pitchFamily="34" charset="0"/>
              </a:rPr>
            </a:br>
            <a:r>
              <a:rPr lang="pl-PL" sz="2000" dirty="0">
                <a:latin typeface="Arial Narrow" panose="020B0606020202030204" pitchFamily="34" charset="0"/>
              </a:rPr>
              <a:t>i powrót do punktu 1.</a:t>
            </a:r>
            <a:br>
              <a:rPr lang="pl-PL" sz="2000" dirty="0">
                <a:latin typeface="Arial Narrow" panose="020B0606020202030204" pitchFamily="34" charset="0"/>
              </a:rPr>
            </a:br>
            <a:r>
              <a:rPr lang="pl-PL" sz="2000" dirty="0">
                <a:latin typeface="Arial Narrow" panose="020B0606020202030204" pitchFamily="34" charset="0"/>
              </a:rPr>
              <a:t>Procedura jest powtarzana</a:t>
            </a:r>
            <a:br>
              <a:rPr lang="pl-PL" sz="2000" dirty="0">
                <a:latin typeface="Arial Narrow" panose="020B0606020202030204" pitchFamily="34" charset="0"/>
              </a:rPr>
            </a:br>
            <a:r>
              <a:rPr lang="pl-PL" sz="2000" dirty="0">
                <a:latin typeface="Arial Narrow" panose="020B0606020202030204" pitchFamily="34" charset="0"/>
              </a:rPr>
              <a:t>aż model uzyska </a:t>
            </a:r>
            <a:br>
              <a:rPr lang="pl-PL" sz="2000" dirty="0">
                <a:latin typeface="Arial Narrow" panose="020B0606020202030204" pitchFamily="34" charset="0"/>
              </a:rPr>
            </a:br>
            <a:r>
              <a:rPr lang="pl-PL" sz="2000" dirty="0">
                <a:latin typeface="Arial Narrow" panose="020B0606020202030204" pitchFamily="34" charset="0"/>
              </a:rPr>
              <a:t>satysfakcjonujące parametry</a:t>
            </a:r>
          </a:p>
          <a:p>
            <a:pPr marL="266700" indent="-266700">
              <a:buFont typeface="+mj-lt"/>
              <a:buAutoNum type="arabicPeriod"/>
            </a:pPr>
            <a:r>
              <a:rPr lang="pl-PL" sz="2000" dirty="0">
                <a:latin typeface="Arial Narrow" panose="020B0606020202030204" pitchFamily="34" charset="0"/>
              </a:rPr>
              <a:t>Ocena jakości modelu </a:t>
            </a:r>
            <a:br>
              <a:rPr lang="pl-PL" sz="2000" dirty="0">
                <a:latin typeface="Arial Narrow" panose="020B0606020202030204" pitchFamily="34" charset="0"/>
              </a:rPr>
            </a:br>
            <a:r>
              <a:rPr lang="pl-PL" sz="2000" dirty="0">
                <a:latin typeface="Arial Narrow" panose="020B0606020202030204" pitchFamily="34" charset="0"/>
              </a:rPr>
              <a:t>na danych </a:t>
            </a:r>
            <a:br>
              <a:rPr lang="pl-PL" sz="2000" dirty="0">
                <a:latin typeface="Arial Narrow" panose="020B0606020202030204" pitchFamily="34" charset="0"/>
              </a:rPr>
            </a:br>
            <a:r>
              <a:rPr lang="pl-PL" sz="2000" b="1" dirty="0">
                <a:latin typeface="Arial Narrow" panose="020B0606020202030204" pitchFamily="34" charset="0"/>
              </a:rPr>
              <a:t>testowych</a:t>
            </a:r>
            <a:r>
              <a:rPr lang="pl-PL" sz="2000" dirty="0">
                <a:latin typeface="Arial Narrow" panose="020B0606020202030204" pitchFamily="34" charset="0"/>
              </a:rPr>
              <a:t> (</a:t>
            </a:r>
            <a:r>
              <a:rPr lang="pl-PL" sz="2000" b="1" dirty="0">
                <a:latin typeface="Arial Narrow" panose="020B0606020202030204" pitchFamily="34" charset="0"/>
              </a:rPr>
              <a:t>odłożonych</a:t>
            </a:r>
            <a:r>
              <a:rPr lang="pl-PL" sz="2000" dirty="0">
                <a:latin typeface="Arial Narrow" panose="020B0606020202030204" pitchFamily="34" charset="0"/>
              </a:rPr>
              <a:t>)</a:t>
            </a:r>
            <a:endParaRPr lang="pl-PL" sz="2000" b="1" dirty="0">
              <a:latin typeface="Arial Narrow" panose="020B0606020202030204" pitchFamily="34" charset="0"/>
            </a:endParaRPr>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grpSp>
        <p:nvGrpSpPr>
          <p:cNvPr id="41" name="Group 40"/>
          <p:cNvGrpSpPr/>
          <p:nvPr/>
        </p:nvGrpSpPr>
        <p:grpSpPr>
          <a:xfrm>
            <a:off x="3034954" y="838200"/>
            <a:ext cx="6032846" cy="3791400"/>
            <a:chOff x="2958754" y="1406325"/>
            <a:chExt cx="6032846" cy="3791400"/>
          </a:xfrm>
        </p:grpSpPr>
        <p:cxnSp>
          <p:nvCxnSpPr>
            <p:cNvPr id="31" name="Łącznik prosty ze strzałką 43"/>
            <p:cNvCxnSpPr>
              <a:cxnSpLocks noChangeShapeType="1"/>
            </p:cNvCxnSpPr>
            <p:nvPr/>
          </p:nvCxnSpPr>
          <p:spPr bwMode="auto">
            <a:xfrm rot="5400000">
              <a:off x="6267418" y="1594444"/>
              <a:ext cx="377825" cy="158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24" name="AutoShape 39"/>
            <p:cNvSpPr>
              <a:spLocks noChangeArrowheads="1"/>
            </p:cNvSpPr>
            <p:nvPr/>
          </p:nvSpPr>
          <p:spPr bwMode="auto">
            <a:xfrm>
              <a:off x="7448282" y="3656875"/>
              <a:ext cx="7175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lIns="0" tIns="0" rIns="0" bIns="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Nie</a:t>
              </a:r>
              <a:endParaRPr lang="cs-CZ" altLang="en-US" sz="1800" b="0">
                <a:solidFill>
                  <a:schemeClr val="tx1"/>
                </a:solidFill>
                <a:latin typeface="Arial Narrow" panose="020B0606020202030204" pitchFamily="34" charset="0"/>
              </a:endParaRPr>
            </a:p>
          </p:txBody>
        </p:sp>
        <p:sp>
          <p:nvSpPr>
            <p:cNvPr id="25" name="AutoShape 39"/>
            <p:cNvSpPr>
              <a:spLocks noChangeArrowheads="1"/>
            </p:cNvSpPr>
            <p:nvPr/>
          </p:nvSpPr>
          <p:spPr bwMode="auto">
            <a:xfrm>
              <a:off x="5660825" y="1793875"/>
              <a:ext cx="1620000" cy="540000"/>
            </a:xfrm>
            <a:prstGeom prst="rect">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Trenowanie</a:t>
              </a:r>
              <a:endParaRPr lang="cs-CZ" altLang="en-US" sz="1800" b="0">
                <a:solidFill>
                  <a:schemeClr val="tx1"/>
                </a:solidFill>
                <a:latin typeface="Arial Narrow" panose="020B0606020202030204" pitchFamily="34" charset="0"/>
              </a:endParaRPr>
            </a:p>
          </p:txBody>
        </p:sp>
        <p:cxnSp>
          <p:nvCxnSpPr>
            <p:cNvPr id="26" name="Łącznik prosty ze strzałką 32"/>
            <p:cNvCxnSpPr>
              <a:cxnSpLocks noChangeShapeType="1"/>
              <a:stCxn id="25" idx="2"/>
              <a:endCxn id="27" idx="0"/>
            </p:cNvCxnSpPr>
            <p:nvPr/>
          </p:nvCxnSpPr>
          <p:spPr bwMode="auto">
            <a:xfrm>
              <a:off x="6470825" y="2333875"/>
              <a:ext cx="0" cy="37757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27" name="AutoShape 39"/>
            <p:cNvSpPr>
              <a:spLocks noChangeArrowheads="1"/>
            </p:cNvSpPr>
            <p:nvPr/>
          </p:nvSpPr>
          <p:spPr bwMode="auto">
            <a:xfrm>
              <a:off x="5660825" y="2711450"/>
              <a:ext cx="1620000" cy="540000"/>
            </a:xfrm>
            <a:prstGeom prst="rect">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Ewaluacja</a:t>
              </a:r>
              <a:endParaRPr lang="cs-CZ" altLang="en-US" sz="1800" b="0">
                <a:solidFill>
                  <a:schemeClr val="tx1"/>
                </a:solidFill>
                <a:latin typeface="Arial Narrow" panose="020B0606020202030204" pitchFamily="34" charset="0"/>
              </a:endParaRPr>
            </a:p>
          </p:txBody>
        </p:sp>
        <p:sp>
          <p:nvSpPr>
            <p:cNvPr id="28" name="AutoShape 39"/>
            <p:cNvSpPr>
              <a:spLocks noChangeArrowheads="1"/>
            </p:cNvSpPr>
            <p:nvPr/>
          </p:nvSpPr>
          <p:spPr bwMode="auto">
            <a:xfrm>
              <a:off x="5480825" y="3646488"/>
              <a:ext cx="1980000" cy="540000"/>
            </a:xfrm>
            <a:prstGeom prst="flowChartPreparation">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Model wytrenowany</a:t>
              </a:r>
              <a:endParaRPr lang="cs-CZ" altLang="en-US" sz="1800" b="0">
                <a:solidFill>
                  <a:schemeClr val="tx1"/>
                </a:solidFill>
                <a:latin typeface="Arial Narrow" panose="020B0606020202030204" pitchFamily="34" charset="0"/>
              </a:endParaRPr>
            </a:p>
          </p:txBody>
        </p:sp>
        <p:sp>
          <p:nvSpPr>
            <p:cNvPr id="29" name="AutoShape 39"/>
            <p:cNvSpPr>
              <a:spLocks noChangeArrowheads="1"/>
            </p:cNvSpPr>
            <p:nvPr/>
          </p:nvSpPr>
          <p:spPr bwMode="auto">
            <a:xfrm>
              <a:off x="4247375" y="4657725"/>
              <a:ext cx="1620000" cy="540000"/>
            </a:xfrm>
            <a:prstGeom prst="rect">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nchorCtr="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Testowanie</a:t>
              </a:r>
              <a:endParaRPr lang="cs-CZ" altLang="en-US" sz="1800" b="0">
                <a:solidFill>
                  <a:schemeClr val="tx1"/>
                </a:solidFill>
                <a:latin typeface="Arial Narrow" panose="020B0606020202030204" pitchFamily="34" charset="0"/>
              </a:endParaRPr>
            </a:p>
          </p:txBody>
        </p:sp>
        <p:cxnSp>
          <p:nvCxnSpPr>
            <p:cNvPr id="30" name="Łącznik prosty ze strzałką 40"/>
            <p:cNvCxnSpPr>
              <a:cxnSpLocks noChangeShapeType="1"/>
              <a:stCxn id="27" idx="2"/>
              <a:endCxn id="28" idx="0"/>
            </p:cNvCxnSpPr>
            <p:nvPr/>
          </p:nvCxnSpPr>
          <p:spPr bwMode="auto">
            <a:xfrm>
              <a:off x="6470825" y="3251450"/>
              <a:ext cx="0" cy="39503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32" name="Kształt 45"/>
            <p:cNvCxnSpPr>
              <a:cxnSpLocks noChangeShapeType="1"/>
              <a:stCxn id="28" idx="1"/>
            </p:cNvCxnSpPr>
            <p:nvPr/>
          </p:nvCxnSpPr>
          <p:spPr bwMode="auto">
            <a:xfrm rot="10800000" flipV="1">
              <a:off x="5049025" y="3916488"/>
              <a:ext cx="431800" cy="752350"/>
            </a:xfrm>
            <a:prstGeom prst="bentConnector2">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33" name="Łącznik prosty ze strzałką 59"/>
            <p:cNvCxnSpPr>
              <a:cxnSpLocks noChangeShapeType="1"/>
            </p:cNvCxnSpPr>
            <p:nvPr/>
          </p:nvCxnSpPr>
          <p:spPr bwMode="auto">
            <a:xfrm rot="10800000">
              <a:off x="6448525" y="1600200"/>
              <a:ext cx="1728000" cy="158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34" name="AutoShape 39"/>
            <p:cNvSpPr>
              <a:spLocks noChangeArrowheads="1"/>
            </p:cNvSpPr>
            <p:nvPr/>
          </p:nvSpPr>
          <p:spPr bwMode="auto">
            <a:xfrm>
              <a:off x="4952975" y="3658788"/>
              <a:ext cx="7191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lIns="0" tIns="0" rIns="0" bIns="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Tak</a:t>
              </a:r>
              <a:endParaRPr lang="cs-CZ" altLang="en-US" sz="1800" b="0">
                <a:solidFill>
                  <a:schemeClr val="tx1"/>
                </a:solidFill>
                <a:latin typeface="Arial Narrow" panose="020B0606020202030204" pitchFamily="34" charset="0"/>
              </a:endParaRPr>
            </a:p>
          </p:txBody>
        </p:sp>
        <p:cxnSp>
          <p:nvCxnSpPr>
            <p:cNvPr id="35" name="Elbow Connector 34"/>
            <p:cNvCxnSpPr>
              <a:stCxn id="28" idx="3"/>
            </p:cNvCxnSpPr>
            <p:nvPr/>
          </p:nvCxnSpPr>
          <p:spPr>
            <a:xfrm flipV="1">
              <a:off x="7460825" y="1600200"/>
              <a:ext cx="715700" cy="2316288"/>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AutoShape 39"/>
            <p:cNvSpPr>
              <a:spLocks noChangeArrowheads="1"/>
            </p:cNvSpPr>
            <p:nvPr/>
          </p:nvSpPr>
          <p:spPr bwMode="auto">
            <a:xfrm>
              <a:off x="7371600" y="2240888"/>
              <a:ext cx="1620000" cy="644525"/>
            </a:xfrm>
            <a:prstGeom prst="rect">
              <a:avLst/>
            </a:prstGeom>
            <a:solidFill>
              <a:schemeClr val="bg1"/>
            </a:solidFill>
            <a:ln w="6350">
              <a:solidFill>
                <a:schemeClr val="tx1"/>
              </a:solidFill>
              <a:round/>
              <a:headEnd/>
              <a:tailEnd/>
            </a:ln>
          </p:spPr>
          <p:txBody>
            <a:bodyPr lIns="0" tIns="0" rIns="0" bIns="0"/>
            <a:lstStyle>
              <a:lvl1pPr eaLnBrk="0" hangingPunct="0">
                <a:defRPr sz="2400" b="1">
                  <a:solidFill>
                    <a:srgbClr val="000000"/>
                  </a:solidFill>
                  <a:latin typeface="Arial" panose="020B0604020202020204" pitchFamily="34" charset="0"/>
                </a:defRPr>
              </a:lvl1pPr>
              <a:lvl2pPr marL="742950" indent="-285750" eaLnBrk="0" hangingPunct="0">
                <a:defRPr sz="2400" b="1">
                  <a:solidFill>
                    <a:srgbClr val="000000"/>
                  </a:solidFill>
                  <a:latin typeface="Arial" panose="020B0604020202020204" pitchFamily="34" charset="0"/>
                </a:defRPr>
              </a:lvl2pPr>
              <a:lvl3pPr marL="1143000" indent="-228600" eaLnBrk="0" hangingPunct="0">
                <a:defRPr sz="2400" b="1">
                  <a:solidFill>
                    <a:srgbClr val="000000"/>
                  </a:solidFill>
                  <a:latin typeface="Arial" panose="020B0604020202020204" pitchFamily="34" charset="0"/>
                </a:defRPr>
              </a:lvl3pPr>
              <a:lvl4pPr marL="1600200" indent="-228600" eaLnBrk="0" hangingPunct="0">
                <a:defRPr sz="2400" b="1">
                  <a:solidFill>
                    <a:srgbClr val="000000"/>
                  </a:solidFill>
                  <a:latin typeface="Arial" panose="020B0604020202020204" pitchFamily="34" charset="0"/>
                </a:defRPr>
              </a:lvl4pPr>
              <a:lvl5pPr marL="2057400" indent="-228600" eaLnBrk="0" hangingPunct="0">
                <a:defRPr sz="2400" b="1">
                  <a:solidFill>
                    <a:srgbClr val="000000"/>
                  </a:solidFill>
                  <a:latin typeface="Arial" panose="020B0604020202020204" pitchFamily="34" charset="0"/>
                </a:defRPr>
              </a:lvl5pPr>
              <a:lvl6pPr marL="2514600" indent="-228600" eaLnBrk="0" fontAlgn="base" hangingPunct="0">
                <a:spcBef>
                  <a:spcPct val="50000"/>
                </a:spcBef>
                <a:spcAft>
                  <a:spcPct val="0"/>
                </a:spcAft>
                <a:defRPr sz="2400" b="1">
                  <a:solidFill>
                    <a:srgbClr val="000000"/>
                  </a:solidFill>
                  <a:latin typeface="Arial" panose="020B0604020202020204" pitchFamily="34" charset="0"/>
                </a:defRPr>
              </a:lvl6pPr>
              <a:lvl7pPr marL="2971800" indent="-228600" eaLnBrk="0" fontAlgn="base" hangingPunct="0">
                <a:spcBef>
                  <a:spcPct val="50000"/>
                </a:spcBef>
                <a:spcAft>
                  <a:spcPct val="0"/>
                </a:spcAft>
                <a:defRPr sz="2400" b="1">
                  <a:solidFill>
                    <a:srgbClr val="000000"/>
                  </a:solidFill>
                  <a:latin typeface="Arial" panose="020B0604020202020204" pitchFamily="34" charset="0"/>
                </a:defRPr>
              </a:lvl7pPr>
              <a:lvl8pPr marL="3429000" indent="-228600" eaLnBrk="0" fontAlgn="base" hangingPunct="0">
                <a:spcBef>
                  <a:spcPct val="50000"/>
                </a:spcBef>
                <a:spcAft>
                  <a:spcPct val="0"/>
                </a:spcAft>
                <a:defRPr sz="2400" b="1">
                  <a:solidFill>
                    <a:srgbClr val="000000"/>
                  </a:solidFill>
                  <a:latin typeface="Arial" panose="020B0604020202020204" pitchFamily="34" charset="0"/>
                </a:defRPr>
              </a:lvl8pPr>
              <a:lvl9pPr marL="3886200" indent="-228600" eaLnBrk="0" fontAlgn="base" hangingPunct="0">
                <a:spcBef>
                  <a:spcPct val="50000"/>
                </a:spcBef>
                <a:spcAft>
                  <a:spcPct val="0"/>
                </a:spcAft>
                <a:defRPr sz="2400" b="1">
                  <a:solidFill>
                    <a:srgbClr val="000000"/>
                  </a:solidFill>
                  <a:latin typeface="Arial" panose="020B0604020202020204" pitchFamily="34" charset="0"/>
                </a:defRPr>
              </a:lvl9pPr>
            </a:lstStyle>
            <a:p>
              <a:pPr algn="ctr" eaLnBrk="1" hangingPunct="1">
                <a:spcBef>
                  <a:spcPct val="0"/>
                </a:spcBef>
              </a:pPr>
              <a:r>
                <a:rPr lang="cs-CZ" altLang="en-US" sz="1800" b="0">
                  <a:solidFill>
                    <a:schemeClr val="tx1"/>
                  </a:solidFill>
                  <a:latin typeface="Arial Narrow" panose="020B0606020202030204" pitchFamily="34" charset="0"/>
                  <a:cs typeface="Times New Roman" panose="02020603050405020304" pitchFamily="18" charset="0"/>
                </a:rPr>
                <a:t>Dostrojenie</a:t>
              </a:r>
              <a:br>
                <a:rPr lang="cs-CZ" altLang="en-US" sz="1800" b="0">
                  <a:solidFill>
                    <a:schemeClr val="tx1"/>
                  </a:solidFill>
                  <a:latin typeface="Arial Narrow" panose="020B0606020202030204" pitchFamily="34" charset="0"/>
                  <a:cs typeface="Times New Roman" panose="02020603050405020304" pitchFamily="18" charset="0"/>
                </a:rPr>
              </a:br>
              <a:r>
                <a:rPr lang="cs-CZ" altLang="en-US" sz="1800" b="0">
                  <a:solidFill>
                    <a:schemeClr val="tx1"/>
                  </a:solidFill>
                  <a:latin typeface="Arial Narrow" panose="020B0606020202030204" pitchFamily="34" charset="0"/>
                  <a:cs typeface="Times New Roman" panose="02020603050405020304" pitchFamily="18" charset="0"/>
                </a:rPr>
                <a:t>hiperparametrów</a:t>
              </a:r>
              <a:endParaRPr lang="cs-CZ" altLang="en-US" sz="1800" b="0">
                <a:solidFill>
                  <a:schemeClr val="tx1"/>
                </a:solidFill>
                <a:latin typeface="Arial Narrow" panose="020B0606020202030204" pitchFamily="34" charset="0"/>
              </a:endParaRPr>
            </a:p>
          </p:txBody>
        </p:sp>
        <p:sp>
          <p:nvSpPr>
            <p:cNvPr id="37" name="TextBox 36"/>
            <p:cNvSpPr txBox="1"/>
            <p:nvPr/>
          </p:nvSpPr>
          <p:spPr>
            <a:xfrm>
              <a:off x="3962400" y="1932323"/>
              <a:ext cx="1622225" cy="283026"/>
            </a:xfrm>
            <a:prstGeom prst="rect">
              <a:avLst/>
            </a:prstGeom>
            <a:noFill/>
          </p:spPr>
          <p:txBody>
            <a:bodyPr wrap="square" lIns="18000" tIns="18000" rIns="18000" bIns="18000" rtlCol="0">
              <a:noAutofit/>
            </a:bodyPr>
            <a:lstStyle/>
            <a:p>
              <a:pPr algn="r"/>
              <a:r>
                <a:rPr lang="pl-PL" dirty="0">
                  <a:latin typeface="Arial Narrow" panose="020B0606020202030204" pitchFamily="34" charset="0"/>
                </a:rPr>
                <a:t>dane </a:t>
              </a:r>
              <a:r>
                <a:rPr lang="pl-PL" b="1" dirty="0">
                  <a:latin typeface="Arial Narrow" panose="020B0606020202030204" pitchFamily="34" charset="0"/>
                </a:rPr>
                <a:t>treningowe</a:t>
              </a:r>
              <a:endParaRPr lang="en-GB" b="1" dirty="0">
                <a:latin typeface="Arial Narrow" panose="020B0606020202030204" pitchFamily="34" charset="0"/>
              </a:endParaRPr>
            </a:p>
          </p:txBody>
        </p:sp>
        <p:sp>
          <p:nvSpPr>
            <p:cNvPr id="38" name="TextBox 37"/>
            <p:cNvSpPr txBox="1"/>
            <p:nvPr/>
          </p:nvSpPr>
          <p:spPr>
            <a:xfrm>
              <a:off x="3962400" y="2829976"/>
              <a:ext cx="1622225" cy="287626"/>
            </a:xfrm>
            <a:prstGeom prst="rect">
              <a:avLst/>
            </a:prstGeom>
            <a:noFill/>
          </p:spPr>
          <p:txBody>
            <a:bodyPr wrap="square" lIns="18000" tIns="18000" rIns="18000" bIns="18000" rtlCol="0">
              <a:noAutofit/>
            </a:bodyPr>
            <a:lstStyle/>
            <a:p>
              <a:pPr algn="r"/>
              <a:r>
                <a:rPr lang="pl-PL" dirty="0">
                  <a:latin typeface="Arial Narrow" panose="020B0606020202030204" pitchFamily="34" charset="0"/>
                </a:rPr>
                <a:t>dane </a:t>
              </a:r>
              <a:r>
                <a:rPr lang="pl-PL" b="1" dirty="0">
                  <a:latin typeface="Arial Narrow" panose="020B0606020202030204" pitchFamily="34" charset="0"/>
                </a:rPr>
                <a:t>walidacyjne</a:t>
              </a:r>
              <a:endParaRPr lang="en-GB" b="1" dirty="0">
                <a:latin typeface="Arial Narrow" panose="020B0606020202030204" pitchFamily="34" charset="0"/>
              </a:endParaRPr>
            </a:p>
          </p:txBody>
        </p:sp>
        <p:sp>
          <p:nvSpPr>
            <p:cNvPr id="39" name="TextBox 38"/>
            <p:cNvSpPr txBox="1"/>
            <p:nvPr/>
          </p:nvSpPr>
          <p:spPr>
            <a:xfrm>
              <a:off x="2958754" y="4776251"/>
              <a:ext cx="1254271" cy="302948"/>
            </a:xfrm>
            <a:prstGeom prst="rect">
              <a:avLst/>
            </a:prstGeom>
            <a:noFill/>
          </p:spPr>
          <p:txBody>
            <a:bodyPr wrap="square" lIns="18000" tIns="18000" rIns="18000" bIns="18000" rtlCol="0">
              <a:noAutofit/>
            </a:bodyPr>
            <a:lstStyle/>
            <a:p>
              <a:pPr algn="r"/>
              <a:r>
                <a:rPr lang="pl-PL" dirty="0">
                  <a:latin typeface="Arial Narrow" panose="020B0606020202030204" pitchFamily="34" charset="0"/>
                </a:rPr>
                <a:t>dane </a:t>
              </a:r>
              <a:r>
                <a:rPr lang="pl-PL" b="1" dirty="0">
                  <a:latin typeface="Arial Narrow" panose="020B0606020202030204" pitchFamily="34" charset="0"/>
                </a:rPr>
                <a:t>testowe</a:t>
              </a:r>
              <a:endParaRPr lang="en-GB" b="1" dirty="0">
                <a:latin typeface="Arial Narrow" panose="020B0606020202030204" pitchFamily="34" charset="0"/>
              </a:endParaRPr>
            </a:p>
          </p:txBody>
        </p:sp>
      </p:grpSp>
    </p:spTree>
    <p:extLst>
      <p:ext uri="{BB962C8B-B14F-4D97-AF65-F5344CB8AC3E}">
        <p14:creationId xmlns:p14="http://schemas.microsoft.com/office/powerpoint/2010/main" val="39818102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68</a:t>
            </a:fld>
            <a:endParaRPr lang="pl-PL" dirty="0"/>
          </a:p>
        </p:txBody>
      </p:sp>
      <p:sp>
        <p:nvSpPr>
          <p:cNvPr id="5" name="Rectangle 22"/>
          <p:cNvSpPr/>
          <p:nvPr/>
        </p:nvSpPr>
        <p:spPr>
          <a:xfrm>
            <a:off x="0" y="304800"/>
            <a:ext cx="9134354" cy="2554545"/>
          </a:xfrm>
          <a:prstGeom prst="rect">
            <a:avLst/>
          </a:prstGeom>
        </p:spPr>
        <p:txBody>
          <a:bodyPr wrap="square">
            <a:spAutoFit/>
          </a:bodyPr>
          <a:lstStyle/>
          <a:p>
            <a:r>
              <a:rPr lang="pl-PL" sz="2000" dirty="0">
                <a:latin typeface="Arial Narrow" panose="020B0606020202030204" pitchFamily="34" charset="0"/>
              </a:rPr>
              <a:t>Wady metody walidacji na odłożonych danych:</a:t>
            </a:r>
          </a:p>
          <a:p>
            <a:pPr marL="179388" indent="-179388">
              <a:buFont typeface="Arial" panose="020B0604020202020204" pitchFamily="34" charset="0"/>
              <a:buChar char="•"/>
            </a:pPr>
            <a:r>
              <a:rPr lang="pl-PL" sz="2000" dirty="0">
                <a:latin typeface="Arial Narrow" panose="020B0606020202030204" pitchFamily="34" charset="0"/>
              </a:rPr>
              <a:t>jeśli podczas losowania różnych próbek do poszczególnych zbiorów uzyskujemy różną wydajność modelu, oznacza to, że mamy zbyt mało próbek i zbiór danych nie jest reprezentatywny,</a:t>
            </a:r>
          </a:p>
          <a:p>
            <a:pPr marL="179388" indent="-179388">
              <a:buFont typeface="Arial" panose="020B0604020202020204" pitchFamily="34" charset="0"/>
              <a:buChar char="•"/>
            </a:pPr>
            <a:r>
              <a:rPr lang="pl-PL" sz="2000" dirty="0">
                <a:latin typeface="Arial Narrow" panose="020B0606020202030204" pitchFamily="34" charset="0"/>
              </a:rPr>
              <a:t>wydajność modelu może być w dużej mierze zależna od tego, które obserwacje zostały wybrane do zbioru testowego,</a:t>
            </a:r>
          </a:p>
          <a:p>
            <a:pPr marL="179388" indent="-179388">
              <a:buFont typeface="Arial" panose="020B0604020202020204" pitchFamily="34" charset="0"/>
              <a:buChar char="•"/>
            </a:pPr>
            <a:r>
              <a:rPr lang="pl-PL" sz="2000" dirty="0">
                <a:latin typeface="Arial Narrow" panose="020B0606020202030204" pitchFamily="34" charset="0"/>
              </a:rPr>
              <a:t>model nie jest trenowany ani oceniany z użyciem wszystkich dostępnych danych.</a:t>
            </a:r>
          </a:p>
          <a:p>
            <a:pPr marL="266700" indent="-266700">
              <a:buFont typeface="Arial" panose="020B0604020202020204" pitchFamily="34" charset="0"/>
              <a:buChar char="•"/>
            </a:pPr>
            <a:endParaRPr lang="en-US" sz="2000" dirty="0"/>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5436090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69</a:t>
            </a:fld>
            <a:endParaRPr lang="pl-PL" dirty="0"/>
          </a:p>
        </p:txBody>
      </p:sp>
      <p:sp>
        <p:nvSpPr>
          <p:cNvPr id="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mc:AlternateContent xmlns:mc="http://schemas.openxmlformats.org/markup-compatibility/2006" xmlns:a14="http://schemas.microsoft.com/office/drawing/2010/main">
        <mc:Choice Requires="a14">
          <p:sp>
            <p:nvSpPr>
              <p:cNvPr id="6" name="TextBox 4"/>
              <p:cNvSpPr txBox="1"/>
              <p:nvPr/>
            </p:nvSpPr>
            <p:spPr>
              <a:xfrm>
                <a:off x="0" y="304800"/>
                <a:ext cx="9144000" cy="5029200"/>
              </a:xfrm>
              <a:prstGeom prst="rect">
                <a:avLst/>
              </a:prstGeom>
              <a:noFill/>
            </p:spPr>
            <p:txBody>
              <a:bodyPr wrap="square" lIns="18000" tIns="18000" rIns="18000" bIns="18000" rtlCol="0">
                <a:noAutofit/>
              </a:bodyPr>
              <a:lstStyle/>
              <a:p>
                <a:r>
                  <a:rPr lang="pl-PL" sz="2000" b="1" dirty="0">
                    <a:solidFill>
                      <a:srgbClr val="0000FF"/>
                    </a:solidFill>
                    <a:latin typeface="Arial Narrow" panose="020B0606020202030204" pitchFamily="34" charset="0"/>
                  </a:rPr>
                  <a:t>Dokładność trenowania (accuracy)</a:t>
                </a:r>
                <a:r>
                  <a:rPr lang="pl-PL" sz="2000" b="1" dirty="0">
                    <a:latin typeface="Arial Narrow" panose="020B0606020202030204" pitchFamily="34" charset="0"/>
                  </a:rPr>
                  <a:t>:</a:t>
                </a:r>
              </a:p>
              <a:p>
                <a:endParaRPr lang="pl-PL" sz="2000" dirty="0">
                  <a:latin typeface="Arial Narrow" panose="020B0606020202030204" pitchFamily="34" charset="0"/>
                </a:endParaRPr>
              </a:p>
              <a:p>
                <a:pPr/>
                <a14:m>
                  <m:oMathPara xmlns:m="http://schemas.openxmlformats.org/officeDocument/2006/math">
                    <m:oMathParaPr>
                      <m:jc m:val="left"/>
                    </m:oMathParaPr>
                    <m:oMath xmlns:m="http://schemas.openxmlformats.org/officeDocument/2006/math">
                      <m:r>
                        <a:rPr lang="pl-PL" sz="2800" i="1">
                          <a:latin typeface="Cambria Math" panose="02040503050406030204" pitchFamily="18" charset="0"/>
                        </a:rPr>
                        <m:t>𝐴𝐶𝐶</m:t>
                      </m:r>
                      <m:r>
                        <a:rPr lang="pl-PL" sz="2800" i="1">
                          <a:latin typeface="Cambria Math" panose="02040503050406030204" pitchFamily="18" charset="0"/>
                        </a:rPr>
                        <m:t>=</m:t>
                      </m:r>
                      <m:f>
                        <m:fPr>
                          <m:ctrlPr>
                            <a:rPr lang="pl-PL" sz="2800" i="1">
                              <a:latin typeface="Cambria Math" panose="02040503050406030204" pitchFamily="18" charset="0"/>
                            </a:rPr>
                          </m:ctrlPr>
                        </m:fPr>
                        <m:num>
                          <m:r>
                            <a:rPr lang="pl-PL" sz="2800" i="1">
                              <a:latin typeface="Cambria Math" panose="02040503050406030204" pitchFamily="18" charset="0"/>
                            </a:rPr>
                            <m:t>𝑁𝑝</m:t>
                          </m:r>
                        </m:num>
                        <m:den>
                          <m:r>
                            <a:rPr lang="pl-PL" sz="2800" i="1">
                              <a:latin typeface="Cambria Math" panose="02040503050406030204" pitchFamily="18" charset="0"/>
                            </a:rPr>
                            <m:t>𝑁</m:t>
                          </m:r>
                        </m:den>
                      </m:f>
                    </m:oMath>
                  </m:oMathPara>
                </a14:m>
                <a:endParaRPr lang="pl-PL" sz="2800" dirty="0">
                  <a:latin typeface="Arial Narrow" panose="020B0606020202030204" pitchFamily="34" charset="0"/>
                </a:endParaRPr>
              </a:p>
              <a:p>
                <a:r>
                  <a:rPr lang="pl-PL" sz="2000" dirty="0">
                    <a:latin typeface="Arial Narrow" panose="020B0606020202030204" pitchFamily="34" charset="0"/>
                  </a:rPr>
                  <a:t>gdzie:</a:t>
                </a:r>
              </a:p>
              <a:p>
                <a:r>
                  <a:rPr lang="pl-PL" sz="2000" dirty="0">
                    <a:latin typeface="Arial Narrow" panose="020B0606020202030204" pitchFamily="34" charset="0"/>
                  </a:rPr>
                  <a:t>Np – liczba przykładów testowych sklasyfikowanych prawidłowo przez model</a:t>
                </a:r>
              </a:p>
              <a:p>
                <a:r>
                  <a:rPr lang="pl-PL" sz="2000" dirty="0">
                    <a:latin typeface="Arial Narrow" panose="020B0606020202030204" pitchFamily="34" charset="0"/>
                  </a:rPr>
                  <a:t>N – liczba wszystkich przykładów testowych</a:t>
                </a:r>
              </a:p>
              <a:p>
                <a:endParaRPr lang="pl-PL" sz="2000" dirty="0">
                  <a:latin typeface="Arial Narrow" panose="020B0606020202030204" pitchFamily="34" charset="0"/>
                </a:endParaRPr>
              </a:p>
              <a:p>
                <a:r>
                  <a:rPr lang="pl-PL" sz="2000" dirty="0">
                    <a:latin typeface="Arial Narrow" panose="020B0606020202030204" pitchFamily="34" charset="0"/>
                  </a:rPr>
                  <a:t>Nie jest to dobra miara w przypadku zbiorów danych, w których niektóre klasy występują częściej od pozostałych.</a:t>
                </a:r>
                <a:br>
                  <a:rPr lang="pl-PL" sz="2000" dirty="0">
                    <a:latin typeface="Arial Narrow" panose="020B0606020202030204" pitchFamily="34" charset="0"/>
                  </a:rPr>
                </a:br>
                <a:r>
                  <a:rPr lang="pl-PL" sz="2000" dirty="0">
                    <a:latin typeface="Arial Narrow" panose="020B0606020202030204" pitchFamily="34" charset="0"/>
                  </a:rPr>
                  <a:t>Np.:</a:t>
                </a:r>
                <a:br>
                  <a:rPr lang="pl-PL" sz="2000" dirty="0">
                    <a:latin typeface="Arial Narrow" panose="020B0606020202030204" pitchFamily="34" charset="0"/>
                  </a:rPr>
                </a:br>
                <a:r>
                  <a:rPr lang="pl-PL" sz="2000" dirty="0">
                    <a:latin typeface="Arial Narrow" panose="020B0606020202030204" pitchFamily="34" charset="0"/>
                  </a:rPr>
                  <a:t>gdybyśmy mieli zbiór zdjęć, na których byłoby 90% kotów i 10% psów, to nawet, gdybyśmy zgadywali, czy na zdjęciu jest kot, to w 90% przypadków mielibyśmy rację.</a:t>
                </a:r>
              </a:p>
              <a:p>
                <a:r>
                  <a:rPr lang="pl-PL" sz="2000" dirty="0">
                    <a:latin typeface="Arial Narrow" panose="020B0606020202030204" pitchFamily="34" charset="0"/>
                  </a:rPr>
                  <a:t>Jeśli wytrenowany model zwracałby zawsze informację, że na zdjęciu jest kot, to jego dokładność byłaby równa 90%.</a:t>
                </a: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p:txBody>
          </p:sp>
        </mc:Choice>
        <mc:Fallback xmlns="">
          <p:sp>
            <p:nvSpPr>
              <p:cNvPr id="6" name="TextBox 4"/>
              <p:cNvSpPr txBox="1">
                <a:spLocks noRot="1" noChangeAspect="1" noMove="1" noResize="1" noEditPoints="1" noAdjustHandles="1" noChangeArrowheads="1" noChangeShapeType="1" noTextEdit="1"/>
              </p:cNvSpPr>
              <p:nvPr/>
            </p:nvSpPr>
            <p:spPr>
              <a:xfrm>
                <a:off x="0" y="304800"/>
                <a:ext cx="9144000" cy="5029200"/>
              </a:xfrm>
              <a:prstGeom prst="rect">
                <a:avLst/>
              </a:prstGeom>
              <a:blipFill>
                <a:blip r:embed="rId2"/>
                <a:stretch>
                  <a:fillRect l="-1533" t="-1212" r="-600"/>
                </a:stretch>
              </a:blipFill>
            </p:spPr>
            <p:txBody>
              <a:bodyPr/>
              <a:lstStyle/>
              <a:p>
                <a:r>
                  <a:rPr lang="pl-PL">
                    <a:noFill/>
                  </a:rPr>
                  <a:t> </a:t>
                </a:r>
              </a:p>
            </p:txBody>
          </p:sp>
        </mc:Fallback>
      </mc:AlternateContent>
    </p:spTree>
    <p:extLst>
      <p:ext uri="{BB962C8B-B14F-4D97-AF65-F5344CB8AC3E}">
        <p14:creationId xmlns:p14="http://schemas.microsoft.com/office/powerpoint/2010/main" val="42393455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70</a:t>
            </a:fld>
            <a:endParaRPr lang="pl-PL" dirty="0"/>
          </a:p>
        </p:txBody>
      </p:sp>
      <p:sp>
        <p:nvSpPr>
          <p:cNvPr id="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mc:AlternateContent xmlns:mc="http://schemas.openxmlformats.org/markup-compatibility/2006" xmlns:a14="http://schemas.microsoft.com/office/drawing/2010/main">
        <mc:Choice Requires="a14">
          <p:sp>
            <p:nvSpPr>
              <p:cNvPr id="6" name="TextBox 4"/>
              <p:cNvSpPr txBox="1"/>
              <p:nvPr/>
            </p:nvSpPr>
            <p:spPr>
              <a:xfrm>
                <a:off x="0" y="304800"/>
                <a:ext cx="9144000" cy="5257800"/>
              </a:xfrm>
              <a:prstGeom prst="rect">
                <a:avLst/>
              </a:prstGeom>
              <a:noFill/>
            </p:spPr>
            <p:txBody>
              <a:bodyPr wrap="square" lIns="18000" tIns="18000" rIns="18000" bIns="18000" rtlCol="0">
                <a:noAutofit/>
              </a:bodyPr>
              <a:lstStyle/>
              <a:p>
                <a:r>
                  <a:rPr lang="pl-PL" sz="2000" b="1" dirty="0">
                    <a:solidFill>
                      <a:srgbClr val="0000FF"/>
                    </a:solidFill>
                    <a:latin typeface="Arial Narrow" panose="020B0606020202030204" pitchFamily="34" charset="0"/>
                  </a:rPr>
                  <a:t>Dokładność trenowania (accuracy), c.d.</a:t>
                </a:r>
                <a:r>
                  <a:rPr lang="pl-PL" sz="2000" b="1" dirty="0">
                    <a:latin typeface="Arial Narrow" panose="020B0606020202030204" pitchFamily="34" charset="0"/>
                  </a:rPr>
                  <a:t>:</a:t>
                </a:r>
              </a:p>
              <a:p>
                <a:endParaRPr lang="pl-PL" sz="2000" dirty="0">
                  <a:latin typeface="Arial Narrow" panose="020B0606020202030204" pitchFamily="34" charset="0"/>
                </a:endParaRPr>
              </a:p>
              <a:p>
                <a:r>
                  <a:rPr lang="pl-PL" sz="2000" dirty="0">
                    <a:latin typeface="Arial Narrow" panose="020B0606020202030204" pitchFamily="34" charset="0"/>
                  </a:rPr>
                  <a:t>Jeśli, w przypadku </a:t>
                </a:r>
                <a:r>
                  <a:rPr lang="pl-PL" sz="2000">
                    <a:latin typeface="Arial Narrow" panose="020B0606020202030204" pitchFamily="34" charset="0"/>
                  </a:rPr>
                  <a:t>klasyfikacji binarnej, </a:t>
                </a:r>
                <a:r>
                  <a:rPr lang="pl-PL" sz="2000" dirty="0">
                    <a:latin typeface="Arial Narrow" panose="020B0606020202030204" pitchFamily="34" charset="0"/>
                  </a:rPr>
                  <a:t>przyjmiemy:</a:t>
                </a:r>
              </a:p>
              <a:p>
                <a:r>
                  <a:rPr lang="pl-PL" sz="2000" dirty="0">
                    <a:latin typeface="Arial Narrow" panose="020B0606020202030204" pitchFamily="34" charset="0"/>
                  </a:rPr>
                  <a:t>N</a:t>
                </a:r>
                <a:r>
                  <a:rPr lang="pl-PL" sz="2000" baseline="-25000" dirty="0">
                    <a:latin typeface="Arial Narrow" panose="020B0606020202030204" pitchFamily="34" charset="0"/>
                  </a:rPr>
                  <a:t>0</a:t>
                </a:r>
                <a:r>
                  <a:rPr lang="pl-PL" sz="2000" dirty="0">
                    <a:latin typeface="Arial Narrow" panose="020B0606020202030204" pitchFamily="34" charset="0"/>
                  </a:rPr>
                  <a:t> – liczbę wystąpień klasy 0 w zbiorze testowym</a:t>
                </a:r>
              </a:p>
              <a:p>
                <a:r>
                  <a:rPr lang="pl-PL" sz="2000" dirty="0">
                    <a:latin typeface="Arial Narrow" panose="020B0606020202030204" pitchFamily="34" charset="0"/>
                  </a:rPr>
                  <a:t>N</a:t>
                </a:r>
                <a:r>
                  <a:rPr lang="pl-PL" sz="2000" baseline="-25000" dirty="0">
                    <a:latin typeface="Arial Narrow" panose="020B0606020202030204" pitchFamily="34" charset="0"/>
                  </a:rPr>
                  <a:t>1</a:t>
                </a:r>
                <a:r>
                  <a:rPr lang="pl-PL" sz="2000" dirty="0">
                    <a:latin typeface="Arial Narrow" panose="020B0606020202030204" pitchFamily="34" charset="0"/>
                  </a:rPr>
                  <a:t> – liczbę wystąpień klasy 1 w zbiorze testowym</a:t>
                </a:r>
              </a:p>
              <a:p>
                <a:r>
                  <a:rPr lang="pl-PL" sz="2000" dirty="0">
                    <a:latin typeface="Arial Narrow" panose="020B0606020202030204" pitchFamily="34" charset="0"/>
                  </a:rPr>
                  <a:t>C</a:t>
                </a:r>
                <a:r>
                  <a:rPr lang="pl-PL" sz="2000" baseline="-25000" dirty="0">
                    <a:latin typeface="Arial Narrow" panose="020B0606020202030204" pitchFamily="34" charset="0"/>
                  </a:rPr>
                  <a:t>0</a:t>
                </a:r>
                <a:r>
                  <a:rPr lang="pl-PL" sz="2000" dirty="0">
                    <a:latin typeface="Arial Narrow" panose="020B0606020202030204" pitchFamily="34" charset="0"/>
                  </a:rPr>
                  <a:t> – liczbę poprawnie wytypowanych wystąpień klasy 0 przez model</a:t>
                </a:r>
              </a:p>
              <a:p>
                <a:r>
                  <a:rPr lang="pl-PL" sz="2000" dirty="0">
                    <a:latin typeface="Arial Narrow" panose="020B0606020202030204" pitchFamily="34" charset="0"/>
                  </a:rPr>
                  <a:t>C</a:t>
                </a:r>
                <a:r>
                  <a:rPr lang="pl-PL" sz="2000" baseline="-25000" dirty="0">
                    <a:latin typeface="Arial Narrow" panose="020B0606020202030204" pitchFamily="34" charset="0"/>
                  </a:rPr>
                  <a:t>1</a:t>
                </a:r>
                <a:r>
                  <a:rPr lang="pl-PL" sz="2000" dirty="0">
                    <a:latin typeface="Arial Narrow" panose="020B0606020202030204" pitchFamily="34" charset="0"/>
                  </a:rPr>
                  <a:t> – liczbę poprawnie wytypowanych wystąpień klasy 1 przez model</a:t>
                </a:r>
              </a:p>
              <a:p>
                <a:endParaRPr lang="pl-PL" sz="2000" baseline="-25000" dirty="0">
                  <a:latin typeface="Arial Narrow" panose="020B0606020202030204" pitchFamily="34" charset="0"/>
                </a:endParaRPr>
              </a:p>
              <a:p>
                <a:r>
                  <a:rPr lang="pl-PL" sz="2000" dirty="0">
                    <a:latin typeface="Arial Narrow" panose="020B0606020202030204" pitchFamily="34" charset="0"/>
                  </a:rPr>
                  <a:t>to możemy policzyć dokładność dla każdej klasy:</a:t>
                </a:r>
              </a:p>
              <a:p>
                <a14:m>
                  <m:oMath xmlns:m="http://schemas.openxmlformats.org/officeDocument/2006/math">
                    <m:sSub>
                      <m:sSubPr>
                        <m:ctrlPr>
                          <a:rPr lang="pl-PL" sz="3200" i="1">
                            <a:latin typeface="Cambria Math" panose="02040503050406030204" pitchFamily="18" charset="0"/>
                          </a:rPr>
                        </m:ctrlPr>
                      </m:sSubPr>
                      <m:e>
                        <m:r>
                          <a:rPr lang="pl-PL" sz="3200" i="1">
                            <a:latin typeface="Cambria Math" panose="02040503050406030204" pitchFamily="18" charset="0"/>
                          </a:rPr>
                          <m:t>𝐴𝐶𝐶</m:t>
                        </m:r>
                      </m:e>
                      <m:sub>
                        <m:r>
                          <a:rPr lang="pl-PL" sz="3200" i="1">
                            <a:latin typeface="Cambria Math" panose="02040503050406030204" pitchFamily="18" charset="0"/>
                          </a:rPr>
                          <m:t>0</m:t>
                        </m:r>
                      </m:sub>
                    </m:sSub>
                    <m:r>
                      <a:rPr lang="pl-PL" sz="3200" i="1">
                        <a:latin typeface="Cambria Math" panose="02040503050406030204" pitchFamily="18" charset="0"/>
                      </a:rPr>
                      <m:t>=</m:t>
                    </m:r>
                    <m:f>
                      <m:fPr>
                        <m:ctrlPr>
                          <a:rPr lang="pl-PL" sz="3200" i="1">
                            <a:latin typeface="Cambria Math" panose="02040503050406030204" pitchFamily="18" charset="0"/>
                          </a:rPr>
                        </m:ctrlPr>
                      </m:fPr>
                      <m:num>
                        <m:sSub>
                          <m:sSubPr>
                            <m:ctrlPr>
                              <a:rPr lang="pl-PL" sz="3200" i="1">
                                <a:latin typeface="Cambria Math" panose="02040503050406030204" pitchFamily="18" charset="0"/>
                              </a:rPr>
                            </m:ctrlPr>
                          </m:sSubPr>
                          <m:e>
                            <m:r>
                              <a:rPr lang="pl-PL" sz="3200" i="1">
                                <a:latin typeface="Cambria Math" panose="02040503050406030204" pitchFamily="18" charset="0"/>
                              </a:rPr>
                              <m:t>𝐶</m:t>
                            </m:r>
                          </m:e>
                          <m:sub>
                            <m:r>
                              <a:rPr lang="pl-PL" sz="3200" i="1">
                                <a:latin typeface="Cambria Math" panose="02040503050406030204" pitchFamily="18" charset="0"/>
                              </a:rPr>
                              <m:t>0</m:t>
                            </m:r>
                          </m:sub>
                        </m:sSub>
                      </m:num>
                      <m:den>
                        <m:sSub>
                          <m:sSubPr>
                            <m:ctrlPr>
                              <a:rPr lang="pl-PL" sz="3200" i="1">
                                <a:latin typeface="Cambria Math" panose="02040503050406030204" pitchFamily="18" charset="0"/>
                              </a:rPr>
                            </m:ctrlPr>
                          </m:sSubPr>
                          <m:e>
                            <m:r>
                              <a:rPr lang="pl-PL" sz="3200" i="1">
                                <a:latin typeface="Cambria Math" panose="02040503050406030204" pitchFamily="18" charset="0"/>
                              </a:rPr>
                              <m:t>𝑁</m:t>
                            </m:r>
                          </m:e>
                          <m:sub>
                            <m:r>
                              <a:rPr lang="pl-PL" sz="3200" i="1">
                                <a:latin typeface="Cambria Math" panose="02040503050406030204" pitchFamily="18" charset="0"/>
                              </a:rPr>
                              <m:t>0</m:t>
                            </m:r>
                          </m:sub>
                        </m:sSub>
                      </m:den>
                    </m:f>
                  </m:oMath>
                </a14:m>
                <a:r>
                  <a:rPr lang="pl-PL" sz="3200" dirty="0">
                    <a:latin typeface="Arial Narrow" panose="020B0606020202030204" pitchFamily="34" charset="0"/>
                  </a:rPr>
                  <a:t>		</a:t>
                </a:r>
                <a14:m>
                  <m:oMath xmlns:m="http://schemas.openxmlformats.org/officeDocument/2006/math">
                    <m:sSub>
                      <m:sSubPr>
                        <m:ctrlPr>
                          <a:rPr lang="pl-PL" sz="3200" i="1">
                            <a:latin typeface="Cambria Math" panose="02040503050406030204" pitchFamily="18" charset="0"/>
                          </a:rPr>
                        </m:ctrlPr>
                      </m:sSubPr>
                      <m:e>
                        <m:r>
                          <a:rPr lang="pl-PL" sz="3200" i="1">
                            <a:latin typeface="Cambria Math" panose="02040503050406030204" pitchFamily="18" charset="0"/>
                          </a:rPr>
                          <m:t>𝐴𝐶𝐶</m:t>
                        </m:r>
                      </m:e>
                      <m:sub>
                        <m:r>
                          <a:rPr lang="pl-PL" sz="3200" b="0" i="1" smtClean="0">
                            <a:latin typeface="Cambria Math" panose="02040503050406030204" pitchFamily="18" charset="0"/>
                          </a:rPr>
                          <m:t>1</m:t>
                        </m:r>
                      </m:sub>
                    </m:sSub>
                    <m:r>
                      <a:rPr lang="pl-PL" sz="3200" i="1">
                        <a:latin typeface="Cambria Math" panose="02040503050406030204" pitchFamily="18" charset="0"/>
                      </a:rPr>
                      <m:t>=</m:t>
                    </m:r>
                    <m:f>
                      <m:fPr>
                        <m:ctrlPr>
                          <a:rPr lang="pl-PL" sz="3200" i="1">
                            <a:latin typeface="Cambria Math" panose="02040503050406030204" pitchFamily="18" charset="0"/>
                          </a:rPr>
                        </m:ctrlPr>
                      </m:fPr>
                      <m:num>
                        <m:sSub>
                          <m:sSubPr>
                            <m:ctrlPr>
                              <a:rPr lang="pl-PL" sz="3200" i="1">
                                <a:latin typeface="Cambria Math" panose="02040503050406030204" pitchFamily="18" charset="0"/>
                              </a:rPr>
                            </m:ctrlPr>
                          </m:sSubPr>
                          <m:e>
                            <m:r>
                              <a:rPr lang="pl-PL" sz="3200" i="1">
                                <a:latin typeface="Cambria Math" panose="02040503050406030204" pitchFamily="18" charset="0"/>
                              </a:rPr>
                              <m:t>𝐶</m:t>
                            </m:r>
                          </m:e>
                          <m:sub>
                            <m:r>
                              <a:rPr lang="pl-PL" sz="3200" b="0" i="1" smtClean="0">
                                <a:latin typeface="Cambria Math" panose="02040503050406030204" pitchFamily="18" charset="0"/>
                              </a:rPr>
                              <m:t>1</m:t>
                            </m:r>
                          </m:sub>
                        </m:sSub>
                      </m:num>
                      <m:den>
                        <m:sSub>
                          <m:sSubPr>
                            <m:ctrlPr>
                              <a:rPr lang="pl-PL" sz="3200" i="1">
                                <a:latin typeface="Cambria Math" panose="02040503050406030204" pitchFamily="18" charset="0"/>
                              </a:rPr>
                            </m:ctrlPr>
                          </m:sSubPr>
                          <m:e>
                            <m:r>
                              <a:rPr lang="pl-PL" sz="3200" i="1">
                                <a:latin typeface="Cambria Math" panose="02040503050406030204" pitchFamily="18" charset="0"/>
                              </a:rPr>
                              <m:t>𝑁</m:t>
                            </m:r>
                          </m:e>
                          <m:sub>
                            <m:r>
                              <a:rPr lang="pl-PL" sz="3200" b="0" i="1" smtClean="0">
                                <a:latin typeface="Cambria Math" panose="02040503050406030204" pitchFamily="18" charset="0"/>
                              </a:rPr>
                              <m:t>1</m:t>
                            </m:r>
                          </m:sub>
                        </m:sSub>
                      </m:den>
                    </m:f>
                  </m:oMath>
                </a14:m>
                <a:r>
                  <a:rPr lang="pl-PL" sz="3200" dirty="0">
                    <a:latin typeface="Arial Narrow" panose="020B0606020202030204" pitchFamily="34" charset="0"/>
                  </a:rPr>
                  <a:t>		</a:t>
                </a:r>
              </a:p>
              <a:p>
                <a:endParaRPr lang="pl-PL" sz="2000" dirty="0">
                  <a:latin typeface="Arial Narrow" panose="020B0606020202030204" pitchFamily="34" charset="0"/>
                </a:endParaRPr>
              </a:p>
              <a:p>
                <a:r>
                  <a:rPr lang="pl-PL" sz="2000" dirty="0">
                    <a:latin typeface="Arial Narrow" panose="020B0606020202030204" pitchFamily="34" charset="0"/>
                  </a:rPr>
                  <a:t>oraz dokładność ogólną:</a:t>
                </a:r>
              </a:p>
              <a:p>
                <a:endParaRPr lang="pl-PL" sz="2000" dirty="0">
                  <a:latin typeface="Arial Narrow" panose="020B0606020202030204" pitchFamily="34" charset="0"/>
                </a:endParaRPr>
              </a:p>
              <a:p>
                <a14:m>
                  <m:oMath xmlns:m="http://schemas.openxmlformats.org/officeDocument/2006/math">
                    <m:r>
                      <a:rPr lang="pl-PL" sz="3200" b="0" i="1" smtClean="0">
                        <a:latin typeface="Cambria Math" panose="02040503050406030204" pitchFamily="18" charset="0"/>
                        <a:ea typeface="Cambria Math" panose="02040503050406030204" pitchFamily="18" charset="0"/>
                      </a:rPr>
                      <m:t>𝐴𝐶𝐶</m:t>
                    </m:r>
                    <m:r>
                      <a:rPr lang="pl-PL" sz="3200" i="1">
                        <a:latin typeface="Cambria Math" panose="02040503050406030204" pitchFamily="18" charset="0"/>
                        <a:ea typeface="Cambria Math" panose="02040503050406030204" pitchFamily="18" charset="0"/>
                      </a:rPr>
                      <m:t>=</m:t>
                    </m:r>
                    <m:f>
                      <m:fPr>
                        <m:ctrlPr>
                          <a:rPr lang="pl-PL" sz="3200" i="1">
                            <a:latin typeface="Cambria Math" panose="02040503050406030204" pitchFamily="18" charset="0"/>
                            <a:ea typeface="Cambria Math" panose="02040503050406030204" pitchFamily="18" charset="0"/>
                          </a:rPr>
                        </m:ctrlPr>
                      </m:fPr>
                      <m:num>
                        <m:sSub>
                          <m:sSubPr>
                            <m:ctrlPr>
                              <a:rPr lang="pl-PL" sz="3200" i="1">
                                <a:latin typeface="Cambria Math" panose="02040503050406030204" pitchFamily="18" charset="0"/>
                                <a:ea typeface="Cambria Math" panose="02040503050406030204" pitchFamily="18" charset="0"/>
                              </a:rPr>
                            </m:ctrlPr>
                          </m:sSubPr>
                          <m:e>
                            <m:r>
                              <a:rPr lang="pl-PL" sz="3200" i="1">
                                <a:latin typeface="Cambria Math" panose="02040503050406030204" pitchFamily="18" charset="0"/>
                                <a:ea typeface="Cambria Math" panose="02040503050406030204" pitchFamily="18" charset="0"/>
                              </a:rPr>
                              <m:t>𝐶</m:t>
                            </m:r>
                          </m:e>
                          <m:sub>
                            <m:r>
                              <a:rPr lang="pl-PL" sz="3200" b="0" i="1" smtClean="0">
                                <a:latin typeface="Cambria Math" panose="02040503050406030204" pitchFamily="18" charset="0"/>
                                <a:ea typeface="Cambria Math" panose="02040503050406030204" pitchFamily="18" charset="0"/>
                              </a:rPr>
                              <m:t>0</m:t>
                            </m:r>
                          </m:sub>
                        </m:sSub>
                        <m:r>
                          <a:rPr lang="pl-PL" sz="3200" b="0" i="1" smtClean="0">
                            <a:latin typeface="Cambria Math" panose="02040503050406030204" pitchFamily="18" charset="0"/>
                            <a:ea typeface="Cambria Math" panose="02040503050406030204" pitchFamily="18" charset="0"/>
                          </a:rPr>
                          <m:t>+</m:t>
                        </m:r>
                        <m:sSub>
                          <m:sSubPr>
                            <m:ctrlPr>
                              <a:rPr lang="pl-PL" sz="3200" i="1">
                                <a:latin typeface="Cambria Math" panose="02040503050406030204" pitchFamily="18" charset="0"/>
                                <a:ea typeface="Cambria Math" panose="02040503050406030204" pitchFamily="18" charset="0"/>
                              </a:rPr>
                            </m:ctrlPr>
                          </m:sSubPr>
                          <m:e>
                            <m:r>
                              <a:rPr lang="pl-PL" sz="3200" i="1">
                                <a:latin typeface="Cambria Math" panose="02040503050406030204" pitchFamily="18" charset="0"/>
                                <a:ea typeface="Cambria Math" panose="02040503050406030204" pitchFamily="18" charset="0"/>
                              </a:rPr>
                              <m:t>𝐶</m:t>
                            </m:r>
                          </m:e>
                          <m:sub>
                            <m:r>
                              <a:rPr lang="pl-PL" sz="3200" b="0" i="1" smtClean="0">
                                <a:latin typeface="Cambria Math" panose="02040503050406030204" pitchFamily="18" charset="0"/>
                                <a:ea typeface="Cambria Math" panose="02040503050406030204" pitchFamily="18" charset="0"/>
                              </a:rPr>
                              <m:t>1</m:t>
                            </m:r>
                          </m:sub>
                        </m:sSub>
                      </m:num>
                      <m:den>
                        <m:sSub>
                          <m:sSubPr>
                            <m:ctrlPr>
                              <a:rPr lang="pl-PL" sz="3200" i="1">
                                <a:latin typeface="Cambria Math" panose="02040503050406030204" pitchFamily="18" charset="0"/>
                                <a:ea typeface="Cambria Math" panose="02040503050406030204" pitchFamily="18" charset="0"/>
                              </a:rPr>
                            </m:ctrlPr>
                          </m:sSubPr>
                          <m:e>
                            <m:r>
                              <a:rPr lang="pl-PL" sz="3200" i="1">
                                <a:latin typeface="Cambria Math" panose="02040503050406030204" pitchFamily="18" charset="0"/>
                                <a:ea typeface="Cambria Math" panose="02040503050406030204" pitchFamily="18" charset="0"/>
                              </a:rPr>
                              <m:t>𝑁</m:t>
                            </m:r>
                          </m:e>
                          <m:sub>
                            <m:r>
                              <a:rPr lang="pl-PL" sz="3200" b="0" i="1" smtClean="0">
                                <a:latin typeface="Cambria Math" panose="02040503050406030204" pitchFamily="18" charset="0"/>
                                <a:ea typeface="Cambria Math" panose="02040503050406030204" pitchFamily="18" charset="0"/>
                              </a:rPr>
                              <m:t>0</m:t>
                            </m:r>
                          </m:sub>
                        </m:sSub>
                        <m:r>
                          <a:rPr lang="pl-PL" sz="3200" b="0" i="1" smtClean="0">
                            <a:latin typeface="Cambria Math" panose="02040503050406030204" pitchFamily="18" charset="0"/>
                            <a:ea typeface="Cambria Math" panose="02040503050406030204" pitchFamily="18" charset="0"/>
                          </a:rPr>
                          <m:t>+</m:t>
                        </m:r>
                        <m:sSub>
                          <m:sSubPr>
                            <m:ctrlPr>
                              <a:rPr lang="pl-PL" sz="3200" i="1">
                                <a:latin typeface="Cambria Math" panose="02040503050406030204" pitchFamily="18" charset="0"/>
                                <a:ea typeface="Cambria Math" panose="02040503050406030204" pitchFamily="18" charset="0"/>
                              </a:rPr>
                            </m:ctrlPr>
                          </m:sSubPr>
                          <m:e>
                            <m:r>
                              <a:rPr lang="pl-PL" sz="3200" i="1">
                                <a:latin typeface="Cambria Math" panose="02040503050406030204" pitchFamily="18" charset="0"/>
                                <a:ea typeface="Cambria Math" panose="02040503050406030204" pitchFamily="18" charset="0"/>
                              </a:rPr>
                              <m:t>𝑁</m:t>
                            </m:r>
                          </m:e>
                          <m:sub>
                            <m:r>
                              <a:rPr lang="pl-PL" sz="3200" i="1">
                                <a:latin typeface="Cambria Math" panose="02040503050406030204" pitchFamily="18" charset="0"/>
                                <a:ea typeface="Cambria Math" panose="02040503050406030204" pitchFamily="18" charset="0"/>
                              </a:rPr>
                              <m:t>1</m:t>
                            </m:r>
                          </m:sub>
                        </m:sSub>
                      </m:den>
                    </m:f>
                    <m:r>
                      <a:rPr lang="pl-PL" sz="3200" b="0" i="1" smtClean="0">
                        <a:latin typeface="Cambria Math" panose="02040503050406030204" pitchFamily="18" charset="0"/>
                        <a:ea typeface="Cambria Math" panose="02040503050406030204" pitchFamily="18" charset="0"/>
                      </a:rPr>
                      <m:t>= </m:t>
                    </m:r>
                  </m:oMath>
                </a14:m>
                <a:r>
                  <a:rPr lang="pl-PL" sz="3200" dirty="0">
                    <a:latin typeface="Cambria Math" panose="02040503050406030204" pitchFamily="18" charset="0"/>
                    <a:ea typeface="Cambria Math" panose="02040503050406030204" pitchFamily="18" charset="0"/>
                  </a:rPr>
                  <a:t>	</a:t>
                </a:r>
                <a14:m>
                  <m:oMath xmlns:m="http://schemas.openxmlformats.org/officeDocument/2006/math">
                    <m:f>
                      <m:fPr>
                        <m:ctrlPr>
                          <a:rPr lang="pl-PL" sz="3200" i="1">
                            <a:latin typeface="Cambria Math" panose="02040503050406030204" pitchFamily="18" charset="0"/>
                            <a:ea typeface="Cambria Math" panose="02040503050406030204" pitchFamily="18" charset="0"/>
                          </a:rPr>
                        </m:ctrlPr>
                      </m:fPr>
                      <m:num>
                        <m:r>
                          <a:rPr lang="pl-PL" sz="3200" i="1">
                            <a:latin typeface="Cambria Math" panose="02040503050406030204" pitchFamily="18" charset="0"/>
                            <a:ea typeface="Cambria Math" panose="02040503050406030204" pitchFamily="18" charset="0"/>
                          </a:rPr>
                          <m:t>𝑁𝑝</m:t>
                        </m:r>
                      </m:num>
                      <m:den>
                        <m:r>
                          <a:rPr lang="pl-PL" sz="3200" i="1">
                            <a:latin typeface="Cambria Math" panose="02040503050406030204" pitchFamily="18" charset="0"/>
                            <a:ea typeface="Cambria Math" panose="02040503050406030204" pitchFamily="18" charset="0"/>
                          </a:rPr>
                          <m:t>𝑁</m:t>
                        </m:r>
                      </m:den>
                    </m:f>
                  </m:oMath>
                </a14:m>
                <a:endParaRPr lang="pl-PL" sz="3200" dirty="0">
                  <a:latin typeface="Cambria Math" panose="02040503050406030204" pitchFamily="18" charset="0"/>
                  <a:ea typeface="Cambria Math" panose="02040503050406030204" pitchFamily="18"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p:txBody>
          </p:sp>
        </mc:Choice>
        <mc:Fallback xmlns="">
          <p:sp>
            <p:nvSpPr>
              <p:cNvPr id="6" name="TextBox 4"/>
              <p:cNvSpPr txBox="1">
                <a:spLocks noRot="1" noChangeAspect="1" noMove="1" noResize="1" noEditPoints="1" noAdjustHandles="1" noChangeArrowheads="1" noChangeShapeType="1" noTextEdit="1"/>
              </p:cNvSpPr>
              <p:nvPr/>
            </p:nvSpPr>
            <p:spPr>
              <a:xfrm>
                <a:off x="0" y="304800"/>
                <a:ext cx="9144000" cy="5257800"/>
              </a:xfrm>
              <a:prstGeom prst="rect">
                <a:avLst/>
              </a:prstGeom>
              <a:blipFill>
                <a:blip r:embed="rId2"/>
                <a:stretch>
                  <a:fillRect l="-1533" t="-1159"/>
                </a:stretch>
              </a:blipFill>
            </p:spPr>
            <p:txBody>
              <a:bodyPr/>
              <a:lstStyle/>
              <a:p>
                <a:r>
                  <a:rPr lang="pl-PL">
                    <a:noFill/>
                  </a:rPr>
                  <a:t> </a:t>
                </a:r>
              </a:p>
            </p:txBody>
          </p:sp>
        </mc:Fallback>
      </mc:AlternateContent>
    </p:spTree>
    <p:extLst>
      <p:ext uri="{BB962C8B-B14F-4D97-AF65-F5344CB8AC3E}">
        <p14:creationId xmlns:p14="http://schemas.microsoft.com/office/powerpoint/2010/main" val="1045083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71</a:t>
            </a:fld>
            <a:endParaRPr lang="pl-PL" dirty="0"/>
          </a:p>
        </p:txBody>
      </p:sp>
      <mc:AlternateContent xmlns:mc="http://schemas.openxmlformats.org/markup-compatibility/2006" xmlns:a14="http://schemas.microsoft.com/office/drawing/2010/main">
        <mc:Choice Requires="a14">
          <p:sp>
            <p:nvSpPr>
              <p:cNvPr id="5" name="TextBox 4"/>
              <p:cNvSpPr txBox="1"/>
              <p:nvPr/>
            </p:nvSpPr>
            <p:spPr>
              <a:xfrm>
                <a:off x="0" y="304800"/>
                <a:ext cx="9144000" cy="5029200"/>
              </a:xfrm>
              <a:prstGeom prst="rect">
                <a:avLst/>
              </a:prstGeom>
              <a:noFill/>
            </p:spPr>
            <p:txBody>
              <a:bodyPr wrap="square" lIns="18000" tIns="18000" rIns="18000" bIns="18000" rtlCol="0">
                <a:noAutofit/>
              </a:bodyPr>
              <a:lstStyle/>
              <a:p>
                <a:r>
                  <a:rPr lang="pl-PL" sz="2000" b="1" dirty="0">
                    <a:solidFill>
                      <a:srgbClr val="0000FF"/>
                    </a:solidFill>
                    <a:latin typeface="Arial Narrow" panose="020B0606020202030204" pitchFamily="34" charset="0"/>
                  </a:rPr>
                  <a:t>Dokładność trenowania (accuracy), c.d.</a:t>
                </a:r>
                <a:r>
                  <a:rPr lang="pl-PL" sz="2000" b="1" dirty="0">
                    <a:latin typeface="Arial Narrow" panose="020B0606020202030204" pitchFamily="34" charset="0"/>
                  </a:rPr>
                  <a:t>:</a:t>
                </a:r>
              </a:p>
              <a:p>
                <a:endParaRPr lang="pl-PL" sz="2000" dirty="0">
                  <a:latin typeface="Arial Narrow" panose="020B0606020202030204" pitchFamily="34" charset="0"/>
                </a:endParaRPr>
              </a:p>
              <a:p>
                <a14:m>
                  <m:oMath xmlns:m="http://schemas.openxmlformats.org/officeDocument/2006/math">
                    <m:sSub>
                      <m:sSubPr>
                        <m:ctrlPr>
                          <a:rPr lang="pl-PL" sz="2800" i="1">
                            <a:latin typeface="Cambria Math" panose="02040503050406030204" pitchFamily="18" charset="0"/>
                          </a:rPr>
                        </m:ctrlPr>
                      </m:sSubPr>
                      <m:e>
                        <m:r>
                          <a:rPr lang="pl-PL" sz="2800" i="1">
                            <a:latin typeface="Cambria Math" panose="02040503050406030204" pitchFamily="18" charset="0"/>
                          </a:rPr>
                          <m:t>𝐴𝐶𝐶</m:t>
                        </m:r>
                      </m:e>
                      <m:sub>
                        <m:r>
                          <a:rPr lang="pl-PL" sz="2800" i="1">
                            <a:latin typeface="Cambria Math" panose="02040503050406030204" pitchFamily="18" charset="0"/>
                          </a:rPr>
                          <m:t>0</m:t>
                        </m:r>
                      </m:sub>
                    </m:sSub>
                    <m:r>
                      <a:rPr lang="pl-PL" sz="2800" i="1">
                        <a:latin typeface="Cambria Math" panose="02040503050406030204" pitchFamily="18" charset="0"/>
                      </a:rPr>
                      <m:t>=</m:t>
                    </m:r>
                    <m:f>
                      <m:fPr>
                        <m:ctrlPr>
                          <a:rPr lang="pl-PL" sz="2800" i="1">
                            <a:latin typeface="Cambria Math" panose="02040503050406030204" pitchFamily="18" charset="0"/>
                          </a:rPr>
                        </m:ctrlPr>
                      </m:fPr>
                      <m:num>
                        <m:sSub>
                          <m:sSubPr>
                            <m:ctrlPr>
                              <a:rPr lang="pl-PL" sz="2800" i="1">
                                <a:latin typeface="Cambria Math" panose="02040503050406030204" pitchFamily="18" charset="0"/>
                              </a:rPr>
                            </m:ctrlPr>
                          </m:sSubPr>
                          <m:e>
                            <m:r>
                              <a:rPr lang="pl-PL" sz="2800" i="1">
                                <a:latin typeface="Cambria Math" panose="02040503050406030204" pitchFamily="18" charset="0"/>
                              </a:rPr>
                              <m:t>𝐶</m:t>
                            </m:r>
                          </m:e>
                          <m:sub>
                            <m:r>
                              <a:rPr lang="pl-PL" sz="2800" i="1">
                                <a:latin typeface="Cambria Math" panose="02040503050406030204" pitchFamily="18" charset="0"/>
                              </a:rPr>
                              <m:t>0</m:t>
                            </m:r>
                          </m:sub>
                        </m:sSub>
                      </m:num>
                      <m:den>
                        <m:sSub>
                          <m:sSubPr>
                            <m:ctrlPr>
                              <a:rPr lang="pl-PL" sz="2800" i="1">
                                <a:latin typeface="Cambria Math" panose="02040503050406030204" pitchFamily="18" charset="0"/>
                              </a:rPr>
                            </m:ctrlPr>
                          </m:sSubPr>
                          <m:e>
                            <m:r>
                              <a:rPr lang="pl-PL" sz="2800" i="1">
                                <a:latin typeface="Cambria Math" panose="02040503050406030204" pitchFamily="18" charset="0"/>
                              </a:rPr>
                              <m:t>𝑁</m:t>
                            </m:r>
                          </m:e>
                          <m:sub>
                            <m:r>
                              <a:rPr lang="pl-PL" sz="2800" i="1">
                                <a:latin typeface="Cambria Math" panose="02040503050406030204" pitchFamily="18" charset="0"/>
                              </a:rPr>
                              <m:t>0</m:t>
                            </m:r>
                          </m:sub>
                        </m:sSub>
                      </m:den>
                    </m:f>
                    <m:r>
                      <m:rPr>
                        <m:nor/>
                      </m:rPr>
                      <a:rPr lang="pl-PL" sz="2800">
                        <a:latin typeface="Arial Narrow" panose="020B0606020202030204" pitchFamily="34" charset="0"/>
                      </a:rPr>
                      <m:t>		</m:t>
                    </m:r>
                  </m:oMath>
                </a14:m>
                <a:r>
                  <a:rPr lang="pl-PL" sz="2800" dirty="0">
                    <a:latin typeface="Arial Narrow" panose="020B0606020202030204" pitchFamily="34" charset="0"/>
                  </a:rPr>
                  <a:t>		</a:t>
                </a:r>
                <a14:m>
                  <m:oMath xmlns:m="http://schemas.openxmlformats.org/officeDocument/2006/math">
                    <m:sSub>
                      <m:sSubPr>
                        <m:ctrlPr>
                          <a:rPr lang="pl-PL" sz="2800" i="1">
                            <a:latin typeface="Cambria Math" panose="02040503050406030204" pitchFamily="18" charset="0"/>
                          </a:rPr>
                        </m:ctrlPr>
                      </m:sSubPr>
                      <m:e>
                        <m:r>
                          <a:rPr lang="pl-PL" sz="2800" i="1">
                            <a:latin typeface="Cambria Math" panose="02040503050406030204" pitchFamily="18" charset="0"/>
                          </a:rPr>
                          <m:t>𝐴𝐶𝐶</m:t>
                        </m:r>
                      </m:e>
                      <m:sub>
                        <m:r>
                          <a:rPr lang="pl-PL" sz="2800" i="1">
                            <a:latin typeface="Cambria Math" panose="02040503050406030204" pitchFamily="18" charset="0"/>
                          </a:rPr>
                          <m:t>1</m:t>
                        </m:r>
                      </m:sub>
                    </m:sSub>
                    <m:r>
                      <a:rPr lang="pl-PL" sz="2800" i="1">
                        <a:latin typeface="Cambria Math" panose="02040503050406030204" pitchFamily="18" charset="0"/>
                      </a:rPr>
                      <m:t>=</m:t>
                    </m:r>
                    <m:f>
                      <m:fPr>
                        <m:ctrlPr>
                          <a:rPr lang="pl-PL" sz="2800" i="1">
                            <a:latin typeface="Cambria Math" panose="02040503050406030204" pitchFamily="18" charset="0"/>
                          </a:rPr>
                        </m:ctrlPr>
                      </m:fPr>
                      <m:num>
                        <m:sSub>
                          <m:sSubPr>
                            <m:ctrlPr>
                              <a:rPr lang="pl-PL" sz="2800" i="1">
                                <a:latin typeface="Cambria Math" panose="02040503050406030204" pitchFamily="18" charset="0"/>
                              </a:rPr>
                            </m:ctrlPr>
                          </m:sSubPr>
                          <m:e>
                            <m:r>
                              <a:rPr lang="pl-PL" sz="2800" i="1">
                                <a:latin typeface="Cambria Math" panose="02040503050406030204" pitchFamily="18" charset="0"/>
                              </a:rPr>
                              <m:t>𝐶</m:t>
                            </m:r>
                          </m:e>
                          <m:sub>
                            <m:r>
                              <a:rPr lang="pl-PL" sz="2800" i="1">
                                <a:latin typeface="Cambria Math" panose="02040503050406030204" pitchFamily="18" charset="0"/>
                              </a:rPr>
                              <m:t>1</m:t>
                            </m:r>
                          </m:sub>
                        </m:sSub>
                      </m:num>
                      <m:den>
                        <m:sSub>
                          <m:sSubPr>
                            <m:ctrlPr>
                              <a:rPr lang="pl-PL" sz="2800" i="1">
                                <a:latin typeface="Cambria Math" panose="02040503050406030204" pitchFamily="18" charset="0"/>
                              </a:rPr>
                            </m:ctrlPr>
                          </m:sSubPr>
                          <m:e>
                            <m:r>
                              <a:rPr lang="pl-PL" sz="2800" i="1">
                                <a:latin typeface="Cambria Math" panose="02040503050406030204" pitchFamily="18" charset="0"/>
                              </a:rPr>
                              <m:t>𝑁</m:t>
                            </m:r>
                          </m:e>
                          <m:sub>
                            <m:r>
                              <a:rPr lang="pl-PL" sz="2800" i="1">
                                <a:latin typeface="Cambria Math" panose="02040503050406030204" pitchFamily="18" charset="0"/>
                              </a:rPr>
                              <m:t>1</m:t>
                            </m:r>
                          </m:sub>
                        </m:sSub>
                      </m:den>
                    </m:f>
                  </m:oMath>
                </a14:m>
                <a:r>
                  <a:rPr lang="pl-PL" sz="2800" dirty="0">
                    <a:latin typeface="Arial Narrow" panose="020B0606020202030204" pitchFamily="34" charset="0"/>
                  </a:rPr>
                  <a:t>		</a:t>
                </a:r>
                <a14:m>
                  <m:oMath xmlns:m="http://schemas.openxmlformats.org/officeDocument/2006/math">
                    <m:r>
                      <a:rPr lang="pl-PL" sz="2800" i="1">
                        <a:latin typeface="Cambria Math" panose="02040503050406030204" pitchFamily="18" charset="0"/>
                        <a:ea typeface="Cambria Math" panose="02040503050406030204" pitchFamily="18" charset="0"/>
                      </a:rPr>
                      <m:t>𝐴𝐶𝐶</m:t>
                    </m:r>
                    <m:r>
                      <a:rPr lang="pl-PL" sz="2800" i="1">
                        <a:latin typeface="Cambria Math" panose="02040503050406030204" pitchFamily="18" charset="0"/>
                        <a:ea typeface="Cambria Math" panose="02040503050406030204" pitchFamily="18" charset="0"/>
                      </a:rPr>
                      <m:t>=</m:t>
                    </m:r>
                    <m:f>
                      <m:fPr>
                        <m:ctrlPr>
                          <a:rPr lang="pl-PL" sz="2800" i="1">
                            <a:latin typeface="Cambria Math" panose="02040503050406030204" pitchFamily="18" charset="0"/>
                            <a:ea typeface="Cambria Math" panose="02040503050406030204" pitchFamily="18" charset="0"/>
                          </a:rPr>
                        </m:ctrlPr>
                      </m:fPr>
                      <m:num>
                        <m:sSub>
                          <m:sSubPr>
                            <m:ctrlPr>
                              <a:rPr lang="pl-PL" sz="2800" i="1">
                                <a:latin typeface="Cambria Math" panose="02040503050406030204" pitchFamily="18" charset="0"/>
                                <a:ea typeface="Cambria Math" panose="02040503050406030204" pitchFamily="18" charset="0"/>
                              </a:rPr>
                            </m:ctrlPr>
                          </m:sSubPr>
                          <m:e>
                            <m:r>
                              <a:rPr lang="pl-PL" sz="2800" i="1">
                                <a:latin typeface="Cambria Math" panose="02040503050406030204" pitchFamily="18" charset="0"/>
                                <a:ea typeface="Cambria Math" panose="02040503050406030204" pitchFamily="18" charset="0"/>
                              </a:rPr>
                              <m:t>𝐶</m:t>
                            </m:r>
                          </m:e>
                          <m:sub>
                            <m:r>
                              <a:rPr lang="pl-PL" sz="2800" i="1">
                                <a:latin typeface="Cambria Math" panose="02040503050406030204" pitchFamily="18" charset="0"/>
                                <a:ea typeface="Cambria Math" panose="02040503050406030204" pitchFamily="18" charset="0"/>
                              </a:rPr>
                              <m:t>0</m:t>
                            </m:r>
                          </m:sub>
                        </m:sSub>
                        <m:r>
                          <a:rPr lang="pl-PL" sz="2800" i="1">
                            <a:latin typeface="Cambria Math" panose="02040503050406030204" pitchFamily="18" charset="0"/>
                            <a:ea typeface="Cambria Math" panose="02040503050406030204" pitchFamily="18" charset="0"/>
                          </a:rPr>
                          <m:t>+</m:t>
                        </m:r>
                        <m:sSub>
                          <m:sSubPr>
                            <m:ctrlPr>
                              <a:rPr lang="pl-PL" sz="2800" i="1">
                                <a:latin typeface="Cambria Math" panose="02040503050406030204" pitchFamily="18" charset="0"/>
                                <a:ea typeface="Cambria Math" panose="02040503050406030204" pitchFamily="18" charset="0"/>
                              </a:rPr>
                            </m:ctrlPr>
                          </m:sSubPr>
                          <m:e>
                            <m:r>
                              <a:rPr lang="pl-PL" sz="2800" i="1">
                                <a:latin typeface="Cambria Math" panose="02040503050406030204" pitchFamily="18" charset="0"/>
                                <a:ea typeface="Cambria Math" panose="02040503050406030204" pitchFamily="18" charset="0"/>
                              </a:rPr>
                              <m:t>𝐶</m:t>
                            </m:r>
                          </m:e>
                          <m:sub>
                            <m:r>
                              <a:rPr lang="pl-PL" sz="2800" i="1">
                                <a:latin typeface="Cambria Math" panose="02040503050406030204" pitchFamily="18" charset="0"/>
                                <a:ea typeface="Cambria Math" panose="02040503050406030204" pitchFamily="18" charset="0"/>
                              </a:rPr>
                              <m:t>1</m:t>
                            </m:r>
                          </m:sub>
                        </m:sSub>
                      </m:num>
                      <m:den>
                        <m:sSub>
                          <m:sSubPr>
                            <m:ctrlPr>
                              <a:rPr lang="pl-PL" sz="2800" i="1">
                                <a:latin typeface="Cambria Math" panose="02040503050406030204" pitchFamily="18" charset="0"/>
                                <a:ea typeface="Cambria Math" panose="02040503050406030204" pitchFamily="18" charset="0"/>
                              </a:rPr>
                            </m:ctrlPr>
                          </m:sSubPr>
                          <m:e>
                            <m:r>
                              <a:rPr lang="pl-PL" sz="2800" i="1">
                                <a:latin typeface="Cambria Math" panose="02040503050406030204" pitchFamily="18" charset="0"/>
                                <a:ea typeface="Cambria Math" panose="02040503050406030204" pitchFamily="18" charset="0"/>
                              </a:rPr>
                              <m:t>𝑁</m:t>
                            </m:r>
                          </m:e>
                          <m:sub>
                            <m:r>
                              <a:rPr lang="pl-PL" sz="2800" i="1">
                                <a:latin typeface="Cambria Math" panose="02040503050406030204" pitchFamily="18" charset="0"/>
                                <a:ea typeface="Cambria Math" panose="02040503050406030204" pitchFamily="18" charset="0"/>
                              </a:rPr>
                              <m:t>0</m:t>
                            </m:r>
                          </m:sub>
                        </m:sSub>
                        <m:r>
                          <a:rPr lang="pl-PL" sz="2800" i="1">
                            <a:latin typeface="Cambria Math" panose="02040503050406030204" pitchFamily="18" charset="0"/>
                            <a:ea typeface="Cambria Math" panose="02040503050406030204" pitchFamily="18" charset="0"/>
                          </a:rPr>
                          <m:t>+</m:t>
                        </m:r>
                        <m:sSub>
                          <m:sSubPr>
                            <m:ctrlPr>
                              <a:rPr lang="pl-PL" sz="2800" i="1">
                                <a:latin typeface="Cambria Math" panose="02040503050406030204" pitchFamily="18" charset="0"/>
                                <a:ea typeface="Cambria Math" panose="02040503050406030204" pitchFamily="18" charset="0"/>
                              </a:rPr>
                            </m:ctrlPr>
                          </m:sSubPr>
                          <m:e>
                            <m:r>
                              <a:rPr lang="pl-PL" sz="2800" i="1">
                                <a:latin typeface="Cambria Math" panose="02040503050406030204" pitchFamily="18" charset="0"/>
                                <a:ea typeface="Cambria Math" panose="02040503050406030204" pitchFamily="18" charset="0"/>
                              </a:rPr>
                              <m:t>𝑁</m:t>
                            </m:r>
                          </m:e>
                          <m:sub>
                            <m:r>
                              <a:rPr lang="pl-PL" sz="2800" i="1">
                                <a:latin typeface="Cambria Math" panose="02040503050406030204" pitchFamily="18" charset="0"/>
                                <a:ea typeface="Cambria Math" panose="02040503050406030204" pitchFamily="18" charset="0"/>
                              </a:rPr>
                              <m:t>1</m:t>
                            </m:r>
                          </m:sub>
                        </m:sSub>
                      </m:den>
                    </m:f>
                    <m:r>
                      <a:rPr lang="pl-PL" sz="2800" i="1">
                        <a:latin typeface="Cambria Math" panose="02040503050406030204" pitchFamily="18" charset="0"/>
                        <a:ea typeface="Cambria Math" panose="02040503050406030204" pitchFamily="18" charset="0"/>
                      </a:rPr>
                      <m:t>= </m:t>
                    </m:r>
                    <m:f>
                      <m:fPr>
                        <m:ctrlPr>
                          <a:rPr lang="pl-PL" sz="2800" i="1">
                            <a:latin typeface="Cambria Math" panose="02040503050406030204" pitchFamily="18" charset="0"/>
                            <a:ea typeface="Cambria Math" panose="02040503050406030204" pitchFamily="18" charset="0"/>
                          </a:rPr>
                        </m:ctrlPr>
                      </m:fPr>
                      <m:num>
                        <m:r>
                          <a:rPr lang="pl-PL" sz="2800" i="1">
                            <a:latin typeface="Cambria Math" panose="02040503050406030204" pitchFamily="18" charset="0"/>
                            <a:ea typeface="Cambria Math" panose="02040503050406030204" pitchFamily="18" charset="0"/>
                          </a:rPr>
                          <m:t>𝑁𝑝</m:t>
                        </m:r>
                      </m:num>
                      <m:den>
                        <m:r>
                          <a:rPr lang="pl-PL" sz="2800" i="1">
                            <a:latin typeface="Cambria Math" panose="02040503050406030204" pitchFamily="18" charset="0"/>
                            <a:ea typeface="Cambria Math" panose="02040503050406030204" pitchFamily="18" charset="0"/>
                          </a:rPr>
                          <m:t>𝑁</m:t>
                        </m:r>
                      </m:den>
                    </m:f>
                  </m:oMath>
                </a14:m>
                <a:endParaRPr lang="pl-PL" sz="28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Przykład:</a:t>
                </a:r>
              </a:p>
              <a:p>
                <a:r>
                  <a:rPr lang="pl-PL" sz="2000" dirty="0">
                    <a:latin typeface="Arial Narrow" panose="020B0606020202030204" pitchFamily="34" charset="0"/>
                  </a:rPr>
                  <a:t>w zbiorze zdjęć jest 90% zdjęć kotów (etykieta 0) i 10% zdjęć psów (etykieta 1).</a:t>
                </a:r>
              </a:p>
              <a:p>
                <a:r>
                  <a:rPr lang="pl-PL" sz="2000" dirty="0">
                    <a:latin typeface="Arial Narrow" panose="020B0606020202030204" pitchFamily="34" charset="0"/>
                  </a:rPr>
                  <a:t>Model klasyfikuje wszystkie zdjęcia jako koty.</a:t>
                </a:r>
              </a:p>
              <a:p>
                <a:endParaRPr lang="pl-PL" sz="2000" dirty="0">
                  <a:latin typeface="Arial Narrow" panose="020B0606020202030204" pitchFamily="34" charset="0"/>
                </a:endParaRPr>
              </a:p>
              <a:p>
                <a:r>
                  <a:rPr lang="pl-PL" sz="2000" dirty="0">
                    <a:latin typeface="Arial Narrow" panose="020B0606020202030204" pitchFamily="34" charset="0"/>
                  </a:rPr>
                  <a:t>Wtedy:</a:t>
                </a:r>
              </a:p>
              <a:p>
                <a:r>
                  <a:rPr lang="pl-PL" sz="3200" dirty="0">
                    <a:latin typeface="Arial Narrow" panose="020B0606020202030204" pitchFamily="34" charset="0"/>
                  </a:rPr>
                  <a:t>ACC = 0.9</a:t>
                </a:r>
              </a:p>
              <a:p>
                <a:r>
                  <a:rPr lang="pl-PL" sz="3200" dirty="0">
                    <a:latin typeface="Arial Narrow" panose="020B0606020202030204" pitchFamily="34" charset="0"/>
                  </a:rPr>
                  <a:t>ACC</a:t>
                </a:r>
                <a:r>
                  <a:rPr lang="pl-PL" sz="3200" baseline="-25000" dirty="0">
                    <a:latin typeface="Arial Narrow" panose="020B0606020202030204" pitchFamily="34" charset="0"/>
                  </a:rPr>
                  <a:t>0</a:t>
                </a:r>
                <a:r>
                  <a:rPr lang="pl-PL" sz="3200" dirty="0">
                    <a:latin typeface="Arial Narrow" panose="020B0606020202030204" pitchFamily="34" charset="0"/>
                  </a:rPr>
                  <a:t> = 1</a:t>
                </a:r>
              </a:p>
              <a:p>
                <a:r>
                  <a:rPr lang="pl-PL" sz="3200" b="1" dirty="0">
                    <a:solidFill>
                      <a:srgbClr val="FF0000"/>
                    </a:solidFill>
                    <a:latin typeface="Arial Narrow" panose="020B0606020202030204" pitchFamily="34" charset="0"/>
                  </a:rPr>
                  <a:t>ACC</a:t>
                </a:r>
                <a:r>
                  <a:rPr lang="pl-PL" sz="3200" b="1" baseline="-25000" dirty="0">
                    <a:solidFill>
                      <a:srgbClr val="FF0000"/>
                    </a:solidFill>
                    <a:latin typeface="Arial Narrow" panose="020B0606020202030204" pitchFamily="34" charset="0"/>
                  </a:rPr>
                  <a:t>1</a:t>
                </a:r>
                <a:r>
                  <a:rPr lang="pl-PL" sz="3200" b="1" dirty="0">
                    <a:solidFill>
                      <a:srgbClr val="FF0000"/>
                    </a:solidFill>
                    <a:latin typeface="Arial Narrow" panose="020B0606020202030204" pitchFamily="34" charset="0"/>
                  </a:rPr>
                  <a:t> = 0</a:t>
                </a:r>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a:p>
                <a:endParaRPr lang="pl-PL" sz="2000" dirty="0">
                  <a:latin typeface="Arial Narrow" panose="020B060602020203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304800"/>
                <a:ext cx="9144000" cy="5029200"/>
              </a:xfrm>
              <a:prstGeom prst="rect">
                <a:avLst/>
              </a:prstGeom>
              <a:blipFill>
                <a:blip r:embed="rId2"/>
                <a:stretch>
                  <a:fillRect l="-2533" t="-1212"/>
                </a:stretch>
              </a:blipFill>
            </p:spPr>
            <p:txBody>
              <a:bodyPr/>
              <a:lstStyle/>
              <a:p>
                <a:r>
                  <a:rPr lang="pl-PL">
                    <a:noFill/>
                  </a:rPr>
                  <a:t> </a:t>
                </a:r>
              </a:p>
            </p:txBody>
          </p:sp>
        </mc:Fallback>
      </mc:AlternateContent>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926290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72</a:t>
            </a:fld>
            <a:endParaRPr lang="pl-PL" dirty="0"/>
          </a:p>
        </p:txBody>
      </p:sp>
      <p:sp>
        <p:nvSpPr>
          <p:cNvPr id="5" name="Prostokąt 4"/>
          <p:cNvSpPr/>
          <p:nvPr/>
        </p:nvSpPr>
        <p:spPr>
          <a:xfrm>
            <a:off x="0" y="304800"/>
            <a:ext cx="8915400" cy="2246769"/>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Klasyczna walidacja krzyżowa</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solidFill>
                  <a:srgbClr val="000000"/>
                </a:solidFill>
                <a:latin typeface="Arial Narrow" panose="020B0606020202030204" pitchFamily="34" charset="0"/>
                <a:cs typeface="Calibri" panose="020F0502020204030204" pitchFamily="34" charset="0"/>
              </a:rPr>
              <a:t>Wykorzystanie zbioru treningowego i walidacyjnego w procesie uczenia na przykładzie </a:t>
            </a:r>
            <a:br>
              <a:rPr lang="pl-PL" sz="2000" dirty="0">
                <a:solidFill>
                  <a:srgbClr val="000000"/>
                </a:solidFill>
                <a:latin typeface="Arial Narrow" panose="020B0606020202030204" pitchFamily="34" charset="0"/>
                <a:cs typeface="Calibri" panose="020F0502020204030204" pitchFamily="34" charset="0"/>
              </a:rPr>
            </a:br>
            <a:r>
              <a:rPr lang="pl-PL" sz="2000" b="1" dirty="0">
                <a:solidFill>
                  <a:srgbClr val="000000"/>
                </a:solidFill>
                <a:latin typeface="Arial Narrow" panose="020B0606020202030204" pitchFamily="34" charset="0"/>
                <a:cs typeface="Calibri" panose="020F0502020204030204" pitchFamily="34" charset="0"/>
              </a:rPr>
              <a:t>k-krotnej walidacji krzyżowej</a:t>
            </a:r>
            <a:r>
              <a:rPr lang="pl-PL" sz="2000" dirty="0">
                <a:solidFill>
                  <a:srgbClr val="000000"/>
                </a:solidFill>
                <a:latin typeface="Arial Narrow" panose="020B0606020202030204" pitchFamily="34" charset="0"/>
                <a:cs typeface="Calibri" panose="020F0502020204030204" pitchFamily="34" charset="0"/>
              </a:rPr>
              <a:t> (ang. </a:t>
            </a:r>
            <a:r>
              <a:rPr lang="pl-PL" sz="2000" i="1" dirty="0">
                <a:solidFill>
                  <a:srgbClr val="000000"/>
                </a:solidFill>
                <a:latin typeface="Arial Narrow" panose="020B0606020202030204" pitchFamily="34" charset="0"/>
                <a:cs typeface="Calibri" panose="020F0502020204030204" pitchFamily="34" charset="0"/>
              </a:rPr>
              <a:t>k-fold cross-validation</a:t>
            </a:r>
            <a:r>
              <a:rPr lang="pl-PL" sz="2000" dirty="0">
                <a:solidFill>
                  <a:srgbClr val="000000"/>
                </a:solidFill>
                <a:latin typeface="Arial Narrow" panose="020B0606020202030204" pitchFamily="34" charset="0"/>
                <a:cs typeface="Calibri" panose="020F0502020204030204" pitchFamily="34" charset="0"/>
              </a:rPr>
              <a:t>, KFCV):</a:t>
            </a:r>
          </a:p>
          <a:p>
            <a:pPr marL="266700" indent="-266700">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Dane są dzielone na </a:t>
            </a:r>
            <a:r>
              <a:rPr lang="pl-PL" sz="2000" b="1" dirty="0">
                <a:solidFill>
                  <a:srgbClr val="000000"/>
                </a:solidFill>
                <a:latin typeface="Arial Narrow" panose="020B0606020202030204" pitchFamily="34" charset="0"/>
                <a:cs typeface="Calibri" panose="020F0502020204030204" pitchFamily="34" charset="0"/>
              </a:rPr>
              <a:t>k</a:t>
            </a:r>
            <a:r>
              <a:rPr lang="pl-PL" sz="2000" dirty="0">
                <a:solidFill>
                  <a:srgbClr val="000000"/>
                </a:solidFill>
                <a:latin typeface="Arial Narrow" panose="020B0606020202030204" pitchFamily="34" charset="0"/>
                <a:cs typeface="Calibri" panose="020F0502020204030204" pitchFamily="34" charset="0"/>
              </a:rPr>
              <a:t>-równych części (podzbiorów)</a:t>
            </a:r>
          </a:p>
          <a:p>
            <a:pPr marL="266700" indent="-266700">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Dla każdej części </a:t>
            </a:r>
            <a:r>
              <a:rPr lang="pl-PL" sz="2000" b="1" dirty="0">
                <a:solidFill>
                  <a:srgbClr val="000000"/>
                </a:solidFill>
                <a:latin typeface="Arial Narrow" panose="020B0606020202030204" pitchFamily="34" charset="0"/>
                <a:cs typeface="Calibri" panose="020F0502020204030204" pitchFamily="34" charset="0"/>
              </a:rPr>
              <a:t>i</a:t>
            </a:r>
            <a:r>
              <a:rPr lang="pl-PL" sz="2000" dirty="0">
                <a:solidFill>
                  <a:srgbClr val="000000"/>
                </a:solidFill>
                <a:latin typeface="Arial Narrow" panose="020B0606020202030204" pitchFamily="34" charset="0"/>
                <a:cs typeface="Calibri" panose="020F0502020204030204" pitchFamily="34" charset="0"/>
              </a:rPr>
              <a:t> model jest trenowany na pozostałych częściach </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i walidowany na części </a:t>
            </a:r>
            <a:r>
              <a:rPr lang="pl-PL" sz="2000" b="1" dirty="0">
                <a:solidFill>
                  <a:srgbClr val="000000"/>
                </a:solidFill>
                <a:latin typeface="Arial Narrow" panose="020B0606020202030204" pitchFamily="34" charset="0"/>
                <a:cs typeface="Calibri" panose="020F0502020204030204" pitchFamily="34" charset="0"/>
              </a:rPr>
              <a:t>i</a:t>
            </a:r>
          </a:p>
          <a:p>
            <a:pPr marL="266700" indent="-266700">
              <a:buFont typeface="+mj-lt"/>
              <a:buAutoNum type="arabicPeriod"/>
            </a:pPr>
            <a:r>
              <a:rPr lang="pl-PL" sz="2000" dirty="0">
                <a:solidFill>
                  <a:srgbClr val="000000"/>
                </a:solidFill>
                <a:latin typeface="Arial Narrow" panose="020B0606020202030204" pitchFamily="34" charset="0"/>
                <a:cs typeface="Calibri" panose="020F0502020204030204" pitchFamily="34" charset="0"/>
              </a:rPr>
              <a:t>Ostatecznym wynikiem jest średnia </a:t>
            </a:r>
            <a:r>
              <a:rPr lang="pl-PL" sz="2000" b="1" dirty="0">
                <a:solidFill>
                  <a:srgbClr val="000000"/>
                </a:solidFill>
                <a:latin typeface="Arial Narrow" panose="020B0606020202030204" pitchFamily="34" charset="0"/>
                <a:cs typeface="Calibri" panose="020F0502020204030204" pitchFamily="34" charset="0"/>
              </a:rPr>
              <a:t>k</a:t>
            </a:r>
            <a:r>
              <a:rPr lang="pl-PL" sz="2000" dirty="0">
                <a:solidFill>
                  <a:srgbClr val="000000"/>
                </a:solidFill>
                <a:latin typeface="Arial Narrow" panose="020B0606020202030204" pitchFamily="34" charset="0"/>
                <a:cs typeface="Calibri" panose="020F0502020204030204" pitchFamily="34" charset="0"/>
              </a:rPr>
              <a:t> wyników</a:t>
            </a:r>
          </a:p>
        </p:txBody>
      </p:sp>
      <p:graphicFrame>
        <p:nvGraphicFramePr>
          <p:cNvPr id="6" name="Table 5"/>
          <p:cNvGraphicFramePr>
            <a:graphicFrameLocks noGrp="1"/>
          </p:cNvGraphicFramePr>
          <p:nvPr>
            <p:extLst>
              <p:ext uri="{D42A27DB-BD31-4B8C-83A1-F6EECF244321}">
                <p14:modId xmlns:p14="http://schemas.microsoft.com/office/powerpoint/2010/main" val="2043570322"/>
              </p:ext>
            </p:extLst>
          </p:nvPr>
        </p:nvGraphicFramePr>
        <p:xfrm>
          <a:off x="76200" y="3491400"/>
          <a:ext cx="6024189" cy="1828800"/>
        </p:xfrm>
        <a:graphic>
          <a:graphicData uri="http://schemas.openxmlformats.org/drawingml/2006/table">
            <a:tbl>
              <a:tblPr firstRow="1" bandRow="1">
                <a:tableStyleId>{5940675A-B579-460E-94D1-54222C63F5DA}</a:tableStyleId>
              </a:tblPr>
              <a:tblGrid>
                <a:gridCol w="1488189">
                  <a:extLst>
                    <a:ext uri="{9D8B030D-6E8A-4147-A177-3AD203B41FA5}">
                      <a16:colId xmlns:a16="http://schemas.microsoft.com/office/drawing/2014/main" val="2042027736"/>
                    </a:ext>
                  </a:extLst>
                </a:gridCol>
                <a:gridCol w="360000">
                  <a:extLst>
                    <a:ext uri="{9D8B030D-6E8A-4147-A177-3AD203B41FA5}">
                      <a16:colId xmlns:a16="http://schemas.microsoft.com/office/drawing/2014/main" val="1224365330"/>
                    </a:ext>
                  </a:extLst>
                </a:gridCol>
                <a:gridCol w="360000">
                  <a:extLst>
                    <a:ext uri="{9D8B030D-6E8A-4147-A177-3AD203B41FA5}">
                      <a16:colId xmlns:a16="http://schemas.microsoft.com/office/drawing/2014/main" val="1468924721"/>
                    </a:ext>
                  </a:extLst>
                </a:gridCol>
                <a:gridCol w="360000">
                  <a:extLst>
                    <a:ext uri="{9D8B030D-6E8A-4147-A177-3AD203B41FA5}">
                      <a16:colId xmlns:a16="http://schemas.microsoft.com/office/drawing/2014/main" val="1941871946"/>
                    </a:ext>
                  </a:extLst>
                </a:gridCol>
                <a:gridCol w="360000">
                  <a:extLst>
                    <a:ext uri="{9D8B030D-6E8A-4147-A177-3AD203B41FA5}">
                      <a16:colId xmlns:a16="http://schemas.microsoft.com/office/drawing/2014/main" val="2361162777"/>
                    </a:ext>
                  </a:extLst>
                </a:gridCol>
                <a:gridCol w="360000">
                  <a:extLst>
                    <a:ext uri="{9D8B030D-6E8A-4147-A177-3AD203B41FA5}">
                      <a16:colId xmlns:a16="http://schemas.microsoft.com/office/drawing/2014/main" val="1224852092"/>
                    </a:ext>
                  </a:extLst>
                </a:gridCol>
                <a:gridCol w="1620000">
                  <a:extLst>
                    <a:ext uri="{9D8B030D-6E8A-4147-A177-3AD203B41FA5}">
                      <a16:colId xmlns:a16="http://schemas.microsoft.com/office/drawing/2014/main" val="169177125"/>
                    </a:ext>
                  </a:extLst>
                </a:gridCol>
                <a:gridCol w="1116000">
                  <a:extLst>
                    <a:ext uri="{9D8B030D-6E8A-4147-A177-3AD203B41FA5}">
                      <a16:colId xmlns:a16="http://schemas.microsoft.com/office/drawing/2014/main" val="1417650853"/>
                    </a:ext>
                  </a:extLst>
                </a:gridCol>
              </a:tblGrid>
              <a:tr h="324000">
                <a:tc>
                  <a:txBody>
                    <a:bodyPr/>
                    <a:lstStyle/>
                    <a:p>
                      <a:pPr algn="ctr"/>
                      <a:r>
                        <a:rPr lang="pl-PL" dirty="0">
                          <a:latin typeface="Arial Narrow" panose="020B0606020202030204" pitchFamily="34" charset="0"/>
                        </a:rPr>
                        <a:t>Iteracja 1</a:t>
                      </a:r>
                      <a:endParaRPr lang="en-US" dirty="0">
                        <a:latin typeface="Arial Narrow" panose="020B0606020202030204" pitchFamily="34" charset="0"/>
                      </a:endParaRPr>
                    </a:p>
                  </a:txBody>
                  <a:tcPr/>
                </a:tc>
                <a:tc>
                  <a:txBody>
                    <a:bodyPr/>
                    <a:lstStyle/>
                    <a:p>
                      <a:endParaRPr lang="en-US" dirty="0"/>
                    </a:p>
                  </a:txBody>
                  <a:tcPr>
                    <a:solidFill>
                      <a:schemeClr val="accent6">
                        <a:lumMod val="5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pl-PL" dirty="0">
                          <a:latin typeface="Arial Narrow" panose="020B0606020202030204" pitchFamily="34" charset="0"/>
                        </a:rPr>
                        <a:t>wynik walidacji 1</a:t>
                      </a:r>
                      <a:endParaRPr lang="en-US" dirty="0">
                        <a:latin typeface="Arial Narrow" panose="020B0606020202030204" pitchFamily="34" charset="0"/>
                      </a:endParaRPr>
                    </a:p>
                  </a:txBody>
                  <a:tcPr/>
                </a:tc>
                <a:tc rowSpan="5">
                  <a:txBody>
                    <a:bodyPr/>
                    <a:lstStyle/>
                    <a:p>
                      <a:r>
                        <a:rPr lang="pl-PL" dirty="0">
                          <a:latin typeface="Arial Narrow" panose="020B0606020202030204" pitchFamily="34" charset="0"/>
                        </a:rPr>
                        <a:t>Średnia jako wynik wyjściowy walidacji</a:t>
                      </a:r>
                      <a:endParaRPr lang="en-US" dirty="0">
                        <a:latin typeface="Arial Narrow" panose="020B0606020202030204" pitchFamily="34" charset="0"/>
                      </a:endParaRPr>
                    </a:p>
                  </a:txBody>
                  <a:tcPr anchor="ctr"/>
                </a:tc>
                <a:extLst>
                  <a:ext uri="{0D108BD9-81ED-4DB2-BD59-A6C34878D82A}">
                    <a16:rowId xmlns:a16="http://schemas.microsoft.com/office/drawing/2014/main" val="2473769355"/>
                  </a:ext>
                </a:extLst>
              </a:tr>
              <a:tr h="3240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Iteracja 2</a:t>
                      </a:r>
                      <a:endParaRPr lang="en-US" dirty="0">
                        <a:latin typeface="Arial Narrow" panose="020B0606020202030204" pitchFamily="34" charset="0"/>
                      </a:endParaRPr>
                    </a:p>
                  </a:txBody>
                  <a:tcPr/>
                </a:tc>
                <a:tc>
                  <a:txBody>
                    <a:bodyPr/>
                    <a:lstStyle/>
                    <a:p>
                      <a:endParaRPr lang="en-US" dirty="0"/>
                    </a:p>
                  </a:txBody>
                  <a:tcPr/>
                </a:tc>
                <a:tc>
                  <a:txBody>
                    <a:bodyPr/>
                    <a:lstStyle/>
                    <a:p>
                      <a:endParaRPr lang="en-US" dirty="0"/>
                    </a:p>
                  </a:txBody>
                  <a:tcPr>
                    <a:solidFill>
                      <a:schemeClr val="accent6">
                        <a:lumMod val="5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wynik walidacji 2</a:t>
                      </a:r>
                      <a:endParaRPr lang="en-US" dirty="0">
                        <a:latin typeface="Arial Narrow" panose="020B0606020202030204" pitchFamily="34" charset="0"/>
                      </a:endParaRPr>
                    </a:p>
                  </a:txBody>
                  <a:tcPr/>
                </a:tc>
                <a:tc vMerge="1">
                  <a:txBody>
                    <a:bodyPr/>
                    <a:lstStyle/>
                    <a:p>
                      <a:endParaRPr lang="en-US">
                        <a:latin typeface="Arial Narrow" panose="020B0606020202030204" pitchFamily="34" charset="0"/>
                      </a:endParaRPr>
                    </a:p>
                  </a:txBody>
                  <a:tcPr/>
                </a:tc>
                <a:extLst>
                  <a:ext uri="{0D108BD9-81ED-4DB2-BD59-A6C34878D82A}">
                    <a16:rowId xmlns:a16="http://schemas.microsoft.com/office/drawing/2014/main" val="1215108805"/>
                  </a:ext>
                </a:extLst>
              </a:tr>
              <a:tr h="3240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Iteracja 3</a:t>
                      </a:r>
                      <a:endParaRPr lang="en-US" dirty="0">
                        <a:latin typeface="Arial Narrow" panose="020B0606020202030204" pitchFamily="34" charset="0"/>
                      </a:endParaRPr>
                    </a:p>
                  </a:txBody>
                  <a:tcPr/>
                </a:tc>
                <a:tc>
                  <a:txBody>
                    <a:bodyPr/>
                    <a:lstStyle/>
                    <a:p>
                      <a:endParaRPr lang="en-US" dirty="0"/>
                    </a:p>
                  </a:txBody>
                  <a:tcPr/>
                </a:tc>
                <a:tc>
                  <a:txBody>
                    <a:bodyPr/>
                    <a:lstStyle/>
                    <a:p>
                      <a:endParaRPr lang="en-US" dirty="0"/>
                    </a:p>
                  </a:txBody>
                  <a:tcPr/>
                </a:tc>
                <a:tc>
                  <a:txBody>
                    <a:bodyPr/>
                    <a:lstStyle/>
                    <a:p>
                      <a:endParaRPr lang="en-US" dirty="0"/>
                    </a:p>
                  </a:txBody>
                  <a:tcPr>
                    <a:solidFill>
                      <a:schemeClr val="accent6">
                        <a:lumMod val="50000"/>
                      </a:schemeClr>
                    </a:solidFill>
                  </a:tcPr>
                </a:tc>
                <a:tc>
                  <a:txBody>
                    <a:bodyPr/>
                    <a:lstStyle/>
                    <a:p>
                      <a:endParaRPr lang="en-US" dirty="0"/>
                    </a:p>
                  </a:txBody>
                  <a:tcPr/>
                </a:tc>
                <a:tc>
                  <a:txBody>
                    <a:bodyPr/>
                    <a:lstStyle/>
                    <a:p>
                      <a:endParaRPr 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wynik walidacji 3</a:t>
                      </a:r>
                      <a:endParaRPr lang="en-US" dirty="0">
                        <a:latin typeface="Arial Narrow" panose="020B0606020202030204" pitchFamily="34" charset="0"/>
                      </a:endParaRPr>
                    </a:p>
                  </a:txBody>
                  <a:tcPr/>
                </a:tc>
                <a:tc vMerge="1">
                  <a:txBody>
                    <a:bodyPr/>
                    <a:lstStyle/>
                    <a:p>
                      <a:endParaRPr lang="en-US">
                        <a:latin typeface="Arial Narrow" panose="020B0606020202030204" pitchFamily="34" charset="0"/>
                      </a:endParaRPr>
                    </a:p>
                  </a:txBody>
                  <a:tcPr/>
                </a:tc>
                <a:extLst>
                  <a:ext uri="{0D108BD9-81ED-4DB2-BD59-A6C34878D82A}">
                    <a16:rowId xmlns:a16="http://schemas.microsoft.com/office/drawing/2014/main" val="1719613660"/>
                  </a:ext>
                </a:extLst>
              </a:tr>
              <a:tr h="3240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Iteracja 4</a:t>
                      </a:r>
                      <a:endParaRPr lang="en-US" dirty="0">
                        <a:latin typeface="Arial Narrow" panose="020B0606020202030204" pitchFamily="34" charset="0"/>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solidFill>
                      <a:schemeClr val="accent6">
                        <a:lumMod val="50000"/>
                      </a:schemeClr>
                    </a:solidFill>
                  </a:tcPr>
                </a:tc>
                <a:tc>
                  <a:txBody>
                    <a:bodyPr/>
                    <a:lstStyle/>
                    <a:p>
                      <a:endParaRPr 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wynik walidacji 4</a:t>
                      </a:r>
                      <a:endParaRPr lang="en-US" dirty="0">
                        <a:latin typeface="Arial Narrow" panose="020B0606020202030204" pitchFamily="34" charset="0"/>
                      </a:endParaRPr>
                    </a:p>
                  </a:txBody>
                  <a:tcPr/>
                </a:tc>
                <a:tc vMerge="1">
                  <a:txBody>
                    <a:bodyPr/>
                    <a:lstStyle/>
                    <a:p>
                      <a:endParaRPr lang="en-US">
                        <a:latin typeface="Arial Narrow" panose="020B0606020202030204" pitchFamily="34" charset="0"/>
                      </a:endParaRPr>
                    </a:p>
                  </a:txBody>
                  <a:tcPr/>
                </a:tc>
                <a:extLst>
                  <a:ext uri="{0D108BD9-81ED-4DB2-BD59-A6C34878D82A}">
                    <a16:rowId xmlns:a16="http://schemas.microsoft.com/office/drawing/2014/main" val="383266160"/>
                  </a:ext>
                </a:extLst>
              </a:tr>
              <a:tr h="3240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Iteracja 5</a:t>
                      </a:r>
                      <a:endParaRPr lang="en-US" dirty="0">
                        <a:latin typeface="Arial Narrow" panose="020B0606020202030204" pitchFamily="34" charset="0"/>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solidFill>
                      <a:schemeClr val="accent6">
                        <a:lumMod val="5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l-PL" dirty="0">
                          <a:latin typeface="Arial Narrow" panose="020B0606020202030204" pitchFamily="34" charset="0"/>
                        </a:rPr>
                        <a:t>wynik walidacji 5</a:t>
                      </a:r>
                      <a:endParaRPr lang="en-US" dirty="0">
                        <a:latin typeface="Arial Narrow" panose="020B0606020202030204" pitchFamily="34" charset="0"/>
                      </a:endParaRPr>
                    </a:p>
                  </a:txBody>
                  <a:tcPr>
                    <a:noFill/>
                  </a:tcPr>
                </a:tc>
                <a:tc vMerge="1">
                  <a:txBody>
                    <a:bodyPr/>
                    <a:lstStyle/>
                    <a:p>
                      <a:endParaRPr lang="en-US">
                        <a:latin typeface="Arial Narrow" panose="020B0606020202030204" pitchFamily="34" charset="0"/>
                      </a:endParaRPr>
                    </a:p>
                  </a:txBody>
                  <a:tcPr>
                    <a:noFill/>
                  </a:tcPr>
                </a:tc>
                <a:extLst>
                  <a:ext uri="{0D108BD9-81ED-4DB2-BD59-A6C34878D82A}">
                    <a16:rowId xmlns:a16="http://schemas.microsoft.com/office/drawing/2014/main" val="219588310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64045312"/>
              </p:ext>
            </p:extLst>
          </p:nvPr>
        </p:nvGraphicFramePr>
        <p:xfrm>
          <a:off x="6855392" y="5075400"/>
          <a:ext cx="2088000" cy="792000"/>
        </p:xfrm>
        <a:graphic>
          <a:graphicData uri="http://schemas.openxmlformats.org/drawingml/2006/table">
            <a:tbl>
              <a:tblPr firstRow="1" bandRow="1">
                <a:tableStyleId>{5940675A-B579-460E-94D1-54222C63F5DA}</a:tableStyleId>
              </a:tblPr>
              <a:tblGrid>
                <a:gridCol w="396000">
                  <a:extLst>
                    <a:ext uri="{9D8B030D-6E8A-4147-A177-3AD203B41FA5}">
                      <a16:colId xmlns:a16="http://schemas.microsoft.com/office/drawing/2014/main" val="1456425963"/>
                    </a:ext>
                  </a:extLst>
                </a:gridCol>
                <a:gridCol w="1692000">
                  <a:extLst>
                    <a:ext uri="{9D8B030D-6E8A-4147-A177-3AD203B41FA5}">
                      <a16:colId xmlns:a16="http://schemas.microsoft.com/office/drawing/2014/main" val="1280120027"/>
                    </a:ext>
                  </a:extLst>
                </a:gridCol>
              </a:tblGrid>
              <a:tr h="396000">
                <a:tc>
                  <a:txBody>
                    <a:bodyPr/>
                    <a:lstStyle/>
                    <a:p>
                      <a:endParaRPr lang="en-US" dirty="0"/>
                    </a:p>
                  </a:txBody>
                  <a:tcPr/>
                </a:tc>
                <a:tc>
                  <a:txBody>
                    <a:bodyPr/>
                    <a:lstStyle/>
                    <a:p>
                      <a:r>
                        <a:rPr lang="pl-PL" dirty="0">
                          <a:latin typeface="Arial Narrow" panose="020B0606020202030204" pitchFamily="34" charset="0"/>
                        </a:rPr>
                        <a:t>zbiór treningowy</a:t>
                      </a:r>
                      <a:endParaRPr lang="en-US" dirty="0">
                        <a:latin typeface="Arial Narrow" panose="020B0606020202030204" pitchFamily="34"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19709308"/>
                  </a:ext>
                </a:extLst>
              </a:tr>
              <a:tr h="396000">
                <a:tc>
                  <a:txBody>
                    <a:bodyPr/>
                    <a:lstStyle/>
                    <a:p>
                      <a:endParaRPr lang="en-US" dirty="0"/>
                    </a:p>
                  </a:txBody>
                  <a:tcPr>
                    <a:solidFill>
                      <a:schemeClr val="accent6">
                        <a:lumMod val="50000"/>
                      </a:schemeClr>
                    </a:solidFill>
                  </a:tcPr>
                </a:tc>
                <a:tc>
                  <a:txBody>
                    <a:bodyPr/>
                    <a:lstStyle/>
                    <a:p>
                      <a:r>
                        <a:rPr lang="pl-PL" dirty="0">
                          <a:latin typeface="Arial Narrow" panose="020B0606020202030204" pitchFamily="34" charset="0"/>
                        </a:rPr>
                        <a:t>zbiór walidacyjny</a:t>
                      </a:r>
                      <a:endParaRPr lang="en-US" dirty="0">
                        <a:latin typeface="Arial Narrow" panose="020B0606020202030204" pitchFamily="34"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034560553"/>
                  </a:ext>
                </a:extLst>
              </a:tr>
            </a:tbl>
          </a:graphicData>
        </a:graphic>
      </p:graphicFrame>
      <p:sp>
        <p:nvSpPr>
          <p:cNvPr id="9"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10" name="TextBox 9"/>
          <p:cNvSpPr txBox="1"/>
          <p:nvPr/>
        </p:nvSpPr>
        <p:spPr>
          <a:xfrm>
            <a:off x="1958050" y="2870208"/>
            <a:ext cx="990600" cy="316592"/>
          </a:xfrm>
          <a:prstGeom prst="rect">
            <a:avLst/>
          </a:prstGeom>
          <a:noFill/>
        </p:spPr>
        <p:txBody>
          <a:bodyPr wrap="square" lIns="18000" tIns="18000" rIns="18000" bIns="18000" rtlCol="0">
            <a:noAutofit/>
          </a:bodyPr>
          <a:lstStyle/>
          <a:p>
            <a:r>
              <a:rPr lang="pl-PL" dirty="0">
                <a:latin typeface="Arial Narrow" panose="020B0606020202030204" pitchFamily="34" charset="0"/>
              </a:rPr>
              <a:t>trenowanie</a:t>
            </a:r>
            <a:endParaRPr lang="en-GB" dirty="0">
              <a:latin typeface="Arial Narrow" panose="020B0606020202030204" pitchFamily="34" charset="0"/>
            </a:endParaRPr>
          </a:p>
        </p:txBody>
      </p:sp>
      <p:sp>
        <p:nvSpPr>
          <p:cNvPr id="11" name="TextBox 10"/>
          <p:cNvSpPr txBox="1"/>
          <p:nvPr/>
        </p:nvSpPr>
        <p:spPr>
          <a:xfrm>
            <a:off x="3702475" y="2870208"/>
            <a:ext cx="990600" cy="316592"/>
          </a:xfrm>
          <a:prstGeom prst="rect">
            <a:avLst/>
          </a:prstGeom>
          <a:noFill/>
        </p:spPr>
        <p:txBody>
          <a:bodyPr wrap="square" lIns="18000" tIns="18000" rIns="18000" bIns="18000" rtlCol="0">
            <a:noAutofit/>
          </a:bodyPr>
          <a:lstStyle/>
          <a:p>
            <a:pPr algn="ctr"/>
            <a:r>
              <a:rPr lang="pl-PL" dirty="0">
                <a:latin typeface="Arial Narrow" panose="020B0606020202030204" pitchFamily="34" charset="0"/>
              </a:rPr>
              <a:t>walidacja</a:t>
            </a:r>
            <a:endParaRPr lang="en-GB" dirty="0">
              <a:latin typeface="Arial Narrow" panose="020B0606020202030204" pitchFamily="34" charset="0"/>
            </a:endParaRPr>
          </a:p>
        </p:txBody>
      </p:sp>
      <p:sp>
        <p:nvSpPr>
          <p:cNvPr id="2" name="Left Brace 1"/>
          <p:cNvSpPr/>
          <p:nvPr/>
        </p:nvSpPr>
        <p:spPr>
          <a:xfrm rot="5400000">
            <a:off x="2370950" y="2450675"/>
            <a:ext cx="152400" cy="180000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Left Brace 11"/>
          <p:cNvSpPr/>
          <p:nvPr/>
        </p:nvSpPr>
        <p:spPr>
          <a:xfrm rot="5400000">
            <a:off x="4121575" y="2576775"/>
            <a:ext cx="152400" cy="154800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6796769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73</a:t>
            </a:fld>
            <a:endParaRPr lang="pl-PL" dirty="0"/>
          </a:p>
        </p:txBody>
      </p:sp>
      <p:sp>
        <p:nvSpPr>
          <p:cNvPr id="2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26" name="Prostokąt 4"/>
          <p:cNvSpPr/>
          <p:nvPr/>
        </p:nvSpPr>
        <p:spPr>
          <a:xfrm>
            <a:off x="0" y="304800"/>
            <a:ext cx="9144000" cy="4093428"/>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K-krotna walidacja z losowaniem</a:t>
            </a:r>
            <a:r>
              <a:rPr lang="pl-PL" sz="2000" dirty="0">
                <a:solidFill>
                  <a:srgbClr val="0000FF"/>
                </a:solidFill>
                <a:latin typeface="Arial Narrow" panose="020B0606020202030204" pitchFamily="34" charset="0"/>
                <a:cs typeface="Calibri" panose="020F0502020204030204" pitchFamily="34" charset="0"/>
              </a:rPr>
              <a:t> </a:t>
            </a:r>
          </a:p>
          <a:p>
            <a:r>
              <a:rPr lang="pl-PL" sz="2000" dirty="0">
                <a:solidFill>
                  <a:srgbClr val="000000"/>
                </a:solidFill>
                <a:latin typeface="Arial Narrow" panose="020B0606020202030204" pitchFamily="34" charset="0"/>
                <a:cs typeface="Calibri" panose="020F0502020204030204" pitchFamily="34" charset="0"/>
              </a:rPr>
              <a:t>polega na wielokrotnym stosowaniu k-krotnej walidacji krzyżowej, w której przed każdym kolejnym etapem próbki do poszczególnych zbiorów są losowane. Ostateczny wynik walidacji jest średnią wyników uzyskanych podczas każdego etapu.</a:t>
            </a:r>
          </a:p>
          <a:p>
            <a:r>
              <a:rPr lang="pl-PL" sz="2000" dirty="0">
                <a:solidFill>
                  <a:srgbClr val="000000"/>
                </a:solidFill>
                <a:latin typeface="Arial Narrow" panose="020B0606020202030204" pitchFamily="34" charset="0"/>
                <a:cs typeface="Calibri" panose="020F0502020204030204" pitchFamily="34" charset="0"/>
              </a:rPr>
              <a:t>W metodzie tej trenowanych i ewaluowanych jest </a:t>
            </a:r>
            <a:r>
              <a:rPr lang="pl-PL" sz="2000" b="1" dirty="0">
                <a:solidFill>
                  <a:srgbClr val="000000"/>
                </a:solidFill>
                <a:latin typeface="Arial Narrow" panose="020B0606020202030204" pitchFamily="34" charset="0"/>
                <a:cs typeface="Calibri" panose="020F0502020204030204" pitchFamily="34" charset="0"/>
              </a:rPr>
              <a:t>p</a:t>
            </a:r>
            <a:r>
              <a:rPr lang="pl-PL" sz="2000" dirty="0">
                <a:solidFill>
                  <a:srgbClr val="000000"/>
                </a:solidFill>
                <a:latin typeface="Arial Narrow" panose="020B0606020202030204" pitchFamily="34" charset="0"/>
                <a:cs typeface="Calibri" panose="020F0502020204030204" pitchFamily="34" charset="0"/>
              </a:rPr>
              <a:t>*</a:t>
            </a:r>
            <a:r>
              <a:rPr lang="pl-PL" sz="2000" b="1" dirty="0">
                <a:solidFill>
                  <a:srgbClr val="000000"/>
                </a:solidFill>
                <a:latin typeface="Arial Narrow" panose="020B0606020202030204" pitchFamily="34" charset="0"/>
                <a:cs typeface="Calibri" panose="020F0502020204030204" pitchFamily="34" charset="0"/>
              </a:rPr>
              <a:t>k</a:t>
            </a:r>
            <a:r>
              <a:rPr lang="pl-PL" sz="2000" dirty="0">
                <a:solidFill>
                  <a:srgbClr val="000000"/>
                </a:solidFill>
                <a:latin typeface="Arial Narrow" panose="020B0606020202030204" pitchFamily="34" charset="0"/>
                <a:cs typeface="Calibri" panose="020F0502020204030204" pitchFamily="34" charset="0"/>
              </a:rPr>
              <a:t> modeli, gdzie </a:t>
            </a:r>
            <a:r>
              <a:rPr lang="pl-PL" sz="2000" b="1" dirty="0">
                <a:solidFill>
                  <a:srgbClr val="000000"/>
                </a:solidFill>
                <a:latin typeface="Arial Narrow" panose="020B0606020202030204" pitchFamily="34" charset="0"/>
                <a:cs typeface="Calibri" panose="020F0502020204030204" pitchFamily="34" charset="0"/>
              </a:rPr>
              <a:t>p</a:t>
            </a:r>
            <a:r>
              <a:rPr lang="pl-PL" sz="2000" dirty="0">
                <a:solidFill>
                  <a:srgbClr val="000000"/>
                </a:solidFill>
                <a:latin typeface="Arial Narrow" panose="020B0606020202030204" pitchFamily="34" charset="0"/>
                <a:cs typeface="Calibri" panose="020F0502020204030204" pitchFamily="34" charset="0"/>
              </a:rPr>
              <a:t> jest liczbą iteracji algorytmu.</a:t>
            </a:r>
          </a:p>
          <a:p>
            <a:endParaRPr lang="pl-PL" sz="2000" dirty="0">
              <a:solidFill>
                <a:srgbClr val="000000"/>
              </a:solidFill>
              <a:latin typeface="Arial Narrow" panose="020B0606020202030204" pitchFamily="34" charset="0"/>
              <a:cs typeface="Calibri" panose="020F0502020204030204" pitchFamily="34" charset="0"/>
            </a:endParaRP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FF"/>
                </a:solidFill>
                <a:latin typeface="Arial Narrow" panose="020B0606020202030204" pitchFamily="34" charset="0"/>
                <a:cs typeface="Calibri" panose="020F0502020204030204" pitchFamily="34" charset="0"/>
              </a:rPr>
              <a:t>Stratyfikowana walidacja krzyżowa</a:t>
            </a:r>
            <a:r>
              <a:rPr lang="pl-PL" sz="2000" b="1" dirty="0">
                <a:solidFill>
                  <a:srgbClr val="000000"/>
                </a:solidFill>
                <a:latin typeface="Arial Narrow" panose="020B0606020202030204" pitchFamily="34" charset="0"/>
                <a:cs typeface="Calibri" panose="020F0502020204030204" pitchFamily="34" charset="0"/>
              </a:rPr>
              <a:t> </a:t>
            </a:r>
            <a:r>
              <a:rPr lang="pl-PL" sz="2000" dirty="0">
                <a:solidFill>
                  <a:srgbClr val="000000"/>
                </a:solidFill>
                <a:latin typeface="Arial Narrow" panose="020B0606020202030204" pitchFamily="34" charset="0"/>
                <a:cs typeface="Calibri" panose="020F0502020204030204" pitchFamily="34" charset="0"/>
              </a:rPr>
              <a:t>(ang.</a:t>
            </a:r>
            <a:r>
              <a:rPr lang="pl-PL" sz="2000" i="1" dirty="0">
                <a:solidFill>
                  <a:srgbClr val="000000"/>
                </a:solidFill>
                <a:latin typeface="Arial Narrow" panose="020B0606020202030204" pitchFamily="34" charset="0"/>
                <a:cs typeface="Calibri" panose="020F0502020204030204" pitchFamily="34" charset="0"/>
              </a:rPr>
              <a:t> </a:t>
            </a:r>
            <a:r>
              <a:rPr lang="pl-PL" sz="2000" b="1" i="1" dirty="0">
                <a:solidFill>
                  <a:srgbClr val="000000"/>
                </a:solidFill>
                <a:latin typeface="Arial Narrow" panose="020B0606020202030204" pitchFamily="34" charset="0"/>
                <a:cs typeface="Calibri" panose="020F0502020204030204" pitchFamily="34" charset="0"/>
              </a:rPr>
              <a:t>stratified cross-validation</a:t>
            </a:r>
            <a:r>
              <a:rPr lang="pl-PL" sz="2000" dirty="0">
                <a:solidFill>
                  <a:srgbClr val="000000"/>
                </a:solidFill>
                <a:latin typeface="Arial Narrow" panose="020B0606020202030204" pitchFamily="34" charset="0"/>
                <a:cs typeface="Calibri" panose="020F0502020204030204" pitchFamily="34" charset="0"/>
              </a:rPr>
              <a:t>)</a:t>
            </a:r>
            <a:r>
              <a:rPr lang="pl-PL" sz="2000" b="1" i="1" dirty="0">
                <a:solidFill>
                  <a:srgbClr val="000000"/>
                </a:solidFill>
                <a:latin typeface="Arial Narrow" panose="020B0606020202030204" pitchFamily="34" charset="0"/>
                <a:cs typeface="Calibri" panose="020F0502020204030204" pitchFamily="34" charset="0"/>
              </a:rPr>
              <a:t> </a:t>
            </a:r>
          </a:p>
          <a:p>
            <a:r>
              <a:rPr lang="pl-PL" sz="2000" dirty="0">
                <a:solidFill>
                  <a:srgbClr val="000000"/>
                </a:solidFill>
                <a:latin typeface="Arial Narrow" panose="020B0606020202030204" pitchFamily="34" charset="0"/>
                <a:cs typeface="Calibri" panose="020F0502020204030204" pitchFamily="34" charset="0"/>
              </a:rPr>
              <a:t>polega na takim podziale obiektów pomiędzy poszczególne podzbiory, aby zachowane były proporcje pomiędzy klasami decyzyjnymi. Stosowana, gdy w danych występują znaczne dysproporcje w liczebności przykładów należących do poszczególnych klas (np. w zbiorze zdjęć jest 80% motocykli i 20% rowerów).</a:t>
            </a:r>
          </a:p>
        </p:txBody>
      </p:sp>
    </p:spTree>
    <p:extLst>
      <p:ext uri="{BB962C8B-B14F-4D97-AF65-F5344CB8AC3E}">
        <p14:creationId xmlns:p14="http://schemas.microsoft.com/office/powerpoint/2010/main" val="38053092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74</a:t>
            </a:fld>
            <a:endParaRPr lang="pl-PL" dirty="0"/>
          </a:p>
        </p:txBody>
      </p:sp>
      <p:sp>
        <p:nvSpPr>
          <p:cNvPr id="5" name="Prostokąt 4"/>
          <p:cNvSpPr/>
          <p:nvPr/>
        </p:nvSpPr>
        <p:spPr>
          <a:xfrm>
            <a:off x="0" y="304800"/>
            <a:ext cx="8915400" cy="3785652"/>
          </a:xfrm>
          <a:prstGeom prst="rect">
            <a:avLst/>
          </a:prstGeom>
        </p:spPr>
        <p:txBody>
          <a:bodyPr wrap="square">
            <a:spAutoFit/>
          </a:bodyPr>
          <a:lstStyle/>
          <a:p>
            <a:r>
              <a:rPr lang="pl-PL" sz="2000" b="1" dirty="0">
                <a:solidFill>
                  <a:srgbClr val="0000FF"/>
                </a:solidFill>
                <a:latin typeface="Arial Narrow" panose="020B0606020202030204" pitchFamily="34" charset="0"/>
                <a:cs typeface="Calibri" panose="020F0502020204030204" pitchFamily="34" charset="0"/>
              </a:rPr>
              <a:t>Macierz pomyłek</a:t>
            </a:r>
            <a:r>
              <a:rPr lang="pl-PL" sz="2000" dirty="0">
                <a:solidFill>
                  <a:srgbClr val="0000FF"/>
                </a:solidFill>
                <a:latin typeface="Arial Narrow" panose="020B0606020202030204" pitchFamily="34" charset="0"/>
                <a:cs typeface="Calibri" panose="020F0502020204030204" pitchFamily="34" charset="0"/>
              </a:rPr>
              <a:t> </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(tablica kontyngencji, macierz błędów, ang. </a:t>
            </a:r>
            <a:r>
              <a:rPr lang="pl-PL" sz="2000" i="1" dirty="0">
                <a:solidFill>
                  <a:srgbClr val="000000"/>
                </a:solidFill>
                <a:latin typeface="Arial Narrow" panose="020B0606020202030204" pitchFamily="34" charset="0"/>
                <a:cs typeface="Calibri" panose="020F0502020204030204" pitchFamily="34" charset="0"/>
              </a:rPr>
              <a:t>confusion matrix</a:t>
            </a:r>
            <a:r>
              <a:rPr lang="pl-PL" sz="2000" dirty="0">
                <a:solidFill>
                  <a:srgbClr val="000000"/>
                </a:solidFill>
                <a:latin typeface="Arial Narrow" panose="020B0606020202030204" pitchFamily="34" charset="0"/>
                <a:cs typeface="Calibri" panose="020F0502020204030204" pitchFamily="34" charset="0"/>
              </a:rPr>
              <a:t>):</a:t>
            </a:r>
          </a:p>
          <a:p>
            <a:pPr marL="269875" indent="-269875">
              <a:buFont typeface="+mj-lt"/>
              <a:buAutoNum type="arabicPeriod"/>
            </a:pPr>
            <a:r>
              <a:rPr lang="pl-PL" sz="2000" b="1" dirty="0">
                <a:solidFill>
                  <a:srgbClr val="00B050"/>
                </a:solidFill>
                <a:latin typeface="Arial Narrow" panose="020B0606020202030204" pitchFamily="34" charset="0"/>
                <a:cs typeface="Calibri" panose="020F0502020204030204" pitchFamily="34" charset="0"/>
              </a:rPr>
              <a:t>Poprawne zidentyfikowanie</a:t>
            </a:r>
            <a:r>
              <a:rPr lang="pl-PL" sz="2000" dirty="0">
                <a:solidFill>
                  <a:srgbClr val="000000"/>
                </a:solidFill>
                <a:latin typeface="Arial Narrow" panose="020B0606020202030204" pitchFamily="34" charset="0"/>
                <a:cs typeface="Calibri" panose="020F0502020204030204" pitchFamily="34" charset="0"/>
              </a:rPr>
              <a:t> wartości pozytywnej (true-positive) lub wartości negatywnej (</a:t>
            </a:r>
            <a:r>
              <a:rPr lang="pl-PL" sz="2000">
                <a:solidFill>
                  <a:srgbClr val="000000"/>
                </a:solidFill>
                <a:latin typeface="Arial Narrow" panose="020B0606020202030204" pitchFamily="34" charset="0"/>
                <a:cs typeface="Calibri" panose="020F0502020204030204" pitchFamily="34" charset="0"/>
              </a:rPr>
              <a:t>true-negative</a:t>
            </a:r>
            <a:r>
              <a:rPr lang="pl-PL" sz="2000" dirty="0">
                <a:solidFill>
                  <a:srgbClr val="000000"/>
                </a:solidFill>
                <a:latin typeface="Arial Narrow" panose="020B0606020202030204" pitchFamily="34" charset="0"/>
                <a:cs typeface="Calibri" panose="020F0502020204030204" pitchFamily="34" charset="0"/>
              </a:rPr>
              <a:t>).</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Np.:</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osoba zdrowa została poprawnie rozpoznana jako zdrowa (true-positive)</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osoba chora została poprawnie rozpoznana jako chora (</a:t>
            </a:r>
            <a:r>
              <a:rPr lang="pl-PL" sz="2000">
                <a:solidFill>
                  <a:srgbClr val="000000"/>
                </a:solidFill>
                <a:latin typeface="Arial Narrow" panose="020B0606020202030204" pitchFamily="34" charset="0"/>
                <a:cs typeface="Calibri" panose="020F0502020204030204" pitchFamily="34" charset="0"/>
              </a:rPr>
              <a:t>true-negative</a:t>
            </a:r>
            <a:r>
              <a:rPr lang="pl-PL" sz="2000" dirty="0">
                <a:solidFill>
                  <a:srgbClr val="000000"/>
                </a:solidFill>
                <a:latin typeface="Arial Narrow" panose="020B0606020202030204" pitchFamily="34" charset="0"/>
                <a:cs typeface="Calibri" panose="020F0502020204030204" pitchFamily="34" charset="0"/>
              </a:rPr>
              <a:t>)</a:t>
            </a:r>
          </a:p>
          <a:p>
            <a:pPr marL="269875" indent="-269875">
              <a:buFont typeface="+mj-lt"/>
              <a:buAutoNum type="arabicPeriod"/>
            </a:pPr>
            <a:r>
              <a:rPr lang="pl-PL" sz="2000" b="1" dirty="0">
                <a:solidFill>
                  <a:srgbClr val="FF0000"/>
                </a:solidFill>
                <a:latin typeface="Arial Narrow" panose="020B0606020202030204" pitchFamily="34" charset="0"/>
                <a:cs typeface="Calibri" panose="020F0502020204030204" pitchFamily="34" charset="0"/>
              </a:rPr>
              <a:t>Błędne zidentyfikowanie</a:t>
            </a:r>
            <a:r>
              <a:rPr lang="pl-PL" sz="2000" dirty="0">
                <a:solidFill>
                  <a:srgbClr val="000000"/>
                </a:solidFill>
                <a:latin typeface="Arial Narrow" panose="020B0606020202030204" pitchFamily="34" charset="0"/>
                <a:cs typeface="Calibri" panose="020F0502020204030204" pitchFamily="34" charset="0"/>
              </a:rPr>
              <a:t> wartości pozytywnej jako negatywna (</a:t>
            </a:r>
            <a:r>
              <a:rPr lang="pl-PL" sz="2000">
                <a:solidFill>
                  <a:srgbClr val="000000"/>
                </a:solidFill>
                <a:latin typeface="Arial Narrow" panose="020B0606020202030204" pitchFamily="34" charset="0"/>
                <a:cs typeface="Calibri" panose="020F0502020204030204" pitchFamily="34" charset="0"/>
              </a:rPr>
              <a:t>false-negative</a:t>
            </a:r>
            <a:r>
              <a:rPr lang="pl-PL" sz="2000" dirty="0">
                <a:solidFill>
                  <a:srgbClr val="000000"/>
                </a:solidFill>
                <a:latin typeface="Arial Narrow" panose="020B0606020202030204" pitchFamily="34" charset="0"/>
                <a:cs typeface="Calibri" panose="020F0502020204030204" pitchFamily="34" charset="0"/>
              </a:rPr>
              <a:t>) lub wartości negatywnej jako pozytywna (</a:t>
            </a:r>
            <a:r>
              <a:rPr lang="pl-PL" sz="2000">
                <a:solidFill>
                  <a:srgbClr val="000000"/>
                </a:solidFill>
                <a:latin typeface="Arial Narrow" panose="020B0606020202030204" pitchFamily="34" charset="0"/>
                <a:cs typeface="Calibri" panose="020F0502020204030204" pitchFamily="34" charset="0"/>
              </a:rPr>
              <a:t>false-positive</a:t>
            </a:r>
            <a:r>
              <a:rPr lang="pl-PL" sz="2000" dirty="0">
                <a:solidFill>
                  <a:srgbClr val="000000"/>
                </a:solidFill>
                <a:latin typeface="Arial Narrow" panose="020B0606020202030204" pitchFamily="34" charset="0"/>
                <a:cs typeface="Calibri" panose="020F0502020204030204" pitchFamily="34" charset="0"/>
              </a:rPr>
              <a:t>).</a:t>
            </a:r>
          </a:p>
          <a:p>
            <a:pPr marL="269875" indent="-269875"/>
            <a:r>
              <a:rPr lang="pl-PL" sz="2000" dirty="0">
                <a:solidFill>
                  <a:srgbClr val="000000"/>
                </a:solidFill>
                <a:latin typeface="Arial Narrow" panose="020B0606020202030204" pitchFamily="34" charset="0"/>
                <a:cs typeface="Calibri" panose="020F0502020204030204" pitchFamily="34" charset="0"/>
              </a:rPr>
              <a:t>	Np.:</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osoba zdrowa została błędnie rozpoznana jako chora (</a:t>
            </a:r>
            <a:r>
              <a:rPr lang="pl-PL" sz="2000">
                <a:solidFill>
                  <a:srgbClr val="000000"/>
                </a:solidFill>
                <a:latin typeface="Arial Narrow" panose="020B0606020202030204" pitchFamily="34" charset="0"/>
                <a:cs typeface="Calibri" panose="020F0502020204030204" pitchFamily="34" charset="0"/>
              </a:rPr>
              <a:t>false-negative</a:t>
            </a:r>
            <a:r>
              <a:rPr lang="pl-PL" sz="2000" dirty="0">
                <a:solidFill>
                  <a:srgbClr val="000000"/>
                </a:solidFill>
                <a:latin typeface="Arial Narrow" panose="020B0606020202030204" pitchFamily="34" charset="0"/>
                <a:cs typeface="Calibri" panose="020F0502020204030204" pitchFamily="34" charset="0"/>
              </a:rPr>
              <a:t>)</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osoba chora została błędnie rozpoznana jako zdrowa (</a:t>
            </a:r>
            <a:r>
              <a:rPr lang="pl-PL" sz="2000">
                <a:solidFill>
                  <a:srgbClr val="000000"/>
                </a:solidFill>
                <a:latin typeface="Arial Narrow" panose="020B0606020202030204" pitchFamily="34" charset="0"/>
                <a:cs typeface="Calibri" panose="020F0502020204030204" pitchFamily="34" charset="0"/>
              </a:rPr>
              <a:t>false-positive</a:t>
            </a:r>
            <a:r>
              <a:rPr lang="pl-PL" sz="2000" dirty="0">
                <a:solidFill>
                  <a:srgbClr val="000000"/>
                </a:solidFill>
                <a:latin typeface="Arial Narrow" panose="020B0606020202030204" pitchFamily="34" charset="0"/>
                <a:cs typeface="Calibri" panose="020F050202020403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1357497103"/>
              </p:ext>
            </p:extLst>
          </p:nvPr>
        </p:nvGraphicFramePr>
        <p:xfrm>
          <a:off x="1219200" y="4114800"/>
          <a:ext cx="6553200" cy="148336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7084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dirty="0">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7084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extLst>
                  <a:ext uri="{0D108BD9-81ED-4DB2-BD59-A6C34878D82A}">
                    <a16:rowId xmlns:a16="http://schemas.microsoft.com/office/drawing/2014/main" val="2242066169"/>
                  </a:ext>
                </a:extLst>
              </a:tr>
              <a:tr h="370840">
                <a:tc rowSpan="2">
                  <a:txBody>
                    <a:bodyPr/>
                    <a:lstStyle/>
                    <a:p>
                      <a:pPr algn="ctr"/>
                      <a:r>
                        <a:rPr lang="pl-PL" dirty="0">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solidFill>
                            <a:srgbClr val="00B050"/>
                          </a:solidFill>
                          <a:latin typeface="Arial Narrow" panose="020B0606020202030204" pitchFamily="34" charset="0"/>
                        </a:rPr>
                        <a:t>true-positive</a:t>
                      </a:r>
                      <a:endParaRPr lang="en-US" dirty="0">
                        <a:solidFill>
                          <a:srgbClr val="00B050"/>
                        </a:solidFill>
                        <a:latin typeface="Arial Narrow" panose="020B060602020203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l-PL">
                          <a:solidFill>
                            <a:srgbClr val="FF0000"/>
                          </a:solidFill>
                          <a:latin typeface="Arial Narrow" panose="020B0606020202030204" pitchFamily="34" charset="0"/>
                        </a:rPr>
                        <a:t>false-negative</a:t>
                      </a:r>
                      <a:endParaRPr lang="en-US" dirty="0">
                        <a:solidFill>
                          <a:srgbClr val="00B050"/>
                        </a:solidFill>
                        <a:latin typeface="Arial Narrow" panose="020B0606020202030204" pitchFamily="34" charset="0"/>
                      </a:endParaRPr>
                    </a:p>
                  </a:txBody>
                  <a:tcPr/>
                </a:tc>
                <a:extLst>
                  <a:ext uri="{0D108BD9-81ED-4DB2-BD59-A6C34878D82A}">
                    <a16:rowId xmlns:a16="http://schemas.microsoft.com/office/drawing/2014/main" val="1675270064"/>
                  </a:ext>
                </a:extLst>
              </a:tr>
              <a:tr h="37084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tc>
                  <a:txBody>
                    <a:bodyPr/>
                    <a:lstStyle/>
                    <a:p>
                      <a:pPr algn="ctr"/>
                      <a:r>
                        <a:rPr lang="pl-PL">
                          <a:solidFill>
                            <a:srgbClr val="FF0000"/>
                          </a:solidFill>
                          <a:latin typeface="Arial Narrow" panose="020B0606020202030204" pitchFamily="34" charset="0"/>
                        </a:rPr>
                        <a:t>false-positive</a:t>
                      </a:r>
                      <a:endParaRPr lang="en-US" dirty="0">
                        <a:solidFill>
                          <a:srgbClr val="FF0000"/>
                        </a:solidFill>
                        <a:latin typeface="Arial Narrow" panose="020B060602020203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l-PL">
                          <a:solidFill>
                            <a:srgbClr val="00B050"/>
                          </a:solidFill>
                          <a:latin typeface="Arial Narrow" panose="020B0606020202030204" pitchFamily="34" charset="0"/>
                        </a:rPr>
                        <a:t>true-negative</a:t>
                      </a:r>
                      <a:endParaRPr lang="en-US" dirty="0">
                        <a:solidFill>
                          <a:srgbClr val="00B050"/>
                        </a:solidFill>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sp>
        <p:nvSpPr>
          <p:cNvPr id="8"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dirty="0">
                <a:latin typeface="Arial" pitchFamily="34" charset="0"/>
                <a:ea typeface="+mj-lt"/>
                <a:cs typeface="Arial" pitchFamily="34" charset="0"/>
              </a:rPr>
              <a:t>Metody 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8072032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75</a:t>
            </a:fld>
            <a:endParaRPr lang="pl-PL" dirty="0"/>
          </a:p>
        </p:txBody>
      </p:sp>
      <p:graphicFrame>
        <p:nvGraphicFramePr>
          <p:cNvPr id="5" name="Table 4"/>
          <p:cNvGraphicFramePr>
            <a:graphicFrameLocks noGrp="1"/>
          </p:cNvGraphicFramePr>
          <p:nvPr>
            <p:extLst>
              <p:ext uri="{D42A27DB-BD31-4B8C-83A1-F6EECF244321}">
                <p14:modId xmlns:p14="http://schemas.microsoft.com/office/powerpoint/2010/main" val="710184131"/>
              </p:ext>
            </p:extLst>
          </p:nvPr>
        </p:nvGraphicFramePr>
        <p:xfrm>
          <a:off x="1059024" y="533400"/>
          <a:ext cx="6553200" cy="148336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7084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dirty="0">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7084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extLst>
                  <a:ext uri="{0D108BD9-81ED-4DB2-BD59-A6C34878D82A}">
                    <a16:rowId xmlns:a16="http://schemas.microsoft.com/office/drawing/2014/main" val="2242066169"/>
                  </a:ext>
                </a:extLst>
              </a:tr>
              <a:tr h="370840">
                <a:tc rowSpan="2">
                  <a:txBody>
                    <a:bodyPr/>
                    <a:lstStyle/>
                    <a:p>
                      <a:pPr algn="ctr"/>
                      <a:r>
                        <a:rPr lang="pl-PL" dirty="0">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true-positive (TP)</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false-negative (FN)</a:t>
                      </a:r>
                      <a:endParaRPr lang="en-US" dirty="0">
                        <a:latin typeface="Arial Narrow" panose="020B0606020202030204" pitchFamily="34" charset="0"/>
                      </a:endParaRPr>
                    </a:p>
                  </a:txBody>
                  <a:tcPr/>
                </a:tc>
                <a:extLst>
                  <a:ext uri="{0D108BD9-81ED-4DB2-BD59-A6C34878D82A}">
                    <a16:rowId xmlns:a16="http://schemas.microsoft.com/office/drawing/2014/main" val="1675270064"/>
                  </a:ext>
                </a:extLst>
              </a:tr>
              <a:tr h="37084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false-positive (FP)</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true-negative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mc:AlternateContent xmlns:mc="http://schemas.openxmlformats.org/markup-compatibility/2006" xmlns:a14="http://schemas.microsoft.com/office/drawing/2010/main">
        <mc:Choice Requires="a14">
          <p:sp>
            <p:nvSpPr>
              <p:cNvPr id="6" name="Prostokąt 4"/>
              <p:cNvSpPr/>
              <p:nvPr/>
            </p:nvSpPr>
            <p:spPr>
              <a:xfrm>
                <a:off x="76200" y="2133600"/>
                <a:ext cx="9067800" cy="4778231"/>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Miary poprawności predykcji:</a:t>
                </a:r>
              </a:p>
              <a:p>
                <a:endParaRPr lang="pl-PL" sz="2000" dirty="0">
                  <a:solidFill>
                    <a:srgbClr val="000000"/>
                  </a:solidFill>
                  <a:latin typeface="Arial Narrow" panose="020B0606020202030204" pitchFamily="34" charset="0"/>
                  <a:cs typeface="Calibri" panose="020F0502020204030204" pitchFamily="34" charset="0"/>
                </a:endParaRPr>
              </a:p>
              <a:p>
                <a:pPr>
                  <a:spcBef>
                    <a:spcPts val="600"/>
                  </a:spcBef>
                </a:pPr>
                <a:r>
                  <a:rPr lang="pl-PL" sz="2000" b="1" dirty="0">
                    <a:solidFill>
                      <a:srgbClr val="000000"/>
                    </a:solidFill>
                    <a:latin typeface="Arial Narrow" panose="020B0606020202030204" pitchFamily="34" charset="0"/>
                    <a:cs typeface="Calibri" panose="020F0502020204030204" pitchFamily="34" charset="0"/>
                  </a:rPr>
                  <a:t>Precyzja</a:t>
                </a:r>
                <a:r>
                  <a:rPr lang="pl-PL" sz="2000" dirty="0">
                    <a:solidFill>
                      <a:srgbClr val="000000"/>
                    </a:solidFill>
                    <a:latin typeface="Arial Narrow" panose="020B0606020202030204" pitchFamily="34" charset="0"/>
                    <a:cs typeface="Calibri" panose="020F0502020204030204" pitchFamily="34" charset="0"/>
                  </a:rPr>
                  <a:t> (ang. </a:t>
                </a:r>
                <a:r>
                  <a:rPr lang="pl-PL" sz="2000" i="1" dirty="0">
                    <a:solidFill>
                      <a:srgbClr val="000000"/>
                    </a:solidFill>
                    <a:latin typeface="Arial Narrow" panose="020B0606020202030204" pitchFamily="34" charset="0"/>
                    <a:cs typeface="Calibri" panose="020F0502020204030204" pitchFamily="34" charset="0"/>
                  </a:rPr>
                  <a:t>precision</a:t>
                </a:r>
                <a:r>
                  <a:rPr lang="pl-PL" sz="2000" dirty="0">
                    <a:solidFill>
                      <a:srgbClr val="000000"/>
                    </a:solidFill>
                    <a:latin typeface="Arial Narrow" panose="020B0606020202030204" pitchFamily="34" charset="0"/>
                    <a:cs typeface="Calibri" panose="020F0502020204030204" pitchFamily="34" charset="0"/>
                  </a:rPr>
                  <a:t>) – jaka część przewidywań pozytywnych jest faktycznie pozytywna:</a:t>
                </a:r>
              </a:p>
              <a:p>
                <a:r>
                  <a:rPr lang="pl-PL" sz="2000" dirty="0">
                    <a:solidFill>
                      <a:srgbClr val="000000"/>
                    </a:solidFill>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𝑇𝑃</m:t>
                        </m:r>
                      </m:num>
                      <m:den>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𝐹𝑃</m:t>
                        </m:r>
                      </m:den>
                    </m:f>
                  </m:oMath>
                </a14:m>
                <a:endParaRPr lang="pl-PL" sz="2000" b="1" dirty="0">
                  <a:solidFill>
                    <a:srgbClr val="000000"/>
                  </a:solidFill>
                  <a:latin typeface="Arial Narrow" panose="020B0606020202030204" pitchFamily="34" charset="0"/>
                  <a:cs typeface="Calibri" panose="020F0502020204030204" pitchFamily="34" charset="0"/>
                </a:endParaRP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Czułość</a:t>
                </a:r>
                <a:r>
                  <a:rPr lang="pl-PL" sz="2000" dirty="0">
                    <a:solidFill>
                      <a:srgbClr val="000000"/>
                    </a:solidFill>
                    <a:latin typeface="Arial Narrow" panose="020B0606020202030204" pitchFamily="34" charset="0"/>
                    <a:cs typeface="Calibri" panose="020F0502020204030204" pitchFamily="34" charset="0"/>
                  </a:rPr>
                  <a:t> (pełność, ang. </a:t>
                </a:r>
                <a:r>
                  <a:rPr lang="pl-PL" sz="2000" i="1" dirty="0" err="1">
                    <a:solidFill>
                      <a:srgbClr val="000000"/>
                    </a:solidFill>
                    <a:latin typeface="Arial Narrow" panose="020B0606020202030204" pitchFamily="34" charset="0"/>
                    <a:cs typeface="Calibri" panose="020F0502020204030204" pitchFamily="34" charset="0"/>
                  </a:rPr>
                  <a:t>recall</a:t>
                </a:r>
                <a:r>
                  <a:rPr lang="pl-PL" sz="2000" dirty="0">
                    <a:solidFill>
                      <a:srgbClr val="000000"/>
                    </a:solidFill>
                    <a:latin typeface="Arial Narrow" panose="020B0606020202030204" pitchFamily="34" charset="0"/>
                    <a:cs typeface="Calibri" panose="020F0502020204030204" pitchFamily="34" charset="0"/>
                  </a:rPr>
                  <a:t>) – odsetek prawidłowo sklasyfikowanych </a:t>
                </a:r>
                <a:r>
                  <a:rPr lang="pl-PL" sz="2000">
                    <a:solidFill>
                      <a:srgbClr val="000000"/>
                    </a:solidFill>
                    <a:latin typeface="Arial Narrow" panose="020B0606020202030204" pitchFamily="34" charset="0"/>
                    <a:cs typeface="Calibri" panose="020F0502020204030204" pitchFamily="34" charset="0"/>
                  </a:rPr>
                  <a:t>obserwacji pozytywnych:</a:t>
                </a:r>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𝑇𝑃</m:t>
                        </m:r>
                      </m:num>
                      <m:den>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𝐹𝑁</m:t>
                        </m:r>
                      </m:den>
                    </m:f>
                  </m:oMath>
                </a14:m>
                <a:endParaRPr lang="pl-PL" sz="2800">
                  <a:solidFill>
                    <a:srgbClr val="000000"/>
                  </a:solidFill>
                  <a:cs typeface="Calibri" panose="020F0502020204030204" pitchFamily="34" charset="0"/>
                </a:endParaRPr>
              </a:p>
              <a:p>
                <a:endParaRPr lang="pl-PL" sz="2000" b="1">
                  <a:solidFill>
                    <a:srgbClr val="000000"/>
                  </a:solidFill>
                  <a:latin typeface="Arial Narrow" panose="020B0606020202030204" pitchFamily="34" charset="0"/>
                  <a:cs typeface="Calibri" panose="020F0502020204030204" pitchFamily="34" charset="0"/>
                </a:endParaRPr>
              </a:p>
              <a:p>
                <a:r>
                  <a:rPr lang="pl-PL" sz="2000" b="1">
                    <a:solidFill>
                      <a:srgbClr val="FF0000"/>
                    </a:solidFill>
                    <a:latin typeface="Arial Narrow" panose="020B0606020202030204" pitchFamily="34" charset="0"/>
                    <a:cs typeface="Calibri" panose="020F0502020204030204" pitchFamily="34" charset="0"/>
                  </a:rPr>
                  <a:t>Miary te są wykorzystywane w zależnie od sytuacji.</a:t>
                </a:r>
              </a:p>
              <a:p>
                <a:r>
                  <a:rPr lang="pl-PL" sz="2000" b="1">
                    <a:solidFill>
                      <a:srgbClr val="FF0000"/>
                    </a:solidFill>
                    <a:latin typeface="Arial Narrow" panose="020B0606020202030204" pitchFamily="34" charset="0"/>
                    <a:cs typeface="Calibri" panose="020F0502020204030204" pitchFamily="34" charset="0"/>
                  </a:rPr>
                  <a:t>Przykład 1: jeśli klasyfikujemy filmy odpowiednie dla dzieci, zależy nam na tym, aby…</a:t>
                </a:r>
              </a:p>
              <a:p>
                <a:r>
                  <a:rPr lang="pl-PL" sz="2000" b="1">
                    <a:solidFill>
                      <a:srgbClr val="FF0000"/>
                    </a:solidFill>
                    <a:latin typeface="Arial Narrow" panose="020B0606020202030204" pitchFamily="34" charset="0"/>
                    <a:cs typeface="Calibri" panose="020F0502020204030204" pitchFamily="34" charset="0"/>
                  </a:rPr>
                  <a:t>FP było jak najmniejsze, czyli precyzja jak największa (aby zminimalizować liczbę filmów zakwalifikowanych błędnie jako odpowiednie dla dzieci), nawet kosztem dużego FN (odrzucenie dużej liczby filmów odpowiednich).</a:t>
                </a:r>
              </a:p>
            </p:txBody>
          </p:sp>
        </mc:Choice>
        <mc:Fallback xmlns="">
          <p:sp>
            <p:nvSpPr>
              <p:cNvPr id="6" name="Prostokąt 4"/>
              <p:cNvSpPr>
                <a:spLocks noRot="1" noChangeAspect="1" noMove="1" noResize="1" noEditPoints="1" noAdjustHandles="1" noChangeArrowheads="1" noChangeShapeType="1" noTextEdit="1"/>
              </p:cNvSpPr>
              <p:nvPr/>
            </p:nvSpPr>
            <p:spPr>
              <a:xfrm>
                <a:off x="76200" y="2133600"/>
                <a:ext cx="9067800" cy="4778231"/>
              </a:xfrm>
              <a:prstGeom prst="rect">
                <a:avLst/>
              </a:prstGeom>
              <a:blipFill>
                <a:blip r:embed="rId2"/>
                <a:stretch>
                  <a:fillRect l="-740" t="-638" r="-605" b="-1276"/>
                </a:stretch>
              </a:blipFill>
            </p:spPr>
            <p:txBody>
              <a:bodyPr/>
              <a:lstStyle/>
              <a:p>
                <a:r>
                  <a:rPr lang="pl-PL">
                    <a:noFill/>
                  </a:rPr>
                  <a:t> </a:t>
                </a:r>
              </a:p>
            </p:txBody>
          </p:sp>
        </mc:Fallback>
      </mc:AlternateContent>
      <p:sp>
        <p:nvSpPr>
          <p:cNvPr id="8"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22241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anim calcmode="lin" valueType="num">
                                      <p:cBhvr additive="base">
                                        <p:cTn id="7"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76</a:t>
            </a:fld>
            <a:endParaRPr lang="pl-PL" dirty="0"/>
          </a:p>
        </p:txBody>
      </p:sp>
      <p:graphicFrame>
        <p:nvGraphicFramePr>
          <p:cNvPr id="5" name="Table 4"/>
          <p:cNvGraphicFramePr>
            <a:graphicFrameLocks noGrp="1"/>
          </p:cNvGraphicFramePr>
          <p:nvPr>
            <p:extLst>
              <p:ext uri="{D42A27DB-BD31-4B8C-83A1-F6EECF244321}">
                <p14:modId xmlns:p14="http://schemas.microsoft.com/office/powerpoint/2010/main" val="492516133"/>
              </p:ext>
            </p:extLst>
          </p:nvPr>
        </p:nvGraphicFramePr>
        <p:xfrm>
          <a:off x="1059024" y="533400"/>
          <a:ext cx="6553200" cy="148336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7084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7084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extLst>
                  <a:ext uri="{0D108BD9-81ED-4DB2-BD59-A6C34878D82A}">
                    <a16:rowId xmlns:a16="http://schemas.microsoft.com/office/drawing/2014/main" val="2242066169"/>
                  </a:ext>
                </a:extLst>
              </a:tr>
              <a:tr h="370840">
                <a:tc rowSpan="2">
                  <a:txBody>
                    <a:bodyPr/>
                    <a:lstStyle/>
                    <a:p>
                      <a:pPr algn="ctr"/>
                      <a:r>
                        <a:rPr lang="pl-PL">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true-positive (TP)</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false-negative (FN)</a:t>
                      </a:r>
                      <a:endParaRPr lang="en-US" dirty="0">
                        <a:latin typeface="Arial Narrow" panose="020B0606020202030204" pitchFamily="34" charset="0"/>
                      </a:endParaRPr>
                    </a:p>
                  </a:txBody>
                  <a:tcPr/>
                </a:tc>
                <a:extLst>
                  <a:ext uri="{0D108BD9-81ED-4DB2-BD59-A6C34878D82A}">
                    <a16:rowId xmlns:a16="http://schemas.microsoft.com/office/drawing/2014/main" val="1675270064"/>
                  </a:ext>
                </a:extLst>
              </a:tr>
              <a:tr h="37084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tc>
                  <a:txBody>
                    <a:bodyPr/>
                    <a:lstStyle/>
                    <a:p>
                      <a:pPr algn="ctr"/>
                      <a:r>
                        <a:rPr lang="pl-PL">
                          <a:latin typeface="Arial Narrow" panose="020B0606020202030204" pitchFamily="34" charset="0"/>
                        </a:rPr>
                        <a:t>false-positive (FP)</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true-negative</a:t>
                      </a:r>
                      <a:r>
                        <a:rPr lang="pl-PL" dirty="0">
                          <a:latin typeface="Arial Narrow" panose="020B0606020202030204" pitchFamily="34" charset="0"/>
                        </a:rPr>
                        <a:t>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mc:AlternateContent xmlns:mc="http://schemas.openxmlformats.org/markup-compatibility/2006" xmlns:a14="http://schemas.microsoft.com/office/drawing/2010/main">
        <mc:Choice Requires="a14">
          <p:sp>
            <p:nvSpPr>
              <p:cNvPr id="6" name="Prostokąt 4"/>
              <p:cNvSpPr/>
              <p:nvPr/>
            </p:nvSpPr>
            <p:spPr>
              <a:xfrm>
                <a:off x="76200" y="2133600"/>
                <a:ext cx="9067800" cy="4470455"/>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Miary poprawności predykcji:</a:t>
                </a:r>
              </a:p>
              <a:p>
                <a:endParaRPr lang="pl-PL" sz="2000" dirty="0">
                  <a:solidFill>
                    <a:srgbClr val="000000"/>
                  </a:solidFill>
                  <a:latin typeface="Arial Narrow" panose="020B0606020202030204" pitchFamily="34" charset="0"/>
                  <a:cs typeface="Calibri" panose="020F0502020204030204" pitchFamily="34" charset="0"/>
                </a:endParaRPr>
              </a:p>
              <a:p>
                <a:pPr>
                  <a:spcBef>
                    <a:spcPts val="600"/>
                  </a:spcBef>
                </a:pPr>
                <a:r>
                  <a:rPr lang="pl-PL" sz="2000" b="1">
                    <a:solidFill>
                      <a:srgbClr val="000000"/>
                    </a:solidFill>
                    <a:latin typeface="Arial Narrow" panose="020B0606020202030204" pitchFamily="34" charset="0"/>
                    <a:cs typeface="Calibri" panose="020F0502020204030204" pitchFamily="34" charset="0"/>
                  </a:rPr>
                  <a:t>Precyzja</a:t>
                </a:r>
                <a:r>
                  <a:rPr lang="pl-PL" sz="2000">
                    <a:solidFill>
                      <a:srgbClr val="000000"/>
                    </a:solidFill>
                    <a:latin typeface="Arial Narrow" panose="020B0606020202030204" pitchFamily="34" charset="0"/>
                    <a:cs typeface="Calibri" panose="020F0502020204030204" pitchFamily="34" charset="0"/>
                  </a:rPr>
                  <a:t> (ang. </a:t>
                </a:r>
                <a:r>
                  <a:rPr lang="pl-PL" sz="2000" i="1">
                    <a:solidFill>
                      <a:srgbClr val="000000"/>
                    </a:solidFill>
                    <a:latin typeface="Arial Narrow" panose="020B0606020202030204" pitchFamily="34" charset="0"/>
                    <a:cs typeface="Calibri" panose="020F0502020204030204" pitchFamily="34" charset="0"/>
                  </a:rPr>
                  <a:t>precision</a:t>
                </a:r>
                <a:r>
                  <a:rPr lang="pl-PL" sz="2000" dirty="0">
                    <a:solidFill>
                      <a:srgbClr val="000000"/>
                    </a:solidFill>
                    <a:latin typeface="Arial Narrow" panose="020B0606020202030204" pitchFamily="34" charset="0"/>
                    <a:cs typeface="Calibri" panose="020F0502020204030204" pitchFamily="34" charset="0"/>
                  </a:rPr>
                  <a:t>) – jaka część przewidywań pozytywnych jest faktycznie pozytywna:</a:t>
                </a:r>
              </a:p>
              <a:p>
                <a:r>
                  <a:rPr lang="pl-PL" sz="2000" dirty="0">
                    <a:solidFill>
                      <a:srgbClr val="000000"/>
                    </a:solidFill>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𝑇𝑃</m:t>
                        </m:r>
                      </m:num>
                      <m:den>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𝐹𝑃</m:t>
                        </m:r>
                      </m:den>
                    </m:f>
                  </m:oMath>
                </a14:m>
                <a:endParaRPr lang="pl-PL" sz="2000" b="1" dirty="0">
                  <a:solidFill>
                    <a:srgbClr val="000000"/>
                  </a:solidFill>
                  <a:latin typeface="Arial Narrow" panose="020B0606020202030204" pitchFamily="34" charset="0"/>
                  <a:cs typeface="Calibri" panose="020F0502020204030204" pitchFamily="34" charset="0"/>
                </a:endParaRP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a:solidFill>
                      <a:srgbClr val="000000"/>
                    </a:solidFill>
                    <a:latin typeface="Arial Narrow" panose="020B0606020202030204" pitchFamily="34" charset="0"/>
                    <a:cs typeface="Calibri" panose="020F0502020204030204" pitchFamily="34" charset="0"/>
                  </a:rPr>
                  <a:t>Czułość</a:t>
                </a:r>
                <a:r>
                  <a:rPr lang="pl-PL" sz="2000">
                    <a:solidFill>
                      <a:srgbClr val="000000"/>
                    </a:solidFill>
                    <a:latin typeface="Arial Narrow" panose="020B0606020202030204" pitchFamily="34" charset="0"/>
                    <a:cs typeface="Calibri" panose="020F0502020204030204" pitchFamily="34" charset="0"/>
                  </a:rPr>
                  <a:t> (pełność, ang. </a:t>
                </a:r>
                <a:r>
                  <a:rPr lang="pl-PL" sz="2000" i="1">
                    <a:solidFill>
                      <a:srgbClr val="000000"/>
                    </a:solidFill>
                    <a:latin typeface="Arial Narrow" panose="020B0606020202030204" pitchFamily="34" charset="0"/>
                    <a:cs typeface="Calibri" panose="020F0502020204030204" pitchFamily="34" charset="0"/>
                  </a:rPr>
                  <a:t>recall</a:t>
                </a:r>
                <a:r>
                  <a:rPr lang="pl-PL" sz="2000" dirty="0">
                    <a:solidFill>
                      <a:srgbClr val="000000"/>
                    </a:solidFill>
                    <a:latin typeface="Arial Narrow" panose="020B0606020202030204" pitchFamily="34" charset="0"/>
                    <a:cs typeface="Calibri" panose="020F0502020204030204" pitchFamily="34" charset="0"/>
                  </a:rPr>
                  <a:t>) – odsetek prawidłowo sklasyfikowanych </a:t>
                </a:r>
                <a:r>
                  <a:rPr lang="pl-PL" sz="2000">
                    <a:solidFill>
                      <a:srgbClr val="000000"/>
                    </a:solidFill>
                    <a:latin typeface="Arial Narrow" panose="020B0606020202030204" pitchFamily="34" charset="0"/>
                    <a:cs typeface="Calibri" panose="020F0502020204030204" pitchFamily="34" charset="0"/>
                  </a:rPr>
                  <a:t>obserwacji pozytywnych:</a:t>
                </a:r>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𝑇𝑃</m:t>
                        </m:r>
                      </m:num>
                      <m:den>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𝐹𝑁</m:t>
                        </m:r>
                      </m:den>
                    </m:f>
                  </m:oMath>
                </a14:m>
                <a:endParaRPr lang="pl-PL" sz="2800">
                  <a:solidFill>
                    <a:srgbClr val="000000"/>
                  </a:solidFill>
                  <a:cs typeface="Calibri" panose="020F0502020204030204" pitchFamily="34" charset="0"/>
                </a:endParaRPr>
              </a:p>
              <a:p>
                <a:endParaRPr lang="pl-PL" sz="2000" b="1">
                  <a:solidFill>
                    <a:srgbClr val="000000"/>
                  </a:solidFill>
                  <a:latin typeface="Arial Narrow" panose="020B0606020202030204" pitchFamily="34" charset="0"/>
                  <a:cs typeface="Calibri" panose="020F0502020204030204" pitchFamily="34" charset="0"/>
                </a:endParaRPr>
              </a:p>
              <a:p>
                <a:r>
                  <a:rPr lang="pl-PL" sz="2000" b="1">
                    <a:solidFill>
                      <a:srgbClr val="FF0000"/>
                    </a:solidFill>
                    <a:latin typeface="Arial Narrow" panose="020B0606020202030204" pitchFamily="34" charset="0"/>
                    <a:cs typeface="Calibri" panose="020F0502020204030204" pitchFamily="34" charset="0"/>
                  </a:rPr>
                  <a:t>Przykład 2: jeśli rozpoznajemy złodziei z zapisów kamer, zależy nam aby…</a:t>
                </a:r>
              </a:p>
              <a:p>
                <a:r>
                  <a:rPr lang="pl-PL" sz="2000" b="1">
                    <a:solidFill>
                      <a:srgbClr val="FF0000"/>
                    </a:solidFill>
                    <a:latin typeface="Arial Narrow" panose="020B0606020202030204" pitchFamily="34" charset="0"/>
                    <a:cs typeface="Calibri" panose="020F0502020204030204" pitchFamily="34" charset="0"/>
                  </a:rPr>
                  <a:t>FN było jak najmniejsze, czyli czułość jak największa (liczba wykrytych złodziei będzie wtedy duża), nawet kosztem dużego FP (co wygeneruje dużą liczbę nieprawidłowych alarmów poprzez błędne rozpoznanie osoby jako złodzieja).</a:t>
                </a:r>
              </a:p>
            </p:txBody>
          </p:sp>
        </mc:Choice>
        <mc:Fallback xmlns="">
          <p:sp>
            <p:nvSpPr>
              <p:cNvPr id="6" name="Prostokąt 4"/>
              <p:cNvSpPr>
                <a:spLocks noRot="1" noChangeAspect="1" noMove="1" noResize="1" noEditPoints="1" noAdjustHandles="1" noChangeArrowheads="1" noChangeShapeType="1" noTextEdit="1"/>
              </p:cNvSpPr>
              <p:nvPr/>
            </p:nvSpPr>
            <p:spPr>
              <a:xfrm>
                <a:off x="76200" y="2133600"/>
                <a:ext cx="9067800" cy="4470455"/>
              </a:xfrm>
              <a:prstGeom prst="rect">
                <a:avLst/>
              </a:prstGeom>
              <a:blipFill>
                <a:blip r:embed="rId2"/>
                <a:stretch>
                  <a:fillRect l="-740" t="-682" r="-605" b="-1501"/>
                </a:stretch>
              </a:blipFill>
            </p:spPr>
            <p:txBody>
              <a:bodyPr/>
              <a:lstStyle/>
              <a:p>
                <a:r>
                  <a:rPr lang="pl-PL">
                    <a:noFill/>
                  </a:rPr>
                  <a:t> </a:t>
                </a:r>
              </a:p>
            </p:txBody>
          </p:sp>
        </mc:Fallback>
      </mc:AlternateContent>
      <p:sp>
        <p:nvSpPr>
          <p:cNvPr id="7"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46202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anim calcmode="lin" valueType="num">
                                      <p:cBhvr additive="base">
                                        <p:cTn id="7"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77</a:t>
            </a:fld>
            <a:endParaRPr lang="pl-PL" dirty="0"/>
          </a:p>
        </p:txBody>
      </p:sp>
      <p:graphicFrame>
        <p:nvGraphicFramePr>
          <p:cNvPr id="5" name="Table 4"/>
          <p:cNvGraphicFramePr>
            <a:graphicFrameLocks noGrp="1"/>
          </p:cNvGraphicFramePr>
          <p:nvPr>
            <p:extLst>
              <p:ext uri="{D42A27DB-BD31-4B8C-83A1-F6EECF244321}">
                <p14:modId xmlns:p14="http://schemas.microsoft.com/office/powerpoint/2010/main" val="1150370717"/>
              </p:ext>
            </p:extLst>
          </p:nvPr>
        </p:nvGraphicFramePr>
        <p:xfrm>
          <a:off x="1059024" y="533400"/>
          <a:ext cx="6553200" cy="148336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7084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7084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extLst>
                  <a:ext uri="{0D108BD9-81ED-4DB2-BD59-A6C34878D82A}">
                    <a16:rowId xmlns:a16="http://schemas.microsoft.com/office/drawing/2014/main" val="2242066169"/>
                  </a:ext>
                </a:extLst>
              </a:tr>
              <a:tr h="370840">
                <a:tc rowSpan="2">
                  <a:txBody>
                    <a:bodyPr/>
                    <a:lstStyle/>
                    <a:p>
                      <a:pPr algn="ctr"/>
                      <a:r>
                        <a:rPr lang="pl-PL">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true-positive (TP)</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false-positive</a:t>
                      </a:r>
                      <a:r>
                        <a:rPr lang="pl-PL" dirty="0">
                          <a:latin typeface="Arial Narrow" panose="020B0606020202030204" pitchFamily="34" charset="0"/>
                        </a:rPr>
                        <a:t> (FP)</a:t>
                      </a:r>
                      <a:endParaRPr lang="en-US" dirty="0">
                        <a:latin typeface="Arial Narrow" panose="020B0606020202030204" pitchFamily="34" charset="0"/>
                      </a:endParaRPr>
                    </a:p>
                  </a:txBody>
                  <a:tcPr/>
                </a:tc>
                <a:extLst>
                  <a:ext uri="{0D108BD9-81ED-4DB2-BD59-A6C34878D82A}">
                    <a16:rowId xmlns:a16="http://schemas.microsoft.com/office/drawing/2014/main" val="1675270064"/>
                  </a:ext>
                </a:extLst>
              </a:tr>
              <a:tr h="37084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tc>
                  <a:txBody>
                    <a:bodyPr/>
                    <a:lstStyle/>
                    <a:p>
                      <a:pPr algn="ctr"/>
                      <a:r>
                        <a:rPr lang="pl-PL">
                          <a:latin typeface="Arial Narrow" panose="020B0606020202030204" pitchFamily="34" charset="0"/>
                        </a:rPr>
                        <a:t>false-negative</a:t>
                      </a:r>
                      <a:r>
                        <a:rPr lang="pl-PL" dirty="0">
                          <a:latin typeface="Arial Narrow" panose="020B0606020202030204" pitchFamily="34" charset="0"/>
                        </a:rPr>
                        <a:t> (FN)</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true-negative</a:t>
                      </a:r>
                      <a:r>
                        <a:rPr lang="pl-PL" dirty="0">
                          <a:latin typeface="Arial Narrow" panose="020B0606020202030204" pitchFamily="34" charset="0"/>
                        </a:rPr>
                        <a:t>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mc:AlternateContent xmlns:mc="http://schemas.openxmlformats.org/markup-compatibility/2006" xmlns:a14="http://schemas.microsoft.com/office/drawing/2010/main">
        <mc:Choice Requires="a14">
          <p:sp>
            <p:nvSpPr>
              <p:cNvPr id="7" name="Prostokąt 4"/>
              <p:cNvSpPr/>
              <p:nvPr/>
            </p:nvSpPr>
            <p:spPr>
              <a:xfrm>
                <a:off x="76200" y="2209800"/>
                <a:ext cx="9067800" cy="2569871"/>
              </a:xfrm>
              <a:prstGeom prst="rect">
                <a:avLst/>
              </a:prstGeom>
            </p:spPr>
            <p:txBody>
              <a:bodyPr wrap="square">
                <a:spAutoFit/>
              </a:bodyPr>
              <a:lstStyle/>
              <a:p>
                <a:r>
                  <a:rPr lang="pl-PL" sz="2000">
                    <a:solidFill>
                      <a:srgbClr val="000000"/>
                    </a:solidFill>
                    <a:latin typeface="Arial Narrow" panose="020B0606020202030204" pitchFamily="34" charset="0"/>
                    <a:cs typeface="Calibri" panose="020F0502020204030204" pitchFamily="34" charset="0"/>
                  </a:rPr>
                  <a:t>F</a:t>
                </a:r>
                <a:r>
                  <a:rPr lang="pl-PL" sz="2800" baseline="-25000">
                    <a:solidFill>
                      <a:srgbClr val="000000"/>
                    </a:solidFill>
                    <a:latin typeface="Arial Narrow" panose="020B0606020202030204" pitchFamily="34" charset="0"/>
                    <a:cs typeface="Calibri" panose="020F0502020204030204" pitchFamily="34" charset="0"/>
                  </a:rPr>
                  <a:t>1</a:t>
                </a:r>
                <a:r>
                  <a:rPr lang="pl-PL" sz="2000">
                    <a:solidFill>
                      <a:srgbClr val="000000"/>
                    </a:solidFill>
                    <a:latin typeface="Arial Narrow" panose="020B0606020202030204" pitchFamily="34" charset="0"/>
                    <a:cs typeface="Calibri" panose="020F0502020204030204" pitchFamily="34" charset="0"/>
                  </a:rPr>
                  <a:t> – średnia harmoniczna precyzji i czułości. Wstażnik ten jest wykorzystywany do porównania obydwu klasyfikatorów. F</a:t>
                </a:r>
                <a:r>
                  <a:rPr lang="pl-PL" sz="2800" baseline="-25000">
                    <a:solidFill>
                      <a:srgbClr val="000000"/>
                    </a:solidFill>
                    <a:latin typeface="Arial Narrow" panose="020B0606020202030204" pitchFamily="34" charset="0"/>
                    <a:cs typeface="Calibri" panose="020F0502020204030204" pitchFamily="34" charset="0"/>
                  </a:rPr>
                  <a:t>1</a:t>
                </a:r>
                <a:r>
                  <a:rPr lang="pl-PL" sz="2000">
                    <a:solidFill>
                      <a:srgbClr val="000000"/>
                    </a:solidFill>
                    <a:latin typeface="Arial Narrow" panose="020B0606020202030204" pitchFamily="34" charset="0"/>
                    <a:cs typeface="Calibri" panose="020F0502020204030204" pitchFamily="34" charset="0"/>
                  </a:rPr>
                  <a:t> będzie miał dużą wartość, gdy zarówno precyzja jak i czułość będą miały dużą wartość:</a:t>
                </a:r>
                <a:endParaRPr lang="pl-PL" sz="2000" dirty="0">
                  <a:solidFill>
                    <a:srgbClr val="000000"/>
                  </a:solidFill>
                  <a:latin typeface="Arial Narrow" panose="020B0606020202030204" pitchFamily="34" charset="0"/>
                  <a:cs typeface="Calibri" panose="020F0502020204030204" pitchFamily="34" charset="0"/>
                </a:endParaRPr>
              </a:p>
              <a:p>
                <a:endParaRPr lang="pl-PL" sz="2000" dirty="0">
                  <a:solidFill>
                    <a:srgbClr val="000000"/>
                  </a:solidFill>
                  <a:latin typeface="Arial Narrow" panose="020B0606020202030204" pitchFamily="34" charset="0"/>
                  <a:cs typeface="Calibri" panose="020F0502020204030204" pitchFamily="34" charset="0"/>
                </a:endParaRPr>
              </a:p>
              <a:p>
                <a:r>
                  <a:rPr lang="pl-PL" sz="2400">
                    <a:solidFill>
                      <a:srgbClr val="000000"/>
                    </a:solidFill>
                    <a:latin typeface="Arial Narrow" panose="020B0606020202030204" pitchFamily="34" charset="0"/>
                    <a:cs typeface="Calibri" panose="020F0502020204030204" pitchFamily="34" charset="0"/>
                  </a:rPr>
                  <a:t>F1 = </a:t>
                </a:r>
                <a14:m>
                  <m:oMath xmlns:m="http://schemas.openxmlformats.org/officeDocument/2006/math">
                    <m:f>
                      <m:fPr>
                        <m:ctrlPr>
                          <a:rPr lang="pl-PL" sz="3200" i="1" smtClean="0">
                            <a:solidFill>
                              <a:srgbClr val="000000"/>
                            </a:solidFill>
                            <a:latin typeface="Cambria Math" panose="02040503050406030204" pitchFamily="18" charset="0"/>
                            <a:cs typeface="Calibri" panose="020F0502020204030204" pitchFamily="34" charset="0"/>
                          </a:rPr>
                        </m:ctrlPr>
                      </m:fPr>
                      <m:num>
                        <m:r>
                          <a:rPr lang="pl-PL" sz="3200" b="0" i="1" smtClean="0">
                            <a:solidFill>
                              <a:srgbClr val="000000"/>
                            </a:solidFill>
                            <a:latin typeface="Cambria Math" panose="02040503050406030204" pitchFamily="18" charset="0"/>
                            <a:cs typeface="Calibri" panose="020F0502020204030204" pitchFamily="34" charset="0"/>
                          </a:rPr>
                          <m:t>2</m:t>
                        </m:r>
                      </m:num>
                      <m:den>
                        <m:f>
                          <m:fPr>
                            <m:ctrlPr>
                              <a:rPr lang="pl-PL" sz="3200" i="1" smtClean="0">
                                <a:solidFill>
                                  <a:srgbClr val="000000"/>
                                </a:solidFill>
                                <a:latin typeface="Cambria Math" panose="02040503050406030204" pitchFamily="18" charset="0"/>
                                <a:cs typeface="Calibri" panose="020F0502020204030204" pitchFamily="34" charset="0"/>
                              </a:rPr>
                            </m:ctrlPr>
                          </m:fPr>
                          <m:num>
                            <m:r>
                              <a:rPr lang="pl-PL" sz="3200" b="0" i="1" smtClean="0">
                                <a:solidFill>
                                  <a:srgbClr val="000000"/>
                                </a:solidFill>
                                <a:latin typeface="Cambria Math" panose="02040503050406030204" pitchFamily="18" charset="0"/>
                                <a:cs typeface="Calibri" panose="020F0502020204030204" pitchFamily="34" charset="0"/>
                              </a:rPr>
                              <m:t>1</m:t>
                            </m:r>
                          </m:num>
                          <m:den>
                            <m:r>
                              <a:rPr lang="pl-PL" sz="3200" b="0" i="1" smtClean="0">
                                <a:solidFill>
                                  <a:srgbClr val="000000"/>
                                </a:solidFill>
                                <a:latin typeface="Cambria Math" panose="02040503050406030204" pitchFamily="18" charset="0"/>
                                <a:cs typeface="Calibri" panose="020F0502020204030204" pitchFamily="34" charset="0"/>
                              </a:rPr>
                              <m:t>𝑃𝑟𝑒𝑐𝑦𝑧𝑗𝑎</m:t>
                            </m:r>
                          </m:den>
                        </m:f>
                        <m:r>
                          <a:rPr lang="pl-PL" sz="3200" b="0" i="1" smtClean="0">
                            <a:solidFill>
                              <a:srgbClr val="000000"/>
                            </a:solidFill>
                            <a:latin typeface="Cambria Math" panose="02040503050406030204" pitchFamily="18" charset="0"/>
                            <a:cs typeface="Calibri" panose="020F0502020204030204" pitchFamily="34" charset="0"/>
                          </a:rPr>
                          <m:t>+</m:t>
                        </m:r>
                        <m:f>
                          <m:fPr>
                            <m:ctrlPr>
                              <a:rPr lang="pl-PL" sz="3200" b="0" i="1" smtClean="0">
                                <a:solidFill>
                                  <a:srgbClr val="000000"/>
                                </a:solidFill>
                                <a:latin typeface="Cambria Math" panose="02040503050406030204" pitchFamily="18" charset="0"/>
                                <a:cs typeface="Calibri" panose="020F0502020204030204" pitchFamily="34" charset="0"/>
                              </a:rPr>
                            </m:ctrlPr>
                          </m:fPr>
                          <m:num>
                            <m:r>
                              <a:rPr lang="pl-PL" sz="3200" b="0" i="1" smtClean="0">
                                <a:solidFill>
                                  <a:srgbClr val="000000"/>
                                </a:solidFill>
                                <a:latin typeface="Cambria Math" panose="02040503050406030204" pitchFamily="18" charset="0"/>
                                <a:cs typeface="Calibri" panose="020F0502020204030204" pitchFamily="34" charset="0"/>
                              </a:rPr>
                              <m:t>1</m:t>
                            </m:r>
                          </m:num>
                          <m:den>
                            <m:r>
                              <a:rPr lang="pl-PL" sz="3200" b="0" i="1" smtClean="0">
                                <a:solidFill>
                                  <a:srgbClr val="000000"/>
                                </a:solidFill>
                                <a:latin typeface="Cambria Math" panose="02040503050406030204" pitchFamily="18" charset="0"/>
                                <a:cs typeface="Calibri" panose="020F0502020204030204" pitchFamily="34" charset="0"/>
                              </a:rPr>
                              <m:t>𝐶𝑧𝑢</m:t>
                            </m:r>
                            <m:r>
                              <a:rPr lang="pl-PL" sz="3200" b="0" i="1" smtClean="0">
                                <a:solidFill>
                                  <a:srgbClr val="000000"/>
                                </a:solidFill>
                                <a:latin typeface="Cambria Math" panose="02040503050406030204" pitchFamily="18" charset="0"/>
                                <a:cs typeface="Calibri" panose="020F0502020204030204" pitchFamily="34" charset="0"/>
                              </a:rPr>
                              <m:t>ł</m:t>
                            </m:r>
                            <m:r>
                              <a:rPr lang="pl-PL" sz="3200" b="0" i="1" smtClean="0">
                                <a:solidFill>
                                  <a:srgbClr val="000000"/>
                                </a:solidFill>
                                <a:latin typeface="Cambria Math" panose="02040503050406030204" pitchFamily="18" charset="0"/>
                                <a:cs typeface="Calibri" panose="020F0502020204030204" pitchFamily="34" charset="0"/>
                              </a:rPr>
                              <m:t>𝑜</m:t>
                            </m:r>
                            <m:r>
                              <a:rPr lang="pl-PL" sz="3200" b="0" i="1" smtClean="0">
                                <a:solidFill>
                                  <a:srgbClr val="000000"/>
                                </a:solidFill>
                                <a:latin typeface="Cambria Math" panose="02040503050406030204" pitchFamily="18" charset="0"/>
                                <a:cs typeface="Calibri" panose="020F0502020204030204" pitchFamily="34" charset="0"/>
                              </a:rPr>
                              <m:t>ść</m:t>
                            </m:r>
                          </m:den>
                        </m:f>
                      </m:den>
                    </m:f>
                  </m:oMath>
                </a14:m>
                <a:endParaRPr lang="pl-PL" sz="3200" b="1">
                  <a:solidFill>
                    <a:srgbClr val="000000"/>
                  </a:solidFill>
                  <a:latin typeface="Arial Narrow" panose="020B0606020202030204" pitchFamily="34" charset="0"/>
                  <a:cs typeface="Calibri" panose="020F0502020204030204" pitchFamily="34" charset="0"/>
                </a:endParaRPr>
              </a:p>
              <a:p>
                <a:endParaRPr lang="pl-PL" sz="2000" dirty="0">
                  <a:solidFill>
                    <a:srgbClr val="000000"/>
                  </a:solidFill>
                  <a:latin typeface="Arial Narrow" panose="020B0606020202030204" pitchFamily="34" charset="0"/>
                  <a:cs typeface="Calibri" panose="020F0502020204030204" pitchFamily="34" charset="0"/>
                </a:endParaRPr>
              </a:p>
            </p:txBody>
          </p:sp>
        </mc:Choice>
        <mc:Fallback xmlns="">
          <p:sp>
            <p:nvSpPr>
              <p:cNvPr id="7" name="Prostokąt 4"/>
              <p:cNvSpPr>
                <a:spLocks noRot="1" noChangeAspect="1" noMove="1" noResize="1" noEditPoints="1" noAdjustHandles="1" noChangeArrowheads="1" noChangeShapeType="1" noTextEdit="1"/>
              </p:cNvSpPr>
              <p:nvPr/>
            </p:nvSpPr>
            <p:spPr>
              <a:xfrm>
                <a:off x="76200" y="2209800"/>
                <a:ext cx="9067800" cy="2569871"/>
              </a:xfrm>
              <a:prstGeom prst="rect">
                <a:avLst/>
              </a:prstGeom>
              <a:blipFill>
                <a:blip r:embed="rId3"/>
                <a:stretch>
                  <a:fillRect l="-1076" t="-1425"/>
                </a:stretch>
              </a:blipFill>
            </p:spPr>
            <p:txBody>
              <a:bodyPr/>
              <a:lstStyle/>
              <a:p>
                <a:r>
                  <a:rPr lang="pl-PL">
                    <a:noFill/>
                  </a:rPr>
                  <a:t> </a:t>
                </a:r>
              </a:p>
            </p:txBody>
          </p:sp>
        </mc:Fallback>
      </mc:AlternateContent>
    </p:spTree>
    <p:extLst>
      <p:ext uri="{BB962C8B-B14F-4D97-AF65-F5344CB8AC3E}">
        <p14:creationId xmlns:p14="http://schemas.microsoft.com/office/powerpoint/2010/main" val="1866413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78</a:t>
            </a:fld>
            <a:endParaRPr lang="pl-PL" dirty="0"/>
          </a:p>
        </p:txBody>
      </p:sp>
      <mc:AlternateContent xmlns:mc="http://schemas.openxmlformats.org/markup-compatibility/2006" xmlns:a14="http://schemas.microsoft.com/office/drawing/2010/main">
        <mc:Choice Requires="a14">
          <p:sp>
            <p:nvSpPr>
              <p:cNvPr id="6" name="Prostokąt 4"/>
              <p:cNvSpPr/>
              <p:nvPr/>
            </p:nvSpPr>
            <p:spPr>
              <a:xfrm>
                <a:off x="76200" y="2209800"/>
                <a:ext cx="8915400" cy="3239348"/>
              </a:xfrm>
              <a:prstGeom prst="rect">
                <a:avLst/>
              </a:prstGeom>
            </p:spPr>
            <p:txBody>
              <a:bodyPr wrap="square">
                <a:spAutoFit/>
              </a:bodyPr>
              <a:lstStyle/>
              <a:p>
                <a:r>
                  <a:rPr lang="pl-PL" sz="2000">
                    <a:solidFill>
                      <a:srgbClr val="000000"/>
                    </a:solidFill>
                    <a:latin typeface="Arial Narrow" panose="020B0606020202030204" pitchFamily="34" charset="0"/>
                    <a:cs typeface="Calibri" panose="020F0502020204030204" pitchFamily="34" charset="0"/>
                  </a:rPr>
                  <a:t>Inne miary </a:t>
                </a:r>
                <a:r>
                  <a:rPr lang="pl-PL" sz="2000" dirty="0">
                    <a:solidFill>
                      <a:srgbClr val="000000"/>
                    </a:solidFill>
                    <a:latin typeface="Arial Narrow" panose="020B0606020202030204" pitchFamily="34" charset="0"/>
                    <a:cs typeface="Calibri" panose="020F0502020204030204" pitchFamily="34" charset="0"/>
                  </a:rPr>
                  <a:t>poprawności predykcji, c.d.:</a:t>
                </a: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a:solidFill>
                      <a:srgbClr val="000000"/>
                    </a:solidFill>
                    <a:latin typeface="Arial Narrow" panose="020B0606020202030204" pitchFamily="34" charset="0"/>
                    <a:cs typeface="Calibri" panose="020F0502020204030204" pitchFamily="34" charset="0"/>
                  </a:rPr>
                  <a:t>Dokładność</a:t>
                </a:r>
                <a:r>
                  <a:rPr lang="pl-PL" sz="2000">
                    <a:solidFill>
                      <a:srgbClr val="000000"/>
                    </a:solidFill>
                    <a:latin typeface="Arial Narrow" panose="020B0606020202030204" pitchFamily="34" charset="0"/>
                    <a:cs typeface="Calibri" panose="020F0502020204030204" pitchFamily="34" charset="0"/>
                  </a:rPr>
                  <a:t> </a:t>
                </a:r>
                <a:r>
                  <a:rPr lang="pl-PL" sz="2000" dirty="0">
                    <a:solidFill>
                      <a:srgbClr val="000000"/>
                    </a:solidFill>
                    <a:latin typeface="Arial Narrow" panose="020B0606020202030204" pitchFamily="34" charset="0"/>
                    <a:cs typeface="Calibri" panose="020F0502020204030204" pitchFamily="34" charset="0"/>
                  </a:rPr>
                  <a:t>(trafność, </a:t>
                </a:r>
                <a:r>
                  <a:rPr lang="pl-PL" sz="2000" i="1">
                    <a:solidFill>
                      <a:srgbClr val="000000"/>
                    </a:solidFill>
                    <a:latin typeface="Arial Narrow" panose="020B0606020202030204" pitchFamily="34" charset="0"/>
                    <a:cs typeface="Calibri" panose="020F0502020204030204" pitchFamily="34" charset="0"/>
                  </a:rPr>
                  <a:t>accuracy</a:t>
                </a:r>
                <a:r>
                  <a:rPr lang="pl-PL" sz="2000" dirty="0">
                    <a:solidFill>
                      <a:srgbClr val="000000"/>
                    </a:solidFill>
                    <a:latin typeface="Arial Narrow" panose="020B0606020202030204" pitchFamily="34" charset="0"/>
                    <a:cs typeface="Calibri" panose="020F0502020204030204" pitchFamily="34" charset="0"/>
                  </a:rPr>
                  <a:t>) – zlicza odsetek poprawnych przewidywań klasyfikatora:</a:t>
                </a:r>
              </a:p>
              <a:p>
                <a:pPr>
                  <a:spcBef>
                    <a:spcPts val="600"/>
                  </a:spcBef>
                </a:pPr>
                <a:r>
                  <a:rPr lang="pl-PL" sz="2000" b="1" dirty="0">
                    <a:solidFill>
                      <a:srgbClr val="000000"/>
                    </a:solidFill>
                    <a:latin typeface="Arial Narrow" panose="020B0606020202030204" pitchFamily="34" charset="0"/>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𝑇𝑁</m:t>
                        </m:r>
                      </m:num>
                      <m:den>
                        <m:r>
                          <a:rPr lang="pl-PL" sz="2800" i="1">
                            <a:solidFill>
                              <a:srgbClr val="000000"/>
                            </a:solidFill>
                            <a:latin typeface="Cambria Math" panose="02040503050406030204" pitchFamily="18" charset="0"/>
                            <a:cs typeface="Calibri" panose="020F0502020204030204" pitchFamily="34" charset="0"/>
                          </a:rPr>
                          <m:t>𝑇𝑃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𝑇𝑁</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𝐹𝑃</m:t>
                        </m:r>
                        <m:r>
                          <a:rPr lang="pl-PL" sz="2800" i="1">
                            <a:solidFill>
                              <a:srgbClr val="000000"/>
                            </a:solidFill>
                            <a:latin typeface="Cambria Math" panose="02040503050406030204" pitchFamily="18" charset="0"/>
                            <a:cs typeface="Calibri" panose="020F0502020204030204" pitchFamily="34" charset="0"/>
                          </a:rPr>
                          <m:t>+</m:t>
                        </m:r>
                        <m:r>
                          <a:rPr lang="pl-PL" sz="2800" i="1">
                            <a:solidFill>
                              <a:srgbClr val="000000"/>
                            </a:solidFill>
                            <a:latin typeface="Cambria Math" panose="02040503050406030204" pitchFamily="18" charset="0"/>
                            <a:cs typeface="Calibri" panose="020F0502020204030204" pitchFamily="34" charset="0"/>
                          </a:rPr>
                          <m:t>𝐹𝑁</m:t>
                        </m:r>
                      </m:den>
                    </m:f>
                  </m:oMath>
                </a14:m>
                <a:endParaRPr lang="pl-PL" sz="2000" b="1" dirty="0">
                  <a:solidFill>
                    <a:srgbClr val="000000"/>
                  </a:solidFill>
                  <a:latin typeface="Arial Narrow" panose="020B0606020202030204" pitchFamily="34" charset="0"/>
                  <a:cs typeface="Calibri" panose="020F0502020204030204" pitchFamily="34" charset="0"/>
                </a:endParaRP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Specyficzność</a:t>
                </a:r>
                <a:r>
                  <a:rPr lang="pl-PL" sz="2000" dirty="0">
                    <a:solidFill>
                      <a:srgbClr val="000000"/>
                    </a:solidFill>
                    <a:latin typeface="Arial Narrow" panose="020B0606020202030204" pitchFamily="34" charset="0"/>
                    <a:cs typeface="Calibri" panose="020F0502020204030204" pitchFamily="34" charset="0"/>
                  </a:rPr>
                  <a:t> – odsetek prawidłowo sklasyfikowanych obserwacji negatywnych:</a:t>
                </a:r>
              </a:p>
              <a:p>
                <a:r>
                  <a:rPr lang="pl-PL" sz="2000" dirty="0">
                    <a:solidFill>
                      <a:srgbClr val="000000"/>
                    </a:solidFill>
                    <a:latin typeface="Arial Narrow" panose="020B0606020202030204" pitchFamily="34" charset="0"/>
                    <a:cs typeface="Calibri" panose="020F0502020204030204" pitchFamily="34" charset="0"/>
                  </a:rPr>
                  <a:t>		</a:t>
                </a:r>
                <a14:m>
                  <m:oMath xmlns:m="http://schemas.openxmlformats.org/officeDocument/2006/math">
                    <m:f>
                      <m:fPr>
                        <m:ctrlPr>
                          <a:rPr lang="pl-PL" sz="2800" i="1">
                            <a:solidFill>
                              <a:srgbClr val="000000"/>
                            </a:solidFill>
                            <a:latin typeface="Cambria Math" panose="02040503050406030204" pitchFamily="18" charset="0"/>
                            <a:cs typeface="Calibri" panose="020F0502020204030204" pitchFamily="34" charset="0"/>
                          </a:rPr>
                        </m:ctrlPr>
                      </m:fPr>
                      <m:num>
                        <m:r>
                          <a:rPr lang="pl-PL" sz="2800" i="1">
                            <a:solidFill>
                              <a:srgbClr val="000000"/>
                            </a:solidFill>
                            <a:latin typeface="Cambria Math" panose="02040503050406030204" pitchFamily="18" charset="0"/>
                            <a:cs typeface="Calibri" panose="020F0502020204030204" pitchFamily="34" charset="0"/>
                          </a:rPr>
                          <m:t>𝑇</m:t>
                        </m:r>
                        <m:r>
                          <a:rPr lang="pl-PL" sz="2800" b="0" i="1" smtClean="0">
                            <a:solidFill>
                              <a:srgbClr val="000000"/>
                            </a:solidFill>
                            <a:latin typeface="Cambria Math" panose="02040503050406030204" pitchFamily="18" charset="0"/>
                            <a:cs typeface="Calibri" panose="020F0502020204030204" pitchFamily="34" charset="0"/>
                          </a:rPr>
                          <m:t>𝑁</m:t>
                        </m:r>
                      </m:num>
                      <m:den>
                        <m:r>
                          <a:rPr lang="pl-PL" sz="2800" b="0" i="1" smtClean="0">
                            <a:solidFill>
                              <a:srgbClr val="000000"/>
                            </a:solidFill>
                            <a:latin typeface="Cambria Math" panose="02040503050406030204" pitchFamily="18" charset="0"/>
                            <a:cs typeface="Calibri" panose="020F0502020204030204" pitchFamily="34" charset="0"/>
                          </a:rPr>
                          <m:t>𝐹</m:t>
                        </m:r>
                        <m:r>
                          <a:rPr lang="pl-PL" sz="2800" i="1">
                            <a:solidFill>
                              <a:srgbClr val="000000"/>
                            </a:solidFill>
                            <a:latin typeface="Cambria Math" panose="02040503050406030204" pitchFamily="18" charset="0"/>
                            <a:cs typeface="Calibri" panose="020F0502020204030204" pitchFamily="34" charset="0"/>
                          </a:rPr>
                          <m:t>𝑃</m:t>
                        </m:r>
                        <m:r>
                          <a:rPr lang="pl-PL" sz="2800" i="1">
                            <a:solidFill>
                              <a:srgbClr val="000000"/>
                            </a:solidFill>
                            <a:latin typeface="Cambria Math" panose="02040503050406030204" pitchFamily="18" charset="0"/>
                            <a:cs typeface="Calibri" panose="020F0502020204030204" pitchFamily="34" charset="0"/>
                          </a:rPr>
                          <m:t>+</m:t>
                        </m:r>
                        <m:r>
                          <a:rPr lang="pl-PL" sz="2800" b="0" i="1" smtClean="0">
                            <a:solidFill>
                              <a:srgbClr val="000000"/>
                            </a:solidFill>
                            <a:latin typeface="Cambria Math" panose="02040503050406030204" pitchFamily="18" charset="0"/>
                            <a:cs typeface="Calibri" panose="020F0502020204030204" pitchFamily="34" charset="0"/>
                          </a:rPr>
                          <m:t>𝑇𝑁</m:t>
                        </m:r>
                      </m:den>
                    </m:f>
                  </m:oMath>
                </a14:m>
                <a:r>
                  <a:rPr lang="pl-PL" sz="2000" dirty="0">
                    <a:solidFill>
                      <a:srgbClr val="000000"/>
                    </a:solidFill>
                    <a:cs typeface="Calibri" panose="020F0502020204030204" pitchFamily="34" charset="0"/>
                  </a:rPr>
                  <a:t>		</a:t>
                </a:r>
                <a:endParaRPr lang="pl-PL" sz="2800" dirty="0">
                  <a:solidFill>
                    <a:srgbClr val="000000"/>
                  </a:solidFill>
                  <a:latin typeface="Arial Narrow" panose="020B0606020202030204" pitchFamily="34" charset="0"/>
                  <a:cs typeface="Calibri" panose="020F0502020204030204" pitchFamily="34" charset="0"/>
                </a:endParaRPr>
              </a:p>
              <a:p>
                <a:endParaRPr lang="pl-PL" sz="2000" dirty="0">
                  <a:solidFill>
                    <a:srgbClr val="000000"/>
                  </a:solidFill>
                  <a:latin typeface="Arial Narrow" panose="020B0606020202030204" pitchFamily="34" charset="0"/>
                  <a:cs typeface="Calibri" panose="020F0502020204030204" pitchFamily="34" charset="0"/>
                </a:endParaRPr>
              </a:p>
            </p:txBody>
          </p:sp>
        </mc:Choice>
        <mc:Fallback xmlns="">
          <p:sp>
            <p:nvSpPr>
              <p:cNvPr id="6" name="Prostokąt 4"/>
              <p:cNvSpPr>
                <a:spLocks noRot="1" noChangeAspect="1" noMove="1" noResize="1" noEditPoints="1" noAdjustHandles="1" noChangeArrowheads="1" noChangeShapeType="1" noTextEdit="1"/>
              </p:cNvSpPr>
              <p:nvPr/>
            </p:nvSpPr>
            <p:spPr>
              <a:xfrm>
                <a:off x="76200" y="2209800"/>
                <a:ext cx="8915400" cy="3239348"/>
              </a:xfrm>
              <a:prstGeom prst="rect">
                <a:avLst/>
              </a:prstGeom>
              <a:blipFill>
                <a:blip r:embed="rId2"/>
                <a:stretch>
                  <a:fillRect l="-752" t="-1130"/>
                </a:stretch>
              </a:blipFill>
            </p:spPr>
            <p:txBody>
              <a:bodyPr/>
              <a:lstStyle/>
              <a:p>
                <a:r>
                  <a:rPr lang="pl-PL">
                    <a:noFill/>
                  </a:rPr>
                  <a:t> </a:t>
                </a:r>
              </a:p>
            </p:txBody>
          </p:sp>
        </mc:Fallback>
      </mc:AlternateContent>
      <p:sp>
        <p:nvSpPr>
          <p:cNvPr id="8"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graphicFrame>
        <p:nvGraphicFramePr>
          <p:cNvPr id="7" name="Table 4"/>
          <p:cNvGraphicFramePr>
            <a:graphicFrameLocks noGrp="1"/>
          </p:cNvGraphicFramePr>
          <p:nvPr>
            <p:extLst>
              <p:ext uri="{D42A27DB-BD31-4B8C-83A1-F6EECF244321}">
                <p14:modId xmlns:p14="http://schemas.microsoft.com/office/powerpoint/2010/main" val="3601090109"/>
              </p:ext>
            </p:extLst>
          </p:nvPr>
        </p:nvGraphicFramePr>
        <p:xfrm>
          <a:off x="1059024" y="533400"/>
          <a:ext cx="6553200" cy="148336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7084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7084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extLst>
                  <a:ext uri="{0D108BD9-81ED-4DB2-BD59-A6C34878D82A}">
                    <a16:rowId xmlns:a16="http://schemas.microsoft.com/office/drawing/2014/main" val="2242066169"/>
                  </a:ext>
                </a:extLst>
              </a:tr>
              <a:tr h="370840">
                <a:tc rowSpan="2">
                  <a:txBody>
                    <a:bodyPr/>
                    <a:lstStyle/>
                    <a:p>
                      <a:pPr algn="ctr"/>
                      <a:r>
                        <a:rPr lang="pl-PL">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T</a:t>
                      </a:r>
                      <a:r>
                        <a:rPr lang="pl-PL" dirty="0">
                          <a:solidFill>
                            <a:srgbClr val="0070C0"/>
                          </a:solidFill>
                          <a:latin typeface="Arial Narrow" panose="020B0606020202030204" pitchFamily="34" charset="0"/>
                        </a:rPr>
                        <a:t>(1)</a:t>
                      </a:r>
                      <a:endParaRPr lang="en-US" dirty="0">
                        <a:solidFill>
                          <a:srgbClr val="0070C0"/>
                        </a:solidFill>
                        <a:latin typeface="Arial Narrow" panose="020B0606020202030204" pitchFamily="34" charset="0"/>
                      </a:endParaRPr>
                    </a:p>
                  </a:txBody>
                  <a:tcPr/>
                </a:tc>
                <a:tc>
                  <a:txBody>
                    <a:bodyPr/>
                    <a:lstStyle/>
                    <a:p>
                      <a:pPr algn="ctr"/>
                      <a:r>
                        <a:rPr lang="pl-PL" dirty="0">
                          <a:latin typeface="Arial Narrow" panose="020B0606020202030204" pitchFamily="34" charset="0"/>
                        </a:rPr>
                        <a:t>true-positive (TP)</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false-positive</a:t>
                      </a:r>
                      <a:r>
                        <a:rPr lang="pl-PL" dirty="0">
                          <a:latin typeface="Arial Narrow" panose="020B0606020202030204" pitchFamily="34" charset="0"/>
                        </a:rPr>
                        <a:t> (FP)</a:t>
                      </a:r>
                      <a:endParaRPr lang="en-US" dirty="0">
                        <a:latin typeface="Arial Narrow" panose="020B0606020202030204" pitchFamily="34" charset="0"/>
                      </a:endParaRPr>
                    </a:p>
                  </a:txBody>
                  <a:tcPr/>
                </a:tc>
                <a:extLst>
                  <a:ext uri="{0D108BD9-81ED-4DB2-BD59-A6C34878D82A}">
                    <a16:rowId xmlns:a16="http://schemas.microsoft.com/office/drawing/2014/main" val="1675270064"/>
                  </a:ext>
                </a:extLst>
              </a:tr>
              <a:tr h="37084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F</a:t>
                      </a:r>
                      <a:r>
                        <a:rPr lang="pl-PL" dirty="0">
                          <a:solidFill>
                            <a:srgbClr val="0070C0"/>
                          </a:solidFill>
                          <a:latin typeface="Arial Narrow" panose="020B0606020202030204" pitchFamily="34" charset="0"/>
                        </a:rPr>
                        <a:t>(0)</a:t>
                      </a:r>
                      <a:endParaRPr lang="en-US" dirty="0">
                        <a:solidFill>
                          <a:srgbClr val="0070C0"/>
                        </a:solidFill>
                        <a:latin typeface="Arial Narrow" panose="020B0606020202030204" pitchFamily="34" charset="0"/>
                      </a:endParaRPr>
                    </a:p>
                  </a:txBody>
                  <a:tcPr/>
                </a:tc>
                <a:tc>
                  <a:txBody>
                    <a:bodyPr/>
                    <a:lstStyle/>
                    <a:p>
                      <a:pPr algn="ctr"/>
                      <a:r>
                        <a:rPr lang="pl-PL">
                          <a:latin typeface="Arial Narrow" panose="020B0606020202030204" pitchFamily="34" charset="0"/>
                        </a:rPr>
                        <a:t>false-negative</a:t>
                      </a:r>
                      <a:r>
                        <a:rPr lang="pl-PL" dirty="0">
                          <a:latin typeface="Arial Narrow" panose="020B0606020202030204" pitchFamily="34" charset="0"/>
                        </a:rPr>
                        <a:t> (FN)</a:t>
                      </a:r>
                      <a:endParaRPr lang="en-US" dirty="0">
                        <a:latin typeface="Arial Narrow" panose="020B0606020202030204" pitchFamily="34" charset="0"/>
                      </a:endParaRPr>
                    </a:p>
                  </a:txBody>
                  <a:tcPr/>
                </a:tc>
                <a:tc>
                  <a:txBody>
                    <a:bodyPr/>
                    <a:lstStyle/>
                    <a:p>
                      <a:pPr algn="ctr"/>
                      <a:r>
                        <a:rPr lang="pl-PL">
                          <a:latin typeface="Arial Narrow" panose="020B0606020202030204" pitchFamily="34" charset="0"/>
                        </a:rPr>
                        <a:t>true-negative</a:t>
                      </a:r>
                      <a:r>
                        <a:rPr lang="pl-PL" dirty="0">
                          <a:latin typeface="Arial Narrow" panose="020B0606020202030204" pitchFamily="34" charset="0"/>
                        </a:rPr>
                        <a:t>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spTree>
    <p:extLst>
      <p:ext uri="{BB962C8B-B14F-4D97-AF65-F5344CB8AC3E}">
        <p14:creationId xmlns:p14="http://schemas.microsoft.com/office/powerpoint/2010/main" val="8089578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79</a:t>
            </a:fld>
            <a:endParaRPr lang="pl-PL" dirty="0"/>
          </a:p>
        </p:txBody>
      </p:sp>
      <p:sp>
        <p:nvSpPr>
          <p:cNvPr id="5" name="Prostokąt 4"/>
          <p:cNvSpPr/>
          <p:nvPr/>
        </p:nvSpPr>
        <p:spPr>
          <a:xfrm>
            <a:off x="0" y="330875"/>
            <a:ext cx="8915400" cy="1200329"/>
          </a:xfrm>
          <a:prstGeom prst="rect">
            <a:avLst/>
          </a:prstGeom>
        </p:spPr>
        <p:txBody>
          <a:bodyPr wrap="square">
            <a:spAutoFit/>
          </a:bodyPr>
          <a:lstStyle/>
          <a:p>
            <a:r>
              <a:rPr lang="pl-PL" dirty="0">
                <a:solidFill>
                  <a:srgbClr val="000000"/>
                </a:solidFill>
                <a:latin typeface="Arial Narrow" panose="020B0606020202030204" pitchFamily="34" charset="0"/>
                <a:cs typeface="Calibri" panose="020F0502020204030204" pitchFamily="34" charset="0"/>
              </a:rPr>
              <a:t>Przykład:</a:t>
            </a:r>
          </a:p>
          <a:p>
            <a:r>
              <a:rPr lang="pl-PL" dirty="0">
                <a:solidFill>
                  <a:srgbClr val="000000"/>
                </a:solidFill>
                <a:latin typeface="Arial Narrow" panose="020B0606020202030204" pitchFamily="34" charset="0"/>
                <a:cs typeface="Calibri" panose="020F0502020204030204" pitchFamily="34" charset="0"/>
              </a:rPr>
              <a:t>Spośród 30 przebadanych osób, </a:t>
            </a:r>
            <a:r>
              <a:rPr lang="pl-PL" dirty="0">
                <a:latin typeface="Arial Narrow" panose="020B0606020202030204" pitchFamily="34" charset="0"/>
                <a:cs typeface="Calibri" panose="020F0502020204030204" pitchFamily="34" charset="0"/>
              </a:rPr>
              <a:t>24</a:t>
            </a:r>
            <a:r>
              <a:rPr lang="pl-PL" dirty="0">
                <a:solidFill>
                  <a:srgbClr val="000000"/>
                </a:solidFill>
                <a:latin typeface="Arial Narrow" panose="020B0606020202030204" pitchFamily="34" charset="0"/>
                <a:cs typeface="Calibri" panose="020F0502020204030204" pitchFamily="34" charset="0"/>
              </a:rPr>
              <a:t> zostały zakwalifikowane jako zdrowe a </a:t>
            </a:r>
            <a:r>
              <a:rPr lang="pl-PL" dirty="0">
                <a:latin typeface="Arial Narrow" panose="020B0606020202030204" pitchFamily="34" charset="0"/>
                <a:cs typeface="Calibri" panose="020F0502020204030204" pitchFamily="34" charset="0"/>
              </a:rPr>
              <a:t>6</a:t>
            </a:r>
            <a:r>
              <a:rPr lang="pl-PL" dirty="0">
                <a:solidFill>
                  <a:srgbClr val="000000"/>
                </a:solidFill>
                <a:latin typeface="Arial Narrow" panose="020B0606020202030204" pitchFamily="34" charset="0"/>
                <a:cs typeface="Calibri" panose="020F0502020204030204" pitchFamily="34" charset="0"/>
              </a:rPr>
              <a:t> jako chore. </a:t>
            </a:r>
          </a:p>
          <a:p>
            <a:r>
              <a:rPr lang="pl-PL" dirty="0">
                <a:solidFill>
                  <a:srgbClr val="000000"/>
                </a:solidFill>
                <a:latin typeface="Arial Narrow" panose="020B0606020202030204" pitchFamily="34" charset="0"/>
                <a:cs typeface="Calibri" panose="020F0502020204030204" pitchFamily="34" charset="0"/>
              </a:rPr>
              <a:t>Po dokładnym badaniu okazało się, że wśród 24 zakwalifikowanych jako zdrowe 2 okazały się chore a wśród 6 zakwalifikowanych jako chore 1 okazała się zdrowa. Wypełnij macierz pomyłek.</a:t>
            </a:r>
          </a:p>
        </p:txBody>
      </p:sp>
      <p:graphicFrame>
        <p:nvGraphicFramePr>
          <p:cNvPr id="6" name="Table 5"/>
          <p:cNvGraphicFramePr>
            <a:graphicFrameLocks noGrp="1"/>
          </p:cNvGraphicFramePr>
          <p:nvPr>
            <p:extLst>
              <p:ext uri="{D42A27DB-BD31-4B8C-83A1-F6EECF244321}">
                <p14:modId xmlns:p14="http://schemas.microsoft.com/office/powerpoint/2010/main" val="2835376523"/>
              </p:ext>
            </p:extLst>
          </p:nvPr>
        </p:nvGraphicFramePr>
        <p:xfrm>
          <a:off x="152400" y="1752600"/>
          <a:ext cx="6553200" cy="146304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6000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6000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Z</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Ch</a:t>
                      </a:r>
                      <a:endParaRPr lang="en-US" dirty="0">
                        <a:latin typeface="Arial Narrow" panose="020B0606020202030204" pitchFamily="34" charset="0"/>
                      </a:endParaRPr>
                    </a:p>
                  </a:txBody>
                  <a:tcPr/>
                </a:tc>
                <a:extLst>
                  <a:ext uri="{0D108BD9-81ED-4DB2-BD59-A6C34878D82A}">
                    <a16:rowId xmlns:a16="http://schemas.microsoft.com/office/drawing/2014/main" val="2242066169"/>
                  </a:ext>
                </a:extLst>
              </a:tr>
              <a:tr h="360000">
                <a:tc rowSpan="2">
                  <a:txBody>
                    <a:bodyPr/>
                    <a:lstStyle/>
                    <a:p>
                      <a:pPr algn="ctr"/>
                      <a:r>
                        <a:rPr lang="pl-PL">
                          <a:latin typeface="Arial Narrow" panose="020B0606020202030204" pitchFamily="34" charset="0"/>
                        </a:rPr>
                        <a:t>Wartość</a:t>
                      </a:r>
                    </a:p>
                    <a:p>
                      <a:pPr algn="ctr"/>
                      <a:r>
                        <a:rPr lang="pl-PL">
                          <a:latin typeface="Arial Narrow" panose="020B0606020202030204" pitchFamily="34" charset="0"/>
                        </a:rPr>
                        <a:t>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Z</a:t>
                      </a: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tc>
                  <a:txBody>
                    <a:bodyPr/>
                    <a:lstStyle/>
                    <a:p>
                      <a:pPr algn="ctr"/>
                      <a:endParaRPr lang="en-US" b="1" dirty="0">
                        <a:latin typeface="Arial Narrow" panose="020B0606020202030204" pitchFamily="34" charset="0"/>
                      </a:endParaRPr>
                    </a:p>
                  </a:txBody>
                  <a:tcPr/>
                </a:tc>
                <a:extLst>
                  <a:ext uri="{0D108BD9-81ED-4DB2-BD59-A6C34878D82A}">
                    <a16:rowId xmlns:a16="http://schemas.microsoft.com/office/drawing/2014/main" val="1675270064"/>
                  </a:ext>
                </a:extLst>
              </a:tr>
              <a:tr h="36000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Ch</a:t>
                      </a: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949468683"/>
              </p:ext>
            </p:extLst>
          </p:nvPr>
        </p:nvGraphicFramePr>
        <p:xfrm>
          <a:off x="2667000" y="2484338"/>
          <a:ext cx="4038600" cy="731520"/>
        </p:xfrm>
        <a:graphic>
          <a:graphicData uri="http://schemas.openxmlformats.org/drawingml/2006/table">
            <a:tbl>
              <a:tblPr firstRow="1" bandRow="1">
                <a:tableStyleId>{5940675A-B579-460E-94D1-54222C63F5DA}</a:tableStyleId>
              </a:tblPr>
              <a:tblGrid>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60000">
                <a:tc>
                  <a:txBody>
                    <a:bodyPr/>
                    <a:lstStyle/>
                    <a:p>
                      <a:pPr algn="ctr"/>
                      <a:r>
                        <a:rPr lang="pl-PL" dirty="0">
                          <a:latin typeface="Arial Narrow" panose="020B0606020202030204" pitchFamily="34" charset="0"/>
                        </a:rPr>
                        <a:t>22 (TP)</a:t>
                      </a:r>
                      <a:endParaRPr lang="en-US" dirty="0">
                        <a:latin typeface="Arial Narrow" panose="020B0606020202030204" pitchFamily="34" charset="0"/>
                      </a:endParaRPr>
                    </a:p>
                  </a:txBody>
                  <a:tcPr/>
                </a:tc>
                <a:tc>
                  <a:txBody>
                    <a:bodyPr/>
                    <a:lstStyle/>
                    <a:p>
                      <a:pPr algn="ctr"/>
                      <a:r>
                        <a:rPr lang="pl-PL" b="0" dirty="0">
                          <a:latin typeface="Arial Narrow" panose="020B0606020202030204" pitchFamily="34" charset="0"/>
                        </a:rPr>
                        <a:t>1</a:t>
                      </a:r>
                      <a:r>
                        <a:rPr lang="pl-PL" b="0">
                          <a:latin typeface="Arial Narrow" panose="020B0606020202030204" pitchFamily="34" charset="0"/>
                        </a:rPr>
                        <a:t> (FN)</a:t>
                      </a:r>
                      <a:endParaRPr lang="en-US" b="0" dirty="0">
                        <a:latin typeface="Arial Narrow" panose="020B0606020202030204" pitchFamily="34" charset="0"/>
                      </a:endParaRPr>
                    </a:p>
                  </a:txBody>
                  <a:tcPr/>
                </a:tc>
                <a:extLst>
                  <a:ext uri="{0D108BD9-81ED-4DB2-BD59-A6C34878D82A}">
                    <a16:rowId xmlns:a16="http://schemas.microsoft.com/office/drawing/2014/main" val="1675270064"/>
                  </a:ext>
                </a:extLst>
              </a:tr>
              <a:tr h="360000">
                <a:tc>
                  <a:txBody>
                    <a:bodyPr/>
                    <a:lstStyle/>
                    <a:p>
                      <a:pPr algn="ctr"/>
                      <a:r>
                        <a:rPr lang="pl-PL" dirty="0">
                          <a:latin typeface="Arial Narrow" panose="020B0606020202030204" pitchFamily="34" charset="0"/>
                        </a:rPr>
                        <a:t>2</a:t>
                      </a:r>
                      <a:r>
                        <a:rPr lang="pl-PL">
                          <a:latin typeface="Arial Narrow" panose="020B0606020202030204" pitchFamily="34" charset="0"/>
                        </a:rPr>
                        <a:t> (FP)</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5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graphicFrame>
        <p:nvGraphicFramePr>
          <p:cNvPr id="11" name="Table 10"/>
          <p:cNvGraphicFramePr>
            <a:graphicFrameLocks noGrp="1"/>
          </p:cNvGraphicFramePr>
          <p:nvPr/>
        </p:nvGraphicFramePr>
        <p:xfrm>
          <a:off x="6705600" y="2118251"/>
          <a:ext cx="1141448" cy="365760"/>
        </p:xfrm>
        <a:graphic>
          <a:graphicData uri="http://schemas.openxmlformats.org/drawingml/2006/table">
            <a:tbl>
              <a:tblPr firstRow="1" bandRow="1">
                <a:tableStyleId>{5940675A-B579-460E-94D1-54222C63F5DA}</a:tableStyleId>
              </a:tblPr>
              <a:tblGrid>
                <a:gridCol w="1141448">
                  <a:extLst>
                    <a:ext uri="{9D8B030D-6E8A-4147-A177-3AD203B41FA5}">
                      <a16:colId xmlns:a16="http://schemas.microsoft.com/office/drawing/2014/main" val="3268778734"/>
                    </a:ext>
                  </a:extLst>
                </a:gridCol>
              </a:tblGrid>
              <a:tr h="360000">
                <a:tc>
                  <a:txBody>
                    <a:bodyPr/>
                    <a:lstStyle/>
                    <a:p>
                      <a:pPr algn="ctr"/>
                      <a:r>
                        <a:rPr lang="pl-PL" b="0" dirty="0">
                          <a:latin typeface="Arial Narrow" panose="020B0606020202030204" pitchFamily="34" charset="0"/>
                        </a:rPr>
                        <a:t>Suma</a:t>
                      </a:r>
                      <a:endParaRPr lang="en-US" b="0" dirty="0">
                        <a:latin typeface="Arial Narrow" panose="020B0606020202030204" pitchFamily="34" charset="0"/>
                      </a:endParaRPr>
                    </a:p>
                  </a:txBody>
                  <a:tcPr/>
                </a:tc>
                <a:extLst>
                  <a:ext uri="{0D108BD9-81ED-4DB2-BD59-A6C34878D82A}">
                    <a16:rowId xmlns:a16="http://schemas.microsoft.com/office/drawing/2014/main" val="150654352"/>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772879396"/>
              </p:ext>
            </p:extLst>
          </p:nvPr>
        </p:nvGraphicFramePr>
        <p:xfrm>
          <a:off x="6705600" y="2484120"/>
          <a:ext cx="1141448" cy="731520"/>
        </p:xfrm>
        <a:graphic>
          <a:graphicData uri="http://schemas.openxmlformats.org/drawingml/2006/table">
            <a:tbl>
              <a:tblPr firstRow="1" bandRow="1">
                <a:tableStyleId>{5940675A-B579-460E-94D1-54222C63F5DA}</a:tableStyleId>
              </a:tblPr>
              <a:tblGrid>
                <a:gridCol w="1141448">
                  <a:extLst>
                    <a:ext uri="{9D8B030D-6E8A-4147-A177-3AD203B41FA5}">
                      <a16:colId xmlns:a16="http://schemas.microsoft.com/office/drawing/2014/main" val="3031129430"/>
                    </a:ext>
                  </a:extLst>
                </a:gridCol>
              </a:tblGrid>
              <a:tr h="360000">
                <a:tc>
                  <a:txBody>
                    <a:bodyPr/>
                    <a:lstStyle/>
                    <a:p>
                      <a:pPr algn="ctr"/>
                      <a:r>
                        <a:rPr lang="pl-PL">
                          <a:solidFill>
                            <a:schemeClr val="tx1"/>
                          </a:solidFill>
                          <a:latin typeface="Arial Narrow" panose="020B0606020202030204" pitchFamily="34" charset="0"/>
                        </a:rPr>
                        <a:t>23</a:t>
                      </a:r>
                      <a:endParaRPr lang="en-US" dirty="0">
                        <a:solidFill>
                          <a:schemeClr val="tx1"/>
                        </a:solidFill>
                        <a:latin typeface="Arial Narrow" panose="020B0606020202030204" pitchFamily="34" charset="0"/>
                      </a:endParaRPr>
                    </a:p>
                  </a:txBody>
                  <a:tcPr/>
                </a:tc>
                <a:extLst>
                  <a:ext uri="{0D108BD9-81ED-4DB2-BD59-A6C34878D82A}">
                    <a16:rowId xmlns:a16="http://schemas.microsoft.com/office/drawing/2014/main" val="4117647347"/>
                  </a:ext>
                </a:extLst>
              </a:tr>
              <a:tr h="360000">
                <a:tc>
                  <a:txBody>
                    <a:bodyPr/>
                    <a:lstStyle/>
                    <a:p>
                      <a:pPr algn="ctr"/>
                      <a:r>
                        <a:rPr lang="pl-PL">
                          <a:solidFill>
                            <a:schemeClr val="tx1"/>
                          </a:solidFill>
                          <a:latin typeface="Arial Narrow" panose="020B0606020202030204" pitchFamily="34" charset="0"/>
                        </a:rPr>
                        <a:t>7</a:t>
                      </a:r>
                      <a:endParaRPr lang="en-US" dirty="0">
                        <a:solidFill>
                          <a:schemeClr val="tx1"/>
                        </a:solidFill>
                        <a:latin typeface="Arial Narrow" panose="020B0606020202030204" pitchFamily="34" charset="0"/>
                      </a:endParaRPr>
                    </a:p>
                  </a:txBody>
                  <a:tcPr/>
                </a:tc>
                <a:extLst>
                  <a:ext uri="{0D108BD9-81ED-4DB2-BD59-A6C34878D82A}">
                    <a16:rowId xmlns:a16="http://schemas.microsoft.com/office/drawing/2014/main" val="2121677929"/>
                  </a:ext>
                </a:extLst>
              </a:tr>
            </a:tbl>
          </a:graphicData>
        </a:graphic>
      </p:graphicFrame>
      <p:graphicFrame>
        <p:nvGraphicFramePr>
          <p:cNvPr id="12" name="Table 10"/>
          <p:cNvGraphicFramePr>
            <a:graphicFrameLocks noGrp="1"/>
          </p:cNvGraphicFramePr>
          <p:nvPr/>
        </p:nvGraphicFramePr>
        <p:xfrm>
          <a:off x="1524784" y="3216448"/>
          <a:ext cx="1141448" cy="365760"/>
        </p:xfrm>
        <a:graphic>
          <a:graphicData uri="http://schemas.openxmlformats.org/drawingml/2006/table">
            <a:tbl>
              <a:tblPr firstRow="1" bandRow="1">
                <a:tableStyleId>{5940675A-B579-460E-94D1-54222C63F5DA}</a:tableStyleId>
              </a:tblPr>
              <a:tblGrid>
                <a:gridCol w="1141448">
                  <a:extLst>
                    <a:ext uri="{9D8B030D-6E8A-4147-A177-3AD203B41FA5}">
                      <a16:colId xmlns:a16="http://schemas.microsoft.com/office/drawing/2014/main" val="3268778734"/>
                    </a:ext>
                  </a:extLst>
                </a:gridCol>
              </a:tblGrid>
              <a:tr h="360000">
                <a:tc>
                  <a:txBody>
                    <a:bodyPr/>
                    <a:lstStyle/>
                    <a:p>
                      <a:pPr algn="ctr"/>
                      <a:r>
                        <a:rPr lang="pl-PL" dirty="0">
                          <a:latin typeface="Arial Narrow" panose="020B0606020202030204" pitchFamily="34" charset="0"/>
                        </a:rPr>
                        <a:t>Suma</a:t>
                      </a:r>
                      <a:endParaRPr lang="en-US" dirty="0">
                        <a:latin typeface="Arial Narrow" panose="020B0606020202030204" pitchFamily="34" charset="0"/>
                      </a:endParaRPr>
                    </a:p>
                  </a:txBody>
                  <a:tcPr/>
                </a:tc>
                <a:extLst>
                  <a:ext uri="{0D108BD9-81ED-4DB2-BD59-A6C34878D82A}">
                    <a16:rowId xmlns:a16="http://schemas.microsoft.com/office/drawing/2014/main" val="150654352"/>
                  </a:ext>
                </a:extLst>
              </a:tr>
            </a:tbl>
          </a:graphicData>
        </a:graphic>
      </p:graphicFrame>
      <p:graphicFrame>
        <p:nvGraphicFramePr>
          <p:cNvPr id="13" name="Table 8"/>
          <p:cNvGraphicFramePr>
            <a:graphicFrameLocks noGrp="1"/>
          </p:cNvGraphicFramePr>
          <p:nvPr>
            <p:extLst>
              <p:ext uri="{D42A27DB-BD31-4B8C-83A1-F6EECF244321}">
                <p14:modId xmlns:p14="http://schemas.microsoft.com/office/powerpoint/2010/main" val="1464708290"/>
              </p:ext>
            </p:extLst>
          </p:nvPr>
        </p:nvGraphicFramePr>
        <p:xfrm>
          <a:off x="2666232" y="3214854"/>
          <a:ext cx="4038600" cy="365760"/>
        </p:xfrm>
        <a:graphic>
          <a:graphicData uri="http://schemas.openxmlformats.org/drawingml/2006/table">
            <a:tbl>
              <a:tblPr firstRow="1" bandRow="1">
                <a:tableStyleId>{5940675A-B579-460E-94D1-54222C63F5DA}</a:tableStyleId>
              </a:tblPr>
              <a:tblGrid>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60000">
                <a:tc>
                  <a:txBody>
                    <a:bodyPr/>
                    <a:lstStyle/>
                    <a:p>
                      <a:pPr algn="ctr"/>
                      <a:r>
                        <a:rPr lang="pl-PL">
                          <a:latin typeface="Arial Narrow" panose="020B0606020202030204" pitchFamily="34" charset="0"/>
                        </a:rPr>
                        <a:t>24</a:t>
                      </a:r>
                      <a:endParaRPr lang="en-US" dirty="0">
                        <a:latin typeface="Arial Narrow" panose="020B0606020202030204" pitchFamily="34" charset="0"/>
                      </a:endParaRPr>
                    </a:p>
                  </a:txBody>
                  <a:tcPr/>
                </a:tc>
                <a:tc>
                  <a:txBody>
                    <a:bodyPr/>
                    <a:lstStyle/>
                    <a:p>
                      <a:pPr algn="ctr"/>
                      <a:r>
                        <a:rPr lang="pl-PL" b="0">
                          <a:latin typeface="Arial Narrow" panose="020B0606020202030204" pitchFamily="34" charset="0"/>
                        </a:rPr>
                        <a:t>6</a:t>
                      </a:r>
                      <a:endParaRPr lang="en-US" b="0" dirty="0">
                        <a:latin typeface="Arial Narrow" panose="020B0606020202030204" pitchFamily="34" charset="0"/>
                      </a:endParaRPr>
                    </a:p>
                  </a:txBody>
                  <a:tcPr/>
                </a:tc>
                <a:extLst>
                  <a:ext uri="{0D108BD9-81ED-4DB2-BD59-A6C34878D82A}">
                    <a16:rowId xmlns:a16="http://schemas.microsoft.com/office/drawing/2014/main" val="1675270064"/>
                  </a:ext>
                </a:extLst>
              </a:tr>
            </a:tbl>
          </a:graphicData>
        </a:graphic>
      </p:graphicFrame>
      <p:sp>
        <p:nvSpPr>
          <p:cNvPr id="14"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01489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anim calcmode="lin" valueType="num">
                                      <p:cBhvr>
                                        <p:cTn id="26" dur="1000" fill="hold"/>
                                        <p:tgtEl>
                                          <p:spTgt spid="2"/>
                                        </p:tgtEl>
                                        <p:attrNameLst>
                                          <p:attrName>ppt_x</p:attrName>
                                        </p:attrNameLst>
                                      </p:cBhvr>
                                      <p:tavLst>
                                        <p:tav tm="0">
                                          <p:val>
                                            <p:strVal val="#ppt_x"/>
                                          </p:val>
                                        </p:tav>
                                        <p:tav tm="100000">
                                          <p:val>
                                            <p:strVal val="#ppt_x"/>
                                          </p:val>
                                        </p:tav>
                                      </p:tavLst>
                                    </p:anim>
                                    <p:anim calcmode="lin" valueType="num">
                                      <p:cBhvr>
                                        <p:cTn id="2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80</a:t>
            </a:fld>
            <a:endParaRPr lang="pl-PL" dirty="0"/>
          </a:p>
        </p:txBody>
      </p:sp>
      <p:sp>
        <p:nvSpPr>
          <p:cNvPr id="6" name="Prostokąt 4"/>
          <p:cNvSpPr/>
          <p:nvPr/>
        </p:nvSpPr>
        <p:spPr>
          <a:xfrm>
            <a:off x="0" y="330875"/>
            <a:ext cx="8915400" cy="1200329"/>
          </a:xfrm>
          <a:prstGeom prst="rect">
            <a:avLst/>
          </a:prstGeom>
        </p:spPr>
        <p:txBody>
          <a:bodyPr wrap="square">
            <a:spAutoFit/>
          </a:bodyPr>
          <a:lstStyle/>
          <a:p>
            <a:r>
              <a:rPr lang="pl-PL" dirty="0">
                <a:solidFill>
                  <a:srgbClr val="000000"/>
                </a:solidFill>
                <a:latin typeface="Arial Narrow" panose="020B0606020202030204" pitchFamily="34" charset="0"/>
                <a:cs typeface="Calibri" panose="020F0502020204030204" pitchFamily="34" charset="0"/>
              </a:rPr>
              <a:t>Przykład, c.d.:</a:t>
            </a:r>
          </a:p>
          <a:p>
            <a:pPr>
              <a:tabLst>
                <a:tab pos="2066925" algn="l"/>
              </a:tabLst>
            </a:pPr>
            <a:r>
              <a:rPr lang="pl-PL" dirty="0">
                <a:solidFill>
                  <a:srgbClr val="000000"/>
                </a:solidFill>
                <a:latin typeface="Arial Narrow" panose="020B0606020202030204" pitchFamily="34" charset="0"/>
                <a:cs typeface="Calibri" panose="020F0502020204030204" pitchFamily="34" charset="0"/>
              </a:rPr>
              <a:t>Oblicz miary poprawności predykcji.</a:t>
            </a:r>
          </a:p>
          <a:p>
            <a:pPr>
              <a:tabLst>
                <a:tab pos="2066925" algn="l"/>
              </a:tabLst>
            </a:pPr>
            <a:r>
              <a:rPr lang="pl-PL" dirty="0">
                <a:solidFill>
                  <a:srgbClr val="000000"/>
                </a:solidFill>
                <a:latin typeface="Arial Narrow" panose="020B0606020202030204" pitchFamily="34" charset="0"/>
                <a:cs typeface="Calibri" panose="020F0502020204030204" pitchFamily="34" charset="0"/>
              </a:rPr>
              <a:t>Odpowiedz na pytania: 	Ile osób zostało błędnie sklasyfikowanych?</a:t>
            </a:r>
            <a:br>
              <a:rPr lang="pl-PL" dirty="0">
                <a:solidFill>
                  <a:srgbClr val="000000"/>
                </a:solidFill>
                <a:latin typeface="Arial Narrow" panose="020B0606020202030204" pitchFamily="34" charset="0"/>
                <a:cs typeface="Calibri" panose="020F0502020204030204" pitchFamily="34" charset="0"/>
              </a:rPr>
            </a:br>
            <a:r>
              <a:rPr lang="pl-PL" dirty="0">
                <a:solidFill>
                  <a:srgbClr val="000000"/>
                </a:solidFill>
                <a:latin typeface="Arial Narrow" panose="020B0606020202030204" pitchFamily="34" charset="0"/>
                <a:cs typeface="Calibri" panose="020F0502020204030204" pitchFamily="34" charset="0"/>
              </a:rPr>
              <a:t>	Która sytuacja jest najbardziej niebezpieczna i dlaczego?</a:t>
            </a:r>
          </a:p>
        </p:txBody>
      </p:sp>
      <mc:AlternateContent xmlns:mc="http://schemas.openxmlformats.org/markup-compatibility/2006" xmlns:a14="http://schemas.microsoft.com/office/drawing/2010/main">
        <mc:Choice Requires="a14">
          <p:sp>
            <p:nvSpPr>
              <p:cNvPr id="7" name="Prostokąt 4"/>
              <p:cNvSpPr/>
              <p:nvPr/>
            </p:nvSpPr>
            <p:spPr>
              <a:xfrm>
                <a:off x="76200" y="3200400"/>
                <a:ext cx="2209800" cy="3203121"/>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Precyzja (</a:t>
                </a:r>
                <a:r>
                  <a:rPr lang="pl-PL" sz="2000" i="1" dirty="0">
                    <a:solidFill>
                      <a:srgbClr val="000000"/>
                    </a:solidFill>
                    <a:latin typeface="Arial Narrow" panose="020B0606020202030204" pitchFamily="34" charset="0"/>
                    <a:cs typeface="Calibri" panose="020F0502020204030204" pitchFamily="34" charset="0"/>
                  </a:rPr>
                  <a:t>precision</a:t>
                </a:r>
                <a:r>
                  <a:rPr lang="pl-PL" sz="2000" dirty="0">
                    <a:solidFill>
                      <a:srgbClr val="000000"/>
                    </a:solidFill>
                    <a:latin typeface="Arial Narrow" panose="020B0606020202030204" pitchFamily="34" charset="0"/>
                    <a:cs typeface="Calibri" panose="020F0502020204030204" pitchFamily="34" charset="0"/>
                  </a:rPr>
                  <a:t>):</a:t>
                </a:r>
              </a:p>
              <a:p>
                <a14:m>
                  <m:oMath xmlns:m="http://schemas.openxmlformats.org/officeDocument/2006/math">
                    <m:f>
                      <m:fPr>
                        <m:ctrlPr>
                          <a:rPr lang="pl-PL" sz="2400" i="1" smtClean="0">
                            <a:solidFill>
                              <a:srgbClr val="000000"/>
                            </a:solidFill>
                            <a:latin typeface="Cambria Math" panose="02040503050406030204" pitchFamily="18" charset="0"/>
                            <a:cs typeface="Calibri" panose="020F0502020204030204" pitchFamily="34" charset="0"/>
                          </a:rPr>
                        </m:ctrlPr>
                      </m:fPr>
                      <m:num>
                        <m:r>
                          <a:rPr lang="pl-PL" sz="2400" b="0" i="1" smtClean="0">
                            <a:solidFill>
                              <a:srgbClr val="000000"/>
                            </a:solidFill>
                            <a:latin typeface="Cambria Math" panose="02040503050406030204" pitchFamily="18" charset="0"/>
                            <a:cs typeface="Calibri" panose="020F0502020204030204" pitchFamily="34" charset="0"/>
                          </a:rPr>
                          <m:t>𝑇𝑃</m:t>
                        </m:r>
                      </m:num>
                      <m:den>
                        <m:r>
                          <a:rPr lang="pl-PL" sz="2400" b="0" i="1" smtClean="0">
                            <a:solidFill>
                              <a:srgbClr val="000000"/>
                            </a:solidFill>
                            <a:latin typeface="Cambria Math" panose="02040503050406030204" pitchFamily="18" charset="0"/>
                            <a:cs typeface="Calibri" panose="020F0502020204030204" pitchFamily="34" charset="0"/>
                          </a:rPr>
                          <m:t>𝑇𝑃</m:t>
                        </m:r>
                        <m:r>
                          <a:rPr lang="pl-PL" sz="2400" b="0" i="1" smtClean="0">
                            <a:solidFill>
                              <a:srgbClr val="000000"/>
                            </a:solidFill>
                            <a:latin typeface="Cambria Math" panose="02040503050406030204" pitchFamily="18" charset="0"/>
                            <a:cs typeface="Calibri" panose="020F0502020204030204" pitchFamily="34" charset="0"/>
                          </a:rPr>
                          <m:t>+</m:t>
                        </m:r>
                        <m:r>
                          <a:rPr lang="pl-PL" sz="2400" b="0" i="1" smtClean="0">
                            <a:solidFill>
                              <a:srgbClr val="000000"/>
                            </a:solidFill>
                            <a:latin typeface="Cambria Math" panose="02040503050406030204" pitchFamily="18" charset="0"/>
                            <a:cs typeface="Calibri" panose="020F0502020204030204" pitchFamily="34" charset="0"/>
                          </a:rPr>
                          <m:t>𝐹𝑃</m:t>
                        </m:r>
                      </m:den>
                    </m:f>
                  </m:oMath>
                </a14:m>
                <a:r>
                  <a:rPr lang="pl-PL" sz="2000" dirty="0">
                    <a:solidFill>
                      <a:srgbClr val="000000"/>
                    </a:solidFill>
                    <a:latin typeface="Arial Narrow" panose="020B0606020202030204" pitchFamily="34" charset="0"/>
                    <a:cs typeface="Calibri" panose="020F0502020204030204" pitchFamily="34" charset="0"/>
                  </a:rPr>
                  <a:t>	</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Czułość (</a:t>
                </a:r>
                <a:r>
                  <a:rPr lang="pl-PL" sz="2000" i="1" dirty="0">
                    <a:solidFill>
                      <a:srgbClr val="000000"/>
                    </a:solidFill>
                    <a:latin typeface="Arial Narrow" panose="020B0606020202030204" pitchFamily="34" charset="0"/>
                    <a:cs typeface="Calibri" panose="020F0502020204030204" pitchFamily="34" charset="0"/>
                  </a:rPr>
                  <a:t>recall</a:t>
                </a:r>
                <a:r>
                  <a:rPr lang="pl-PL" sz="2000" dirty="0">
                    <a:solidFill>
                      <a:srgbClr val="000000"/>
                    </a:solidFill>
                    <a:latin typeface="Arial Narrow" panose="020B0606020202030204" pitchFamily="34" charset="0"/>
                    <a:cs typeface="Calibri" panose="020F0502020204030204" pitchFamily="34" charset="0"/>
                  </a:rPr>
                  <a:t>):</a:t>
                </a:r>
              </a:p>
              <a:p>
                <a14:m>
                  <m:oMath xmlns:m="http://schemas.openxmlformats.org/officeDocument/2006/math">
                    <m:f>
                      <m:fPr>
                        <m:ctrlPr>
                          <a:rPr lang="pl-PL" sz="2400" i="1">
                            <a:solidFill>
                              <a:srgbClr val="000000"/>
                            </a:solidFill>
                            <a:latin typeface="Cambria Math" panose="02040503050406030204" pitchFamily="18" charset="0"/>
                            <a:cs typeface="Calibri" panose="020F0502020204030204" pitchFamily="34" charset="0"/>
                          </a:rPr>
                        </m:ctrlPr>
                      </m:fPr>
                      <m:num>
                        <m:r>
                          <a:rPr lang="pl-PL" sz="2400" i="1">
                            <a:solidFill>
                              <a:srgbClr val="000000"/>
                            </a:solidFill>
                            <a:latin typeface="Cambria Math" panose="02040503050406030204" pitchFamily="18" charset="0"/>
                            <a:cs typeface="Calibri" panose="020F0502020204030204" pitchFamily="34" charset="0"/>
                          </a:rPr>
                          <m:t>𝑇𝑃</m:t>
                        </m:r>
                      </m:num>
                      <m:den>
                        <m:r>
                          <a:rPr lang="pl-PL" sz="2400" i="1">
                            <a:solidFill>
                              <a:srgbClr val="000000"/>
                            </a:solidFill>
                            <a:latin typeface="Cambria Math" panose="02040503050406030204" pitchFamily="18" charset="0"/>
                            <a:cs typeface="Calibri" panose="020F0502020204030204" pitchFamily="34" charset="0"/>
                          </a:rPr>
                          <m:t>𝑇𝑃</m:t>
                        </m:r>
                        <m:r>
                          <a:rPr lang="pl-PL" sz="2400" i="1">
                            <a:solidFill>
                              <a:srgbClr val="000000"/>
                            </a:solidFill>
                            <a:latin typeface="Cambria Math" panose="02040503050406030204" pitchFamily="18" charset="0"/>
                            <a:cs typeface="Calibri" panose="020F0502020204030204" pitchFamily="34" charset="0"/>
                          </a:rPr>
                          <m:t>+</m:t>
                        </m:r>
                        <m:r>
                          <a:rPr lang="pl-PL" sz="2400" i="1">
                            <a:solidFill>
                              <a:srgbClr val="000000"/>
                            </a:solidFill>
                            <a:latin typeface="Cambria Math" panose="02040503050406030204" pitchFamily="18" charset="0"/>
                            <a:cs typeface="Calibri" panose="020F0502020204030204" pitchFamily="34" charset="0"/>
                          </a:rPr>
                          <m:t>𝐹𝑁</m:t>
                        </m:r>
                      </m:den>
                    </m:f>
                  </m:oMath>
                </a14:m>
                <a:r>
                  <a:rPr lang="pl-PL" sz="2000" dirty="0">
                    <a:solidFill>
                      <a:srgbClr val="000000"/>
                    </a:solidFill>
                    <a:latin typeface="Arial Narrow" panose="020B0606020202030204" pitchFamily="34" charset="0"/>
                    <a:cs typeface="Calibri" panose="020F0502020204030204" pitchFamily="34" charset="0"/>
                  </a:rPr>
                  <a:t> 	</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Trafność (</a:t>
                </a:r>
                <a:r>
                  <a:rPr lang="pl-PL" sz="2000" i="1">
                    <a:solidFill>
                      <a:srgbClr val="000000"/>
                    </a:solidFill>
                    <a:latin typeface="Arial Narrow" panose="020B0606020202030204" pitchFamily="34" charset="0"/>
                    <a:cs typeface="Calibri" panose="020F0502020204030204" pitchFamily="34" charset="0"/>
                  </a:rPr>
                  <a:t>accuracy</a:t>
                </a:r>
                <a:r>
                  <a:rPr lang="pl-PL" sz="2000" dirty="0">
                    <a:solidFill>
                      <a:srgbClr val="000000"/>
                    </a:solidFill>
                    <a:latin typeface="Arial Narrow" panose="020B0606020202030204" pitchFamily="34" charset="0"/>
                    <a:cs typeface="Calibri" panose="020F0502020204030204" pitchFamily="34" charset="0"/>
                  </a:rPr>
                  <a:t>):</a:t>
                </a:r>
              </a:p>
              <a:p>
                <a:pPr/>
                <a14:m>
                  <m:oMathPara xmlns:m="http://schemas.openxmlformats.org/officeDocument/2006/math">
                    <m:oMathParaPr>
                      <m:jc m:val="left"/>
                    </m:oMathParaPr>
                    <m:oMath xmlns:m="http://schemas.openxmlformats.org/officeDocument/2006/math">
                      <m:f>
                        <m:fPr>
                          <m:ctrlPr>
                            <a:rPr lang="pl-PL" i="1">
                              <a:solidFill>
                                <a:srgbClr val="000000"/>
                              </a:solidFill>
                              <a:latin typeface="Cambria Math" panose="02040503050406030204" pitchFamily="18" charset="0"/>
                              <a:cs typeface="Calibri" panose="020F0502020204030204" pitchFamily="34" charset="0"/>
                            </a:rPr>
                          </m:ctrlPr>
                        </m:fPr>
                        <m:num>
                          <m:r>
                            <a:rPr lang="pl-PL" i="1">
                              <a:solidFill>
                                <a:srgbClr val="000000"/>
                              </a:solidFill>
                              <a:latin typeface="Cambria Math" panose="02040503050406030204" pitchFamily="18" charset="0"/>
                              <a:cs typeface="Calibri" panose="020F0502020204030204" pitchFamily="34" charset="0"/>
                            </a:rPr>
                            <m:t>𝑇𝑃</m:t>
                          </m:r>
                          <m:r>
                            <a:rPr lang="pl-PL" b="0" i="1" smtClean="0">
                              <a:solidFill>
                                <a:srgbClr val="000000"/>
                              </a:solidFill>
                              <a:latin typeface="Cambria Math" panose="02040503050406030204" pitchFamily="18" charset="0"/>
                              <a:cs typeface="Calibri" panose="020F0502020204030204" pitchFamily="34" charset="0"/>
                            </a:rPr>
                            <m:t>+</m:t>
                          </m:r>
                          <m:r>
                            <a:rPr lang="pl-PL" b="0" i="1" smtClean="0">
                              <a:solidFill>
                                <a:srgbClr val="000000"/>
                              </a:solidFill>
                              <a:latin typeface="Cambria Math" panose="02040503050406030204" pitchFamily="18" charset="0"/>
                              <a:cs typeface="Calibri" panose="020F0502020204030204" pitchFamily="34" charset="0"/>
                            </a:rPr>
                            <m:t>𝑇𝑁</m:t>
                          </m:r>
                        </m:num>
                        <m:den>
                          <m:r>
                            <a:rPr lang="pl-PL" i="1">
                              <a:solidFill>
                                <a:srgbClr val="000000"/>
                              </a:solidFill>
                              <a:latin typeface="Cambria Math" panose="02040503050406030204" pitchFamily="18" charset="0"/>
                              <a:cs typeface="Calibri" panose="020F0502020204030204" pitchFamily="34" charset="0"/>
                            </a:rPr>
                            <m:t>𝑇𝑃</m:t>
                          </m:r>
                          <m:r>
                            <a:rPr lang="pl-PL" i="1">
                              <a:solidFill>
                                <a:srgbClr val="000000"/>
                              </a:solidFill>
                              <a:latin typeface="Cambria Math" panose="02040503050406030204" pitchFamily="18" charset="0"/>
                              <a:cs typeface="Calibri" panose="020F0502020204030204" pitchFamily="34" charset="0"/>
                            </a:rPr>
                            <m:t>+</m:t>
                          </m:r>
                          <m:r>
                            <a:rPr lang="pl-PL" b="0" i="1" smtClean="0">
                              <a:solidFill>
                                <a:srgbClr val="000000"/>
                              </a:solidFill>
                              <a:latin typeface="Cambria Math" panose="02040503050406030204" pitchFamily="18" charset="0"/>
                              <a:cs typeface="Calibri" panose="020F0502020204030204" pitchFamily="34" charset="0"/>
                            </a:rPr>
                            <m:t>𝑇𝑁</m:t>
                          </m:r>
                          <m:r>
                            <a:rPr lang="pl-PL" b="0" i="1" smtClean="0">
                              <a:solidFill>
                                <a:srgbClr val="000000"/>
                              </a:solidFill>
                              <a:latin typeface="Cambria Math" panose="02040503050406030204" pitchFamily="18" charset="0"/>
                              <a:cs typeface="Calibri" panose="020F0502020204030204" pitchFamily="34" charset="0"/>
                            </a:rPr>
                            <m:t>+</m:t>
                          </m:r>
                          <m:r>
                            <a:rPr lang="pl-PL" b="0" i="1" smtClean="0">
                              <a:solidFill>
                                <a:srgbClr val="000000"/>
                              </a:solidFill>
                              <a:latin typeface="Cambria Math" panose="02040503050406030204" pitchFamily="18" charset="0"/>
                              <a:cs typeface="Calibri" panose="020F0502020204030204" pitchFamily="34" charset="0"/>
                            </a:rPr>
                            <m:t>𝐹𝑃</m:t>
                          </m:r>
                          <m:r>
                            <a:rPr lang="pl-PL" b="0" i="1" smtClean="0">
                              <a:solidFill>
                                <a:srgbClr val="000000"/>
                              </a:solidFill>
                              <a:latin typeface="Cambria Math" panose="02040503050406030204" pitchFamily="18" charset="0"/>
                              <a:cs typeface="Calibri" panose="020F0502020204030204" pitchFamily="34" charset="0"/>
                            </a:rPr>
                            <m:t>+</m:t>
                          </m:r>
                          <m:r>
                            <a:rPr lang="pl-PL" i="1">
                              <a:solidFill>
                                <a:srgbClr val="000000"/>
                              </a:solidFill>
                              <a:latin typeface="Cambria Math" panose="02040503050406030204" pitchFamily="18" charset="0"/>
                              <a:cs typeface="Calibri" panose="020F0502020204030204" pitchFamily="34" charset="0"/>
                            </a:rPr>
                            <m:t>𝐹𝑁</m:t>
                          </m:r>
                        </m:den>
                      </m:f>
                    </m:oMath>
                  </m:oMathPara>
                </a14:m>
                <a:endParaRPr lang="pl-PL" sz="2000" dirty="0">
                  <a:solidFill>
                    <a:srgbClr val="000000"/>
                  </a:solidFill>
                  <a:latin typeface="Arial Narrow" panose="020B0606020202030204" pitchFamily="34" charset="0"/>
                  <a:cs typeface="Calibri" panose="020F0502020204030204" pitchFamily="34" charset="0"/>
                </a:endParaRPr>
              </a:p>
            </p:txBody>
          </p:sp>
        </mc:Choice>
        <mc:Fallback xmlns="">
          <p:sp>
            <p:nvSpPr>
              <p:cNvPr id="7" name="Prostokąt 4"/>
              <p:cNvSpPr>
                <a:spLocks noRot="1" noChangeAspect="1" noMove="1" noResize="1" noEditPoints="1" noAdjustHandles="1" noChangeArrowheads="1" noChangeShapeType="1" noTextEdit="1"/>
              </p:cNvSpPr>
              <p:nvPr/>
            </p:nvSpPr>
            <p:spPr>
              <a:xfrm>
                <a:off x="76200" y="3200400"/>
                <a:ext cx="2209800" cy="3203121"/>
              </a:xfrm>
              <a:prstGeom prst="rect">
                <a:avLst/>
              </a:prstGeom>
              <a:blipFill>
                <a:blip r:embed="rId2"/>
                <a:stretch>
                  <a:fillRect l="-3039" t="-952"/>
                </a:stretch>
              </a:blipFill>
            </p:spPr>
            <p:txBody>
              <a:bodyPr/>
              <a:lstStyle/>
              <a:p>
                <a:r>
                  <a:rPr lang="en-GB">
                    <a:noFill/>
                  </a:rPr>
                  <a:t> </a:t>
                </a:r>
              </a:p>
            </p:txBody>
          </p:sp>
        </mc:Fallback>
      </mc:AlternateContent>
      <p:sp>
        <p:nvSpPr>
          <p:cNvPr id="8" name="Prostokąt 4"/>
          <p:cNvSpPr/>
          <p:nvPr/>
        </p:nvSpPr>
        <p:spPr>
          <a:xfrm>
            <a:off x="4626428" y="3236655"/>
            <a:ext cx="4441371" cy="2554545"/>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Odpowiedzi:</a:t>
            </a:r>
          </a:p>
          <a:p>
            <a:r>
              <a:rPr lang="pl-PL" sz="2000" dirty="0">
                <a:solidFill>
                  <a:srgbClr val="000000"/>
                </a:solidFill>
                <a:latin typeface="Arial Narrow" panose="020B0606020202030204" pitchFamily="34" charset="0"/>
                <a:cs typeface="Calibri" panose="020F0502020204030204" pitchFamily="34" charset="0"/>
              </a:rPr>
              <a:t>Błędnie sklasyfikowane zostały trzy osoby.</a:t>
            </a:r>
          </a:p>
          <a:p>
            <a:r>
              <a:rPr lang="pl-PL" sz="2000" dirty="0">
                <a:solidFill>
                  <a:srgbClr val="000000"/>
                </a:solidFill>
                <a:latin typeface="Arial Narrow" panose="020B0606020202030204" pitchFamily="34" charset="0"/>
                <a:cs typeface="Calibri" panose="020F0502020204030204" pitchFamily="34" charset="0"/>
              </a:rPr>
              <a:t>Najlepsza okazała się miara czułości.</a:t>
            </a:r>
          </a:p>
          <a:p>
            <a:endParaRPr lang="pl-PL" sz="2000" dirty="0">
              <a:solidFill>
                <a:srgbClr val="000000"/>
              </a:solidFill>
              <a:latin typeface="Arial Narrow" panose="020B0606020202030204" pitchFamily="34" charset="0"/>
              <a:cs typeface="Calibri" panose="020F0502020204030204" pitchFamily="34" charset="0"/>
            </a:endParaRPr>
          </a:p>
          <a:p>
            <a:r>
              <a:rPr lang="pl-PL" sz="2000" dirty="0">
                <a:solidFill>
                  <a:srgbClr val="FF0000"/>
                </a:solidFill>
                <a:latin typeface="Arial Narrow" panose="020B0606020202030204" pitchFamily="34" charset="0"/>
                <a:cs typeface="Calibri" panose="020F0502020204030204" pitchFamily="34" charset="0"/>
              </a:rPr>
              <a:t>W tym zadaniu najbardziej niebezpieczna jest sytuacja zakwalifikowania osoby chorej jako zdrowej, więc należałoby dążyć do maksymalizacji miary </a:t>
            </a:r>
            <a:r>
              <a:rPr lang="pl-PL" sz="2000">
                <a:solidFill>
                  <a:srgbClr val="FF0000"/>
                </a:solidFill>
                <a:latin typeface="Arial Narrow" panose="020B0606020202030204" pitchFamily="34" charset="0"/>
                <a:cs typeface="Calibri" panose="020F0502020204030204" pitchFamily="34" charset="0"/>
              </a:rPr>
              <a:t>precyzji.</a:t>
            </a:r>
            <a:endParaRPr lang="pl-PL" sz="2000" dirty="0">
              <a:solidFill>
                <a:srgbClr val="FF0000"/>
              </a:solidFill>
              <a:latin typeface="Arial Narrow" panose="020B0606020202030204" pitchFamily="34" charset="0"/>
              <a:cs typeface="Calibri" panose="020F050202020403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4098309479"/>
              </p:ext>
            </p:extLst>
          </p:nvPr>
        </p:nvGraphicFramePr>
        <p:xfrm>
          <a:off x="914400" y="1513005"/>
          <a:ext cx="6553200" cy="146304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4122329909"/>
                    </a:ext>
                  </a:extLst>
                </a:gridCol>
                <a:gridCol w="685800">
                  <a:extLst>
                    <a:ext uri="{9D8B030D-6E8A-4147-A177-3AD203B41FA5}">
                      <a16:colId xmlns:a16="http://schemas.microsoft.com/office/drawing/2014/main" val="3468402247"/>
                    </a:ext>
                  </a:extLst>
                </a:gridCol>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60000">
                <a:tc>
                  <a:txBody>
                    <a:bodyPr/>
                    <a:lstStyle/>
                    <a:p>
                      <a:pPr algn="ctr"/>
                      <a:endParaRPr lang="en-US" dirty="0">
                        <a:latin typeface="Arial Narrow" panose="020B0606020202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Arial Narrow" panose="020B0606020202030204" pitchFamily="34" charset="0"/>
                      </a:endParaRPr>
                    </a:p>
                  </a:txBody>
                  <a:tcPr>
                    <a:lnL w="12700" cmpd="sng">
                      <a:noFill/>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a:r>
                        <a:rPr lang="pl-PL">
                          <a:latin typeface="Arial Narrow" panose="020B0606020202030204" pitchFamily="34" charset="0"/>
                        </a:rPr>
                        <a:t>Wartość przewidywana</a:t>
                      </a:r>
                      <a:endParaRPr lang="en-US" dirty="0">
                        <a:latin typeface="Arial Narrow" panose="020B0606020202030204" pitchFamily="34" charset="0"/>
                      </a:endParaRPr>
                    </a:p>
                  </a:txBody>
                  <a:tcPr/>
                </a:tc>
                <a:tc hMerge="1">
                  <a:txBody>
                    <a:bodyPr/>
                    <a:lstStyle/>
                    <a:p>
                      <a:endParaRPr lang="en-US"/>
                    </a:p>
                  </a:txBody>
                  <a:tcPr/>
                </a:tc>
                <a:extLst>
                  <a:ext uri="{0D108BD9-81ED-4DB2-BD59-A6C34878D82A}">
                    <a16:rowId xmlns:a16="http://schemas.microsoft.com/office/drawing/2014/main" val="282917250"/>
                  </a:ext>
                </a:extLst>
              </a:tr>
              <a:tr h="360000">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a:endParaRPr lang="en-US" dirty="0">
                        <a:latin typeface="Arial Narrow" panose="020B0606020202030204" pitchFamily="34" charset="0"/>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pl-PL" dirty="0">
                          <a:latin typeface="Arial Narrow" panose="020B0606020202030204" pitchFamily="34" charset="0"/>
                        </a:rPr>
                        <a:t>Z</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Ch</a:t>
                      </a:r>
                      <a:endParaRPr lang="en-US" dirty="0">
                        <a:latin typeface="Arial Narrow" panose="020B0606020202030204" pitchFamily="34" charset="0"/>
                      </a:endParaRPr>
                    </a:p>
                  </a:txBody>
                  <a:tcPr/>
                </a:tc>
                <a:extLst>
                  <a:ext uri="{0D108BD9-81ED-4DB2-BD59-A6C34878D82A}">
                    <a16:rowId xmlns:a16="http://schemas.microsoft.com/office/drawing/2014/main" val="2242066169"/>
                  </a:ext>
                </a:extLst>
              </a:tr>
              <a:tr h="360000">
                <a:tc rowSpan="2">
                  <a:txBody>
                    <a:bodyPr/>
                    <a:lstStyle/>
                    <a:p>
                      <a:pPr algn="ctr"/>
                      <a:r>
                        <a:rPr lang="pl-PL">
                          <a:latin typeface="Arial Narrow" panose="020B0606020202030204" pitchFamily="34" charset="0"/>
                        </a:rPr>
                        <a:t>Wartość rzeczywista</a:t>
                      </a:r>
                      <a:endParaRPr lang="en-US" dirty="0">
                        <a:latin typeface="Arial Narrow" panose="020B0606020202030204" pitchFamily="34" charset="0"/>
                      </a:endParaRPr>
                    </a:p>
                  </a:txBody>
                  <a:tcPr/>
                </a:tc>
                <a:tc>
                  <a:txBody>
                    <a:bodyPr/>
                    <a:lstStyle/>
                    <a:p>
                      <a:pPr algn="ctr"/>
                      <a:r>
                        <a:rPr lang="pl-PL" dirty="0">
                          <a:latin typeface="Arial Narrow" panose="020B0606020202030204" pitchFamily="34" charset="0"/>
                        </a:rPr>
                        <a:t>Z</a:t>
                      </a: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tc>
                  <a:txBody>
                    <a:bodyPr/>
                    <a:lstStyle/>
                    <a:p>
                      <a:pPr algn="ctr"/>
                      <a:endParaRPr lang="en-US" b="1" dirty="0">
                        <a:latin typeface="Arial Narrow" panose="020B0606020202030204" pitchFamily="34" charset="0"/>
                      </a:endParaRPr>
                    </a:p>
                  </a:txBody>
                  <a:tcPr/>
                </a:tc>
                <a:extLst>
                  <a:ext uri="{0D108BD9-81ED-4DB2-BD59-A6C34878D82A}">
                    <a16:rowId xmlns:a16="http://schemas.microsoft.com/office/drawing/2014/main" val="1675270064"/>
                  </a:ext>
                </a:extLst>
              </a:tr>
              <a:tr h="360000">
                <a:tc vMerge="1">
                  <a:txBody>
                    <a:bodyPr/>
                    <a:lstStyle/>
                    <a:p>
                      <a:pPr algn="ctr"/>
                      <a:endParaRPr lang="en-US">
                        <a:latin typeface="Arial Narrow" panose="020B0606020202030204" pitchFamily="34" charset="0"/>
                      </a:endParaRPr>
                    </a:p>
                  </a:txBody>
                  <a:tcPr/>
                </a:tc>
                <a:tc>
                  <a:txBody>
                    <a:bodyPr/>
                    <a:lstStyle/>
                    <a:p>
                      <a:pPr algn="ctr"/>
                      <a:r>
                        <a:rPr lang="pl-PL" dirty="0">
                          <a:latin typeface="Arial Narrow" panose="020B0606020202030204" pitchFamily="34" charset="0"/>
                        </a:rPr>
                        <a:t>Ch</a:t>
                      </a: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tc>
                  <a:txBody>
                    <a:bodyPr/>
                    <a:lstStyle/>
                    <a:p>
                      <a:pPr algn="ct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033102275"/>
              </p:ext>
            </p:extLst>
          </p:nvPr>
        </p:nvGraphicFramePr>
        <p:xfrm>
          <a:off x="3429000" y="2240715"/>
          <a:ext cx="4038600" cy="731520"/>
        </p:xfrm>
        <a:graphic>
          <a:graphicData uri="http://schemas.openxmlformats.org/drawingml/2006/table">
            <a:tbl>
              <a:tblPr firstRow="1" bandRow="1">
                <a:tableStyleId>{5940675A-B579-460E-94D1-54222C63F5DA}</a:tableStyleId>
              </a:tblPr>
              <a:tblGrid>
                <a:gridCol w="1880839">
                  <a:extLst>
                    <a:ext uri="{9D8B030D-6E8A-4147-A177-3AD203B41FA5}">
                      <a16:colId xmlns:a16="http://schemas.microsoft.com/office/drawing/2014/main" val="3268778734"/>
                    </a:ext>
                  </a:extLst>
                </a:gridCol>
                <a:gridCol w="2157761">
                  <a:extLst>
                    <a:ext uri="{9D8B030D-6E8A-4147-A177-3AD203B41FA5}">
                      <a16:colId xmlns:a16="http://schemas.microsoft.com/office/drawing/2014/main" val="3237405268"/>
                    </a:ext>
                  </a:extLst>
                </a:gridCol>
              </a:tblGrid>
              <a:tr h="360000">
                <a:tc>
                  <a:txBody>
                    <a:bodyPr/>
                    <a:lstStyle/>
                    <a:p>
                      <a:pPr algn="ctr"/>
                      <a:r>
                        <a:rPr lang="pl-PL" dirty="0">
                          <a:latin typeface="Arial Narrow" panose="020B0606020202030204" pitchFamily="34" charset="0"/>
                        </a:rPr>
                        <a:t>22 (TP)</a:t>
                      </a:r>
                      <a:endParaRPr lang="en-US" dirty="0">
                        <a:latin typeface="Arial Narrow" panose="020B0606020202030204" pitchFamily="34" charset="0"/>
                      </a:endParaRPr>
                    </a:p>
                  </a:txBody>
                  <a:tcPr/>
                </a:tc>
                <a:tc>
                  <a:txBody>
                    <a:bodyPr/>
                    <a:lstStyle/>
                    <a:p>
                      <a:pPr algn="ctr"/>
                      <a:r>
                        <a:rPr lang="pl-PL" b="1" dirty="0">
                          <a:solidFill>
                            <a:schemeClr val="tx1"/>
                          </a:solidFill>
                          <a:latin typeface="Arial Narrow" panose="020B0606020202030204" pitchFamily="34" charset="0"/>
                        </a:rPr>
                        <a:t>1</a:t>
                      </a:r>
                      <a:r>
                        <a:rPr lang="pl-PL" b="1">
                          <a:solidFill>
                            <a:schemeClr val="tx1"/>
                          </a:solidFill>
                          <a:latin typeface="Arial Narrow" panose="020B0606020202030204" pitchFamily="34" charset="0"/>
                        </a:rPr>
                        <a:t> (FN)</a:t>
                      </a:r>
                      <a:endParaRPr lang="en-US" b="1" dirty="0">
                        <a:solidFill>
                          <a:schemeClr val="tx1"/>
                        </a:solidFill>
                        <a:latin typeface="Arial Narrow" panose="020B0606020202030204" pitchFamily="34" charset="0"/>
                      </a:endParaRPr>
                    </a:p>
                  </a:txBody>
                  <a:tcPr/>
                </a:tc>
                <a:extLst>
                  <a:ext uri="{0D108BD9-81ED-4DB2-BD59-A6C34878D82A}">
                    <a16:rowId xmlns:a16="http://schemas.microsoft.com/office/drawing/2014/main" val="1675270064"/>
                  </a:ext>
                </a:extLst>
              </a:tr>
              <a:tr h="360000">
                <a:tc>
                  <a:txBody>
                    <a:bodyPr/>
                    <a:lstStyle/>
                    <a:p>
                      <a:pPr algn="ctr"/>
                      <a:r>
                        <a:rPr lang="pl-PL" b="1" dirty="0">
                          <a:latin typeface="Arial Narrow" panose="020B0606020202030204" pitchFamily="34" charset="0"/>
                        </a:rPr>
                        <a:t>2</a:t>
                      </a:r>
                      <a:r>
                        <a:rPr lang="pl-PL" b="1">
                          <a:latin typeface="Arial Narrow" panose="020B0606020202030204" pitchFamily="34" charset="0"/>
                        </a:rPr>
                        <a:t> (FP)</a:t>
                      </a:r>
                      <a:endParaRPr lang="en-US" b="1" dirty="0">
                        <a:latin typeface="Arial Narrow" panose="020B0606020202030204" pitchFamily="34" charset="0"/>
                      </a:endParaRPr>
                    </a:p>
                  </a:txBody>
                  <a:tcPr/>
                </a:tc>
                <a:tc>
                  <a:txBody>
                    <a:bodyPr/>
                    <a:lstStyle/>
                    <a:p>
                      <a:pPr algn="ctr"/>
                      <a:r>
                        <a:rPr lang="pl-PL" dirty="0">
                          <a:latin typeface="Arial Narrow" panose="020B0606020202030204" pitchFamily="34" charset="0"/>
                        </a:rPr>
                        <a:t>5 (TN)</a:t>
                      </a:r>
                      <a:endParaRPr lang="en-US" dirty="0">
                        <a:latin typeface="Arial Narrow" panose="020B0606020202030204" pitchFamily="34" charset="0"/>
                      </a:endParaRPr>
                    </a:p>
                  </a:txBody>
                  <a:tcPr/>
                </a:tc>
                <a:extLst>
                  <a:ext uri="{0D108BD9-81ED-4DB2-BD59-A6C34878D82A}">
                    <a16:rowId xmlns:a16="http://schemas.microsoft.com/office/drawing/2014/main" val="1013896689"/>
                  </a:ext>
                </a:extLst>
              </a:tr>
            </a:tbl>
          </a:graphicData>
        </a:graphic>
      </p:graphicFrame>
      <mc:AlternateContent xmlns:mc="http://schemas.openxmlformats.org/markup-compatibility/2006" xmlns:a14="http://schemas.microsoft.com/office/drawing/2010/main">
        <mc:Choice Requires="a14">
          <p:sp>
            <p:nvSpPr>
              <p:cNvPr id="9" name="Prostokąt 4"/>
              <p:cNvSpPr/>
              <p:nvPr/>
            </p:nvSpPr>
            <p:spPr>
              <a:xfrm>
                <a:off x="2269503" y="3581400"/>
                <a:ext cx="2133600" cy="2840136"/>
              </a:xfrm>
              <a:prstGeom prst="rect">
                <a:avLst/>
              </a:prstGeom>
            </p:spPr>
            <p:txBody>
              <a:bodyPr wrap="square">
                <a:spAutoFit/>
              </a:bodyPr>
              <a:lstStyle/>
              <a:p>
                <a14:m>
                  <m:oMath xmlns:m="http://schemas.openxmlformats.org/officeDocument/2006/math">
                    <m:f>
                      <m:fPr>
                        <m:ctrlPr>
                          <a:rPr lang="pl-PL" sz="2400" i="1">
                            <a:solidFill>
                              <a:srgbClr val="000000"/>
                            </a:solidFill>
                            <a:latin typeface="Cambria Math" panose="02040503050406030204" pitchFamily="18" charset="0"/>
                            <a:cs typeface="Calibri" panose="020F0502020204030204" pitchFamily="34" charset="0"/>
                          </a:rPr>
                        </m:ctrlPr>
                      </m:fPr>
                      <m:num>
                        <m:r>
                          <a:rPr lang="pl-PL" sz="2400" b="0" i="1" smtClean="0">
                            <a:solidFill>
                              <a:srgbClr val="000000"/>
                            </a:solidFill>
                            <a:latin typeface="Cambria Math" panose="02040503050406030204" pitchFamily="18" charset="0"/>
                            <a:cs typeface="Calibri" panose="020F0502020204030204" pitchFamily="34" charset="0"/>
                          </a:rPr>
                          <m:t>22</m:t>
                        </m:r>
                      </m:num>
                      <m:den>
                        <m:r>
                          <a:rPr lang="pl-PL" sz="2400" b="0" i="1" smtClean="0">
                            <a:solidFill>
                              <a:srgbClr val="000000"/>
                            </a:solidFill>
                            <a:latin typeface="Cambria Math" panose="02040503050406030204" pitchFamily="18" charset="0"/>
                            <a:cs typeface="Calibri" panose="020F0502020204030204" pitchFamily="34" charset="0"/>
                          </a:rPr>
                          <m:t>22</m:t>
                        </m:r>
                        <m:r>
                          <a:rPr lang="pl-PL" sz="2400" i="1">
                            <a:solidFill>
                              <a:srgbClr val="000000"/>
                            </a:solidFill>
                            <a:latin typeface="Cambria Math" panose="02040503050406030204" pitchFamily="18" charset="0"/>
                            <a:cs typeface="Calibri" panose="020F0502020204030204" pitchFamily="34" charset="0"/>
                          </a:rPr>
                          <m:t>+</m:t>
                        </m:r>
                        <m:r>
                          <a:rPr lang="pl-PL" sz="2400" b="0" i="1" smtClean="0">
                            <a:solidFill>
                              <a:srgbClr val="000000"/>
                            </a:solidFill>
                            <a:latin typeface="Cambria Math" panose="02040503050406030204" pitchFamily="18" charset="0"/>
                            <a:cs typeface="Calibri" panose="020F0502020204030204" pitchFamily="34" charset="0"/>
                          </a:rPr>
                          <m:t>2</m:t>
                        </m:r>
                      </m:den>
                    </m:f>
                    <m:r>
                      <a:rPr lang="pl-PL" sz="2400" b="0" i="1" smtClean="0">
                        <a:solidFill>
                          <a:srgbClr val="000000"/>
                        </a:solidFill>
                        <a:latin typeface="Cambria Math" panose="02040503050406030204" pitchFamily="18" charset="0"/>
                        <a:cs typeface="Calibri" panose="020F0502020204030204" pitchFamily="34" charset="0"/>
                      </a:rPr>
                      <m:t>= </m:t>
                    </m:r>
                  </m:oMath>
                </a14:m>
                <a:r>
                  <a:rPr lang="pl-PL" sz="2000" dirty="0">
                    <a:solidFill>
                      <a:srgbClr val="000000"/>
                    </a:solidFill>
                    <a:latin typeface="Arial Narrow" panose="020B0606020202030204" pitchFamily="34" charset="0"/>
                    <a:cs typeface="Calibri" panose="020F0502020204030204" pitchFamily="34" charset="0"/>
                  </a:rPr>
                  <a:t>0,92</a:t>
                </a:r>
              </a:p>
              <a:p>
                <a:endParaRPr lang="pl-PL" sz="2000" dirty="0">
                  <a:solidFill>
                    <a:srgbClr val="000000"/>
                  </a:solidFill>
                  <a:latin typeface="Arial Narrow" panose="020B0606020202030204" pitchFamily="34" charset="0"/>
                  <a:cs typeface="Calibri" panose="020F0502020204030204" pitchFamily="34" charset="0"/>
                </a:endParaRPr>
              </a:p>
              <a:p>
                <a:endParaRPr lang="pl-PL" sz="1600" dirty="0">
                  <a:solidFill>
                    <a:srgbClr val="000000"/>
                  </a:solidFill>
                  <a:latin typeface="Arial Narrow" panose="020B0606020202030204" pitchFamily="34" charset="0"/>
                  <a:cs typeface="Calibri" panose="020F0502020204030204" pitchFamily="34" charset="0"/>
                </a:endParaRPr>
              </a:p>
              <a:p>
                <a14:m>
                  <m:oMath xmlns:m="http://schemas.openxmlformats.org/officeDocument/2006/math">
                    <m:f>
                      <m:fPr>
                        <m:ctrlPr>
                          <a:rPr lang="pl-PL" sz="2400" i="1">
                            <a:solidFill>
                              <a:srgbClr val="000000"/>
                            </a:solidFill>
                            <a:latin typeface="Cambria Math" panose="02040503050406030204" pitchFamily="18" charset="0"/>
                            <a:cs typeface="Calibri" panose="020F0502020204030204" pitchFamily="34" charset="0"/>
                          </a:rPr>
                        </m:ctrlPr>
                      </m:fPr>
                      <m:num>
                        <m:r>
                          <a:rPr lang="pl-PL" sz="2400" b="0" i="1" smtClean="0">
                            <a:solidFill>
                              <a:srgbClr val="000000"/>
                            </a:solidFill>
                            <a:latin typeface="Cambria Math" panose="02040503050406030204" pitchFamily="18" charset="0"/>
                            <a:cs typeface="Calibri" panose="020F0502020204030204" pitchFamily="34" charset="0"/>
                          </a:rPr>
                          <m:t>22</m:t>
                        </m:r>
                      </m:num>
                      <m:den>
                        <m:r>
                          <a:rPr lang="pl-PL" sz="2400" b="0" i="1" smtClean="0">
                            <a:solidFill>
                              <a:srgbClr val="000000"/>
                            </a:solidFill>
                            <a:latin typeface="Cambria Math" panose="02040503050406030204" pitchFamily="18" charset="0"/>
                            <a:cs typeface="Calibri" panose="020F0502020204030204" pitchFamily="34" charset="0"/>
                          </a:rPr>
                          <m:t>22</m:t>
                        </m:r>
                        <m:r>
                          <a:rPr lang="pl-PL" sz="2400" i="1">
                            <a:solidFill>
                              <a:srgbClr val="000000"/>
                            </a:solidFill>
                            <a:latin typeface="Cambria Math" panose="02040503050406030204" pitchFamily="18" charset="0"/>
                            <a:cs typeface="Calibri" panose="020F0502020204030204" pitchFamily="34" charset="0"/>
                          </a:rPr>
                          <m:t>+</m:t>
                        </m:r>
                        <m:r>
                          <a:rPr lang="pl-PL" sz="2400" b="0" i="1" smtClean="0">
                            <a:solidFill>
                              <a:srgbClr val="000000"/>
                            </a:solidFill>
                            <a:latin typeface="Cambria Math" panose="02040503050406030204" pitchFamily="18" charset="0"/>
                            <a:cs typeface="Calibri" panose="020F0502020204030204" pitchFamily="34" charset="0"/>
                          </a:rPr>
                          <m:t>1</m:t>
                        </m:r>
                      </m:den>
                    </m:f>
                    <m:r>
                      <a:rPr lang="pl-PL" sz="2400" b="0" i="1" smtClean="0">
                        <a:solidFill>
                          <a:srgbClr val="000000"/>
                        </a:solidFill>
                        <a:latin typeface="Cambria Math" panose="02040503050406030204" pitchFamily="18" charset="0"/>
                        <a:cs typeface="Calibri" panose="020F0502020204030204" pitchFamily="34" charset="0"/>
                      </a:rPr>
                      <m:t>= </m:t>
                    </m:r>
                  </m:oMath>
                </a14:m>
                <a:r>
                  <a:rPr lang="pl-PL" sz="2000" dirty="0">
                    <a:solidFill>
                      <a:srgbClr val="000000"/>
                    </a:solidFill>
                    <a:latin typeface="Arial Narrow" panose="020B0606020202030204" pitchFamily="34" charset="0"/>
                    <a:cs typeface="Calibri" panose="020F0502020204030204" pitchFamily="34" charset="0"/>
                  </a:rPr>
                  <a:t>0,96</a:t>
                </a:r>
              </a:p>
              <a:p>
                <a:endParaRPr lang="pl-PL" sz="1600" dirty="0">
                  <a:solidFill>
                    <a:srgbClr val="000000"/>
                  </a:solidFill>
                  <a:latin typeface="Arial Narrow" panose="020B0606020202030204" pitchFamily="34" charset="0"/>
                  <a:cs typeface="Calibri" panose="020F0502020204030204" pitchFamily="34" charset="0"/>
                </a:endParaRPr>
              </a:p>
              <a:p>
                <a:endParaRPr lang="pl-PL" sz="2400" i="1" dirty="0">
                  <a:solidFill>
                    <a:srgbClr val="000000"/>
                  </a:solidFill>
                  <a:latin typeface="Cambria Math" panose="02040503050406030204" pitchFamily="18" charset="0"/>
                  <a:cs typeface="Calibri" panose="020F0502020204030204" pitchFamily="34" charset="0"/>
                </a:endParaRPr>
              </a:p>
              <a:p>
                <a14:m>
                  <m:oMath xmlns:m="http://schemas.openxmlformats.org/officeDocument/2006/math">
                    <m:f>
                      <m:fPr>
                        <m:ctrlPr>
                          <a:rPr lang="pl-PL" sz="2400" i="1">
                            <a:solidFill>
                              <a:srgbClr val="000000"/>
                            </a:solidFill>
                            <a:latin typeface="Cambria Math" panose="02040503050406030204" pitchFamily="18" charset="0"/>
                            <a:cs typeface="Calibri" panose="020F0502020204030204" pitchFamily="34" charset="0"/>
                          </a:rPr>
                        </m:ctrlPr>
                      </m:fPr>
                      <m:num>
                        <m:r>
                          <a:rPr lang="pl-PL" sz="2400" b="0" i="1" smtClean="0">
                            <a:solidFill>
                              <a:srgbClr val="000000"/>
                            </a:solidFill>
                            <a:latin typeface="Cambria Math" panose="02040503050406030204" pitchFamily="18" charset="0"/>
                            <a:cs typeface="Calibri" panose="020F0502020204030204" pitchFamily="34" charset="0"/>
                          </a:rPr>
                          <m:t>22+5</m:t>
                        </m:r>
                      </m:num>
                      <m:den>
                        <m:r>
                          <a:rPr lang="pl-PL" sz="2400" b="0" i="1" smtClean="0">
                            <a:solidFill>
                              <a:srgbClr val="000000"/>
                            </a:solidFill>
                            <a:latin typeface="Cambria Math" panose="02040503050406030204" pitchFamily="18" charset="0"/>
                            <a:cs typeface="Calibri" panose="020F0502020204030204" pitchFamily="34" charset="0"/>
                          </a:rPr>
                          <m:t>22+5+2+1</m:t>
                        </m:r>
                      </m:den>
                    </m:f>
                    <m:r>
                      <a:rPr lang="pl-PL" sz="2400" b="0" i="1" smtClean="0">
                        <a:solidFill>
                          <a:srgbClr val="000000"/>
                        </a:solidFill>
                        <a:latin typeface="Cambria Math" panose="02040503050406030204" pitchFamily="18" charset="0"/>
                        <a:cs typeface="Calibri" panose="020F0502020204030204" pitchFamily="34" charset="0"/>
                      </a:rPr>
                      <m:t>= </m:t>
                    </m:r>
                  </m:oMath>
                </a14:m>
                <a:r>
                  <a:rPr lang="pl-PL" sz="2000" dirty="0">
                    <a:solidFill>
                      <a:srgbClr val="000000"/>
                    </a:solidFill>
                    <a:latin typeface="Arial Narrow" panose="020B0606020202030204" pitchFamily="34" charset="0"/>
                    <a:cs typeface="Calibri" panose="020F0502020204030204" pitchFamily="34" charset="0"/>
                  </a:rPr>
                  <a:t>0,90</a:t>
                </a:r>
              </a:p>
            </p:txBody>
          </p:sp>
        </mc:Choice>
        <mc:Fallback xmlns="">
          <p:sp>
            <p:nvSpPr>
              <p:cNvPr id="9" name="Prostokąt 4"/>
              <p:cNvSpPr>
                <a:spLocks noRot="1" noChangeAspect="1" noMove="1" noResize="1" noEditPoints="1" noAdjustHandles="1" noChangeArrowheads="1" noChangeShapeType="1" noTextEdit="1"/>
              </p:cNvSpPr>
              <p:nvPr/>
            </p:nvSpPr>
            <p:spPr>
              <a:xfrm>
                <a:off x="2269503" y="3581400"/>
                <a:ext cx="2133600" cy="2840136"/>
              </a:xfrm>
              <a:prstGeom prst="rect">
                <a:avLst/>
              </a:prstGeom>
              <a:blipFill>
                <a:blip r:embed="rId3"/>
                <a:stretch>
                  <a:fillRect r="-1429"/>
                </a:stretch>
              </a:blipFill>
            </p:spPr>
            <p:txBody>
              <a:bodyPr/>
              <a:lstStyle/>
              <a:p>
                <a:r>
                  <a:rPr lang="pl-PL">
                    <a:noFill/>
                  </a:rPr>
                  <a:t> </a:t>
                </a:r>
              </a:p>
            </p:txBody>
          </p:sp>
        </mc:Fallback>
      </mc:AlternateContent>
      <p:sp>
        <p:nvSpPr>
          <p:cNvPr id="12"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Metody </a:t>
            </a:r>
            <a:r>
              <a:rPr lang="pl-PL" sz="1600" dirty="0">
                <a:latin typeface="Arial" pitchFamily="34" charset="0"/>
                <a:ea typeface="+mj-lt"/>
                <a:cs typeface="Arial" pitchFamily="34" charset="0"/>
              </a:rPr>
              <a:t>e</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waluacji modeli</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2" name="Owal 1"/>
          <p:cNvSpPr/>
          <p:nvPr/>
        </p:nvSpPr>
        <p:spPr>
          <a:xfrm>
            <a:off x="3886200" y="2525110"/>
            <a:ext cx="914400" cy="5334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69928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p:cTn id="11"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 calcmode="lin" valueType="num">
                                      <p:cBhvr>
                                        <p:cTn id="18"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8">
                                            <p:txEl>
                                              <p:pRg st="1" end="1"/>
                                            </p:txEl>
                                          </p:spTgt>
                                        </p:tgtEl>
                                      </p:cBhvr>
                                    </p:animEffect>
                                  </p:childTnLst>
                                </p:cTn>
                              </p:par>
                              <p:par>
                                <p:cTn id="21" presetID="53" presetClass="entr" presetSubtype="16"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 calcmode="lin" valueType="num">
                                      <p:cBhvr>
                                        <p:cTn id="23"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8">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8">
                                            <p:txEl>
                                              <p:pRg st="4" end="4"/>
                                            </p:txEl>
                                          </p:spTgt>
                                        </p:tgtEl>
                                        <p:attrNameLst>
                                          <p:attrName>style.visibility</p:attrName>
                                        </p:attrNameLst>
                                      </p:cBhvr>
                                      <p:to>
                                        <p:strVal val="visible"/>
                                      </p:to>
                                    </p:set>
                                    <p:anim calcmode="lin" valueType="num">
                                      <p:cBhvr>
                                        <p:cTn id="30" dur="500" fill="hold"/>
                                        <p:tgtEl>
                                          <p:spTgt spid="8">
                                            <p:txEl>
                                              <p:pRg st="4" end="4"/>
                                            </p:txEl>
                                          </p:spTgt>
                                        </p:tgtEl>
                                        <p:attrNameLst>
                                          <p:attrName>ppt_w</p:attrName>
                                        </p:attrNameLst>
                                      </p:cBhvr>
                                      <p:tavLst>
                                        <p:tav tm="0">
                                          <p:val>
                                            <p:fltVal val="0"/>
                                          </p:val>
                                        </p:tav>
                                        <p:tav tm="100000">
                                          <p:val>
                                            <p:strVal val="#ppt_w"/>
                                          </p:val>
                                        </p:tav>
                                      </p:tavLst>
                                    </p:anim>
                                    <p:anim calcmode="lin" valueType="num">
                                      <p:cBhvr>
                                        <p:cTn id="31" dur="5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32" dur="500"/>
                                        <p:tgtEl>
                                          <p:spTgt spid="8">
                                            <p:txEl>
                                              <p:pRg st="4" end="4"/>
                                            </p:txEl>
                                          </p:spTgt>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a:extLst>
              <a:ext uri="{FF2B5EF4-FFF2-40B4-BE49-F238E27FC236}">
                <a16:creationId xmlns:a16="http://schemas.microsoft.com/office/drawing/2014/main" id="{7B303BF9-92EE-42E9-943D-DA417B46A178}"/>
              </a:ext>
            </a:extLst>
          </p:cNvPr>
          <p:cNvSpPr>
            <a:spLocks noGrp="1"/>
          </p:cNvSpPr>
          <p:nvPr>
            <p:ph type="sldNum" sz="quarter" idx="12"/>
          </p:nvPr>
        </p:nvSpPr>
        <p:spPr/>
        <p:txBody>
          <a:bodyPr/>
          <a:lstStyle/>
          <a:p>
            <a:fld id="{20D4B2D9-DB10-4EB9-B7A6-032A6D4E75AC}" type="slidenum">
              <a:rPr lang="pl-PL" smtClean="0"/>
              <a:pPr/>
              <a:t>81</a:t>
            </a:fld>
            <a:endParaRPr lang="pl-PL" dirty="0"/>
          </a:p>
        </p:txBody>
      </p:sp>
      <p:sp>
        <p:nvSpPr>
          <p:cNvPr id="3" name="Rectangle 4">
            <a:extLst>
              <a:ext uri="{FF2B5EF4-FFF2-40B4-BE49-F238E27FC236}">
                <a16:creationId xmlns:a16="http://schemas.microsoft.com/office/drawing/2014/main" id="{109FF4F0-EE75-4876-BF4D-9B49786CE552}"/>
              </a:ext>
            </a:extLst>
          </p:cNvPr>
          <p:cNvSpPr/>
          <p:nvPr/>
        </p:nvSpPr>
        <p:spPr>
          <a:xfrm>
            <a:off x="0" y="283296"/>
            <a:ext cx="9144000" cy="5940088"/>
          </a:xfrm>
          <a:prstGeom prst="rect">
            <a:avLst/>
          </a:prstGeom>
        </p:spPr>
        <p:txBody>
          <a:bodyPr wrap="square">
            <a:spAutoFit/>
          </a:bodyPr>
          <a:lstStyle/>
          <a:p>
            <a:r>
              <a:rPr lang="pl-PL" sz="2000" b="1" dirty="0">
                <a:solidFill>
                  <a:srgbClr val="0070C0"/>
                </a:solidFill>
                <a:latin typeface="Arial Narrow" panose="020B0606020202030204" pitchFamily="34" charset="0"/>
              </a:rPr>
              <a:t>Budując model należy podjąć szereg decyzji:</a:t>
            </a:r>
          </a:p>
          <a:p>
            <a:pPr marL="266700" indent="-266700">
              <a:buFont typeface="+mj-lt"/>
              <a:buAutoNum type="arabicPeriod"/>
            </a:pPr>
            <a:r>
              <a:rPr lang="pl-PL" sz="2000" b="1" dirty="0">
                <a:latin typeface="Arial Narrow" panose="020B0606020202030204" pitchFamily="34" charset="0"/>
              </a:rPr>
              <a:t>Jaką liczbę warstw i neuronów wybrać?</a:t>
            </a:r>
          </a:p>
          <a:p>
            <a:pPr marL="273050">
              <a:tabLst>
                <a:tab pos="719138" algn="l"/>
              </a:tabLst>
            </a:pPr>
            <a:r>
              <a:rPr lang="pl-PL" sz="2000" dirty="0">
                <a:latin typeface="Arial Narrow" panose="020B0606020202030204" pitchFamily="34" charset="0"/>
              </a:rPr>
              <a:t>	zbyt mała liczba neuronów – sieć nie będzie się w stanie nauczyć</a:t>
            </a:r>
          </a:p>
          <a:p>
            <a:pPr marL="273050">
              <a:tabLst>
                <a:tab pos="719138" algn="l"/>
              </a:tabLst>
            </a:pPr>
            <a:r>
              <a:rPr lang="pl-PL" sz="2000" dirty="0">
                <a:latin typeface="Arial Narrow" panose="020B0606020202030204" pitchFamily="34" charset="0"/>
              </a:rPr>
              <a:t>	zbyt duża liczba neuronów – wydłużenie czasu uczenia i tendencja do przeuczania</a:t>
            </a:r>
          </a:p>
          <a:p>
            <a:pPr marL="447675" indent="-174625">
              <a:buFont typeface="Arial" panose="020B0604020202020204" pitchFamily="34" charset="0"/>
              <a:buChar char="•"/>
            </a:pPr>
            <a:r>
              <a:rPr lang="pl-PL" sz="2000" dirty="0">
                <a:latin typeface="Arial Narrow" panose="020B0606020202030204" pitchFamily="34" charset="0"/>
              </a:rPr>
              <a:t>metoda piramidy (podejście przecinające, ang. </a:t>
            </a:r>
            <a:r>
              <a:rPr lang="pl-PL" sz="2000" i="1" dirty="0" err="1">
                <a:latin typeface="Arial Narrow" panose="020B0606020202030204" pitchFamily="34" charset="0"/>
              </a:rPr>
              <a:t>pruning</a:t>
            </a:r>
            <a:r>
              <a:rPr lang="pl-PL" sz="2000" i="1" dirty="0">
                <a:latin typeface="Arial Narrow" panose="020B0606020202030204" pitchFamily="34" charset="0"/>
              </a:rPr>
              <a:t> </a:t>
            </a:r>
            <a:r>
              <a:rPr lang="pl-PL" sz="2000" i="1" dirty="0" err="1">
                <a:latin typeface="Arial Narrow" panose="020B0606020202030204" pitchFamily="34" charset="0"/>
              </a:rPr>
              <a:t>approach</a:t>
            </a:r>
            <a:r>
              <a:rPr lang="pl-PL" dirty="0">
                <a:latin typeface="Arial Narrow" panose="020B0606020202030204" pitchFamily="34" charset="0"/>
              </a:rPr>
              <a:t>) </a:t>
            </a:r>
            <a:r>
              <a:rPr lang="pl-PL" sz="2000" dirty="0">
                <a:latin typeface="Arial Narrow" panose="020B0606020202030204" pitchFamily="34" charset="0"/>
              </a:rPr>
              <a:t>– zaczynamy od sieci przewymiarowanej i usuwamy kolejno mniej ważne neurony</a:t>
            </a:r>
          </a:p>
          <a:p>
            <a:pPr marL="447675" indent="-174625">
              <a:buFont typeface="Arial" panose="020B0604020202020204" pitchFamily="34" charset="0"/>
              <a:buChar char="•"/>
            </a:pPr>
            <a:r>
              <a:rPr lang="pl-PL" sz="2000" dirty="0">
                <a:latin typeface="Arial Narrow" panose="020B0606020202030204" pitchFamily="34" charset="0"/>
              </a:rPr>
              <a:t>podejście konstruktywne (ang. </a:t>
            </a:r>
            <a:r>
              <a:rPr lang="pl-PL" sz="2000" i="1" dirty="0" err="1">
                <a:latin typeface="Arial Narrow" panose="020B0606020202030204" pitchFamily="34" charset="0"/>
              </a:rPr>
              <a:t>constructive</a:t>
            </a:r>
            <a:r>
              <a:rPr lang="pl-PL" sz="2000" i="1" dirty="0">
                <a:latin typeface="Arial Narrow" panose="020B0606020202030204" pitchFamily="34" charset="0"/>
              </a:rPr>
              <a:t> </a:t>
            </a:r>
            <a:r>
              <a:rPr lang="pl-PL" sz="2000" i="1" dirty="0" err="1">
                <a:latin typeface="Arial Narrow" panose="020B0606020202030204" pitchFamily="34" charset="0"/>
              </a:rPr>
              <a:t>approach</a:t>
            </a:r>
            <a:r>
              <a:rPr lang="pl-PL" sz="2000" dirty="0">
                <a:latin typeface="Arial Narrow" panose="020B0606020202030204" pitchFamily="34" charset="0"/>
              </a:rPr>
              <a:t>) – uczenie rozpoczyna się z małą liczbą warstw i neuronów i zwiększa się ich liczbę obserwując parametry modelu</a:t>
            </a:r>
          </a:p>
          <a:p>
            <a:pPr marL="730250" lvl="1"/>
            <a:r>
              <a:rPr lang="pl-PL" sz="2000" dirty="0">
                <a:latin typeface="Arial Narrow" panose="020B0606020202030204" pitchFamily="34" charset="0"/>
              </a:rPr>
              <a:t>Obie metody są, w pewnym stopniu, metodami prób i błędów. Nie ma wypracowanej metody, za pomocą której można określić liczbę neuronów w warstwie. </a:t>
            </a:r>
            <a:endParaRPr lang="pl-PL" sz="2400" dirty="0">
              <a:latin typeface="Arial Narrow" panose="020B0606020202030204" pitchFamily="34" charset="0"/>
            </a:endParaRPr>
          </a:p>
          <a:p>
            <a:pPr marL="266700" indent="-266700">
              <a:buFont typeface="+mj-lt"/>
              <a:buAutoNum type="arabicPeriod" startAt="2"/>
            </a:pPr>
            <a:r>
              <a:rPr lang="pl-PL" sz="2000" b="1" dirty="0">
                <a:latin typeface="Arial Narrow" panose="020B0606020202030204" pitchFamily="34" charset="0"/>
              </a:rPr>
              <a:t>Jaką zastosować formę nauczania (nadzorowane, nienadzorowane, ze wzmocnieniem)?</a:t>
            </a:r>
          </a:p>
          <a:p>
            <a:pPr marL="266700" indent="-266700">
              <a:buFont typeface="+mj-lt"/>
              <a:buAutoNum type="arabicPeriod" startAt="2"/>
            </a:pPr>
            <a:r>
              <a:rPr lang="pl-PL" sz="2000" b="1" dirty="0">
                <a:latin typeface="Arial Narrow" panose="020B0606020202030204" pitchFamily="34" charset="0"/>
              </a:rPr>
              <a:t>Jaką wybrać strukturę modelu (jednokierunkowy, rekurencyjny, sieć Kohonena, maszyna Boltzmanna, graf acykliczny)?</a:t>
            </a:r>
          </a:p>
          <a:p>
            <a:pPr marL="266700" indent="-266700">
              <a:buFont typeface="+mj-lt"/>
              <a:buAutoNum type="arabicPeriod" startAt="2"/>
            </a:pPr>
            <a:r>
              <a:rPr lang="pl-PL" sz="2000" b="1" dirty="0">
                <a:latin typeface="Arial Narrow" panose="020B0606020202030204" pitchFamily="34" charset="0"/>
              </a:rPr>
              <a:t>Jak duży wsad (batch) zastosować?</a:t>
            </a:r>
          </a:p>
          <a:p>
            <a:pPr marL="266700" indent="-266700">
              <a:buFont typeface="+mj-lt"/>
              <a:buAutoNum type="arabicPeriod" startAt="2"/>
            </a:pPr>
            <a:r>
              <a:rPr lang="pl-PL" sz="2000" b="1" dirty="0">
                <a:latin typeface="Arial Narrow" panose="020B0606020202030204" pitchFamily="34" charset="0"/>
              </a:rPr>
              <a:t>Jaką funkcję celu wybrać?</a:t>
            </a:r>
          </a:p>
          <a:p>
            <a:pPr marL="266700" indent="-266700">
              <a:buFont typeface="+mj-lt"/>
              <a:buAutoNum type="arabicPeriod" startAt="2"/>
            </a:pPr>
            <a:r>
              <a:rPr lang="pl-PL" sz="2000" b="1" dirty="0">
                <a:latin typeface="Arial Narrow" panose="020B0606020202030204" pitchFamily="34" charset="0"/>
              </a:rPr>
              <a:t>Jaką wybrać funkcję aktywacji?</a:t>
            </a:r>
          </a:p>
          <a:p>
            <a:pPr marL="266700" indent="-266700">
              <a:buFont typeface="+mj-lt"/>
              <a:buAutoNum type="arabicPeriod" startAt="2"/>
            </a:pPr>
            <a:r>
              <a:rPr lang="pl-PL" sz="2000" b="1">
                <a:latin typeface="Arial Narrow" panose="020B0606020202030204" pitchFamily="34" charset="0"/>
              </a:rPr>
              <a:t>Jaki zastosować optymalizator?</a:t>
            </a:r>
            <a:endParaRPr lang="pl-PL" sz="2000" b="1" dirty="0">
              <a:latin typeface="Arial Narrow" panose="020B0606020202030204" pitchFamily="34" charset="0"/>
            </a:endParaRPr>
          </a:p>
          <a:p>
            <a:pPr marL="266700" indent="-266700">
              <a:buFont typeface="+mj-lt"/>
              <a:buAutoNum type="arabicPeriod" startAt="2"/>
            </a:pPr>
            <a:r>
              <a:rPr lang="pl-PL" sz="2000" b="1" dirty="0">
                <a:latin typeface="Arial Narrow" panose="020B0606020202030204" pitchFamily="34" charset="0"/>
              </a:rPr>
              <a:t>Czy korzystać z </a:t>
            </a:r>
            <a:r>
              <a:rPr lang="pl-PL" sz="2000" b="1">
                <a:latin typeface="Arial Narrow" panose="020B0606020202030204" pitchFamily="34" charset="0"/>
              </a:rPr>
              <a:t>regularyzacji</a:t>
            </a:r>
            <a:r>
              <a:rPr lang="pl-PL" sz="2000" b="1" dirty="0">
                <a:latin typeface="Arial Narrow" panose="020B0606020202030204" pitchFamily="34" charset="0"/>
              </a:rPr>
              <a:t>, jeśli tak to jakiej i kiedy?</a:t>
            </a:r>
          </a:p>
          <a:p>
            <a:pPr marL="266700" indent="-266700">
              <a:buFont typeface="+mj-lt"/>
              <a:buAutoNum type="arabicPeriod" startAt="2"/>
            </a:pPr>
            <a:r>
              <a:rPr lang="pl-PL" sz="2000" b="1" dirty="0">
                <a:latin typeface="Arial Narrow" panose="020B0606020202030204" pitchFamily="34" charset="0"/>
              </a:rPr>
              <a:t>Jaką wybrać metodę ewaluacji?</a:t>
            </a:r>
            <a:endParaRPr lang="pl-PL" sz="2000" dirty="0">
              <a:latin typeface="Arial Narrow" panose="020B0606020202030204" pitchFamily="34" charset="0"/>
            </a:endParaRPr>
          </a:p>
        </p:txBody>
      </p:sp>
      <p:sp>
        <p:nvSpPr>
          <p:cNvPr id="4" name="Rectangle 2">
            <a:extLst>
              <a:ext uri="{FF2B5EF4-FFF2-40B4-BE49-F238E27FC236}">
                <a16:creationId xmlns:a16="http://schemas.microsoft.com/office/drawing/2014/main" id="{64CDE78E-54C3-4A58-B34F-59BE488FA50E}"/>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Wybór </a:t>
            </a: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hiperparametrów</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 modelu</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8597455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82</a:t>
            </a:fld>
            <a:endParaRPr lang="pl-PL" dirty="0"/>
          </a:p>
        </p:txBody>
      </p:sp>
      <p:graphicFrame>
        <p:nvGraphicFramePr>
          <p:cNvPr id="3" name="Tabela 2"/>
          <p:cNvGraphicFramePr>
            <a:graphicFrameLocks noGrp="1"/>
          </p:cNvGraphicFramePr>
          <p:nvPr>
            <p:extLst>
              <p:ext uri="{D42A27DB-BD31-4B8C-83A1-F6EECF244321}">
                <p14:modId xmlns:p14="http://schemas.microsoft.com/office/powerpoint/2010/main" val="2782532252"/>
              </p:ext>
            </p:extLst>
          </p:nvPr>
        </p:nvGraphicFramePr>
        <p:xfrm>
          <a:off x="0" y="381000"/>
          <a:ext cx="9144000" cy="4350387"/>
        </p:xfrm>
        <a:graphic>
          <a:graphicData uri="http://schemas.openxmlformats.org/drawingml/2006/table">
            <a:tbl>
              <a:tblPr firstRow="1" firstCol="1" bandRow="1">
                <a:tableStyleId>{5C22544A-7EE6-4342-B048-85BDC9FD1C3A}</a:tableStyleId>
              </a:tblPr>
              <a:tblGrid>
                <a:gridCol w="1295400">
                  <a:extLst>
                    <a:ext uri="{9D8B030D-6E8A-4147-A177-3AD203B41FA5}">
                      <a16:colId xmlns:a16="http://schemas.microsoft.com/office/drawing/2014/main" val="377505562"/>
                    </a:ext>
                  </a:extLst>
                </a:gridCol>
                <a:gridCol w="4114800">
                  <a:extLst>
                    <a:ext uri="{9D8B030D-6E8A-4147-A177-3AD203B41FA5}">
                      <a16:colId xmlns:a16="http://schemas.microsoft.com/office/drawing/2014/main" val="124365804"/>
                    </a:ext>
                  </a:extLst>
                </a:gridCol>
                <a:gridCol w="3733800">
                  <a:extLst>
                    <a:ext uri="{9D8B030D-6E8A-4147-A177-3AD203B41FA5}">
                      <a16:colId xmlns:a16="http://schemas.microsoft.com/office/drawing/2014/main" val="1498265717"/>
                    </a:ext>
                  </a:extLst>
                </a:gridCol>
              </a:tblGrid>
              <a:tr h="0">
                <a:tc>
                  <a:txBody>
                    <a:bodyPr/>
                    <a:lstStyle/>
                    <a:p>
                      <a:pPr>
                        <a:lnSpc>
                          <a:spcPct val="107000"/>
                        </a:lnSpc>
                        <a:spcAft>
                          <a:spcPts val="0"/>
                        </a:spcAft>
                      </a:pPr>
                      <a:r>
                        <a:rPr lang="pl-PL" sz="1800" dirty="0">
                          <a:effectLst/>
                        </a:rPr>
                        <a:t> </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pl-PL" sz="1800" dirty="0">
                          <a:effectLst/>
                        </a:rPr>
                        <a:t>Klasyfikacja</a:t>
                      </a:r>
                    </a:p>
                    <a:p>
                      <a:pPr>
                        <a:lnSpc>
                          <a:spcPct val="107000"/>
                        </a:lnSpc>
                        <a:spcAft>
                          <a:spcPts val="0"/>
                        </a:spcAft>
                      </a:pP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pl-PL" sz="1800" dirty="0">
                          <a:effectLst/>
                        </a:rPr>
                        <a:t>Regresja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692557"/>
                  </a:ext>
                </a:extLst>
              </a:tr>
              <a:tr h="0">
                <a:tc>
                  <a:txBody>
                    <a:bodyPr/>
                    <a:lstStyle/>
                    <a:p>
                      <a:pPr>
                        <a:lnSpc>
                          <a:spcPct val="107000"/>
                        </a:lnSpc>
                        <a:spcAft>
                          <a:spcPts val="0"/>
                        </a:spcAft>
                      </a:pPr>
                      <a:r>
                        <a:rPr lang="pl-PL" sz="1800" dirty="0">
                          <a:effectLst/>
                        </a:rPr>
                        <a:t>Funkcja straty</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dirty="0">
                          <a:effectLst/>
                        </a:rPr>
                        <a:t>Entropia krzyżowa </a:t>
                      </a:r>
                      <a:br>
                        <a:rPr lang="pl-PL" sz="1800" dirty="0">
                          <a:effectLst/>
                        </a:rPr>
                      </a:br>
                      <a:r>
                        <a:rPr lang="pl-PL" sz="1800" dirty="0">
                          <a:effectLst/>
                        </a:rPr>
                        <a:t>(</a:t>
                      </a:r>
                      <a:r>
                        <a:rPr lang="pl-PL" sz="1800">
                          <a:effectLst/>
                        </a:rPr>
                        <a:t>binary</a:t>
                      </a:r>
                      <a:r>
                        <a:rPr lang="pl-PL" sz="1800" dirty="0">
                          <a:effectLst/>
                        </a:rPr>
                        <a:t>, categorical lub sparse)</a:t>
                      </a:r>
                    </a:p>
                    <a:p>
                      <a:pPr marL="177800" lvl="0" indent="-177800">
                        <a:lnSpc>
                          <a:spcPct val="107000"/>
                        </a:lnSpc>
                        <a:spcAft>
                          <a:spcPts val="0"/>
                        </a:spcAft>
                        <a:buFont typeface="Symbol" panose="05050102010706020507" pitchFamily="18" charset="2"/>
                        <a:buChar char=""/>
                      </a:pPr>
                      <a:r>
                        <a:rPr lang="pl-PL" sz="1800" dirty="0">
                          <a:effectLst/>
                        </a:rPr>
                        <a:t>Logarytmiczna</a:t>
                      </a:r>
                    </a:p>
                    <a:p>
                      <a:pPr marL="177800" lvl="0" indent="-177800">
                        <a:lnSpc>
                          <a:spcPct val="107000"/>
                        </a:lnSpc>
                        <a:spcAft>
                          <a:spcPts val="0"/>
                        </a:spcAft>
                        <a:buFont typeface="Symbol" panose="05050102010706020507" pitchFamily="18" charset="2"/>
                        <a:buChar char=""/>
                      </a:pPr>
                      <a:r>
                        <a:rPr lang="pl-PL" sz="1800" dirty="0">
                          <a:effectLst/>
                        </a:rPr>
                        <a:t>Wykładnicza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dirty="0">
                          <a:effectLst/>
                        </a:rPr>
                        <a:t>Średni błąd kwadratowy (</a:t>
                      </a:r>
                      <a:r>
                        <a:rPr lang="pl-PL" sz="1800">
                          <a:effectLst/>
                        </a:rPr>
                        <a:t>mse</a:t>
                      </a:r>
                      <a:r>
                        <a:rPr lang="pl-PL" sz="1800" dirty="0">
                          <a:effectLst/>
                        </a:rPr>
                        <a:t>)</a:t>
                      </a:r>
                    </a:p>
                    <a:p>
                      <a:pPr marL="177800" lvl="0" indent="-177800">
                        <a:lnSpc>
                          <a:spcPct val="107000"/>
                        </a:lnSpc>
                        <a:spcAft>
                          <a:spcPts val="0"/>
                        </a:spcAft>
                        <a:buFont typeface="Symbol" panose="05050102010706020507" pitchFamily="18" charset="2"/>
                        <a:buChar char=""/>
                      </a:pPr>
                      <a:r>
                        <a:rPr lang="pl-PL" sz="1800" dirty="0">
                          <a:effectLst/>
                        </a:rPr>
                        <a:t>Średni błąd bezwzględny (</a:t>
                      </a:r>
                      <a:r>
                        <a:rPr lang="pl-PL" sz="1800">
                          <a:effectLst/>
                        </a:rPr>
                        <a:t>mae</a:t>
                      </a:r>
                      <a:r>
                        <a:rPr lang="pl-PL" sz="1800" dirty="0">
                          <a:effectLst/>
                        </a:rPr>
                        <a:t>)</a:t>
                      </a:r>
                    </a:p>
                    <a:p>
                      <a:pPr marL="177800" lvl="0" indent="-177800">
                        <a:lnSpc>
                          <a:spcPct val="107000"/>
                        </a:lnSpc>
                        <a:spcAft>
                          <a:spcPts val="0"/>
                        </a:spcAft>
                        <a:buFont typeface="Symbol" panose="05050102010706020507" pitchFamily="18" charset="2"/>
                        <a:buChar char=""/>
                      </a:pPr>
                      <a:r>
                        <a:rPr lang="pl-PL" sz="1800" dirty="0">
                          <a:effectLst/>
                        </a:rPr>
                        <a:t>Funkcja Hubera (odmiana </a:t>
                      </a:r>
                      <a:r>
                        <a:rPr lang="pl-PL" sz="1800">
                          <a:effectLst/>
                        </a:rPr>
                        <a:t>mae</a:t>
                      </a:r>
                      <a:r>
                        <a:rPr lang="pl-PL" sz="1800" dirty="0">
                          <a:effectLst/>
                        </a:rPr>
                        <a:t>)</a:t>
                      </a:r>
                    </a:p>
                    <a:p>
                      <a:pPr marL="177800" lvl="0" indent="-177800">
                        <a:lnSpc>
                          <a:spcPct val="107000"/>
                        </a:lnSpc>
                        <a:spcAft>
                          <a:spcPts val="0"/>
                        </a:spcAft>
                        <a:buFont typeface="Symbol" panose="05050102010706020507" pitchFamily="18" charset="2"/>
                        <a:buChar char=""/>
                      </a:pPr>
                      <a:r>
                        <a:rPr lang="pl-PL" sz="1800" dirty="0">
                          <a:effectLst/>
                        </a:rPr>
                        <a:t>Logarytmiczny cosinus hiperboliczny</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6811981"/>
                  </a:ext>
                </a:extLst>
              </a:tr>
              <a:tr h="0">
                <a:tc>
                  <a:txBody>
                    <a:bodyPr/>
                    <a:lstStyle/>
                    <a:p>
                      <a:pPr>
                        <a:lnSpc>
                          <a:spcPct val="107000"/>
                        </a:lnSpc>
                        <a:spcAft>
                          <a:spcPts val="0"/>
                        </a:spcAft>
                      </a:pPr>
                      <a:r>
                        <a:rPr lang="pl-PL" sz="1800" dirty="0">
                          <a:effectLst/>
                        </a:rPr>
                        <a:t>Algorytm</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dirty="0">
                          <a:effectLst/>
                        </a:rPr>
                        <a:t>Drzewo decyzyjne</a:t>
                      </a:r>
                    </a:p>
                    <a:p>
                      <a:pPr marL="177800" lvl="0" indent="-177800">
                        <a:lnSpc>
                          <a:spcPct val="107000"/>
                        </a:lnSpc>
                        <a:spcAft>
                          <a:spcPts val="0"/>
                        </a:spcAft>
                        <a:buFont typeface="Symbol" panose="05050102010706020507" pitchFamily="18" charset="2"/>
                        <a:buChar char=""/>
                      </a:pPr>
                      <a:r>
                        <a:rPr lang="pl-PL" sz="1800" dirty="0">
                          <a:effectLst/>
                        </a:rPr>
                        <a:t>Metoda k-średnich</a:t>
                      </a:r>
                    </a:p>
                    <a:p>
                      <a:pPr marL="177800" lvl="0" indent="-177800">
                        <a:lnSpc>
                          <a:spcPct val="107000"/>
                        </a:lnSpc>
                        <a:spcAft>
                          <a:spcPts val="0"/>
                        </a:spcAft>
                        <a:buFont typeface="Symbol" panose="05050102010706020507" pitchFamily="18" charset="2"/>
                        <a:buChar char=""/>
                      </a:pPr>
                      <a:r>
                        <a:rPr lang="pl-PL" sz="1800" dirty="0">
                          <a:effectLst/>
                        </a:rPr>
                        <a:t>Met. wektorów wspierających (SVM)</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dirty="0">
                          <a:effectLst/>
                        </a:rPr>
                        <a:t>Metoda wektorów wspierających (SVM)</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9226573"/>
                  </a:ext>
                </a:extLst>
              </a:tr>
              <a:tr h="0">
                <a:tc>
                  <a:txBody>
                    <a:bodyPr/>
                    <a:lstStyle/>
                    <a:p>
                      <a:pPr>
                        <a:lnSpc>
                          <a:spcPct val="107000"/>
                        </a:lnSpc>
                        <a:spcAft>
                          <a:spcPts val="0"/>
                        </a:spcAft>
                      </a:pPr>
                      <a:r>
                        <a:rPr lang="pl-PL" sz="1800" dirty="0">
                          <a:effectLst/>
                        </a:rPr>
                        <a:t>Funkcja aktywacji</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a:effectLst/>
                        </a:rPr>
                        <a:t>Sigmoid</a:t>
                      </a:r>
                      <a:r>
                        <a:rPr lang="pl-PL" sz="1800" dirty="0">
                          <a:effectLst/>
                        </a:rPr>
                        <a:t> (zwykle w ostatniej warstwie)</a:t>
                      </a:r>
                    </a:p>
                    <a:p>
                      <a:pPr marL="177800" lvl="0" indent="-177800">
                        <a:lnSpc>
                          <a:spcPct val="107000"/>
                        </a:lnSpc>
                        <a:spcAft>
                          <a:spcPts val="0"/>
                        </a:spcAft>
                        <a:buFont typeface="Symbol" panose="05050102010706020507" pitchFamily="18" charset="2"/>
                        <a:buChar char=""/>
                      </a:pPr>
                      <a:r>
                        <a:rPr lang="pl-PL" sz="1800">
                          <a:effectLst/>
                        </a:rPr>
                        <a:t>Softmax</a:t>
                      </a:r>
                      <a:endParaRPr lang="pl-PL" sz="1800" dirty="0">
                        <a:effectLst/>
                      </a:endParaRPr>
                    </a:p>
                    <a:p>
                      <a:pPr marL="177800" lvl="0" indent="-177800">
                        <a:lnSpc>
                          <a:spcPct val="107000"/>
                        </a:lnSpc>
                        <a:spcAft>
                          <a:spcPts val="0"/>
                        </a:spcAft>
                        <a:buFont typeface="Symbol" panose="05050102010706020507" pitchFamily="18" charset="2"/>
                        <a:buChar char=""/>
                      </a:pPr>
                      <a:r>
                        <a:rPr lang="pl-PL" sz="1800" dirty="0">
                          <a:effectLst/>
                        </a:rPr>
                        <a:t>Rektyfikator (</a:t>
                      </a:r>
                      <a:r>
                        <a:rPr lang="pl-PL" sz="1800">
                          <a:effectLst/>
                        </a:rPr>
                        <a:t>ReLu</a:t>
                      </a:r>
                      <a:r>
                        <a:rPr lang="pl-PL" sz="1800" dirty="0">
                          <a:effectLst/>
                        </a:rPr>
                        <a:t>)</a:t>
                      </a:r>
                    </a:p>
                    <a:p>
                      <a:pPr marL="177800" lvl="0" indent="-177800">
                        <a:lnSpc>
                          <a:spcPct val="107000"/>
                        </a:lnSpc>
                        <a:spcAft>
                          <a:spcPts val="0"/>
                        </a:spcAft>
                        <a:buFont typeface="Symbol" panose="05050102010706020507" pitchFamily="18" charset="2"/>
                        <a:buChar char=""/>
                      </a:pPr>
                      <a:r>
                        <a:rPr lang="pl-PL" sz="1800" dirty="0">
                          <a:effectLst/>
                        </a:rPr>
                        <a:t>elu</a:t>
                      </a:r>
                    </a:p>
                    <a:p>
                      <a:pPr marL="177800" lvl="0" indent="-177800">
                        <a:lnSpc>
                          <a:spcPct val="107000"/>
                        </a:lnSpc>
                        <a:spcAft>
                          <a:spcPts val="0"/>
                        </a:spcAft>
                        <a:buFont typeface="Symbol" panose="05050102010706020507" pitchFamily="18" charset="2"/>
                        <a:buChar char=""/>
                      </a:pPr>
                      <a:r>
                        <a:rPr lang="pl-PL" sz="1800" dirty="0">
                          <a:effectLst/>
                        </a:rPr>
                        <a:t>Funkcja progowa (klasyfikacja binarna)</a:t>
                      </a:r>
                    </a:p>
                    <a:p>
                      <a:pPr marL="177800" lvl="0" indent="-177800">
                        <a:lnSpc>
                          <a:spcPct val="107000"/>
                        </a:lnSpc>
                        <a:spcAft>
                          <a:spcPts val="0"/>
                        </a:spcAft>
                        <a:buFont typeface="Symbol" panose="05050102010706020507" pitchFamily="18" charset="2"/>
                        <a:buChar char=""/>
                      </a:pPr>
                      <a:r>
                        <a:rPr lang="pl-PL" sz="1800" dirty="0">
                          <a:effectLst/>
                        </a:rPr>
                        <a:t>Tangens hiperboliczny (</a:t>
                      </a:r>
                      <a:r>
                        <a:rPr lang="pl-PL" sz="1800">
                          <a:effectLst/>
                        </a:rPr>
                        <a:t>tanh</a:t>
                      </a:r>
                      <a:r>
                        <a:rPr lang="pl-PL" sz="1800" dirty="0">
                          <a:effectLst/>
                        </a:rPr>
                        <a:t>)</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7800" lvl="0" indent="-177800">
                        <a:lnSpc>
                          <a:spcPct val="107000"/>
                        </a:lnSpc>
                        <a:spcAft>
                          <a:spcPts val="0"/>
                        </a:spcAft>
                        <a:buFont typeface="Symbol" panose="05050102010706020507" pitchFamily="18" charset="2"/>
                        <a:buChar char=""/>
                      </a:pPr>
                      <a:r>
                        <a:rPr lang="pl-PL" sz="1800" dirty="0">
                          <a:effectLst/>
                        </a:rPr>
                        <a:t>Rektyfikator (</a:t>
                      </a:r>
                      <a:r>
                        <a:rPr lang="pl-PL" sz="1800">
                          <a:effectLst/>
                        </a:rPr>
                        <a:t>ReLu</a:t>
                      </a:r>
                      <a:r>
                        <a:rPr lang="pl-PL" sz="1800" dirty="0">
                          <a:effectLst/>
                        </a:rPr>
                        <a:t>)</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7165870"/>
                  </a:ext>
                </a:extLst>
              </a:tr>
            </a:tbl>
          </a:graphicData>
        </a:graphic>
      </p:graphicFrame>
      <p:sp>
        <p:nvSpPr>
          <p:cNvPr id="4" name="Rectangle 2">
            <a:extLst>
              <a:ext uri="{FF2B5EF4-FFF2-40B4-BE49-F238E27FC236}">
                <a16:creationId xmlns:a16="http://schemas.microsoft.com/office/drawing/2014/main" id="{64CDE78E-54C3-4A58-B34F-59BE488FA50E}"/>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Wybór </a:t>
            </a: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hiperparametrów</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 modelu</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8686701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83</a:t>
            </a:fld>
            <a:endParaRPr lang="pl-PL" dirty="0"/>
          </a:p>
        </p:txBody>
      </p:sp>
      <p:graphicFrame>
        <p:nvGraphicFramePr>
          <p:cNvPr id="3" name="Tabela 2"/>
          <p:cNvGraphicFramePr>
            <a:graphicFrameLocks noGrp="1"/>
          </p:cNvGraphicFramePr>
          <p:nvPr>
            <p:extLst>
              <p:ext uri="{D42A27DB-BD31-4B8C-83A1-F6EECF244321}">
                <p14:modId xmlns:p14="http://schemas.microsoft.com/office/powerpoint/2010/main" val="4169030973"/>
              </p:ext>
            </p:extLst>
          </p:nvPr>
        </p:nvGraphicFramePr>
        <p:xfrm>
          <a:off x="76200" y="767842"/>
          <a:ext cx="8991600" cy="3443862"/>
        </p:xfrm>
        <a:graphic>
          <a:graphicData uri="http://schemas.openxmlformats.org/drawingml/2006/table">
            <a:tbl>
              <a:tblPr firstRow="1" firstCol="1" bandRow="1">
                <a:tableStyleId>{5C22544A-7EE6-4342-B048-85BDC9FD1C3A}</a:tableStyleId>
              </a:tblPr>
              <a:tblGrid>
                <a:gridCol w="2622550">
                  <a:extLst>
                    <a:ext uri="{9D8B030D-6E8A-4147-A177-3AD203B41FA5}">
                      <a16:colId xmlns:a16="http://schemas.microsoft.com/office/drawing/2014/main" val="377505562"/>
                    </a:ext>
                  </a:extLst>
                </a:gridCol>
                <a:gridCol w="2997200">
                  <a:extLst>
                    <a:ext uri="{9D8B030D-6E8A-4147-A177-3AD203B41FA5}">
                      <a16:colId xmlns:a16="http://schemas.microsoft.com/office/drawing/2014/main" val="124365804"/>
                    </a:ext>
                  </a:extLst>
                </a:gridCol>
                <a:gridCol w="3371850">
                  <a:extLst>
                    <a:ext uri="{9D8B030D-6E8A-4147-A177-3AD203B41FA5}">
                      <a16:colId xmlns:a16="http://schemas.microsoft.com/office/drawing/2014/main" val="1498265717"/>
                    </a:ext>
                  </a:extLst>
                </a:gridCol>
              </a:tblGrid>
              <a:tr h="0">
                <a:tc>
                  <a:txBody>
                    <a:bodyPr/>
                    <a:lstStyle/>
                    <a:p>
                      <a:pPr>
                        <a:lnSpc>
                          <a:spcPct val="107000"/>
                        </a:lnSpc>
                        <a:spcAft>
                          <a:spcPts val="0"/>
                        </a:spcAft>
                      </a:pPr>
                      <a:r>
                        <a:rPr lang="pl-PL" sz="1800" dirty="0">
                          <a:effectLst/>
                        </a:rPr>
                        <a:t>Rodzaj zadania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pl-PL" sz="1800" dirty="0">
                          <a:effectLst/>
                        </a:rPr>
                        <a:t>Funkcja aktywacji </a:t>
                      </a:r>
                      <a:br>
                        <a:rPr lang="pl-PL" sz="1800" dirty="0">
                          <a:effectLst/>
                        </a:rPr>
                      </a:br>
                      <a:r>
                        <a:rPr lang="pl-PL" sz="1800" dirty="0">
                          <a:effectLst/>
                        </a:rPr>
                        <a:t>ostatniej warstwy</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pl-PL" sz="1800" dirty="0">
                          <a:effectLst/>
                        </a:rPr>
                        <a:t>Funkcja straty</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692557"/>
                  </a:ext>
                </a:extLst>
              </a:tr>
              <a:tr h="0">
                <a:tc>
                  <a:txBody>
                    <a:bodyPr/>
                    <a:lstStyle/>
                    <a:p>
                      <a:pPr>
                        <a:lnSpc>
                          <a:spcPct val="107000"/>
                        </a:lnSpc>
                        <a:spcAft>
                          <a:spcPts val="0"/>
                        </a:spcAft>
                      </a:pPr>
                      <a:r>
                        <a:rPr lang="pl-PL" sz="1800" dirty="0">
                          <a:effectLst/>
                        </a:rPr>
                        <a:t>Klasyfikacja </a:t>
                      </a:r>
                    </a:p>
                    <a:p>
                      <a:pPr>
                        <a:lnSpc>
                          <a:spcPct val="107000"/>
                        </a:lnSpc>
                        <a:spcAft>
                          <a:spcPts val="0"/>
                        </a:spcAft>
                      </a:pPr>
                      <a:r>
                        <a:rPr lang="pl-PL" sz="1800" dirty="0">
                          <a:effectLst/>
                        </a:rPr>
                        <a:t>binarna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sigmoid</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dirty="0">
                          <a:effectLst/>
                          <a:latin typeface="Calibri" panose="020F0502020204030204" pitchFamily="34" charset="0"/>
                          <a:ea typeface="Calibri" panose="020F0502020204030204" pitchFamily="34" charset="0"/>
                          <a:cs typeface="Times New Roman" panose="02020603050405020304" pitchFamily="18" charset="0"/>
                        </a:rPr>
                        <a:t>binary_crossentropy</a:t>
                      </a:r>
                    </a:p>
                  </a:txBody>
                  <a:tcPr marL="68580" marR="68580" marT="0" marB="0"/>
                </a:tc>
                <a:extLst>
                  <a:ext uri="{0D108BD9-81ED-4DB2-BD59-A6C34878D82A}">
                    <a16:rowId xmlns:a16="http://schemas.microsoft.com/office/drawing/2014/main" val="2756811981"/>
                  </a:ext>
                </a:extLst>
              </a:tr>
              <a:tr h="0">
                <a:tc>
                  <a:txBody>
                    <a:bodyPr/>
                    <a:lstStyle/>
                    <a:p>
                      <a:pPr>
                        <a:lnSpc>
                          <a:spcPct val="107000"/>
                        </a:lnSpc>
                        <a:spcAft>
                          <a:spcPts val="0"/>
                        </a:spcAft>
                      </a:pPr>
                      <a:r>
                        <a:rPr lang="pl-PL" sz="1800">
                          <a:effectLst/>
                        </a:rPr>
                        <a:t>Klasyfikacja  wieloklasowa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softmax</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dirty="0">
                          <a:effectLst/>
                          <a:latin typeface="Calibri" panose="020F0502020204030204" pitchFamily="34" charset="0"/>
                          <a:ea typeface="Calibri" panose="020F0502020204030204" pitchFamily="34" charset="0"/>
                          <a:cs typeface="Times New Roman" panose="02020603050405020304" pitchFamily="18" charset="0"/>
                        </a:rPr>
                        <a:t>categorical_crossentropy</a:t>
                      </a:r>
                    </a:p>
                  </a:txBody>
                  <a:tcPr marL="68580" marR="68580" marT="0" marB="0"/>
                </a:tc>
                <a:extLst>
                  <a:ext uri="{0D108BD9-81ED-4DB2-BD59-A6C34878D82A}">
                    <a16:rowId xmlns:a16="http://schemas.microsoft.com/office/drawing/2014/main" val="1289226573"/>
                  </a:ext>
                </a:extLst>
              </a:tr>
              <a:tr h="0">
                <a:tc>
                  <a:txBody>
                    <a:bodyPr/>
                    <a:lstStyle/>
                    <a:p>
                      <a:pPr>
                        <a:lnSpc>
                          <a:spcPct val="107000"/>
                        </a:lnSpc>
                        <a:spcAft>
                          <a:spcPts val="0"/>
                        </a:spcAft>
                      </a:pPr>
                      <a:r>
                        <a:rPr lang="pl-PL" sz="1800">
                          <a:effectLst/>
                        </a:rPr>
                        <a:t>Klasyfikacja </a:t>
                      </a:r>
                      <a:r>
                        <a:rPr lang="pl-PL" sz="1800" dirty="0">
                          <a:effectLst/>
                        </a:rPr>
                        <a:t>wieloetykietowa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sigmoid</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dirty="0">
                          <a:effectLst/>
                          <a:latin typeface="Calibri" panose="020F0502020204030204" pitchFamily="34" charset="0"/>
                          <a:ea typeface="Calibri" panose="020F0502020204030204" pitchFamily="34" charset="0"/>
                          <a:cs typeface="Times New Roman" panose="02020603050405020304" pitchFamily="18" charset="0"/>
                        </a:rPr>
                        <a:t>binary_crossentropy</a:t>
                      </a:r>
                    </a:p>
                  </a:txBody>
                  <a:tcPr marL="68580" marR="68580" marT="0" marB="0"/>
                </a:tc>
                <a:extLst>
                  <a:ext uri="{0D108BD9-81ED-4DB2-BD59-A6C34878D82A}">
                    <a16:rowId xmlns:a16="http://schemas.microsoft.com/office/drawing/2014/main" val="1597165870"/>
                  </a:ext>
                </a:extLst>
              </a:tr>
              <a:tr h="0">
                <a:tc>
                  <a:txBody>
                    <a:bodyPr/>
                    <a:lstStyle/>
                    <a:p>
                      <a:pPr>
                        <a:lnSpc>
                          <a:spcPct val="107000"/>
                        </a:lnSpc>
                        <a:spcAft>
                          <a:spcPts val="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Regresja wartości</a:t>
                      </a:r>
                      <a:br>
                        <a:rPr lang="pl-PL" sz="1800" dirty="0">
                          <a:effectLst/>
                          <a:latin typeface="Calibri" panose="020F0502020204030204" pitchFamily="34" charset="0"/>
                          <a:ea typeface="Calibri" panose="020F0502020204030204" pitchFamily="34" charset="0"/>
                          <a:cs typeface="Times New Roman" panose="02020603050405020304" pitchFamily="18" charset="0"/>
                        </a:rPr>
                      </a:br>
                      <a:r>
                        <a:rPr lang="pl-PL" sz="1800" dirty="0">
                          <a:effectLst/>
                          <a:latin typeface="Calibri" panose="020F0502020204030204" pitchFamily="34" charset="0"/>
                          <a:ea typeface="Calibri" panose="020F0502020204030204" pitchFamily="34" charset="0"/>
                          <a:cs typeface="Times New Roman" panose="02020603050405020304" pitchFamily="18" charset="0"/>
                        </a:rPr>
                        <a:t>z dowolnego zakresu</a:t>
                      </a: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baseline="0">
                          <a:effectLst/>
                          <a:latin typeface="Calibri" panose="020F0502020204030204" pitchFamily="34" charset="0"/>
                          <a:ea typeface="Calibri" panose="020F0502020204030204" pitchFamily="34" charset="0"/>
                          <a:cs typeface="Times New Roman" panose="02020603050405020304" pitchFamily="18" charset="0"/>
                        </a:rPr>
                        <a:t>funkcja liniowa</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mse</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542718"/>
                  </a:ext>
                </a:extLst>
              </a:tr>
              <a:tr h="0">
                <a:tc>
                  <a:txBody>
                    <a:bodyPr/>
                    <a:lstStyle/>
                    <a:p>
                      <a:pPr>
                        <a:lnSpc>
                          <a:spcPct val="107000"/>
                        </a:lnSpc>
                        <a:spcAft>
                          <a:spcPts val="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Regresja wartości </a:t>
                      </a:r>
                      <a:br>
                        <a:rPr lang="pl-PL" sz="1800" dirty="0">
                          <a:effectLst/>
                          <a:latin typeface="Calibri" panose="020F0502020204030204" pitchFamily="34" charset="0"/>
                          <a:ea typeface="Calibri" panose="020F0502020204030204" pitchFamily="34" charset="0"/>
                          <a:cs typeface="Times New Roman" panose="02020603050405020304" pitchFamily="18" charset="0"/>
                        </a:rPr>
                      </a:br>
                      <a:r>
                        <a:rPr lang="pl-PL" sz="1800" dirty="0">
                          <a:effectLst/>
                          <a:latin typeface="Calibri" panose="020F0502020204030204" pitchFamily="34" charset="0"/>
                          <a:ea typeface="Calibri" panose="020F0502020204030204" pitchFamily="34" charset="0"/>
                          <a:cs typeface="Times New Roman" panose="02020603050405020304" pitchFamily="18" charset="0"/>
                        </a:rPr>
                        <a:t>z zakresu 0–1</a:t>
                      </a: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sigmoid</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nSpc>
                          <a:spcPct val="107000"/>
                        </a:lnSpc>
                        <a:spcAft>
                          <a:spcPts val="0"/>
                        </a:spcAft>
                        <a:buFont typeface="Symbol" panose="05050102010706020507" pitchFamily="18" charset="2"/>
                        <a:buNone/>
                      </a:pPr>
                      <a:r>
                        <a:rPr lang="pl-PL" sz="1800">
                          <a:effectLst/>
                          <a:latin typeface="Calibri" panose="020F0502020204030204" pitchFamily="34" charset="0"/>
                          <a:ea typeface="Calibri" panose="020F0502020204030204" pitchFamily="34" charset="0"/>
                          <a:cs typeface="Times New Roman" panose="02020603050405020304" pitchFamily="18" charset="0"/>
                        </a:rPr>
                        <a:t>mse</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0"/>
                        </a:spcAft>
                        <a:buFont typeface="Symbol" panose="05050102010706020507" pitchFamily="18" charset="2"/>
                        <a:buNone/>
                      </a:pPr>
                      <a:r>
                        <a:rPr lang="pl-PL" sz="1800" baseline="0" dirty="0">
                          <a:effectLst/>
                          <a:latin typeface="Calibri" panose="020F0502020204030204" pitchFamily="34" charset="0"/>
                          <a:ea typeface="Calibri" panose="020F0502020204030204" pitchFamily="34" charset="0"/>
                          <a:cs typeface="Times New Roman" panose="02020603050405020304" pitchFamily="18" charset="0"/>
                        </a:rPr>
                        <a:t>binary_crossentropy</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501533"/>
                  </a:ext>
                </a:extLst>
              </a:tr>
            </a:tbl>
          </a:graphicData>
        </a:graphic>
      </p:graphicFrame>
      <p:sp>
        <p:nvSpPr>
          <p:cNvPr id="4" name="Rectangle 2">
            <a:extLst>
              <a:ext uri="{FF2B5EF4-FFF2-40B4-BE49-F238E27FC236}">
                <a16:creationId xmlns:a16="http://schemas.microsoft.com/office/drawing/2014/main" id="{64CDE78E-54C3-4A58-B34F-59BE488FA50E}"/>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Wybór </a:t>
            </a: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hiperparametrów</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 modelu</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5" name="Prostokąt 4"/>
          <p:cNvSpPr/>
          <p:nvPr/>
        </p:nvSpPr>
        <p:spPr>
          <a:xfrm>
            <a:off x="0" y="304800"/>
            <a:ext cx="9144000" cy="400110"/>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Wybór funkcji aktywacji ostatniej warstwy i funkcji straty modelu</a:t>
            </a:r>
          </a:p>
        </p:txBody>
      </p:sp>
    </p:spTree>
    <p:extLst>
      <p:ext uri="{BB962C8B-B14F-4D97-AF65-F5344CB8AC3E}">
        <p14:creationId xmlns:p14="http://schemas.microsoft.com/office/powerpoint/2010/main" val="480377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84</a:t>
            </a:fld>
            <a:endParaRPr lang="pl-PL" dirty="0"/>
          </a:p>
        </p:txBody>
      </p:sp>
      <p:sp>
        <p:nvSpPr>
          <p:cNvPr id="3" name="Rectangle 2"/>
          <p:cNvSpPr/>
          <p:nvPr/>
        </p:nvSpPr>
        <p:spPr>
          <a:xfrm>
            <a:off x="0" y="308312"/>
            <a:ext cx="9144000" cy="6247864"/>
          </a:xfrm>
          <a:prstGeom prst="rect">
            <a:avLst/>
          </a:prstGeom>
        </p:spPr>
        <p:txBody>
          <a:bodyPr wrap="square">
            <a:spAutoFit/>
          </a:bodyPr>
          <a:lstStyle/>
          <a:p>
            <a:r>
              <a:rPr lang="pl-PL" sz="2000" dirty="0">
                <a:latin typeface="Arial Narrow" panose="020B0606020202030204" pitchFamily="34" charset="0"/>
              </a:rPr>
              <a:t>Uczenie maszynowe to </a:t>
            </a:r>
            <a:r>
              <a:rPr lang="pl-PL" sz="2000" b="1" dirty="0">
                <a:latin typeface="Arial Narrow" panose="020B0606020202030204" pitchFamily="34" charset="0"/>
              </a:rPr>
              <a:t>kompromis między optymalizacją a uogólnieniem</a:t>
            </a:r>
            <a:r>
              <a:rPr lang="pl-PL" sz="2000" dirty="0">
                <a:latin typeface="Arial Narrow" panose="020B0606020202030204" pitchFamily="34" charset="0"/>
              </a:rPr>
              <a:t>, między nadmiernym dopasowaniem </a:t>
            </a:r>
            <a:r>
              <a:rPr lang="pl-PL" sz="2000">
                <a:latin typeface="Arial Narrow" panose="020B0606020202030204" pitchFamily="34" charset="0"/>
              </a:rPr>
              <a:t>a niedopasowaniem, </a:t>
            </a:r>
            <a:r>
              <a:rPr lang="pl-PL" sz="2000" dirty="0">
                <a:latin typeface="Arial Narrow" panose="020B0606020202030204" pitchFamily="34" charset="0"/>
              </a:rPr>
              <a:t>a więc wymaga poszukiwania optymalnej pojemności modelu.</a:t>
            </a:r>
          </a:p>
          <a:p>
            <a:endParaRPr lang="pl-PL" sz="2000" dirty="0">
              <a:latin typeface="Arial Narrow" panose="020B0606020202030204" pitchFamily="34" charset="0"/>
            </a:endParaRPr>
          </a:p>
          <a:p>
            <a:r>
              <a:rPr lang="pl-PL" sz="2000" dirty="0">
                <a:latin typeface="Arial Narrow" panose="020B0606020202030204" pitchFamily="34" charset="0"/>
              </a:rPr>
              <a:t>Eksperymentując należy zawsze obserwować wartości straty trenowania i walidacji. Spadek wydajności modelu na danych walidacyjnych oznacza, że osiągnięto nadmierne dopasowanie.</a:t>
            </a:r>
          </a:p>
          <a:p>
            <a:r>
              <a:rPr lang="pl-PL" sz="2000">
                <a:latin typeface="Arial Narrow" panose="020B0606020202030204" pitchFamily="34" charset="0"/>
              </a:rPr>
              <a:t>Regularyzacja</a:t>
            </a:r>
            <a:r>
              <a:rPr lang="pl-PL" sz="2000" dirty="0">
                <a:latin typeface="Arial Narrow" panose="020B0606020202030204" pitchFamily="34" charset="0"/>
              </a:rPr>
              <a:t> i dostrajanie pozwalają uzyskać model optymalny. Wymaga to wielokrotnego wykonywania następujących operacji:</a:t>
            </a:r>
          </a:p>
          <a:p>
            <a:pPr marL="177800" indent="-177800">
              <a:buFont typeface="Arial" panose="020B0604020202020204" pitchFamily="34" charset="0"/>
              <a:buChar char="•"/>
            </a:pPr>
            <a:r>
              <a:rPr lang="pl-PL" sz="2000" dirty="0">
                <a:latin typeface="Arial Narrow" panose="020B0606020202030204" pitchFamily="34" charset="0"/>
              </a:rPr>
              <a:t>modyfikowanie modelu,</a:t>
            </a:r>
          </a:p>
          <a:p>
            <a:pPr marL="177800" indent="-177800">
              <a:buFont typeface="Arial" panose="020B0604020202020204" pitchFamily="34" charset="0"/>
              <a:buChar char="•"/>
            </a:pPr>
            <a:r>
              <a:rPr lang="pl-PL" sz="2000" dirty="0">
                <a:latin typeface="Arial Narrow" panose="020B0606020202030204" pitchFamily="34" charset="0"/>
              </a:rPr>
              <a:t>trenowanie, </a:t>
            </a:r>
          </a:p>
          <a:p>
            <a:pPr marL="177800" indent="-177800">
              <a:buFont typeface="Arial" panose="020B0604020202020204" pitchFamily="34" charset="0"/>
              <a:buChar char="•"/>
            </a:pPr>
            <a:r>
              <a:rPr lang="pl-PL" sz="2000" dirty="0">
                <a:latin typeface="Arial Narrow" panose="020B0606020202030204" pitchFamily="34" charset="0"/>
              </a:rPr>
              <a:t>ocena na walidacyjnym zbiorze danych. </a:t>
            </a:r>
          </a:p>
          <a:p>
            <a:endParaRPr lang="pl-PL" sz="2000" dirty="0">
              <a:latin typeface="Arial Narrow" panose="020B0606020202030204" pitchFamily="34" charset="0"/>
            </a:endParaRPr>
          </a:p>
          <a:p>
            <a:r>
              <a:rPr lang="pl-PL" sz="2000" dirty="0">
                <a:latin typeface="Arial Narrow" panose="020B0606020202030204" pitchFamily="34" charset="0"/>
              </a:rPr>
              <a:t>Podczas takiego dostrajania modelu korzysta się z:</a:t>
            </a:r>
          </a:p>
          <a:p>
            <a:pPr marL="177800" indent="-177800">
              <a:buFont typeface="Arial" panose="020B0604020202020204" pitchFamily="34" charset="0"/>
              <a:buChar char="•"/>
            </a:pPr>
            <a:r>
              <a:rPr lang="pl-PL" sz="2000" dirty="0">
                <a:latin typeface="Arial Narrow" panose="020B0606020202030204" pitchFamily="34" charset="0"/>
              </a:rPr>
              <a:t>mechanizmu porzucania,</a:t>
            </a:r>
          </a:p>
          <a:p>
            <a:pPr marL="177800" indent="-177800">
              <a:buFont typeface="Arial" panose="020B0604020202020204" pitchFamily="34" charset="0"/>
              <a:buChar char="•"/>
            </a:pPr>
            <a:r>
              <a:rPr lang="pl-PL" sz="2000" dirty="0">
                <a:latin typeface="Arial Narrow" panose="020B0606020202030204" pitchFamily="34" charset="0"/>
              </a:rPr>
              <a:t>modyfikacji architektury sieci poprzez dodawanie i usuwanie warstw,</a:t>
            </a:r>
          </a:p>
          <a:p>
            <a:pPr marL="177800" indent="-177800">
              <a:buFont typeface="Arial" panose="020B0604020202020204" pitchFamily="34" charset="0"/>
              <a:buChar char="•"/>
            </a:pPr>
            <a:r>
              <a:rPr lang="pl-PL" sz="2000">
                <a:latin typeface="Arial Narrow" panose="020B0606020202030204" pitchFamily="34" charset="0"/>
              </a:rPr>
              <a:t>dodawania regularyzacji</a:t>
            </a:r>
            <a:r>
              <a:rPr lang="pl-PL" sz="2000" dirty="0">
                <a:latin typeface="Arial Narrow" panose="020B0606020202030204" pitchFamily="34" charset="0"/>
              </a:rPr>
              <a:t> L1 lub L2,</a:t>
            </a:r>
          </a:p>
          <a:p>
            <a:pPr marL="177800" indent="-177800">
              <a:buFont typeface="Arial" panose="020B0604020202020204" pitchFamily="34" charset="0"/>
              <a:buChar char="•"/>
            </a:pPr>
            <a:r>
              <a:rPr lang="pl-PL" sz="2000">
                <a:latin typeface="Arial Narrow" panose="020B0606020202030204" pitchFamily="34" charset="0"/>
              </a:rPr>
              <a:t>definiowania i modyfikacji </a:t>
            </a:r>
            <a:r>
              <a:rPr lang="pl-PL" sz="2000" dirty="0">
                <a:latin typeface="Arial Narrow" panose="020B0606020202030204" pitchFamily="34" charset="0"/>
              </a:rPr>
              <a:t>różnych </a:t>
            </a:r>
            <a:r>
              <a:rPr lang="pl-PL" sz="2000">
                <a:latin typeface="Arial Narrow" panose="020B0606020202030204" pitchFamily="34" charset="0"/>
              </a:rPr>
              <a:t>hiperparametrów</a:t>
            </a:r>
            <a:r>
              <a:rPr lang="pl-PL" sz="2000" dirty="0">
                <a:latin typeface="Arial Narrow" panose="020B0606020202030204" pitchFamily="34" charset="0"/>
              </a:rPr>
              <a:t>, jak liczba jednostek w poszczególnych warstwach, współczynnik uczenia się optymalizatora,</a:t>
            </a:r>
          </a:p>
          <a:p>
            <a:pPr marL="177800" indent="-177800">
              <a:buFont typeface="Arial" panose="020B0604020202020204" pitchFamily="34" charset="0"/>
              <a:buChar char="•"/>
            </a:pPr>
            <a:r>
              <a:rPr lang="pl-PL" sz="2000">
                <a:latin typeface="Arial Narrow" panose="020B0606020202030204" pitchFamily="34" charset="0"/>
              </a:rPr>
              <a:t>prowadzenia </a:t>
            </a:r>
            <a:r>
              <a:rPr lang="pl-PL" sz="2000" dirty="0">
                <a:latin typeface="Arial Narrow" panose="020B0606020202030204" pitchFamily="34" charset="0"/>
              </a:rPr>
              <a:t>inżynierii cech: dodawanie nowych, usuwanie tych, które wydają się nie zawierać przydatnych informacji.</a:t>
            </a:r>
          </a:p>
        </p:txBody>
      </p:sp>
      <p:sp>
        <p:nvSpPr>
          <p:cNvPr id="4" name="Rectangle 2">
            <a:extLst>
              <a:ext uri="{FF2B5EF4-FFF2-40B4-BE49-F238E27FC236}">
                <a16:creationId xmlns:a16="http://schemas.microsoft.com/office/drawing/2014/main" id="{64CDE78E-54C3-4A58-B34F-59BE488FA50E}"/>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Wybór </a:t>
            </a: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hiperparametrów</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 modelu</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71197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 calcmode="lin" valueType="num">
                                      <p:cBhvr additive="base">
                                        <p:cTn id="4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 calcmode="lin" valueType="num">
                                      <p:cBhvr additive="base">
                                        <p:cTn id="4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 calcmode="lin" valueType="num">
                                      <p:cBhvr additive="base">
                                        <p:cTn id="4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85</a:t>
            </a:fld>
            <a:endParaRPr lang="pl-PL" dirty="0"/>
          </a:p>
        </p:txBody>
      </p:sp>
      <p:sp>
        <p:nvSpPr>
          <p:cNvPr id="3" name="Rectangle 2"/>
          <p:cNvSpPr/>
          <p:nvPr/>
        </p:nvSpPr>
        <p:spPr>
          <a:xfrm>
            <a:off x="0" y="0"/>
            <a:ext cx="8991600" cy="5632311"/>
          </a:xfrm>
          <a:prstGeom prst="rect">
            <a:avLst/>
          </a:prstGeom>
        </p:spPr>
        <p:txBody>
          <a:bodyPr wrap="square">
            <a:spAutoFit/>
          </a:bodyPr>
          <a:lstStyle/>
          <a:p>
            <a:r>
              <a:rPr lang="pl-PL" sz="2400" b="1" dirty="0">
                <a:solidFill>
                  <a:srgbClr val="0070C0"/>
                </a:solidFill>
                <a:latin typeface="Arial Narrow" panose="020B0606020202030204" pitchFamily="34" charset="0"/>
              </a:rPr>
              <a:t>W jaki sposób dobrać parametry sieci aby działała jak najlepiej?</a:t>
            </a:r>
          </a:p>
          <a:p>
            <a:endParaRPr lang="pl-PL" sz="2400" dirty="0">
              <a:latin typeface="Arial Narrow" panose="020B0606020202030204" pitchFamily="34" charset="0"/>
            </a:endParaRPr>
          </a:p>
          <a:p>
            <a:r>
              <a:rPr lang="pl-PL" sz="2400" dirty="0">
                <a:latin typeface="Arial Narrow" panose="020B0606020202030204" pitchFamily="34" charset="0"/>
              </a:rPr>
              <a:t>„Dobór właściwej architektury sieci to raczej kwestia doświadczenia niż analizy naukowej. Jedyną odpowiedzią na to pytanie jest wykonanie wielu eksperymentów i prób. Może się okazać, że musimy nauczyć około 100 warstw sieci neuronowych, zanim osiągniemy optymalne parametry i strukturę dla zadania, które mamy rozwiązać. </a:t>
            </a:r>
            <a:r>
              <a:rPr lang="pl-PL" sz="2400" b="1" dirty="0">
                <a:latin typeface="Arial Narrow" panose="020B0606020202030204" pitchFamily="34" charset="0"/>
              </a:rPr>
              <a:t>Uczenie maszynowe to ciągłe uczenie się na błędach</a:t>
            </a:r>
            <a:r>
              <a:rPr lang="pl-PL" sz="2400" dirty="0">
                <a:latin typeface="Arial Narrow" panose="020B0606020202030204" pitchFamily="34" charset="0"/>
              </a:rPr>
              <a:t>”.</a:t>
            </a:r>
          </a:p>
          <a:p>
            <a:endParaRPr lang="pl-PL" sz="2400" dirty="0">
              <a:latin typeface="Arial Narrow" panose="020B0606020202030204" pitchFamily="34" charset="0"/>
            </a:endParaRPr>
          </a:p>
          <a:p>
            <a:r>
              <a:rPr lang="pl-PL" sz="2400" dirty="0">
                <a:latin typeface="Arial Narrow" panose="020B0606020202030204" pitchFamily="34" charset="0"/>
              </a:rPr>
              <a:t>„Algorytmy uczenia maszynowego nie prowadzą do dokładnego rozwiązania problemu matematycznego a jedynie </a:t>
            </a:r>
            <a:r>
              <a:rPr lang="pl-PL" sz="2400">
                <a:latin typeface="Arial Narrow" panose="020B0606020202030204" pitchFamily="34" charset="0"/>
              </a:rPr>
              <a:t>przybliżonego”.</a:t>
            </a:r>
          </a:p>
          <a:p>
            <a:endParaRPr lang="pl-PL" sz="2400">
              <a:latin typeface="Arial Narrow" panose="020B0606020202030204" pitchFamily="34" charset="0"/>
            </a:endParaRPr>
          </a:p>
          <a:p>
            <a:r>
              <a:rPr lang="pl-PL" sz="2400">
                <a:latin typeface="Arial Narrow" panose="020B0606020202030204" pitchFamily="34" charset="0"/>
              </a:rPr>
              <a:t>Sieci neuronowe nie sprawdzają się w sytuacji, w której szukamy interpretacji wyniku, np. istotności cechy, która tłumaczy, w jakim stopniu dana cecha oddziałuje na zmienną objaśnianą.</a:t>
            </a:r>
          </a:p>
        </p:txBody>
      </p:sp>
    </p:spTree>
    <p:extLst>
      <p:ext uri="{BB962C8B-B14F-4D97-AF65-F5344CB8AC3E}">
        <p14:creationId xmlns:p14="http://schemas.microsoft.com/office/powerpoint/2010/main" val="29882381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86</a:t>
            </a:fld>
            <a:endParaRPr lang="pl-PL" dirty="0"/>
          </a:p>
        </p:txBody>
      </p:sp>
      <p:sp>
        <p:nvSpPr>
          <p:cNvPr id="3" name="Rectangle 2"/>
          <p:cNvSpPr/>
          <p:nvPr/>
        </p:nvSpPr>
        <p:spPr>
          <a:xfrm>
            <a:off x="0" y="1"/>
            <a:ext cx="9144000" cy="3785652"/>
          </a:xfrm>
          <a:prstGeom prst="rect">
            <a:avLst/>
          </a:prstGeom>
        </p:spPr>
        <p:txBody>
          <a:bodyPr wrap="square">
            <a:spAutoFit/>
          </a:bodyPr>
          <a:lstStyle/>
          <a:p>
            <a:r>
              <a:rPr lang="pl-PL" sz="2400" b="1" dirty="0">
                <a:solidFill>
                  <a:srgbClr val="0070C0"/>
                </a:solidFill>
                <a:latin typeface="Arial Narrow" panose="020B0606020202030204" pitchFamily="34" charset="0"/>
              </a:rPr>
              <a:t>W jaki sposób dobrać parametry sieci aby działała jak najlepiej, c.d.:</a:t>
            </a:r>
          </a:p>
          <a:p>
            <a:endParaRPr lang="pl-PL" sz="2400" dirty="0">
              <a:latin typeface="Arial Narrow" panose="020B0606020202030204" pitchFamily="34" charset="0"/>
            </a:endParaRPr>
          </a:p>
          <a:p>
            <a:r>
              <a:rPr lang="pl-PL" sz="2400" dirty="0">
                <a:latin typeface="Arial Narrow" panose="020B0606020202030204" pitchFamily="34" charset="0"/>
              </a:rPr>
              <a:t>„Osoba zajmująca się uczeniem głębokim musi wypracować sobie intuicję na temat struktury głębokich sieci. Biorąc pod uwagę słaby stan teorii, praca empiryczna jest najlepszym sposobem nauki budowania modeli uczenia głębokiego”.</a:t>
            </a:r>
          </a:p>
          <a:p>
            <a:endParaRPr lang="pl-PL" sz="2400" dirty="0">
              <a:latin typeface="Arial Narrow" panose="020B0606020202030204" pitchFamily="34" charset="0"/>
            </a:endParaRPr>
          </a:p>
          <a:p>
            <a:r>
              <a:rPr lang="pl-PL" sz="2400" dirty="0">
                <a:latin typeface="Arial Narrow" panose="020B0606020202030204" pitchFamily="34" charset="0"/>
              </a:rPr>
              <a:t>„Bądź systematyczny: zapisuj swoje wybory i wyniki w arkuszu kalkulacyjnym i systematycznie badaj teren. Spróbuj zrozumieć efekty działania różnych </a:t>
            </a:r>
            <a:r>
              <a:rPr lang="pl-PL" sz="2400">
                <a:latin typeface="Arial Narrow" panose="020B0606020202030204" pitchFamily="34" charset="0"/>
              </a:rPr>
              <a:t>hiperparametrów”.</a:t>
            </a:r>
            <a:endParaRPr lang="pl-PL" sz="2400" dirty="0">
              <a:latin typeface="Arial Narrow" panose="020B0606020202030204" pitchFamily="34" charset="0"/>
            </a:endParaRPr>
          </a:p>
        </p:txBody>
      </p:sp>
    </p:spTree>
    <p:extLst>
      <p:ext uri="{BB962C8B-B14F-4D97-AF65-F5344CB8AC3E}">
        <p14:creationId xmlns:p14="http://schemas.microsoft.com/office/powerpoint/2010/main" val="2346988623"/>
      </p:ext>
    </p:extLst>
  </p:cSld>
  <p:clrMapOvr>
    <a:masterClrMapping/>
  </p:clrMapOvr>
</p:sld>
</file>

<file path=ppt/theme/theme1.xml><?xml version="1.0" encoding="utf-8"?>
<a:theme xmlns:a="http://schemas.openxmlformats.org/drawingml/2006/main" name="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emplate>
  <TotalTime>10830</TotalTime>
  <Words>7915</Words>
  <Application>Microsoft Office PowerPoint</Application>
  <PresentationFormat>On-screen Show (4:3)</PresentationFormat>
  <Paragraphs>810</Paragraphs>
  <Slides>86</Slides>
  <Notes>5</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86</vt:i4>
      </vt:variant>
    </vt:vector>
  </HeadingPairs>
  <TitlesOfParts>
    <vt:vector size="95" baseType="lpstr">
      <vt:lpstr>Arial</vt:lpstr>
      <vt:lpstr>Arial Narrow</vt:lpstr>
      <vt:lpstr>Calibri</vt:lpstr>
      <vt:lpstr>Cambria Math</vt:lpstr>
      <vt:lpstr>Candara</vt:lpstr>
      <vt:lpstr>Garamond</vt:lpstr>
      <vt:lpstr>Symbol</vt:lpstr>
      <vt:lpstr>Projekt niestandardowy</vt:lpstr>
      <vt:lpstr>1_Projekt niestandardowy</vt:lpstr>
      <vt:lpstr>Podstawy sieci neuronowych  Dariusz 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Dariusz Put</cp:lastModifiedBy>
  <cp:revision>1189</cp:revision>
  <cp:lastPrinted>1601-01-01T00:00:00Z</cp:lastPrinted>
  <dcterms:created xsi:type="dcterms:W3CDTF">1601-01-01T00:00:00Z</dcterms:created>
  <dcterms:modified xsi:type="dcterms:W3CDTF">2024-03-05T09:16:03Z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