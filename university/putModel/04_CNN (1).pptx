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11" r:id="rId1"/>
    <p:sldMasterId id="2147484236" r:id="rId2"/>
    <p:sldMasterId id="2147484223" r:id="rId3"/>
  </p:sldMasterIdLst>
  <p:notesMasterIdLst>
    <p:notesMasterId r:id="rId38"/>
  </p:notesMasterIdLst>
  <p:handoutMasterIdLst>
    <p:handoutMasterId r:id="rId39"/>
  </p:handoutMasterIdLst>
  <p:sldIdLst>
    <p:sldId id="291" r:id="rId4"/>
    <p:sldId id="488" r:id="rId5"/>
    <p:sldId id="490" r:id="rId6"/>
    <p:sldId id="470" r:id="rId7"/>
    <p:sldId id="491" r:id="rId8"/>
    <p:sldId id="497" r:id="rId9"/>
    <p:sldId id="495" r:id="rId10"/>
    <p:sldId id="496" r:id="rId11"/>
    <p:sldId id="492" r:id="rId12"/>
    <p:sldId id="493" r:id="rId13"/>
    <p:sldId id="484" r:id="rId14"/>
    <p:sldId id="485" r:id="rId15"/>
    <p:sldId id="486" r:id="rId16"/>
    <p:sldId id="412" r:id="rId17"/>
    <p:sldId id="431" r:id="rId18"/>
    <p:sldId id="478" r:id="rId19"/>
    <p:sldId id="479" r:id="rId20"/>
    <p:sldId id="480" r:id="rId21"/>
    <p:sldId id="482" r:id="rId22"/>
    <p:sldId id="472" r:id="rId23"/>
    <p:sldId id="473" r:id="rId24"/>
    <p:sldId id="436" r:id="rId25"/>
    <p:sldId id="481" r:id="rId26"/>
    <p:sldId id="489" r:id="rId27"/>
    <p:sldId id="483" r:id="rId28"/>
    <p:sldId id="474" r:id="rId29"/>
    <p:sldId id="471" r:id="rId30"/>
    <p:sldId id="487" r:id="rId31"/>
    <p:sldId id="475" r:id="rId32"/>
    <p:sldId id="413" r:id="rId33"/>
    <p:sldId id="464" r:id="rId34"/>
    <p:sldId id="465" r:id="rId35"/>
    <p:sldId id="498" r:id="rId36"/>
    <p:sldId id="499" r:id="rId37"/>
  </p:sldIdLst>
  <p:sldSz cx="12192000" cy="6858000"/>
  <p:notesSz cx="7099300" cy="10234613"/>
  <p:defaultTextStyle>
    <a:defPPr>
      <a:defRPr lang="pl-PL"/>
    </a:defPPr>
    <a:lvl1pPr algn="l" rtl="0" fontAlgn="base">
      <a:spcBef>
        <a:spcPct val="0"/>
      </a:spcBef>
      <a:spcAft>
        <a:spcPct val="0"/>
      </a:spcAft>
      <a:defRPr kern="1200">
        <a:solidFill>
          <a:schemeClr val="tx1"/>
        </a:solidFill>
        <a:latin typeface="Garamond" pitchFamily="18" charset="0"/>
        <a:ea typeface="+mn-ea"/>
        <a:cs typeface="+mn-cs"/>
      </a:defRPr>
    </a:lvl1pPr>
    <a:lvl2pPr marL="457200" algn="l" rtl="0" fontAlgn="base">
      <a:spcBef>
        <a:spcPct val="0"/>
      </a:spcBef>
      <a:spcAft>
        <a:spcPct val="0"/>
      </a:spcAft>
      <a:defRPr kern="1200">
        <a:solidFill>
          <a:schemeClr val="tx1"/>
        </a:solidFill>
        <a:latin typeface="Garamond" pitchFamily="18" charset="0"/>
        <a:ea typeface="+mn-ea"/>
        <a:cs typeface="+mn-cs"/>
      </a:defRPr>
    </a:lvl2pPr>
    <a:lvl3pPr marL="914400" algn="l" rtl="0" fontAlgn="base">
      <a:spcBef>
        <a:spcPct val="0"/>
      </a:spcBef>
      <a:spcAft>
        <a:spcPct val="0"/>
      </a:spcAft>
      <a:defRPr kern="1200">
        <a:solidFill>
          <a:schemeClr val="tx1"/>
        </a:solidFill>
        <a:latin typeface="Garamond" pitchFamily="18" charset="0"/>
        <a:ea typeface="+mn-ea"/>
        <a:cs typeface="+mn-cs"/>
      </a:defRPr>
    </a:lvl3pPr>
    <a:lvl4pPr marL="1371600" algn="l" rtl="0" fontAlgn="base">
      <a:spcBef>
        <a:spcPct val="0"/>
      </a:spcBef>
      <a:spcAft>
        <a:spcPct val="0"/>
      </a:spcAft>
      <a:defRPr kern="1200">
        <a:solidFill>
          <a:schemeClr val="tx1"/>
        </a:solidFill>
        <a:latin typeface="Garamond" pitchFamily="18" charset="0"/>
        <a:ea typeface="+mn-ea"/>
        <a:cs typeface="+mn-cs"/>
      </a:defRPr>
    </a:lvl4pPr>
    <a:lvl5pPr marL="1828800" algn="l" rtl="0" fontAlgn="base">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1D24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Styl z motywem 1 — Ak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2" autoAdjust="0"/>
    <p:restoredTop sz="95059" autoAdjust="0"/>
  </p:normalViewPr>
  <p:slideViewPr>
    <p:cSldViewPr>
      <p:cViewPr varScale="1">
        <p:scale>
          <a:sx n="78" d="100"/>
          <a:sy n="78" d="100"/>
        </p:scale>
        <p:origin x="1013" y="5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83" d="100"/>
          <a:sy n="83" d="100"/>
        </p:scale>
        <p:origin x="3072" y="-192"/>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7099300" cy="5453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lgn="ctr"/>
            <a:endParaRPr lang="pl-PL" dirty="0"/>
          </a:p>
        </p:txBody>
      </p:sp>
      <p:sp>
        <p:nvSpPr>
          <p:cNvPr id="45060" name="Rectangle 4"/>
          <p:cNvSpPr>
            <a:spLocks noGrp="1" noChangeArrowheads="1"/>
          </p:cNvSpPr>
          <p:nvPr>
            <p:ph type="ftr" sz="quarter" idx="2"/>
          </p:nvPr>
        </p:nvSpPr>
        <p:spPr bwMode="auto">
          <a:xfrm>
            <a:off x="0" y="9719329"/>
            <a:ext cx="3075424"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pl-PL" dirty="0"/>
          </a:p>
        </p:txBody>
      </p:sp>
      <p:sp>
        <p:nvSpPr>
          <p:cNvPr id="45061" name="Rectangle 5"/>
          <p:cNvSpPr>
            <a:spLocks noGrp="1" noChangeArrowheads="1"/>
          </p:cNvSpPr>
          <p:nvPr>
            <p:ph type="sldNum" sz="quarter" idx="3"/>
          </p:nvPr>
        </p:nvSpPr>
        <p:spPr bwMode="auto">
          <a:xfrm>
            <a:off x="4021528" y="9719329"/>
            <a:ext cx="3076599"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5AEE7B2C-8B7B-4E41-9BE9-6DFEE0C05302}" type="slidenum">
              <a:rPr lang="pl-PL"/>
              <a:pPr/>
              <a:t>‹#›</a:t>
            </a:fld>
            <a:endParaRPr lang="pl-PL" dirty="0"/>
          </a:p>
        </p:txBody>
      </p:sp>
      <p:cxnSp>
        <p:nvCxnSpPr>
          <p:cNvPr id="6" name="Łącznik prosty 5"/>
          <p:cNvCxnSpPr/>
          <p:nvPr/>
        </p:nvCxnSpPr>
        <p:spPr>
          <a:xfrm>
            <a:off x="0" y="468313"/>
            <a:ext cx="70993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4"/>
          <p:cNvSpPr txBox="1">
            <a:spLocks noChangeArrowheads="1"/>
          </p:cNvSpPr>
          <p:nvPr/>
        </p:nvSpPr>
        <p:spPr bwMode="auto">
          <a:xfrm>
            <a:off x="0" y="9718675"/>
            <a:ext cx="7099300" cy="5143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000" dirty="0" smtClean="0">
                <a:latin typeface="+mn-lt"/>
                <a:cs typeface="+mn-cs"/>
              </a:defRPr>
            </a:lvl1pPr>
          </a:lstStyle>
          <a:p>
            <a:pPr lvl="0">
              <a:defRPr/>
            </a:pPr>
            <a:r>
              <a:rPr lang="pl-PL" dirty="0"/>
              <a:t>Copyright</a:t>
            </a:r>
            <a:r>
              <a:rPr kumimoji="0" lang="en-GB" sz="1000" b="0" i="0" u="none" strike="noStrike" kern="1200" cap="none" spc="0" normalizeH="0" baseline="0" noProof="0" dirty="0">
                <a:ln>
                  <a:noFill/>
                </a:ln>
                <a:solidFill>
                  <a:schemeClr val="tx1"/>
                </a:solidFill>
                <a:effectLst/>
                <a:uLnTx/>
                <a:uFillTx/>
                <a:latin typeface="+mn-lt"/>
                <a:ea typeface="+mn-ea"/>
                <a:cs typeface="+mn-cs"/>
              </a:rPr>
              <a:t> © </a:t>
            </a:r>
            <a:r>
              <a:rPr kumimoji="0" lang="pl-PL" sz="1000" b="0" i="0" u="none" strike="noStrike" kern="1200" cap="none" spc="0" normalizeH="0" baseline="0" noProof="0" dirty="0">
                <a:ln>
                  <a:noFill/>
                </a:ln>
                <a:solidFill>
                  <a:schemeClr val="tx1"/>
                </a:solidFill>
                <a:effectLst/>
                <a:uLnTx/>
                <a:uFillTx/>
                <a:latin typeface="+mn-lt"/>
                <a:ea typeface="+mn-ea"/>
                <a:cs typeface="+mn-cs"/>
              </a:rPr>
              <a:t>by Uniwersytet Ekonomiczny w Krakowie</a:t>
            </a:r>
            <a:endParaRPr kumimoji="0" lang="en-GB" sz="1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l-PL" sz="10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Rectangle 2"/>
          <p:cNvSpPr txBox="1">
            <a:spLocks noChangeArrowheads="1"/>
          </p:cNvSpPr>
          <p:nvPr/>
        </p:nvSpPr>
        <p:spPr bwMode="auto">
          <a:xfrm>
            <a:off x="0" y="0"/>
            <a:ext cx="7099300" cy="544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1" dirty="0" smtClean="0">
                <a:latin typeface="+mn-lt"/>
                <a:cs typeface="+mn-cs"/>
              </a:defRPr>
            </a:lvl1pPr>
          </a:lstStyle>
          <a:p>
            <a:pPr lvl="0">
              <a:defRPr/>
            </a:pPr>
            <a:r>
              <a:rPr kumimoji="0" lang="pl-PL" sz="1000" b="1" i="0" u="none" strike="noStrike" kern="1200" cap="none" spc="0" normalizeH="0" baseline="0" noProof="0" dirty="0">
                <a:ln>
                  <a:noFill/>
                </a:ln>
                <a:solidFill>
                  <a:schemeClr val="tx1"/>
                </a:solidFill>
                <a:effectLst/>
                <a:uLnTx/>
                <a:uFillTx/>
                <a:latin typeface="+mn-lt"/>
                <a:ea typeface="+mn-ea"/>
                <a:cs typeface="+mn-cs"/>
              </a:rPr>
              <a:t>Materiały dla studentów z przedmiotu</a:t>
            </a:r>
            <a:r>
              <a:rPr kumimoji="0" lang="en-GB" sz="1000" b="1" i="0" u="none" strike="noStrike" kern="1200" cap="none" spc="0" normalizeH="0" baseline="0" noProof="0" dirty="0">
                <a:ln>
                  <a:noFill/>
                </a:ln>
                <a:solidFill>
                  <a:schemeClr val="tx1"/>
                </a:solidFill>
                <a:effectLst/>
                <a:uLnTx/>
                <a:uFillTx/>
                <a:latin typeface="+mn-lt"/>
                <a:ea typeface="+mn-ea"/>
                <a:cs typeface="+mn-cs"/>
              </a:rPr>
              <a:t> </a:t>
            </a:r>
            <a:r>
              <a:rPr lang="pl-PL" i="1" dirty="0"/>
              <a:t>Wprowadzenie do baz danych</a:t>
            </a:r>
            <a:endParaRPr kumimoji="0" lang="en-GB" sz="1000" b="1" i="1" u="none" strike="noStrike" kern="1200" cap="none" spc="0" normalizeH="0" baseline="0" noProof="0" dirty="0">
              <a:ln>
                <a:noFill/>
              </a:ln>
              <a:solidFill>
                <a:schemeClr val="tx1"/>
              </a:solidFill>
              <a:effectLst/>
              <a:uLnTx/>
              <a:uFillTx/>
              <a:latin typeface="+mn-lt"/>
              <a:ea typeface="+mn-ea"/>
              <a:cs typeface="+mn-cs"/>
            </a:endParaRPr>
          </a:p>
          <a:p>
            <a:pPr lvl="0">
              <a:defRPr/>
            </a:pPr>
            <a:r>
              <a:rPr kumimoji="0" lang="pl-PL" sz="1000" b="1" i="0" u="none" strike="noStrike" kern="1200" cap="none" spc="0" normalizeH="0" baseline="0" noProof="0" dirty="0">
                <a:ln>
                  <a:noFill/>
                </a:ln>
                <a:solidFill>
                  <a:schemeClr val="tx1"/>
                </a:solidFill>
                <a:effectLst/>
                <a:uLnTx/>
                <a:uFillTx/>
                <a:latin typeface="+mn-lt"/>
                <a:ea typeface="+mn-ea"/>
                <a:cs typeface="+mn-cs"/>
              </a:rPr>
              <a:t>Wprowadzenie</a:t>
            </a:r>
            <a:endParaRPr kumimoji="0" lang="en-GB" sz="10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075424" cy="513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pl-PL" dirty="0"/>
          </a:p>
        </p:txBody>
      </p:sp>
      <p:sp>
        <p:nvSpPr>
          <p:cNvPr id="49155" name="Rectangle 3"/>
          <p:cNvSpPr>
            <a:spLocks noGrp="1" noChangeArrowheads="1"/>
          </p:cNvSpPr>
          <p:nvPr>
            <p:ph type="dt" idx="1"/>
          </p:nvPr>
        </p:nvSpPr>
        <p:spPr bwMode="auto">
          <a:xfrm>
            <a:off x="4021528" y="0"/>
            <a:ext cx="3076599" cy="513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endParaRPr lang="pl-PL" dirty="0"/>
          </a:p>
        </p:txBody>
      </p:sp>
      <p:sp>
        <p:nvSpPr>
          <p:cNvPr id="49156" name="Rectangle 4"/>
          <p:cNvSpPr>
            <a:spLocks noGrp="1" noRot="1" noChangeAspect="1" noChangeArrowheads="1" noTextEdit="1"/>
          </p:cNvSpPr>
          <p:nvPr>
            <p:ph type="sldImg" idx="2"/>
          </p:nvPr>
        </p:nvSpPr>
        <p:spPr bwMode="auto">
          <a:xfrm>
            <a:off x="142875" y="768350"/>
            <a:ext cx="6818313" cy="3836988"/>
          </a:xfrm>
          <a:prstGeom prst="rect">
            <a:avLst/>
          </a:prstGeom>
          <a:noFill/>
          <a:ln w="9525">
            <a:solidFill>
              <a:srgbClr val="000000"/>
            </a:solidFill>
            <a:miter lim="800000"/>
            <a:headEnd/>
            <a:tailEnd/>
          </a:ln>
          <a:effectLst/>
        </p:spPr>
      </p:sp>
      <p:sp>
        <p:nvSpPr>
          <p:cNvPr id="49157" name="Rectangle 5"/>
          <p:cNvSpPr>
            <a:spLocks noGrp="1" noChangeArrowheads="1"/>
          </p:cNvSpPr>
          <p:nvPr>
            <p:ph type="body" sz="quarter" idx="3"/>
          </p:nvPr>
        </p:nvSpPr>
        <p:spPr bwMode="auto">
          <a:xfrm>
            <a:off x="710166" y="4861888"/>
            <a:ext cx="5678971" cy="46042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9158" name="Rectangle 6"/>
          <p:cNvSpPr>
            <a:spLocks noGrp="1" noChangeArrowheads="1"/>
          </p:cNvSpPr>
          <p:nvPr>
            <p:ph type="ftr" sz="quarter" idx="4"/>
          </p:nvPr>
        </p:nvSpPr>
        <p:spPr bwMode="auto">
          <a:xfrm>
            <a:off x="0" y="9719329"/>
            <a:ext cx="3075424"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pl-PL" dirty="0"/>
          </a:p>
        </p:txBody>
      </p:sp>
      <p:sp>
        <p:nvSpPr>
          <p:cNvPr id="49159" name="Rectangle 7"/>
          <p:cNvSpPr>
            <a:spLocks noGrp="1" noChangeArrowheads="1"/>
          </p:cNvSpPr>
          <p:nvPr>
            <p:ph type="sldNum" sz="quarter" idx="5"/>
          </p:nvPr>
        </p:nvSpPr>
        <p:spPr bwMode="auto">
          <a:xfrm>
            <a:off x="4021528" y="9719329"/>
            <a:ext cx="3076599"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88C4402D-B936-4E91-8F17-ABB741B4E7D2}" type="slidenum">
              <a:rPr lang="pl-PL"/>
              <a:pPr/>
              <a:t>‹#›</a:t>
            </a:fld>
            <a:endParaRPr lang="pl-PL"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22B04B-58CA-482F-803E-0DD9291FA5FC}" type="slidenum">
              <a:rPr lang="pl-PL"/>
              <a:pPr/>
              <a:t>1</a:t>
            </a:fld>
            <a:endParaRPr lang="pl-PL" dirty="0"/>
          </a:p>
        </p:txBody>
      </p:sp>
      <p:sp>
        <p:nvSpPr>
          <p:cNvPr id="197634" name="Rectangle 2"/>
          <p:cNvSpPr>
            <a:spLocks noGrp="1" noRot="1" noChangeAspect="1" noChangeArrowheads="1" noTextEdit="1"/>
          </p:cNvSpPr>
          <p:nvPr>
            <p:ph type="sldImg"/>
          </p:nvPr>
        </p:nvSpPr>
        <p:spPr>
          <a:xfrm>
            <a:off x="144463" y="768350"/>
            <a:ext cx="6819900" cy="3836988"/>
          </a:xfrm>
          <a:ln/>
        </p:spPr>
      </p:sp>
      <p:sp>
        <p:nvSpPr>
          <p:cNvPr id="197635" name="Rectangle 3"/>
          <p:cNvSpPr>
            <a:spLocks noGrp="1" noChangeArrowheads="1"/>
          </p:cNvSpPr>
          <p:nvPr>
            <p:ph type="body" idx="1"/>
          </p:nvPr>
        </p:nvSpPr>
        <p:spPr>
          <a:xfrm>
            <a:off x="947279" y="4859666"/>
            <a:ext cx="5204745" cy="4606464"/>
          </a:xfrm>
        </p:spPr>
        <p:txBody>
          <a:bodyPr/>
          <a:lstStyle/>
          <a:p>
            <a:endParaRPr lang="pl-PL"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a:xfrm>
            <a:off x="142875" y="768350"/>
            <a:ext cx="6818313" cy="3836988"/>
          </a:xfrm>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14</a:t>
            </a:fld>
            <a:endParaRPr lang="pl-PL"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a:xfrm>
            <a:off x="142875" y="768350"/>
            <a:ext cx="6818313" cy="3836988"/>
          </a:xfrm>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15</a:t>
            </a:fld>
            <a:endParaRPr lang="pl-PL"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a:xfrm>
            <a:off x="142875" y="768350"/>
            <a:ext cx="6818313" cy="3836988"/>
          </a:xfrm>
        </p:spPr>
      </p:sp>
      <p:sp>
        <p:nvSpPr>
          <p:cNvPr id="3" name="Symbol zastępczy notatek 2"/>
          <p:cNvSpPr>
            <a:spLocks noGrp="1"/>
          </p:cNvSpPr>
          <p:nvPr>
            <p:ph type="body" idx="1"/>
          </p:nvPr>
        </p:nvSpPr>
        <p:spPr/>
        <p:txBody>
          <a:bodyPr/>
          <a:lstStyle/>
          <a:p>
            <a:r>
              <a:rPr lang="pl-PL" dirty="0"/>
              <a:t>Porównujemy </a:t>
            </a:r>
            <a:r>
              <a:rPr lang="pl-PL"/>
              <a:t>analizowany obraz, </a:t>
            </a:r>
            <a:r>
              <a:rPr lang="pl-PL" dirty="0"/>
              <a:t>na którym nie wiemy, </a:t>
            </a:r>
            <a:r>
              <a:rPr lang="pl-PL"/>
              <a:t>co jest, </a:t>
            </a:r>
            <a:r>
              <a:rPr lang="pl-PL" dirty="0"/>
              <a:t>z wynikiem otrzymanym </a:t>
            </a:r>
            <a:r>
              <a:rPr lang="pl-PL"/>
              <a:t>dla obrazu, </a:t>
            </a:r>
            <a:r>
              <a:rPr lang="pl-PL" dirty="0"/>
              <a:t>na którym był krzyżyk. Bierzemy pod uwagę tylko te głosy dla </a:t>
            </a:r>
            <a:r>
              <a:rPr lang="pl-PL"/>
              <a:t>analizowanego obrazu, </a:t>
            </a:r>
            <a:r>
              <a:rPr lang="pl-PL" dirty="0"/>
              <a:t>których</a:t>
            </a:r>
            <a:r>
              <a:rPr lang="pl-PL" baseline="0" dirty="0"/>
              <a:t> odpowiednikiem we wzorcu jest liczba 1.</a:t>
            </a:r>
            <a:endParaRPr lang="en-GB"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29</a:t>
            </a:fld>
            <a:endParaRPr lang="pl-PL" dirty="0"/>
          </a:p>
        </p:txBody>
      </p:sp>
    </p:spTree>
    <p:extLst>
      <p:ext uri="{BB962C8B-B14F-4D97-AF65-F5344CB8AC3E}">
        <p14:creationId xmlns:p14="http://schemas.microsoft.com/office/powerpoint/2010/main" val="3609143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a:xfrm>
            <a:off x="142875" y="768350"/>
            <a:ext cx="6818313" cy="3836988"/>
          </a:xfrm>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30</a:t>
            </a:fld>
            <a:endParaRPr lang="pl-PL"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8" name="Symbol zastępczy stopki 7"/>
          <p:cNvSpPr>
            <a:spLocks noGrp="1"/>
          </p:cNvSpPr>
          <p:nvPr>
            <p:ph type="ftr" sz="quarter" idx="11"/>
          </p:nvPr>
        </p:nvSpPr>
        <p:spPr/>
        <p:txBody>
          <a:bodyPr/>
          <a:lstStyle/>
          <a:p>
            <a:endParaRPr lang="pl-PL" dirty="0"/>
          </a:p>
        </p:txBody>
      </p:sp>
      <p:sp>
        <p:nvSpPr>
          <p:cNvPr id="9" name="Symbol zastępczy numeru slajdu 8"/>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4" name="Symbol zastępczy stopki 3"/>
          <p:cNvSpPr>
            <a:spLocks noGrp="1"/>
          </p:cNvSpPr>
          <p:nvPr>
            <p:ph type="ftr" sz="quarter" idx="11"/>
          </p:nvPr>
        </p:nvSpPr>
        <p:spPr/>
        <p:txBody>
          <a:bodyPr/>
          <a:lstStyle/>
          <a:p>
            <a:endParaRPr lang="pl-PL" dirty="0"/>
          </a:p>
        </p:txBody>
      </p:sp>
      <p:sp>
        <p:nvSpPr>
          <p:cNvPr id="5" name="Symbol zastępczy numeru slajdu 4"/>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3" name="Symbol zastępczy stopki 2"/>
          <p:cNvSpPr>
            <a:spLocks noGrp="1"/>
          </p:cNvSpPr>
          <p:nvPr>
            <p:ph type="ftr" sz="quarter" idx="11"/>
          </p:nvPr>
        </p:nvSpPr>
        <p:spPr/>
        <p:txBody>
          <a:bodyPr/>
          <a:lstStyle/>
          <a:p>
            <a:endParaRPr lang="pl-PL" dirty="0"/>
          </a:p>
        </p:txBody>
      </p:sp>
      <p:sp>
        <p:nvSpPr>
          <p:cNvPr id="4" name="Symbol zastępczy numeru slajdu 3"/>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97874F0E-BC3B-4EDF-A997-5330FA2DBB9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8" name="Symbol zastępczy stopki 7"/>
          <p:cNvSpPr>
            <a:spLocks noGrp="1"/>
          </p:cNvSpPr>
          <p:nvPr>
            <p:ph type="ftr" sz="quarter" idx="11"/>
          </p:nvPr>
        </p:nvSpPr>
        <p:spPr/>
        <p:txBody>
          <a:bodyPr/>
          <a:lstStyle/>
          <a:p>
            <a:endParaRPr lang="pl-PL" dirty="0"/>
          </a:p>
        </p:txBody>
      </p:sp>
      <p:sp>
        <p:nvSpPr>
          <p:cNvPr id="9" name="Symbol zastępczy numeru slajdu 8"/>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4" name="Symbol zastępczy stopki 3"/>
          <p:cNvSpPr>
            <a:spLocks noGrp="1"/>
          </p:cNvSpPr>
          <p:nvPr>
            <p:ph type="ftr" sz="quarter" idx="11"/>
          </p:nvPr>
        </p:nvSpPr>
        <p:spPr/>
        <p:txBody>
          <a:bodyPr/>
          <a:lstStyle/>
          <a:p>
            <a:endParaRPr lang="pl-PL" dirty="0"/>
          </a:p>
        </p:txBody>
      </p:sp>
      <p:sp>
        <p:nvSpPr>
          <p:cNvPr id="5" name="Symbol zastępczy numeru slajdu 4"/>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3" name="Symbol zastępczy stopki 2"/>
          <p:cNvSpPr>
            <a:spLocks noGrp="1"/>
          </p:cNvSpPr>
          <p:nvPr>
            <p:ph type="ftr" sz="quarter" idx="11"/>
          </p:nvPr>
        </p:nvSpPr>
        <p:spPr/>
        <p:txBody>
          <a:bodyPr/>
          <a:lstStyle/>
          <a:p>
            <a:endParaRPr lang="pl-PL" dirty="0"/>
          </a:p>
        </p:txBody>
      </p:sp>
      <p:sp>
        <p:nvSpPr>
          <p:cNvPr id="4" name="Symbol zastępczy numeru slajdu 3"/>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632BCEAC-98C7-4A27-AFFD-76535B8A4334}" type="datetimeFigureOut">
              <a:rPr lang="pl-PL" smtClean="0"/>
              <a:pPr/>
              <a:t>18.03.2024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1_Slajd tytułowy">
    <p:spTree>
      <p:nvGrpSpPr>
        <p:cNvPr id="1" name=""/>
        <p:cNvGrpSpPr/>
        <p:nvPr/>
      </p:nvGrpSpPr>
      <p:grpSpPr>
        <a:xfrm>
          <a:off x="0" y="0"/>
          <a:ext cx="0" cy="0"/>
          <a:chOff x="0" y="0"/>
          <a:chExt cx="0" cy="0"/>
        </a:xfrm>
      </p:grpSpPr>
      <p:pic>
        <p:nvPicPr>
          <p:cNvPr id="5" name="Obraz 9" descr="logotyp IS.jpg"/>
          <p:cNvPicPr>
            <a:picLocks noChangeAspect="1"/>
          </p:cNvPicPr>
          <p:nvPr/>
        </p:nvPicPr>
        <p:blipFill>
          <a:blip r:embed="rId2" cstate="print"/>
          <a:srcRect/>
          <a:stretch>
            <a:fillRect/>
          </a:stretch>
        </p:blipFill>
        <p:spPr bwMode="auto">
          <a:xfrm>
            <a:off x="9144000" y="5943600"/>
            <a:ext cx="2743200" cy="725488"/>
          </a:xfrm>
          <a:prstGeom prst="rect">
            <a:avLst/>
          </a:prstGeom>
          <a:noFill/>
          <a:ln w="9525">
            <a:noFill/>
            <a:miter lim="800000"/>
            <a:headEnd/>
            <a:tailEnd/>
          </a:ln>
        </p:spPr>
      </p:pic>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l-PL"/>
              <a:t>Kliknij, aby edytować styl wzorca podtytułu</a:t>
            </a:r>
            <a:endParaRPr lang="pl-PL" dirty="0"/>
          </a:p>
        </p:txBody>
      </p:sp>
      <p:sp>
        <p:nvSpPr>
          <p:cNvPr id="8" name="Symbol zastępczy numeru slajdu 5"/>
          <p:cNvSpPr>
            <a:spLocks noGrp="1"/>
          </p:cNvSpPr>
          <p:nvPr>
            <p:ph type="sldNum" sz="quarter" idx="12"/>
          </p:nvPr>
        </p:nvSpPr>
        <p:spPr/>
        <p:txBody>
          <a:bodyPr/>
          <a:lstStyle>
            <a:lvl1pPr>
              <a:defRPr smtClean="0"/>
            </a:lvl1pPr>
          </a:lstStyle>
          <a:p>
            <a:fld id="{7E179A1A-A0F5-4001-A6E3-A7675233E5F9}" type="slidenum">
              <a:rPr lang="pl-PL" smtClean="0"/>
              <a:pPr/>
              <a:t>‹#›</a:t>
            </a:fld>
            <a:endParaRPr lang="pl-PL" dirty="0"/>
          </a:p>
        </p:txBody>
      </p:sp>
      <p:pic>
        <p:nvPicPr>
          <p:cNvPr id="11" name="Obraz 10" descr="wizualizacja UE.jpg"/>
          <p:cNvPicPr>
            <a:picLocks noChangeAspect="1"/>
          </p:cNvPicPr>
          <p:nvPr/>
        </p:nvPicPr>
        <p:blipFill>
          <a:blip r:embed="rId3" cstate="print"/>
          <a:stretch>
            <a:fillRect/>
          </a:stretch>
        </p:blipFill>
        <p:spPr>
          <a:xfrm>
            <a:off x="0" y="76200"/>
            <a:ext cx="12192000" cy="993120"/>
          </a:xfrm>
          <a:prstGeom prst="rect">
            <a:avLst/>
          </a:prstGeom>
        </p:spPr>
      </p:pic>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Slajd tytułowy">
    <p:spTree>
      <p:nvGrpSpPr>
        <p:cNvPr id="1" name=""/>
        <p:cNvGrpSpPr/>
        <p:nvPr/>
      </p:nvGrpSpPr>
      <p:grpSpPr>
        <a:xfrm>
          <a:off x="0" y="0"/>
          <a:ext cx="0" cy="0"/>
          <a:chOff x="0" y="0"/>
          <a:chExt cx="0" cy="0"/>
        </a:xfrm>
      </p:grpSpPr>
      <p:sp>
        <p:nvSpPr>
          <p:cNvPr id="24" name="Rectangle 26"/>
          <p:cNvSpPr>
            <a:spLocks noGrp="1"/>
          </p:cNvSpPr>
          <p:nvPr>
            <p:ph type="subTitle" idx="1"/>
          </p:nvPr>
        </p:nvSpPr>
        <p:spPr>
          <a:xfrm>
            <a:off x="1828800" y="3657601"/>
            <a:ext cx="8534400" cy="1967089"/>
          </a:xfrm>
        </p:spPr>
        <p:txBody>
          <a:bodyPr>
            <a:normAutofit/>
          </a:bodyPr>
          <a:lstStyle>
            <a:lvl1pPr marL="0" indent="0" algn="ctr">
              <a:buNone/>
              <a:defRPr lang="en-US" sz="3000" b="0">
                <a:solidFill>
                  <a:schemeClr val="tx2"/>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pl-PL"/>
              <a:t>Kliknij, aby edytować styl wzorca podtytułu</a:t>
            </a:r>
            <a:endParaRPr lang="en-US" dirty="0"/>
          </a:p>
        </p:txBody>
      </p:sp>
      <p:sp>
        <p:nvSpPr>
          <p:cNvPr id="20" name="Tytuł 19"/>
          <p:cNvSpPr>
            <a:spLocks noGrp="1"/>
          </p:cNvSpPr>
          <p:nvPr>
            <p:ph type="title"/>
          </p:nvPr>
        </p:nvSpPr>
        <p:spPr>
          <a:xfrm>
            <a:off x="609600" y="304800"/>
            <a:ext cx="10972800" cy="3267076"/>
          </a:xfrm>
        </p:spPr>
        <p:txBody>
          <a:bodyPr/>
          <a:lstStyle>
            <a:lvl1pPr algn="ctr">
              <a:defRPr sz="5800"/>
            </a:lvl1pPr>
          </a:lstStyle>
          <a:p>
            <a:r>
              <a:rPr lang="pl-PL"/>
              <a:t>Kliknij, aby edytować styl</a:t>
            </a:r>
            <a:endParaRPr lang="en-US" dirty="0"/>
          </a:p>
        </p:txBody>
      </p:sp>
      <p:sp>
        <p:nvSpPr>
          <p:cNvPr id="7" name="Symbol zastępczy numeru slajdu 26"/>
          <p:cNvSpPr>
            <a:spLocks noGrp="1"/>
          </p:cNvSpPr>
          <p:nvPr>
            <p:ph type="sldNum" sz="quarter" idx="11"/>
          </p:nvPr>
        </p:nvSpPr>
        <p:spPr/>
        <p:txBody>
          <a:bodyPr/>
          <a:lstStyle>
            <a:lvl1pPr>
              <a:defRPr/>
            </a:lvl1pPr>
          </a:lstStyle>
          <a:p>
            <a:fld id="{1934D22F-1F04-4BF8-AF4B-817408F2A286}"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ytuł i zawartość">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GB" noProof="0" dirty="0" err="1"/>
              <a:t>Kliknij</a:t>
            </a:r>
            <a:r>
              <a:rPr lang="en-GB" noProof="0" dirty="0"/>
              <a:t>, </a:t>
            </a:r>
            <a:r>
              <a:rPr lang="en-GB" noProof="0" dirty="0" err="1"/>
              <a:t>aby</a:t>
            </a:r>
            <a:r>
              <a:rPr lang="en-GB" noProof="0" dirty="0"/>
              <a:t> </a:t>
            </a:r>
            <a:r>
              <a:rPr lang="en-GB" noProof="0" dirty="0" err="1"/>
              <a:t>edytować</a:t>
            </a:r>
            <a:r>
              <a:rPr lang="en-GB" noProof="0" dirty="0"/>
              <a:t> </a:t>
            </a:r>
            <a:r>
              <a:rPr lang="en-GB" noProof="0" dirty="0" err="1"/>
              <a:t>styl</a:t>
            </a:r>
            <a:endParaRPr lang="en-GB" noProof="0" dirty="0"/>
          </a:p>
        </p:txBody>
      </p:sp>
      <p:sp>
        <p:nvSpPr>
          <p:cNvPr id="3" name="Rectangle 3"/>
          <p:cNvSpPr>
            <a:spLocks noGrp="1"/>
          </p:cNvSpPr>
          <p:nvPr>
            <p:ph idx="1"/>
          </p:nvPr>
        </p:nvSpPr>
        <p:spPr/>
        <p:txBody>
          <a:bodyPr/>
          <a:lstStyle/>
          <a:p>
            <a:pPr lvl="0"/>
            <a:r>
              <a:rPr lang="en-GB" noProof="0" dirty="0" err="1"/>
              <a:t>Kliknij</a:t>
            </a:r>
            <a:r>
              <a:rPr lang="en-GB" noProof="0" dirty="0"/>
              <a:t>, </a:t>
            </a:r>
            <a:r>
              <a:rPr lang="en-GB" noProof="0" dirty="0" err="1"/>
              <a:t>aby</a:t>
            </a:r>
            <a:r>
              <a:rPr lang="en-GB" noProof="0" dirty="0"/>
              <a:t> </a:t>
            </a:r>
            <a:r>
              <a:rPr lang="en-GB" noProof="0" dirty="0" err="1"/>
              <a:t>edytować</a:t>
            </a:r>
            <a:r>
              <a:rPr lang="en-GB" noProof="0" dirty="0"/>
              <a:t> style </a:t>
            </a:r>
            <a:r>
              <a:rPr lang="en-GB" noProof="0" dirty="0" err="1"/>
              <a:t>wzorca</a:t>
            </a:r>
            <a:r>
              <a:rPr lang="en-GB" noProof="0" dirty="0"/>
              <a:t> </a:t>
            </a:r>
            <a:r>
              <a:rPr lang="en-GB" noProof="0" dirty="0" err="1"/>
              <a:t>tekstu</a:t>
            </a:r>
            <a:endParaRPr lang="en-GB" noProof="0" dirty="0"/>
          </a:p>
          <a:p>
            <a:pPr lvl="1"/>
            <a:r>
              <a:rPr lang="en-GB" noProof="0" dirty="0" err="1"/>
              <a:t>Drugi</a:t>
            </a:r>
            <a:r>
              <a:rPr lang="en-GB" noProof="0" dirty="0"/>
              <a:t> </a:t>
            </a:r>
            <a:r>
              <a:rPr lang="en-GB" noProof="0" dirty="0" err="1"/>
              <a:t>poziom</a:t>
            </a:r>
            <a:endParaRPr lang="en-GB" noProof="0" dirty="0"/>
          </a:p>
          <a:p>
            <a:pPr lvl="2"/>
            <a:r>
              <a:rPr lang="en-GB" noProof="0" dirty="0" err="1"/>
              <a:t>Trzeci</a:t>
            </a:r>
            <a:r>
              <a:rPr lang="en-GB" noProof="0" dirty="0"/>
              <a:t> </a:t>
            </a:r>
            <a:r>
              <a:rPr lang="en-GB" noProof="0" dirty="0" err="1"/>
              <a:t>poziom</a:t>
            </a:r>
            <a:endParaRPr lang="en-GB" noProof="0" dirty="0"/>
          </a:p>
          <a:p>
            <a:pPr lvl="3"/>
            <a:r>
              <a:rPr lang="en-GB" noProof="0" dirty="0" err="1"/>
              <a:t>Czwarty</a:t>
            </a:r>
            <a:r>
              <a:rPr lang="en-GB" noProof="0" dirty="0"/>
              <a:t> </a:t>
            </a:r>
            <a:r>
              <a:rPr lang="en-GB" noProof="0" dirty="0" err="1"/>
              <a:t>poziom</a:t>
            </a:r>
            <a:endParaRPr lang="en-GB" noProof="0" dirty="0"/>
          </a:p>
          <a:p>
            <a:pPr lvl="4"/>
            <a:r>
              <a:rPr lang="en-GB" noProof="0" dirty="0" err="1"/>
              <a:t>Piąty</a:t>
            </a:r>
            <a:r>
              <a:rPr lang="en-GB" noProof="0" dirty="0"/>
              <a:t> </a:t>
            </a:r>
            <a:r>
              <a:rPr lang="en-GB" noProof="0" dirty="0" err="1"/>
              <a:t>poziom</a:t>
            </a:r>
            <a:endParaRPr lang="en-GB" noProof="0" dirty="0"/>
          </a:p>
        </p:txBody>
      </p:sp>
      <p:sp>
        <p:nvSpPr>
          <p:cNvPr id="4" name="Rectangle 4"/>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5" name="Rectangle 5"/>
          <p:cNvSpPr>
            <a:spLocks noGrp="1"/>
          </p:cNvSpPr>
          <p:nvPr>
            <p:ph type="ftr" sz="quarter" idx="11"/>
          </p:nvPr>
        </p:nvSpPr>
        <p:spPr/>
        <p:txBody>
          <a:bodyPr/>
          <a:lstStyle>
            <a:lvl1pPr>
              <a:defRPr/>
            </a:lvl1pPr>
          </a:lstStyle>
          <a:p>
            <a:endParaRPr lang="pl-PL" dirty="0"/>
          </a:p>
        </p:txBody>
      </p:sp>
      <p:sp>
        <p:nvSpPr>
          <p:cNvPr id="6" name="Rectangle 6"/>
          <p:cNvSpPr>
            <a:spLocks noGrp="1"/>
          </p:cNvSpPr>
          <p:nvPr>
            <p:ph type="sldNum" sz="quarter" idx="12"/>
          </p:nvPr>
        </p:nvSpPr>
        <p:spPr/>
        <p:txBody>
          <a:bodyPr/>
          <a:lstStyle>
            <a:lvl1pPr>
              <a:defRPr/>
            </a:lvl1pPr>
          </a:lstStyle>
          <a:p>
            <a:fld id="{83D82602-3ACC-4341-B614-755528165B64}"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Nagłówek sekcji">
    <p:spTree>
      <p:nvGrpSpPr>
        <p:cNvPr id="1" name=""/>
        <p:cNvGrpSpPr/>
        <p:nvPr/>
      </p:nvGrpSpPr>
      <p:grpSpPr>
        <a:xfrm>
          <a:off x="0" y="0"/>
          <a:ext cx="0" cy="0"/>
          <a:chOff x="0" y="0"/>
          <a:chExt cx="0" cy="0"/>
        </a:xfrm>
      </p:grpSpPr>
      <p:sp>
        <p:nvSpPr>
          <p:cNvPr id="2" name="Rectangle 2"/>
          <p:cNvSpPr>
            <a:spLocks noGrp="1"/>
          </p:cNvSpPr>
          <p:nvPr>
            <p:ph type="title"/>
          </p:nvPr>
        </p:nvSpPr>
        <p:spPr>
          <a:xfrm>
            <a:off x="963084" y="2685392"/>
            <a:ext cx="10363200" cy="3112843"/>
          </a:xfrm>
        </p:spPr>
        <p:txBody>
          <a:bodyPr anchor="t"/>
          <a:lstStyle>
            <a:lvl1pPr algn="ctr">
              <a:buNone/>
              <a:defRPr lang="en-US" sz="6000" b="1" dirty="0">
                <a:solidFill>
                  <a:schemeClr val="tx2">
                    <a:shade val="85000"/>
                    <a:satMod val="150000"/>
                  </a:schemeClr>
                </a:solidFill>
              </a:defRPr>
            </a:lvl1pPr>
          </a:lstStyle>
          <a:p>
            <a:r>
              <a:rPr lang="en-GB" noProof="0" dirty="0" err="1"/>
              <a:t>Kliknij</a:t>
            </a:r>
            <a:r>
              <a:rPr lang="en-GB" noProof="0" dirty="0"/>
              <a:t>, </a:t>
            </a:r>
            <a:r>
              <a:rPr lang="en-GB" noProof="0" dirty="0" err="1"/>
              <a:t>aby</a:t>
            </a:r>
            <a:r>
              <a:rPr lang="en-GB" noProof="0" dirty="0"/>
              <a:t> </a:t>
            </a:r>
            <a:r>
              <a:rPr lang="en-GB" noProof="0" dirty="0" err="1"/>
              <a:t>edytować</a:t>
            </a:r>
            <a:r>
              <a:rPr lang="en-GB" noProof="0" dirty="0"/>
              <a:t> </a:t>
            </a:r>
            <a:r>
              <a:rPr lang="en-GB" noProof="0" dirty="0" err="1"/>
              <a:t>styl</a:t>
            </a:r>
            <a:endParaRPr lang="en-GB" noProof="0" dirty="0"/>
          </a:p>
        </p:txBody>
      </p:sp>
      <p:sp>
        <p:nvSpPr>
          <p:cNvPr id="3" name="Rectangle 3"/>
          <p:cNvSpPr>
            <a:spLocks noGrp="1"/>
          </p:cNvSpPr>
          <p:nvPr>
            <p:ph type="body" idx="1"/>
          </p:nvPr>
        </p:nvSpPr>
        <p:spPr>
          <a:xfrm>
            <a:off x="963084" y="1128932"/>
            <a:ext cx="10363200" cy="1509712"/>
          </a:xfrm>
        </p:spPr>
        <p:txBody>
          <a:bodyPr anchor="b">
            <a:normAutofit/>
          </a:bodyPr>
          <a:lstStyle>
            <a:lvl1pPr algn="ctr">
              <a:buNone/>
              <a:defRPr lang="en-US" sz="2400" b="0" smtClean="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GB" noProof="0" dirty="0" err="1"/>
              <a:t>Kliknij</a:t>
            </a:r>
            <a:r>
              <a:rPr lang="en-GB" noProof="0" dirty="0"/>
              <a:t>, </a:t>
            </a:r>
            <a:r>
              <a:rPr lang="en-GB" noProof="0" dirty="0" err="1"/>
              <a:t>aby</a:t>
            </a:r>
            <a:r>
              <a:rPr lang="en-GB" noProof="0" dirty="0"/>
              <a:t> </a:t>
            </a:r>
            <a:r>
              <a:rPr lang="en-GB" noProof="0" dirty="0" err="1"/>
              <a:t>edytować</a:t>
            </a:r>
            <a:r>
              <a:rPr lang="en-GB" noProof="0" dirty="0"/>
              <a:t> style </a:t>
            </a:r>
            <a:r>
              <a:rPr lang="en-GB" noProof="0" dirty="0" err="1"/>
              <a:t>wzorca</a:t>
            </a:r>
            <a:r>
              <a:rPr lang="en-GB" noProof="0" dirty="0"/>
              <a:t> </a:t>
            </a:r>
            <a:r>
              <a:rPr lang="en-GB" noProof="0" dirty="0" err="1"/>
              <a:t>tekstu</a:t>
            </a:r>
            <a:endParaRPr lang="en-GB" noProof="0" dirty="0"/>
          </a:p>
        </p:txBody>
      </p:sp>
      <p:sp>
        <p:nvSpPr>
          <p:cNvPr id="4" name="Rectangle 4"/>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5" name="Rectangle 5"/>
          <p:cNvSpPr>
            <a:spLocks noGrp="1"/>
          </p:cNvSpPr>
          <p:nvPr>
            <p:ph type="ftr" sz="quarter" idx="11"/>
          </p:nvPr>
        </p:nvSpPr>
        <p:spPr/>
        <p:txBody>
          <a:bodyPr/>
          <a:lstStyle>
            <a:lvl1pPr>
              <a:defRPr/>
            </a:lvl1pPr>
          </a:lstStyle>
          <a:p>
            <a:endParaRPr lang="pl-PL" dirty="0"/>
          </a:p>
        </p:txBody>
      </p:sp>
      <p:sp>
        <p:nvSpPr>
          <p:cNvPr id="6" name="Rectangle 6"/>
          <p:cNvSpPr>
            <a:spLocks noGrp="1"/>
          </p:cNvSpPr>
          <p:nvPr>
            <p:ph type="sldNum" sz="quarter" idx="12"/>
          </p:nvPr>
        </p:nvSpPr>
        <p:spPr/>
        <p:txBody>
          <a:bodyPr/>
          <a:lstStyle>
            <a:lvl1pPr>
              <a:defRPr/>
            </a:lvl1pPr>
          </a:lstStyle>
          <a:p>
            <a:fld id="{9A7A7B9F-A4E2-478E-88C0-8808838EDADE}"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Dwa elementy zawartości">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pl-PL"/>
              <a:t>Kliknij, aby edytować styl</a:t>
            </a:r>
            <a:endParaRPr lang="en-US"/>
          </a:p>
        </p:txBody>
      </p:sp>
      <p:sp>
        <p:nvSpPr>
          <p:cNvPr id="3" name="Rectangle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Rectangle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Date Placeholder 4"/>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6" name="Rectangle 5"/>
          <p:cNvSpPr>
            <a:spLocks noGrp="1"/>
          </p:cNvSpPr>
          <p:nvPr>
            <p:ph type="ftr" sz="quarter" idx="11"/>
          </p:nvPr>
        </p:nvSpPr>
        <p:spPr/>
        <p:txBody>
          <a:bodyPr/>
          <a:lstStyle>
            <a:lvl1pPr>
              <a:defRPr/>
            </a:lvl1pPr>
          </a:lstStyle>
          <a:p>
            <a:endParaRPr lang="pl-PL" dirty="0"/>
          </a:p>
        </p:txBody>
      </p:sp>
      <p:sp>
        <p:nvSpPr>
          <p:cNvPr id="7" name="Rectangle 6"/>
          <p:cNvSpPr>
            <a:spLocks noGrp="1"/>
          </p:cNvSpPr>
          <p:nvPr>
            <p:ph type="sldNum" sz="quarter" idx="12"/>
          </p:nvPr>
        </p:nvSpPr>
        <p:spPr/>
        <p:txBody>
          <a:bodyPr/>
          <a:lstStyle>
            <a:lvl1pPr>
              <a:defRPr/>
            </a:lvl1pPr>
          </a:lstStyle>
          <a:p>
            <a:fld id="{316769CD-9C0F-4EAD-A457-AC02690CABB9}"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Porównanie">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lvl1pPr algn="l">
              <a:defRPr/>
            </a:lvl1pPr>
          </a:lstStyle>
          <a:p>
            <a:r>
              <a:rPr lang="pl-PL"/>
              <a:t>Kliknij, aby edytować styl</a:t>
            </a:r>
            <a:endParaRPr lang="en-US"/>
          </a:p>
        </p:txBody>
      </p:sp>
      <p:sp>
        <p:nvSpPr>
          <p:cNvPr id="3" name="Rectangle 2"/>
          <p:cNvSpPr>
            <a:spLocks noGrp="1"/>
          </p:cNvSpPr>
          <p:nvPr>
            <p:ph type="body" idx="1"/>
          </p:nvPr>
        </p:nvSpPr>
        <p:spPr>
          <a:xfrm>
            <a:off x="609600" y="1535113"/>
            <a:ext cx="5386917" cy="639762"/>
          </a:xfrm>
        </p:spPr>
        <p:txBody>
          <a:bodyPr anchor="b">
            <a:noAutofit/>
          </a:bodyPr>
          <a:lstStyle>
            <a:lvl1pPr marL="0" indent="0" algn="l">
              <a:buNone/>
              <a:defRPr sz="22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Rectangle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Rectangle 4"/>
          <p:cNvSpPr>
            <a:spLocks noGrp="1"/>
          </p:cNvSpPr>
          <p:nvPr>
            <p:ph type="body" sz="quarter" idx="3"/>
          </p:nvPr>
        </p:nvSpPr>
        <p:spPr>
          <a:xfrm>
            <a:off x="6193368" y="1535113"/>
            <a:ext cx="5389033" cy="639762"/>
          </a:xfrm>
        </p:spPr>
        <p:txBody>
          <a:bodyPr anchor="b">
            <a:noAutofit/>
          </a:bodyPr>
          <a:lstStyle>
            <a:lvl1pPr marL="0" indent="0" algn="l">
              <a:buNone/>
              <a:defRPr sz="22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Rectangle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7" name="Date Placeholder 6"/>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8" name="Rectangle 7"/>
          <p:cNvSpPr>
            <a:spLocks noGrp="1"/>
          </p:cNvSpPr>
          <p:nvPr>
            <p:ph type="ftr" sz="quarter" idx="11"/>
          </p:nvPr>
        </p:nvSpPr>
        <p:spPr/>
        <p:txBody>
          <a:bodyPr/>
          <a:lstStyle>
            <a:lvl1pPr>
              <a:defRPr/>
            </a:lvl1pPr>
          </a:lstStyle>
          <a:p>
            <a:endParaRPr lang="pl-PL" dirty="0"/>
          </a:p>
        </p:txBody>
      </p:sp>
      <p:sp>
        <p:nvSpPr>
          <p:cNvPr id="9" name="Rectangle 8"/>
          <p:cNvSpPr>
            <a:spLocks noGrp="1"/>
          </p:cNvSpPr>
          <p:nvPr>
            <p:ph type="sldNum" sz="quarter" idx="12"/>
          </p:nvPr>
        </p:nvSpPr>
        <p:spPr/>
        <p:txBody>
          <a:bodyPr/>
          <a:lstStyle>
            <a:lvl1pPr>
              <a:defRPr/>
            </a:lvl1pPr>
          </a:lstStyle>
          <a:p>
            <a:fld id="{BF88CAE6-C8BA-4C5E-95DA-70F0F0B51DD2}"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ylko tytuł">
    <p:spTree>
      <p:nvGrpSpPr>
        <p:cNvPr id="1" name=""/>
        <p:cNvGrpSpPr/>
        <p:nvPr/>
      </p:nvGrpSpPr>
      <p:grpSpPr>
        <a:xfrm>
          <a:off x="0" y="0"/>
          <a:ext cx="0" cy="0"/>
          <a:chOff x="0" y="0"/>
          <a:chExt cx="0" cy="0"/>
        </a:xfrm>
      </p:grpSpPr>
      <p:sp>
        <p:nvSpPr>
          <p:cNvPr id="9" name="Tytuł 8"/>
          <p:cNvSpPr>
            <a:spLocks noGrp="1"/>
          </p:cNvSpPr>
          <p:nvPr>
            <p:ph type="title"/>
          </p:nvPr>
        </p:nvSpPr>
        <p:spPr/>
        <p:txBody>
          <a:bodyPr/>
          <a:lstStyle/>
          <a:p>
            <a:r>
              <a:rPr lang="en-GB" noProof="0" dirty="0" err="1"/>
              <a:t>Kliknij</a:t>
            </a:r>
            <a:r>
              <a:rPr lang="en-GB" noProof="0" dirty="0"/>
              <a:t>, </a:t>
            </a:r>
            <a:r>
              <a:rPr lang="en-GB" noProof="0" dirty="0" err="1"/>
              <a:t>aby</a:t>
            </a:r>
            <a:r>
              <a:rPr lang="en-GB" noProof="0" dirty="0"/>
              <a:t> </a:t>
            </a:r>
            <a:r>
              <a:rPr lang="en-GB" noProof="0" dirty="0" err="1"/>
              <a:t>edytować</a:t>
            </a:r>
            <a:r>
              <a:rPr lang="en-GB" noProof="0" dirty="0"/>
              <a:t> </a:t>
            </a:r>
            <a:r>
              <a:rPr lang="en-GB" noProof="0" dirty="0" err="1"/>
              <a:t>styl</a:t>
            </a:r>
            <a:endParaRPr lang="en-GB" noProof="0" dirty="0"/>
          </a:p>
        </p:txBody>
      </p:sp>
      <p:sp>
        <p:nvSpPr>
          <p:cNvPr id="3" name="Symbol zastępczy daty 5"/>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4" name="Symbol zastępczy numeru slajdu 6"/>
          <p:cNvSpPr>
            <a:spLocks noGrp="1"/>
          </p:cNvSpPr>
          <p:nvPr>
            <p:ph type="sldNum" sz="quarter" idx="11"/>
          </p:nvPr>
        </p:nvSpPr>
        <p:spPr/>
        <p:txBody>
          <a:bodyPr/>
          <a:lstStyle>
            <a:lvl1pPr>
              <a:defRPr/>
            </a:lvl1pPr>
          </a:lstStyle>
          <a:p>
            <a:fld id="{CC9AA8DC-4906-4B66-9C9F-7CEF6B8C3D24}" type="slidenum">
              <a:rPr lang="pl-PL" smtClean="0"/>
              <a:pPr/>
              <a:t>‹#›</a:t>
            </a:fld>
            <a:endParaRPr lang="pl-PL" dirty="0"/>
          </a:p>
        </p:txBody>
      </p:sp>
      <p:sp>
        <p:nvSpPr>
          <p:cNvPr id="5" name="Symbol zastępczy stopki 7"/>
          <p:cNvSpPr>
            <a:spLocks noGrp="1"/>
          </p:cNvSpPr>
          <p:nvPr>
            <p:ph type="ftr" sz="quarter" idx="12"/>
          </p:nvPr>
        </p:nvSpPr>
        <p:spPr/>
        <p:txBody>
          <a:bodyPr/>
          <a:lstStyle>
            <a:lvl1pPr>
              <a:defRPr/>
            </a:lvl1pPr>
          </a:lstStyle>
          <a:p>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4" name="Rectangle 4"/>
          <p:cNvSpPr>
            <a:spLocks noGrp="1"/>
          </p:cNvSpPr>
          <p:nvPr>
            <p:ph type="sldNum" sz="quarter" idx="12"/>
          </p:nvPr>
        </p:nvSpPr>
        <p:spPr/>
        <p:txBody>
          <a:bodyPr/>
          <a:lstStyle>
            <a:lvl1pPr>
              <a:defRPr/>
            </a:lvl1pPr>
          </a:lstStyle>
          <a:p>
            <a:fld id="{8FBA5C85-AAD4-47BE-B152-06EBA5423A95}"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sp>
        <p:nvSpPr>
          <p:cNvPr id="2" name="Rectangle 1"/>
          <p:cNvSpPr>
            <a:spLocks noGrp="1"/>
          </p:cNvSpPr>
          <p:nvPr>
            <p:ph type="title"/>
          </p:nvPr>
        </p:nvSpPr>
        <p:spPr>
          <a:xfrm>
            <a:off x="609601" y="273050"/>
            <a:ext cx="4011084" cy="1162050"/>
          </a:xfrm>
        </p:spPr>
        <p:txBody>
          <a:bodyPr/>
          <a:lstStyle>
            <a:lvl1pPr algn="ctr">
              <a:defRPr sz="2400" b="1">
                <a:solidFill>
                  <a:schemeClr val="tx2"/>
                </a:solidFill>
                <a:effectLst>
                  <a:outerShdw blurRad="38100" dist="25400" dir="8220000" algn="tr" rotWithShape="0">
                    <a:prstClr val="black">
                      <a:alpha val="35000"/>
                    </a:prstClr>
                  </a:outerShdw>
                </a:effectLst>
              </a:defRPr>
            </a:lvl1pPr>
          </a:lstStyle>
          <a:p>
            <a:r>
              <a:rPr lang="pl-PL"/>
              <a:t>Kliknij, aby edytować styl</a:t>
            </a:r>
            <a:endParaRPr lang="en-US"/>
          </a:p>
        </p:txBody>
      </p:sp>
      <p:sp>
        <p:nvSpPr>
          <p:cNvPr id="3" name="Rectangle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Rectangle 3"/>
          <p:cNvSpPr>
            <a:spLocks noGrp="1"/>
          </p:cNvSpPr>
          <p:nvPr>
            <p:ph type="body" sz="half" idx="2"/>
          </p:nvPr>
        </p:nvSpPr>
        <p:spPr>
          <a:xfrm>
            <a:off x="609601" y="1435101"/>
            <a:ext cx="4011084" cy="4691063"/>
          </a:xfrm>
        </p:spPr>
        <p:txBody>
          <a:bodyPr/>
          <a:lstStyle>
            <a:lvl1pPr marL="0" indent="0" algn="ctr">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6" name="Rectangle 5"/>
          <p:cNvSpPr>
            <a:spLocks noGrp="1"/>
          </p:cNvSpPr>
          <p:nvPr>
            <p:ph type="ftr" sz="quarter" idx="11"/>
          </p:nvPr>
        </p:nvSpPr>
        <p:spPr/>
        <p:txBody>
          <a:bodyPr/>
          <a:lstStyle>
            <a:lvl1pPr>
              <a:defRPr/>
            </a:lvl1pPr>
          </a:lstStyle>
          <a:p>
            <a:endParaRPr lang="pl-PL" dirty="0"/>
          </a:p>
        </p:txBody>
      </p:sp>
      <p:sp>
        <p:nvSpPr>
          <p:cNvPr id="7" name="Rectangle 6"/>
          <p:cNvSpPr>
            <a:spLocks noGrp="1"/>
          </p:cNvSpPr>
          <p:nvPr>
            <p:ph type="sldNum" sz="quarter" idx="12"/>
          </p:nvPr>
        </p:nvSpPr>
        <p:spPr/>
        <p:txBody>
          <a:bodyPr/>
          <a:lstStyle>
            <a:lvl1pPr>
              <a:defRPr/>
            </a:lvl1pPr>
          </a:lstStyle>
          <a:p>
            <a:fld id="{D7FE20BB-BCA9-4C44-973E-AC8BB353618C}"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sp>
        <p:nvSpPr>
          <p:cNvPr id="5" name="Rectangle 7"/>
          <p:cNvSpPr/>
          <p:nvPr/>
        </p:nvSpPr>
        <p:spPr>
          <a:xfrm>
            <a:off x="969434" y="1062039"/>
            <a:ext cx="6134100" cy="3978275"/>
          </a:xfrm>
          <a:prstGeom prst="rect">
            <a:avLst/>
          </a:prstGeom>
          <a:solidFill>
            <a:schemeClr val="tx2">
              <a:shade val="15000"/>
            </a:schemeClr>
          </a:solidFill>
          <a:ln w="63500">
            <a:noFill/>
            <a:miter lim="800000"/>
          </a:ln>
          <a:effectLst>
            <a:outerShdw blurRad="63500" dist="25400" dir="7200000" algn="t" rotWithShape="0">
              <a:prstClr val="black">
                <a:alpha val="45000"/>
              </a:prstClr>
            </a:outerShdw>
          </a:effectLst>
        </p:spPr>
        <p:style>
          <a:lnRef idx="3">
            <a:schemeClr val="lt1"/>
          </a:lnRef>
          <a:fillRef idx="1">
            <a:schemeClr val="accent6"/>
          </a:fillRef>
          <a:effectRef idx="1">
            <a:schemeClr val="accent6"/>
          </a:effectRef>
          <a:fontRef idx="minor">
            <a:schemeClr val="lt1"/>
          </a:fontRef>
        </p:style>
        <p:txBody>
          <a:bodyPr lIns="45720" rIns="45720" anchor="ctr">
            <a:normAutofit/>
          </a:bodyPr>
          <a:lstStyle/>
          <a:p>
            <a:pPr indent="-274320">
              <a:buClr>
                <a:schemeClr val="accent1"/>
              </a:buClr>
              <a:buSzPct val="80000"/>
              <a:buFont typeface="Wingdings 2" pitchFamily="18" charset="2"/>
              <a:buNone/>
              <a:defRPr/>
            </a:pPr>
            <a:endParaRPr lang="en-US" sz="2000" dirty="0"/>
          </a:p>
        </p:txBody>
      </p:sp>
      <p:sp>
        <p:nvSpPr>
          <p:cNvPr id="2" name="Rectangle 2"/>
          <p:cNvSpPr>
            <a:spLocks noGrp="1"/>
          </p:cNvSpPr>
          <p:nvPr>
            <p:ph type="title"/>
          </p:nvPr>
        </p:nvSpPr>
        <p:spPr>
          <a:xfrm>
            <a:off x="7352715" y="4343400"/>
            <a:ext cx="4064000" cy="709858"/>
          </a:xfrm>
        </p:spPr>
        <p:txBody>
          <a:bodyPr anchor="t">
            <a:noAutofit/>
          </a:bodyPr>
          <a:lstStyle>
            <a:lvl1pPr algn="l">
              <a:buNone/>
              <a:defRPr sz="2200" b="1">
                <a:solidFill>
                  <a:schemeClr val="tx2"/>
                </a:solidFill>
                <a:effectLst>
                  <a:outerShdw blurRad="38100" dist="25400" dir="8220000" algn="tr" rotWithShape="0">
                    <a:prstClr val="black">
                      <a:alpha val="35000"/>
                    </a:prstClr>
                  </a:outerShdw>
                </a:effectLst>
              </a:defRPr>
            </a:lvl1pPr>
          </a:lstStyle>
          <a:p>
            <a:r>
              <a:rPr lang="pl-PL"/>
              <a:t>Kliknij, aby edytować styl</a:t>
            </a:r>
            <a:endParaRPr lang="en-US" dirty="0"/>
          </a:p>
        </p:txBody>
      </p:sp>
      <p:sp>
        <p:nvSpPr>
          <p:cNvPr id="3" name="Rectangle 3"/>
          <p:cNvSpPr>
            <a:spLocks noGrp="1"/>
          </p:cNvSpPr>
          <p:nvPr>
            <p:ph type="pic" idx="1"/>
          </p:nvPr>
        </p:nvSpPr>
        <p:spPr>
          <a:xfrm>
            <a:off x="986194" y="1222657"/>
            <a:ext cx="6100801" cy="3657600"/>
          </a:xfrm>
          <a:solidFill>
            <a:schemeClr val="tx2">
              <a:shade val="75000"/>
            </a:schemeClr>
          </a:solidFill>
          <a:ln w="63500">
            <a:noFill/>
            <a:miter lim="800000"/>
          </a:ln>
          <a:effectLst/>
        </p:spPr>
        <p:style>
          <a:lnRef idx="3">
            <a:schemeClr val="lt1"/>
          </a:lnRef>
          <a:fillRef idx="1">
            <a:schemeClr val="accent6"/>
          </a:fillRef>
          <a:effectRef idx="1">
            <a:schemeClr val="accent6"/>
          </a:effectRef>
          <a:fontRef idx="minor">
            <a:schemeClr val="lt1"/>
          </a:fontRef>
        </p:style>
        <p:txBody>
          <a:bodyPr>
            <a:normAutofit/>
          </a:bodyPr>
          <a:lstStyle>
            <a:lvl1pPr>
              <a:buNone/>
              <a:defRPr sz="3200"/>
            </a:lvl1pPr>
          </a:lstStyle>
          <a:p>
            <a:pPr lvl="0"/>
            <a:r>
              <a:rPr lang="pl-PL" noProof="0" dirty="0"/>
              <a:t>Kliknij ikonę, aby dodać obraz</a:t>
            </a:r>
            <a:endParaRPr lang="en-US" noProof="0" dirty="0"/>
          </a:p>
        </p:txBody>
      </p:sp>
      <p:sp>
        <p:nvSpPr>
          <p:cNvPr id="4" name="Rectangle 4"/>
          <p:cNvSpPr>
            <a:spLocks noGrp="1"/>
          </p:cNvSpPr>
          <p:nvPr>
            <p:ph type="body" sz="half" idx="2"/>
          </p:nvPr>
        </p:nvSpPr>
        <p:spPr>
          <a:xfrm>
            <a:off x="7352715" y="1371600"/>
            <a:ext cx="4059936" cy="2930086"/>
          </a:xfrm>
        </p:spPr>
        <p:txBody>
          <a:bodyPr bIns="0" anchor="b">
            <a:normAutofit/>
          </a:bodyPr>
          <a:lstStyle>
            <a:lvl1pPr marL="0" marR="0" indent="0" algn="l">
              <a:buFontTx/>
              <a:buNone/>
              <a:defRPr sz="1300">
                <a:solidFill>
                  <a:schemeClr val="tx1">
                    <a:tint val="95000"/>
                  </a:schemeClr>
                </a:solidFill>
              </a:defRPr>
            </a:lvl1pPr>
            <a:lvl2pPr marL="460375" marR="0" indent="-112713">
              <a:buFontTx/>
              <a:buNone/>
              <a:defRPr sz="1200"/>
            </a:lvl2pPr>
            <a:lvl3pPr marL="914400" marR="0" indent="-117475">
              <a:buFontTx/>
              <a:buNone/>
              <a:defRPr sz="1000"/>
            </a:lvl3pPr>
            <a:lvl4pPr marL="1316038" marR="0" indent="-112713">
              <a:buFontTx/>
              <a:buNone/>
              <a:defRPr sz="900"/>
            </a:lvl4pPr>
            <a:lvl5pPr marL="1711325" marR="0" indent="-117475">
              <a:buFontTx/>
              <a:buNone/>
              <a:defRPr sz="900"/>
            </a:lvl5pPr>
          </a:lstStyle>
          <a:p>
            <a:pPr lvl="0"/>
            <a:r>
              <a:rPr lang="pl-PL"/>
              <a:t>Kliknij, aby edytować style wzorca tekstu</a:t>
            </a:r>
          </a:p>
        </p:txBody>
      </p:sp>
      <p:sp>
        <p:nvSpPr>
          <p:cNvPr id="6" name="Date Placeholder 5"/>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7" name="Rectangle 6"/>
          <p:cNvSpPr>
            <a:spLocks noGrp="1"/>
          </p:cNvSpPr>
          <p:nvPr>
            <p:ph type="ftr" sz="quarter" idx="11"/>
          </p:nvPr>
        </p:nvSpPr>
        <p:spPr/>
        <p:txBody>
          <a:bodyPr/>
          <a:lstStyle>
            <a:lvl1pPr>
              <a:defRPr/>
            </a:lvl1pPr>
          </a:lstStyle>
          <a:p>
            <a:endParaRPr lang="pl-PL" dirty="0"/>
          </a:p>
        </p:txBody>
      </p:sp>
      <p:sp>
        <p:nvSpPr>
          <p:cNvPr id="8" name="Rectangle 7"/>
          <p:cNvSpPr>
            <a:spLocks noGrp="1"/>
          </p:cNvSpPr>
          <p:nvPr>
            <p:ph type="sldNum" sz="quarter" idx="12"/>
          </p:nvPr>
        </p:nvSpPr>
        <p:spPr/>
        <p:txBody>
          <a:bodyPr/>
          <a:lstStyle>
            <a:lvl1pPr>
              <a:defRPr/>
            </a:lvl1pPr>
          </a:lstStyle>
          <a:p>
            <a:fld id="{BC127F80-EF27-45F7-8D66-F37ADA1D5D32}"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5" name="Footer Placeholder 4"/>
          <p:cNvSpPr>
            <a:spLocks noGrp="1"/>
          </p:cNvSpPr>
          <p:nvPr>
            <p:ph type="ftr" sz="quarter" idx="11"/>
          </p:nvPr>
        </p:nvSpPr>
        <p:spPr/>
        <p:txBody>
          <a:bodyPr/>
          <a:lstStyle>
            <a:lvl1pPr>
              <a:defRPr/>
            </a:lvl1pPr>
          </a:lstStyle>
          <a:p>
            <a:endParaRPr lang="pl-PL" dirty="0"/>
          </a:p>
        </p:txBody>
      </p:sp>
      <p:sp>
        <p:nvSpPr>
          <p:cNvPr id="6" name="Slide Number Placeholder 5"/>
          <p:cNvSpPr>
            <a:spLocks noGrp="1"/>
          </p:cNvSpPr>
          <p:nvPr>
            <p:ph type="sldNum" sz="quarter" idx="12"/>
          </p:nvPr>
        </p:nvSpPr>
        <p:spPr/>
        <p:txBody>
          <a:bodyPr/>
          <a:lstStyle>
            <a:lvl1pPr>
              <a:defRPr/>
            </a:lvl1pPr>
          </a:lstStyle>
          <a:p>
            <a:fld id="{328E9841-B391-4F9A-85E3-312E3B574452}"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pl-PL"/>
              <a:t>Kliknij, aby edytować styl</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p:cNvSpPr>
            <a:spLocks noGrp="1"/>
          </p:cNvSpPr>
          <p:nvPr>
            <p:ph type="dt" sz="half" idx="10"/>
          </p:nvPr>
        </p:nvSpPr>
        <p:spPr>
          <a:xfrm>
            <a:off x="609600" y="6245225"/>
            <a:ext cx="2844800" cy="476250"/>
          </a:xfrm>
          <a:prstGeom prst="rect">
            <a:avLst/>
          </a:prstGeom>
        </p:spPr>
        <p:txBody>
          <a:bodyPr/>
          <a:lstStyle>
            <a:lvl1pPr>
              <a:defRPr/>
            </a:lvl1pPr>
          </a:lstStyle>
          <a:p>
            <a:endParaRPr lang="pl-PL" dirty="0"/>
          </a:p>
        </p:txBody>
      </p:sp>
      <p:sp>
        <p:nvSpPr>
          <p:cNvPr id="5" name="Footer Placeholder 4"/>
          <p:cNvSpPr>
            <a:spLocks noGrp="1"/>
          </p:cNvSpPr>
          <p:nvPr>
            <p:ph type="ftr" sz="quarter" idx="11"/>
          </p:nvPr>
        </p:nvSpPr>
        <p:spPr/>
        <p:txBody>
          <a:bodyPr/>
          <a:lstStyle>
            <a:lvl1pPr>
              <a:defRPr/>
            </a:lvl1pPr>
          </a:lstStyle>
          <a:p>
            <a:endParaRPr lang="pl-PL" dirty="0"/>
          </a:p>
        </p:txBody>
      </p:sp>
      <p:sp>
        <p:nvSpPr>
          <p:cNvPr id="6" name="Slide Number Placeholder 5"/>
          <p:cNvSpPr>
            <a:spLocks noGrp="1"/>
          </p:cNvSpPr>
          <p:nvPr>
            <p:ph type="sldNum" sz="quarter" idx="12"/>
          </p:nvPr>
        </p:nvSpPr>
        <p:spPr/>
        <p:txBody>
          <a:bodyPr/>
          <a:lstStyle>
            <a:lvl1pPr>
              <a:defRPr/>
            </a:lvl1pPr>
          </a:lstStyle>
          <a:p>
            <a:fld id="{F2A9D78A-F3DC-4F41-94DA-37A002F91882}" type="slidenum">
              <a:rPr lang="pl-PL" smtClean="0"/>
              <a:pPr/>
              <a:t>‹#›</a:t>
            </a:fld>
            <a:endParaRPr lang="pl-PL"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874F0E-BC3B-4EDF-A997-5330FA2DBB94}" type="datetimeFigureOut">
              <a:rPr lang="pl-PL" smtClean="0"/>
              <a:pPr/>
              <a:t>18.03.2024</a:t>
            </a:fld>
            <a:endParaRPr lang="pl-PL" dirty="0"/>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D4B2D9-DB10-4EB9-B7A6-032A6D4E75AC}"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4212" r:id="rId1"/>
    <p:sldLayoutId id="2147484213" r:id="rId2"/>
    <p:sldLayoutId id="2147484214" r:id="rId3"/>
    <p:sldLayoutId id="2147484215" r:id="rId4"/>
    <p:sldLayoutId id="2147484216" r:id="rId5"/>
    <p:sldLayoutId id="2147484217" r:id="rId6"/>
    <p:sldLayoutId id="2147484218" r:id="rId7"/>
    <p:sldLayoutId id="2147484219" r:id="rId8"/>
    <p:sldLayoutId id="2147484220" r:id="rId9"/>
    <p:sldLayoutId id="2147484221" r:id="rId10"/>
    <p:sldLayoutId id="214748422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BCEAC-98C7-4A27-AFFD-76535B8A4334}" type="datetimeFigureOut">
              <a:rPr lang="pl-PL" smtClean="0"/>
              <a:pPr/>
              <a:t>18.03.2024</a:t>
            </a:fld>
            <a:endParaRPr lang="pl-PL" dirty="0"/>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C1CA4F-6684-461B-A968-23E3DD2ABA14}"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0"/>
          <p:cNvSpPr>
            <a:spLocks noGrp="1"/>
          </p:cNvSpPr>
          <p:nvPr>
            <p:ph type="title"/>
          </p:nvPr>
        </p:nvSpPr>
        <p:spPr>
          <a:xfrm>
            <a:off x="609600" y="304800"/>
            <a:ext cx="10972800" cy="1143000"/>
          </a:xfrm>
          <a:prstGeom prst="rect">
            <a:avLst/>
          </a:prstGeom>
        </p:spPr>
        <p:txBody>
          <a:bodyPr vert="horz" wrap="square" lIns="91440" tIns="45720" rIns="91440" bIns="45720" numCol="1" anchor="b" anchorCtr="0" compatLnSpc="1">
            <a:prstTxWarp prst="textNoShape">
              <a:avLst/>
            </a:prstTxWarp>
            <a:normAutofit/>
          </a:bodyPr>
          <a:lstStyle/>
          <a:p>
            <a:pPr lvl="0"/>
            <a:r>
              <a:rPr lang="pl-PL"/>
              <a:t>Kliknij, aby edytować styl</a:t>
            </a:r>
            <a:endParaRPr lang="en-US"/>
          </a:p>
        </p:txBody>
      </p:sp>
      <p:sp>
        <p:nvSpPr>
          <p:cNvPr id="1027" name="Rectangle 11"/>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45720" tIns="45720" rIns="45720" bIns="45720" numCol="1" anchor="t" anchorCtr="0" compatLnSpc="1">
            <a:prstTxWarp prst="textNoShape">
              <a:avLst/>
            </a:prstTxWarp>
          </a:bodyPr>
          <a:lstStyle/>
          <a:p>
            <a:pPr lvl="0"/>
            <a:r>
              <a:rPr lang="pl-PL" dirty="0"/>
              <a:t>Kliknij, aby edytować style wzorca tekstu</a:t>
            </a:r>
          </a:p>
          <a:p>
            <a:pPr lvl="1"/>
            <a:r>
              <a:rPr lang="pl-PL" dirty="0"/>
              <a:t>Drugi poziom</a:t>
            </a:r>
          </a:p>
          <a:p>
            <a:pPr lvl="2"/>
            <a:r>
              <a:rPr lang="pl-PL" dirty="0"/>
              <a:t>Trzeci poziom</a:t>
            </a:r>
          </a:p>
          <a:p>
            <a:pPr lvl="3"/>
            <a:r>
              <a:rPr lang="pl-PL" dirty="0"/>
              <a:t>Czwarty poziom</a:t>
            </a:r>
          </a:p>
          <a:p>
            <a:pPr lvl="4"/>
            <a:r>
              <a:rPr lang="pl-PL" dirty="0"/>
              <a:t>Piąty poziom</a:t>
            </a:r>
            <a:endParaRPr lang="en-US" dirty="0"/>
          </a:p>
        </p:txBody>
      </p:sp>
      <p:sp>
        <p:nvSpPr>
          <p:cNvPr id="18" name="Rectangle 18"/>
          <p:cNvSpPr>
            <a:spLocks noGrp="1"/>
          </p:cNvSpPr>
          <p:nvPr>
            <p:ph type="ftr" sz="quarter" idx="3"/>
          </p:nvPr>
        </p:nvSpPr>
        <p:spPr>
          <a:xfrm>
            <a:off x="4165600" y="6400800"/>
            <a:ext cx="3860800" cy="476250"/>
          </a:xfrm>
          <a:prstGeom prst="rect">
            <a:avLst/>
          </a:prstGeom>
        </p:spPr>
        <p:txBody>
          <a:bodyPr anchor="b" anchorCtr="0"/>
          <a:lstStyle>
            <a:lvl1pPr algn="ctr">
              <a:defRPr lang="en-US" sz="1200">
                <a:solidFill>
                  <a:schemeClr val="tx2"/>
                </a:solidFill>
                <a:latin typeface="+mn-lt"/>
                <a:ea typeface="+mn-lt"/>
                <a:cs typeface="+mn-lt"/>
              </a:defRPr>
            </a:lvl1pPr>
          </a:lstStyle>
          <a:p>
            <a:endParaRPr lang="pl-PL" dirty="0"/>
          </a:p>
        </p:txBody>
      </p:sp>
      <p:sp>
        <p:nvSpPr>
          <p:cNvPr id="13" name="Rectangle 15"/>
          <p:cNvSpPr>
            <a:spLocks noGrp="1"/>
          </p:cNvSpPr>
          <p:nvPr>
            <p:ph type="sldNum" sz="quarter" idx="4"/>
          </p:nvPr>
        </p:nvSpPr>
        <p:spPr>
          <a:xfrm>
            <a:off x="8737600" y="6403975"/>
            <a:ext cx="2844800" cy="476250"/>
          </a:xfrm>
          <a:prstGeom prst="rect">
            <a:avLst/>
          </a:prstGeom>
        </p:spPr>
        <p:txBody>
          <a:bodyPr anchor="b" anchorCtr="0"/>
          <a:lstStyle>
            <a:lvl1pPr algn="r">
              <a:defRPr lang="en-US" sz="1200" smtClean="0">
                <a:solidFill>
                  <a:schemeClr val="tx2"/>
                </a:solidFill>
                <a:latin typeface="+mn-lt"/>
                <a:ea typeface="+mn-lt"/>
                <a:cs typeface="+mn-lt"/>
              </a:defRPr>
            </a:lvl1pPr>
          </a:lstStyle>
          <a:p>
            <a:fld id="{7E179A1A-A0F5-4001-A6E3-A7675233E5F9}" type="slidenum">
              <a:rPr lang="pl-PL" smtClean="0"/>
              <a:pPr/>
              <a:t>‹#›</a:t>
            </a:fld>
            <a:endParaRPr lang="pl-PL" dirty="0"/>
          </a:p>
        </p:txBody>
      </p:sp>
      <p:sp>
        <p:nvSpPr>
          <p:cNvPr id="9" name="pole tekstowe 8"/>
          <p:cNvSpPr txBox="1"/>
          <p:nvPr/>
        </p:nvSpPr>
        <p:spPr>
          <a:xfrm>
            <a:off x="571500" y="6659563"/>
            <a:ext cx="3810000" cy="215900"/>
          </a:xfrm>
          <a:prstGeom prst="rect">
            <a:avLst/>
          </a:prstGeom>
          <a:noFill/>
        </p:spPr>
        <p:txBody>
          <a:bodyPr>
            <a:spAutoFit/>
          </a:bodyPr>
          <a:lstStyle/>
          <a:p>
            <a:pPr>
              <a:defRPr/>
            </a:pPr>
            <a:r>
              <a:rPr lang="pl-PL" sz="800" dirty="0">
                <a:solidFill>
                  <a:schemeClr val="tx2"/>
                </a:solidFill>
                <a:latin typeface="Candara" pitchFamily="34" charset="0"/>
                <a:cs typeface="+mn-cs"/>
              </a:rPr>
              <a:t>© UEK w Krakowie     Dariusz Put</a:t>
            </a:r>
            <a:endParaRPr lang="en-US" sz="800" dirty="0">
              <a:solidFill>
                <a:schemeClr val="tx2"/>
              </a:solidFill>
              <a:latin typeface="Candara" pitchFamily="34" charset="0"/>
              <a:cs typeface="+mn-cs"/>
            </a:endParaRPr>
          </a:p>
        </p:txBody>
      </p:sp>
    </p:spTree>
  </p:cSld>
  <p:clrMap bg1="lt1" tx1="dk1" bg2="lt2" tx2="dk2" accent1="accent1" accent2="accent2" accent3="accent3" accent4="accent4" accent5="accent5" accent6="accent6" hlink="hlink" folHlink="folHlink"/>
  <p:sldLayoutIdLst>
    <p:sldLayoutId id="2147484224" r:id="rId1"/>
    <p:sldLayoutId id="2147484225" r:id="rId2"/>
    <p:sldLayoutId id="2147484226" r:id="rId3"/>
    <p:sldLayoutId id="2147484227" r:id="rId4"/>
    <p:sldLayoutId id="2147484228" r:id="rId5"/>
    <p:sldLayoutId id="2147484229" r:id="rId6"/>
    <p:sldLayoutId id="2147484230" r:id="rId7"/>
    <p:sldLayoutId id="2147484231" r:id="rId8"/>
    <p:sldLayoutId id="2147484232" r:id="rId9"/>
    <p:sldLayoutId id="2147484233" r:id="rId10"/>
    <p:sldLayoutId id="2147484234" r:id="rId11"/>
    <p:sldLayoutId id="2147484235" r:id="rId12"/>
  </p:sldLayoutIdLst>
  <p:hf hdr="0" ftr="0" dt="0"/>
  <p:txStyles>
    <p:titleStyle>
      <a:defPPr>
        <a:defRPr sz="4400">
          <a:solidFill>
            <a:schemeClr val="tx2">
              <a:shade val="85000"/>
              <a:satMod val="150000"/>
            </a:schemeClr>
          </a:solidFill>
          <a:latin typeface="+mj-lt"/>
          <a:ea typeface="+mj-ea"/>
          <a:cs typeface="+mj-cs"/>
        </a:defRPr>
      </a:defPPr>
      <a:lvl1pPr algn="l" rtl="0" eaLnBrk="1" fontAlgn="base" hangingPunct="1">
        <a:spcBef>
          <a:spcPct val="0"/>
        </a:spcBef>
        <a:spcAft>
          <a:spcPct val="0"/>
        </a:spcAft>
        <a:defRPr lang="en-US" sz="4800" b="1" kern="1200" dirty="0">
          <a:solidFill>
            <a:srgbClr val="1D2474"/>
          </a:solidFill>
          <a:effectLst>
            <a:outerShdw blurRad="63500" dist="38100" dir="8220000" algn="tl" rotWithShape="0">
              <a:srgbClr val="000000">
                <a:alpha val="30000"/>
              </a:srgbClr>
            </a:outerShdw>
          </a:effectLst>
          <a:latin typeface="+mj-lt"/>
          <a:ea typeface="+mj-lt"/>
          <a:cs typeface="+mj-lt"/>
        </a:defRPr>
      </a:lvl1pPr>
      <a:lvl2pPr algn="l" rtl="0" eaLnBrk="1" fontAlgn="base" hangingPunct="1">
        <a:spcBef>
          <a:spcPct val="0"/>
        </a:spcBef>
        <a:spcAft>
          <a:spcPct val="0"/>
        </a:spcAft>
        <a:defRPr sz="4800" b="1">
          <a:solidFill>
            <a:srgbClr val="1D2474"/>
          </a:solidFill>
          <a:latin typeface="Candara" pitchFamily="34" charset="0"/>
          <a:ea typeface="Candara" pitchFamily="34" charset="0"/>
          <a:cs typeface="Candara" pitchFamily="34" charset="0"/>
        </a:defRPr>
      </a:lvl2pPr>
      <a:lvl3pPr algn="l" rtl="0" eaLnBrk="1" fontAlgn="base" hangingPunct="1">
        <a:spcBef>
          <a:spcPct val="0"/>
        </a:spcBef>
        <a:spcAft>
          <a:spcPct val="0"/>
        </a:spcAft>
        <a:defRPr sz="4800" b="1">
          <a:solidFill>
            <a:srgbClr val="1D2474"/>
          </a:solidFill>
          <a:latin typeface="Candara" pitchFamily="34" charset="0"/>
          <a:ea typeface="Candara" pitchFamily="34" charset="0"/>
          <a:cs typeface="Candara" pitchFamily="34" charset="0"/>
        </a:defRPr>
      </a:lvl3pPr>
      <a:lvl4pPr algn="l" rtl="0" eaLnBrk="1" fontAlgn="base" hangingPunct="1">
        <a:spcBef>
          <a:spcPct val="0"/>
        </a:spcBef>
        <a:spcAft>
          <a:spcPct val="0"/>
        </a:spcAft>
        <a:defRPr sz="4800" b="1">
          <a:solidFill>
            <a:srgbClr val="1D2474"/>
          </a:solidFill>
          <a:latin typeface="Candara" pitchFamily="34" charset="0"/>
          <a:ea typeface="Candara" pitchFamily="34" charset="0"/>
          <a:cs typeface="Candara" pitchFamily="34" charset="0"/>
        </a:defRPr>
      </a:lvl4pPr>
      <a:lvl5pPr algn="l" rtl="0" eaLnBrk="1" fontAlgn="base" hangingPunct="1">
        <a:spcBef>
          <a:spcPct val="0"/>
        </a:spcBef>
        <a:spcAft>
          <a:spcPct val="0"/>
        </a:spcAft>
        <a:defRPr sz="4800" b="1">
          <a:solidFill>
            <a:srgbClr val="1D2474"/>
          </a:solidFill>
          <a:latin typeface="Candara" pitchFamily="34" charset="0"/>
          <a:ea typeface="Candara" pitchFamily="34" charset="0"/>
          <a:cs typeface="Candara" pitchFamily="34" charset="0"/>
        </a:defRPr>
      </a:lvl5pPr>
      <a:lvl6pPr marL="457200" algn="l" rtl="0" eaLnBrk="1" fontAlgn="base" hangingPunct="1">
        <a:spcBef>
          <a:spcPct val="0"/>
        </a:spcBef>
        <a:spcAft>
          <a:spcPct val="0"/>
        </a:spcAft>
        <a:defRPr sz="4800" b="1">
          <a:solidFill>
            <a:srgbClr val="1D2474"/>
          </a:solidFill>
          <a:latin typeface="Candara" pitchFamily="34" charset="0"/>
          <a:ea typeface="Candara" pitchFamily="34" charset="0"/>
          <a:cs typeface="Candara" pitchFamily="34" charset="0"/>
        </a:defRPr>
      </a:lvl6pPr>
      <a:lvl7pPr marL="914400" algn="l" rtl="0" eaLnBrk="1" fontAlgn="base" hangingPunct="1">
        <a:spcBef>
          <a:spcPct val="0"/>
        </a:spcBef>
        <a:spcAft>
          <a:spcPct val="0"/>
        </a:spcAft>
        <a:defRPr sz="4800" b="1">
          <a:solidFill>
            <a:srgbClr val="1D2474"/>
          </a:solidFill>
          <a:latin typeface="Candara" pitchFamily="34" charset="0"/>
          <a:ea typeface="Candara" pitchFamily="34" charset="0"/>
          <a:cs typeface="Candara" pitchFamily="34" charset="0"/>
        </a:defRPr>
      </a:lvl7pPr>
      <a:lvl8pPr marL="1371600" algn="l" rtl="0" eaLnBrk="1" fontAlgn="base" hangingPunct="1">
        <a:spcBef>
          <a:spcPct val="0"/>
        </a:spcBef>
        <a:spcAft>
          <a:spcPct val="0"/>
        </a:spcAft>
        <a:defRPr sz="4800" b="1">
          <a:solidFill>
            <a:srgbClr val="1D2474"/>
          </a:solidFill>
          <a:latin typeface="Candara" pitchFamily="34" charset="0"/>
          <a:ea typeface="Candara" pitchFamily="34" charset="0"/>
          <a:cs typeface="Candara" pitchFamily="34" charset="0"/>
        </a:defRPr>
      </a:lvl8pPr>
      <a:lvl9pPr marL="1828800" algn="l" rtl="0" eaLnBrk="1" fontAlgn="base" hangingPunct="1">
        <a:spcBef>
          <a:spcPct val="0"/>
        </a:spcBef>
        <a:spcAft>
          <a:spcPct val="0"/>
        </a:spcAft>
        <a:defRPr sz="4800" b="1">
          <a:solidFill>
            <a:srgbClr val="1D2474"/>
          </a:solidFill>
          <a:latin typeface="Candara" pitchFamily="34" charset="0"/>
          <a:ea typeface="Candara" pitchFamily="34" charset="0"/>
          <a:cs typeface="Candara" pitchFamily="34" charset="0"/>
        </a:defRPr>
      </a:lvl9pPr>
    </p:titleStyle>
    <p:bodyStyle>
      <a:defPPr>
        <a:defRPr>
          <a:solidFill>
            <a:schemeClr val="tx1"/>
          </a:solidFill>
          <a:latin typeface="+mn-lt"/>
          <a:ea typeface="+mn-ea"/>
          <a:cs typeface="+mn-cs"/>
        </a:defRPr>
      </a:defPPr>
      <a:lvl1pPr marL="273050" indent="-273050" algn="l" rtl="0" eaLnBrk="1" fontAlgn="base" hangingPunct="1">
        <a:spcBef>
          <a:spcPts val="1200"/>
        </a:spcBef>
        <a:spcAft>
          <a:spcPct val="0"/>
        </a:spcAft>
        <a:buClr>
          <a:schemeClr val="accent1"/>
        </a:buClr>
        <a:buSzPct val="80000"/>
        <a:buFont typeface="Wingdings 2" pitchFamily="18" charset="2"/>
        <a:buChar char=""/>
        <a:defRPr sz="2800">
          <a:solidFill>
            <a:schemeClr val="tx1"/>
          </a:solidFill>
          <a:latin typeface="+mn-lt"/>
          <a:ea typeface="+mn-lt"/>
          <a:cs typeface="+mn-lt"/>
        </a:defRPr>
      </a:lvl1pPr>
      <a:lvl2pPr marL="557213" indent="-228600" algn="l" rtl="0" eaLnBrk="1" fontAlgn="base" hangingPunct="1">
        <a:spcBef>
          <a:spcPct val="20000"/>
        </a:spcBef>
        <a:spcAft>
          <a:spcPct val="0"/>
        </a:spcAft>
        <a:buClr>
          <a:schemeClr val="tx2"/>
        </a:buClr>
        <a:buFont typeface="Wingdings 2" pitchFamily="18" charset="2"/>
        <a:buChar char=""/>
        <a:defRPr sz="2200">
          <a:solidFill>
            <a:schemeClr val="tx1"/>
          </a:solidFill>
          <a:latin typeface="+mn-lt"/>
          <a:ea typeface="+mn-lt"/>
          <a:cs typeface="+mn-lt"/>
        </a:defRPr>
      </a:lvl2pPr>
      <a:lvl3pPr marL="812800" indent="-228600" algn="l" rtl="0" eaLnBrk="1" fontAlgn="base" hangingPunct="1">
        <a:spcBef>
          <a:spcPct val="20000"/>
        </a:spcBef>
        <a:spcAft>
          <a:spcPct val="0"/>
        </a:spcAft>
        <a:buClr>
          <a:schemeClr val="accent1"/>
        </a:buClr>
        <a:buFont typeface="Wingdings 2" pitchFamily="18" charset="2"/>
        <a:buChar char=""/>
        <a:defRPr sz="2000">
          <a:solidFill>
            <a:schemeClr val="tx1"/>
          </a:solidFill>
          <a:latin typeface="+mn-lt"/>
          <a:ea typeface="+mn-lt"/>
          <a:cs typeface="+mn-lt"/>
        </a:defRPr>
      </a:lvl3pPr>
      <a:lvl4pPr marL="1068388" indent="-228600" algn="l" rtl="0" eaLnBrk="1" fontAlgn="base" hangingPunct="1">
        <a:spcBef>
          <a:spcPct val="20000"/>
        </a:spcBef>
        <a:spcAft>
          <a:spcPct val="0"/>
        </a:spcAft>
        <a:buClr>
          <a:schemeClr val="tx2"/>
        </a:buClr>
        <a:buFont typeface="Wingdings 2" pitchFamily="18" charset="2"/>
        <a:buChar char=""/>
        <a:defRPr>
          <a:solidFill>
            <a:schemeClr val="tx1"/>
          </a:solidFill>
          <a:latin typeface="+mn-lt"/>
          <a:ea typeface="+mn-lt"/>
          <a:cs typeface="+mn-lt"/>
        </a:defRPr>
      </a:lvl4pPr>
      <a:lvl5pPr marL="1316038" indent="-228600" algn="l" rtl="0" eaLnBrk="1" fontAlgn="base" hangingPunct="1">
        <a:spcBef>
          <a:spcPct val="20000"/>
        </a:spcBef>
        <a:spcAft>
          <a:spcPct val="0"/>
        </a:spcAft>
        <a:buClr>
          <a:schemeClr val="accent1"/>
        </a:buClr>
        <a:buFont typeface="Wingdings 2" pitchFamily="18" charset="2"/>
        <a:buChar char=""/>
        <a:defRPr>
          <a:solidFill>
            <a:schemeClr val="tx1"/>
          </a:solidFill>
          <a:latin typeface="+mn-lt"/>
          <a:ea typeface="+mn-lt"/>
          <a:cs typeface="+mn-lt"/>
        </a:defRPr>
      </a:lvl5pPr>
      <a:lvl6pPr marL="1572768" indent="-228600" algn="l" eaLnBrk="1" hangingPunct="1">
        <a:buClr>
          <a:schemeClr val="tx2"/>
        </a:buClr>
        <a:buFont typeface="Wingdings 2" pitchFamily="18" charset="2"/>
        <a:buChar char=""/>
        <a:defRPr lang="en-US" sz="1600" baseline="0" smtClean="0">
          <a:latin typeface="+mn-lt"/>
        </a:defRPr>
      </a:lvl6pPr>
      <a:lvl7pPr marL="1819656" indent="-228600" algn="l" eaLnBrk="1" hangingPunct="1">
        <a:buClr>
          <a:schemeClr val="accent1"/>
        </a:buClr>
        <a:buFont typeface="Wingdings 2" pitchFamily="18" charset="2"/>
        <a:buChar char=""/>
        <a:defRPr lang="en-US" sz="1600" baseline="0" smtClean="0">
          <a:latin typeface="+mn-lt"/>
        </a:defRPr>
      </a:lvl7pPr>
      <a:lvl8pPr marL="2066544" indent="-228600" algn="l" eaLnBrk="1" hangingPunct="1">
        <a:buClr>
          <a:schemeClr val="tx2"/>
        </a:buClr>
        <a:buFont typeface="Wingdings 2" pitchFamily="18" charset="2"/>
        <a:buChar char=""/>
        <a:defRPr sz="1600" baseline="0">
          <a:latin typeface="+mn-lt"/>
        </a:defRPr>
      </a:lvl8pPr>
      <a:lvl9pPr marL="2313432" indent="-228600" algn="l" eaLnBrk="1" hangingPunct="1">
        <a:buClr>
          <a:schemeClr val="accent1"/>
        </a:buClr>
        <a:buFont typeface="Wingdings 2" pitchFamily="18" charset="2"/>
        <a:buChar char=""/>
        <a:defRPr sz="1400" baseline="0">
          <a:latin typeface="+mn-lt"/>
        </a:defRPr>
      </a:lvl9pPr>
    </p:bodyStyle>
    <p:otherStyle>
      <a:defPPr>
        <a:defRPr>
          <a:solidFill>
            <a:schemeClr val="tx1"/>
          </a:solidFill>
          <a:latin typeface="+mn-lt"/>
          <a:ea typeface="+mn-ea"/>
          <a:cs typeface="+mn-cs"/>
        </a:defRPr>
      </a:defPPr>
      <a:lvl1pPr marL="0" eaLnBrk="1" hangingPunct="1"/>
      <a:lvl2pPr marL="457200" eaLnBrk="1" hangingPunct="1"/>
      <a:lvl3pPr marL="914400" eaLnBrk="1" hangingPunct="1"/>
      <a:lvl4pPr marL="1371600" eaLnBrk="1" hangingPunct="1"/>
      <a:lvl5pPr marL="1828800" eaLnBrk="1" hangingPunct="1"/>
      <a:lvl6pPr marL="2286000" eaLnBrk="1" hangingPunct="1"/>
      <a:lvl7pPr marL="2743200" eaLnBrk="1" hangingPunct="1"/>
      <a:lvl8pPr marL="3200400" eaLnBrk="1" hangingPunct="1"/>
      <a:lvl9pPr marL="3657600" eaLnBrk="1" hangingPunct="1"/>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6.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6.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1981200" y="1905000"/>
            <a:ext cx="8229600" cy="2590800"/>
          </a:xfrm>
        </p:spPr>
        <p:txBody>
          <a:bodyPr anchor="t">
            <a:noAutofit/>
          </a:bodyPr>
          <a:lstStyle/>
          <a:p>
            <a:r>
              <a:rPr lang="pl-PL" sz="4400" dirty="0">
                <a:solidFill>
                  <a:srgbClr val="0000FF"/>
                </a:solidFill>
              </a:rPr>
              <a:t>Konwolucyjne sieci neuronowe </a:t>
            </a:r>
            <a:r>
              <a:rPr lang="pl-PL" sz="4000" b="0" dirty="0">
                <a:solidFill>
                  <a:srgbClr val="0000FF"/>
                </a:solidFill>
                <a:effectLst/>
              </a:rPr>
              <a:t>CNN – </a:t>
            </a:r>
            <a:r>
              <a:rPr lang="pl-PL" sz="3200" b="0" dirty="0">
                <a:solidFill>
                  <a:srgbClr val="0000FF"/>
                </a:solidFill>
                <a:effectLst/>
              </a:rPr>
              <a:t>Convolutional Neural Networks</a:t>
            </a:r>
            <a:br>
              <a:rPr lang="pl-PL" sz="4400" dirty="0"/>
            </a:br>
            <a:br>
              <a:rPr lang="pl-PL" sz="4400" dirty="0"/>
            </a:br>
            <a:r>
              <a:rPr lang="pl-PL" sz="2800" dirty="0">
                <a:solidFill>
                  <a:schemeClr val="tx1"/>
                </a:solidFill>
              </a:rPr>
              <a:t>Dariusz </a:t>
            </a:r>
            <a:r>
              <a:rPr lang="pl-PL" sz="2800" dirty="0" err="1">
                <a:solidFill>
                  <a:schemeClr val="tx1"/>
                </a:solidFill>
              </a:rPr>
              <a:t>Put</a:t>
            </a:r>
            <a:endParaRPr lang="en-GB" sz="1600" b="0" dirty="0">
              <a:solidFill>
                <a:schemeClr val="tx1"/>
              </a:solidFill>
              <a:effectLst/>
              <a:latin typeface="Arial Narrow" panose="020B0606020202030204" pitchFamily="34" charset="0"/>
            </a:endParaRPr>
          </a:p>
        </p:txBody>
      </p:sp>
      <p:sp>
        <p:nvSpPr>
          <p:cNvPr id="2" name="Prostokąt 1"/>
          <p:cNvSpPr/>
          <p:nvPr/>
        </p:nvSpPr>
        <p:spPr>
          <a:xfrm>
            <a:off x="1552575" y="5715001"/>
            <a:ext cx="6600825" cy="646331"/>
          </a:xfrm>
          <a:prstGeom prst="rect">
            <a:avLst/>
          </a:prstGeom>
        </p:spPr>
        <p:txBody>
          <a:bodyPr wrap="square">
            <a:spAutoFit/>
          </a:bodyPr>
          <a:lstStyle/>
          <a:p>
            <a:r>
              <a:rPr lang="pl-PL" dirty="0">
                <a:latin typeface="Arial Narrow" panose="020B0606020202030204" pitchFamily="34" charset="0"/>
              </a:rPr>
              <a:t>Na podstawie:</a:t>
            </a:r>
            <a:br>
              <a:rPr lang="pl-PL" dirty="0">
                <a:latin typeface="Arial Narrow" panose="020B0606020202030204" pitchFamily="34" charset="0"/>
              </a:rPr>
            </a:br>
            <a:r>
              <a:rPr lang="en-GB" dirty="0">
                <a:latin typeface="Arial Narrow" panose="020B0606020202030204" pitchFamily="34" charset="0"/>
              </a:rPr>
              <a:t>https://brohrer.github.io/how_convolutional_neural_networks_work.html</a:t>
            </a:r>
            <a:endParaRPr lang="en-GB" dirty="0"/>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1934D22F-1F04-4BF8-AF4B-817408F2A286}" type="slidenum">
              <a:rPr lang="pl-PL" smtClean="0"/>
              <a:pPr/>
              <a:t>2</a:t>
            </a:fld>
            <a:endParaRPr lang="pl-PL" dirty="0"/>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
        <p:nvSpPr>
          <p:cNvPr id="7" name="TextBox 6"/>
          <p:cNvSpPr txBox="1"/>
          <p:nvPr/>
        </p:nvSpPr>
        <p:spPr>
          <a:xfrm>
            <a:off x="0" y="304800"/>
            <a:ext cx="11811000" cy="2895600"/>
          </a:xfrm>
          <a:prstGeom prst="rect">
            <a:avLst/>
          </a:prstGeom>
          <a:noFill/>
        </p:spPr>
        <p:txBody>
          <a:bodyPr wrap="square" lIns="36000" tIns="36000" rIns="36000" bIns="36000" rtlCol="0">
            <a:noAutofit/>
          </a:bodyPr>
          <a:lstStyle/>
          <a:p>
            <a:r>
              <a:rPr lang="pl-PL" sz="2000" b="1" dirty="0">
                <a:latin typeface="Arial Narrow" panose="020B0606020202030204" pitchFamily="34" charset="0"/>
              </a:rPr>
              <a:t>Konwolucyjne (splotowe) sieci neuronowe</a:t>
            </a:r>
            <a:r>
              <a:rPr lang="pl-PL" sz="2000" dirty="0">
                <a:latin typeface="Arial Narrow" panose="020B0606020202030204" pitchFamily="34" charset="0"/>
              </a:rPr>
              <a:t> (ang. </a:t>
            </a:r>
            <a:r>
              <a:rPr lang="pl-PL" sz="2000" i="1" dirty="0">
                <a:latin typeface="Arial Narrow" panose="020B0606020202030204" pitchFamily="34" charset="0"/>
              </a:rPr>
              <a:t>Convolutional Neural Networks</a:t>
            </a:r>
            <a:r>
              <a:rPr lang="pl-PL" sz="2000" dirty="0">
                <a:latin typeface="Arial Narrow" panose="020B0606020202030204" pitchFamily="34" charset="0"/>
              </a:rPr>
              <a:t> – CNN, </a:t>
            </a:r>
            <a:r>
              <a:rPr lang="pl-PL" sz="2000" b="1">
                <a:latin typeface="Arial Narrow" panose="020B0606020202030204" pitchFamily="34" charset="0"/>
              </a:rPr>
              <a:t>convnet</a:t>
            </a:r>
            <a:r>
              <a:rPr lang="pl-PL" sz="2000">
                <a:latin typeface="Arial Narrow" panose="020B0606020202030204" pitchFamily="34" charset="0"/>
              </a:rPr>
              <a:t>).</a:t>
            </a:r>
          </a:p>
          <a:p>
            <a:endParaRPr lang="pl-PL" sz="2000">
              <a:latin typeface="Arial Narrow" panose="020B0606020202030204" pitchFamily="34" charset="0"/>
            </a:endParaRPr>
          </a:p>
          <a:p>
            <a:r>
              <a:rPr lang="pl-PL" sz="2000">
                <a:latin typeface="Arial Narrow" panose="020B0606020202030204" pitchFamily="34" charset="0"/>
              </a:rPr>
              <a:t>Od </a:t>
            </a:r>
            <a:r>
              <a:rPr lang="pl-PL" sz="2000" dirty="0">
                <a:latin typeface="Arial Narrow" panose="020B0606020202030204" pitchFamily="34" charset="0"/>
              </a:rPr>
              <a:t>2012 roku stały </a:t>
            </a:r>
            <a:r>
              <a:rPr lang="pl-PL" sz="2000">
                <a:latin typeface="Arial Narrow" panose="020B0606020202030204" pitchFamily="34" charset="0"/>
              </a:rPr>
              <a:t>się jednym z najpopularniejszych algorytmów do przetwarzania </a:t>
            </a:r>
            <a:r>
              <a:rPr lang="pl-PL" sz="2000" dirty="0">
                <a:latin typeface="Arial Narrow" panose="020B0606020202030204" pitchFamily="34" charset="0"/>
              </a:rPr>
              <a:t>obrazu</a:t>
            </a:r>
            <a:r>
              <a:rPr lang="pl-PL" sz="2000">
                <a:latin typeface="Arial Narrow" panose="020B0606020202030204" pitchFamily="34" charset="0"/>
              </a:rPr>
              <a:t>, sekwencji </a:t>
            </a:r>
            <a:r>
              <a:rPr lang="pl-PL" sz="2000" dirty="0">
                <a:latin typeface="Arial Narrow" panose="020B0606020202030204" pitchFamily="34" charset="0"/>
              </a:rPr>
              <a:t>wideo i tekstu. </a:t>
            </a:r>
          </a:p>
          <a:p>
            <a:endParaRPr lang="pl-PL" sz="2000">
              <a:latin typeface="Arial Narrow" panose="020B0606020202030204" pitchFamily="34" charset="0"/>
            </a:endParaRPr>
          </a:p>
          <a:p>
            <a:r>
              <a:rPr lang="pl-PL" sz="2000">
                <a:latin typeface="Arial Narrow" panose="020B0606020202030204" pitchFamily="34" charset="0"/>
              </a:rPr>
              <a:t>Sprawdzają </a:t>
            </a:r>
            <a:r>
              <a:rPr lang="pl-PL" sz="2000" dirty="0">
                <a:latin typeface="Arial Narrow" panose="020B0606020202030204" pitchFamily="34" charset="0"/>
              </a:rPr>
              <a:t>się podczas modelowania wszystkich zadań </a:t>
            </a:r>
            <a:r>
              <a:rPr lang="pl-PL" sz="2000">
                <a:latin typeface="Arial Narrow" panose="020B0606020202030204" pitchFamily="34" charset="0"/>
              </a:rPr>
              <a:t>percepcyjnych.</a:t>
            </a:r>
          </a:p>
          <a:p>
            <a:endParaRPr lang="pl-PL" sz="2000">
              <a:latin typeface="Arial Narrow" panose="020B0606020202030204" pitchFamily="34" charset="0"/>
            </a:endParaRPr>
          </a:p>
          <a:p>
            <a:r>
              <a:rPr lang="pl-PL" sz="2000">
                <a:latin typeface="Arial Narrow" panose="020B0606020202030204" pitchFamily="34" charset="0"/>
              </a:rPr>
              <a:t>Są wzorowane na działaniu mózgu w procesie rozpoznawania obrazów.</a:t>
            </a:r>
            <a:endParaRPr lang="pl-PL" sz="2000" dirty="0">
              <a:latin typeface="Arial Narrow" panose="020B0606020202030204" pitchFamily="34" charset="0"/>
            </a:endParaRPr>
          </a:p>
        </p:txBody>
      </p:sp>
    </p:spTree>
    <p:extLst>
      <p:ext uri="{BB962C8B-B14F-4D97-AF65-F5344CB8AC3E}">
        <p14:creationId xmlns:p14="http://schemas.microsoft.com/office/powerpoint/2010/main" val="3140996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1"/>
          </p:nvPr>
        </p:nvSpPr>
        <p:spPr/>
        <p:txBody>
          <a:bodyPr/>
          <a:lstStyle/>
          <a:p>
            <a:fld id="{1934D22F-1F04-4BF8-AF4B-817408F2A286}" type="slidenum">
              <a:rPr lang="pl-PL" smtClean="0"/>
              <a:pPr/>
              <a:t>3</a:t>
            </a:fld>
            <a:endParaRPr lang="pl-PL" dirty="0"/>
          </a:p>
        </p:txBody>
      </p:sp>
      <p:sp>
        <p:nvSpPr>
          <p:cNvPr id="6" name="TextBox 6"/>
          <p:cNvSpPr txBox="1"/>
          <p:nvPr/>
        </p:nvSpPr>
        <p:spPr>
          <a:xfrm>
            <a:off x="10886" y="304799"/>
            <a:ext cx="12167914" cy="1222375"/>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Podstawową różnicą między warstwą gęstych połączeń (Dense) a siecią konwolucyjną jest to, że warstwy gęste uczą się cech parametrów globalnych w swoich przestrzeniach wejściowych (w przypadku MNIST są to wzorce związane ze wszystkimi pikselami), a warstwy konwolucyjne uczą się </a:t>
            </a:r>
            <a:r>
              <a:rPr lang="pl-PL" sz="2000" b="1" dirty="0">
                <a:latin typeface="Arial Narrow" panose="020B0606020202030204" pitchFamily="34" charset="0"/>
              </a:rPr>
              <a:t>lokalnych wzorców</a:t>
            </a:r>
            <a:r>
              <a:rPr lang="pl-PL" sz="2000" dirty="0">
                <a:latin typeface="Arial Narrow" panose="020B0606020202030204" pitchFamily="34" charset="0"/>
              </a:rPr>
              <a:t>.</a:t>
            </a:r>
            <a:endParaRPr lang="en-GB" sz="2000" dirty="0">
              <a:latin typeface="Arial Narrow" panose="020B0606020202030204" pitchFamily="34" charset="0"/>
            </a:endParaRPr>
          </a:p>
        </p:txBody>
      </p:sp>
      <p:pic>
        <p:nvPicPr>
          <p:cNvPr id="7" name="Obraz 6"/>
          <p:cNvPicPr>
            <a:picLocks noChangeAspect="1"/>
          </p:cNvPicPr>
          <p:nvPr/>
        </p:nvPicPr>
        <p:blipFill>
          <a:blip r:embed="rId2"/>
          <a:stretch>
            <a:fillRect/>
          </a:stretch>
        </p:blipFill>
        <p:spPr>
          <a:xfrm>
            <a:off x="3657600" y="1619250"/>
            <a:ext cx="2000250" cy="2495550"/>
          </a:xfrm>
          <a:prstGeom prst="rect">
            <a:avLst/>
          </a:prstGeom>
        </p:spPr>
      </p:pic>
      <p:sp>
        <p:nvSpPr>
          <p:cNvPr id="8" name="TextBox 6"/>
          <p:cNvSpPr txBox="1"/>
          <p:nvPr/>
        </p:nvSpPr>
        <p:spPr>
          <a:xfrm>
            <a:off x="0" y="4191000"/>
            <a:ext cx="12167914" cy="1143000"/>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Dzięki temu sieci konwolucyjne mają dwie istotne własności:</a:t>
            </a:r>
          </a:p>
          <a:p>
            <a:pPr marL="177800" indent="-177800">
              <a:buFont typeface="Arial" panose="020B0604020202020204" pitchFamily="34" charset="0"/>
              <a:buChar char="•"/>
            </a:pPr>
            <a:r>
              <a:rPr lang="pl-PL" sz="2000" dirty="0">
                <a:latin typeface="Arial Narrow" panose="020B0606020202030204" pitchFamily="34" charset="0"/>
              </a:rPr>
              <a:t>wzorce rozpoznawane przez sieć są </a:t>
            </a:r>
            <a:r>
              <a:rPr lang="pl-PL" sz="2000" b="1" dirty="0">
                <a:latin typeface="Arial Narrow" panose="020B0606020202030204" pitchFamily="34" charset="0"/>
              </a:rPr>
              <a:t>niezależne od przesunięcia</a:t>
            </a:r>
            <a:r>
              <a:rPr lang="pl-PL" sz="2000" dirty="0">
                <a:latin typeface="Arial Narrow" panose="020B0606020202030204" pitchFamily="34" charset="0"/>
              </a:rPr>
              <a:t>. Dzięki temu sieci konwolucyjne charakteryzują się dużą wydajnością podczas przetwarzania obrazów.</a:t>
            </a:r>
          </a:p>
          <a:p>
            <a:pPr marL="177800" indent="-177800">
              <a:buFont typeface="Arial" panose="020B0604020202020204" pitchFamily="34" charset="0"/>
              <a:buChar char="•"/>
            </a:pPr>
            <a:r>
              <a:rPr lang="pl-PL" sz="2000" dirty="0">
                <a:latin typeface="Arial Narrow" panose="020B0606020202030204" pitchFamily="34" charset="0"/>
              </a:rPr>
              <a:t>sieci konwolucyjne mogą uczyć się </a:t>
            </a:r>
            <a:r>
              <a:rPr lang="pl-PL" sz="2000" b="1" dirty="0">
                <a:latin typeface="Arial Narrow" panose="020B0606020202030204" pitchFamily="34" charset="0"/>
              </a:rPr>
              <a:t>przestrzennej hierarchii wzorców</a:t>
            </a:r>
            <a:r>
              <a:rPr lang="pl-PL" sz="2000" dirty="0">
                <a:latin typeface="Arial Narrow" panose="020B0606020202030204" pitchFamily="34" charset="0"/>
              </a:rPr>
              <a:t>: pierwsza warstwa uczy się małych lokalnych wzorców (krawędzie), druga większych struktur itd. </a:t>
            </a:r>
            <a:endParaRPr lang="en-GB" sz="2000" dirty="0">
              <a:latin typeface="Arial Narrow" panose="020B0606020202030204" pitchFamily="34" charset="0"/>
            </a:endParaRPr>
          </a:p>
        </p:txBody>
      </p:sp>
      <p:sp>
        <p:nvSpPr>
          <p:cNvPr id="2" name="Rectangle 2">
            <a:extLst>
              <a:ext uri="{FF2B5EF4-FFF2-40B4-BE49-F238E27FC236}">
                <a16:creationId xmlns:a16="http://schemas.microsoft.com/office/drawing/2014/main" id="{0976E2FD-3775-62BD-7785-1932E06795DB}"/>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556964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4</a:t>
            </a:fld>
            <a:endParaRPr lang="pl-PL" dirty="0"/>
          </a:p>
        </p:txBody>
      </p:sp>
      <p:sp>
        <p:nvSpPr>
          <p:cNvPr id="4" name="Rectangle 3"/>
          <p:cNvSpPr/>
          <p:nvPr/>
        </p:nvSpPr>
        <p:spPr>
          <a:xfrm>
            <a:off x="0" y="304801"/>
            <a:ext cx="10668000" cy="2246769"/>
          </a:xfrm>
          <a:prstGeom prst="rect">
            <a:avLst/>
          </a:prstGeom>
        </p:spPr>
        <p:txBody>
          <a:bodyPr wrap="square">
            <a:spAutoFit/>
          </a:bodyPr>
          <a:lstStyle/>
          <a:p>
            <a:r>
              <a:rPr lang="pl-PL" sz="2000">
                <a:latin typeface="Arial Narrow" panose="020B0606020202030204" pitchFamily="34" charset="0"/>
              </a:rPr>
              <a:t>W odróżnieniu od tradycyjnych sieci neuronowych, w CNN występuje większa różnorodność typów warstw:</a:t>
            </a:r>
          </a:p>
          <a:p>
            <a:pPr marL="180975" indent="-180975">
              <a:buFont typeface="Arial" panose="020B0604020202020204" pitchFamily="34" charset="0"/>
              <a:buChar char="•"/>
            </a:pPr>
            <a:r>
              <a:rPr lang="pl-PL" sz="2000">
                <a:latin typeface="Arial Narrow" panose="020B0606020202030204" pitchFamily="34" charset="0"/>
              </a:rPr>
              <a:t>splotowa (</a:t>
            </a:r>
            <a:r>
              <a:rPr lang="pl-PL" sz="2000" i="1">
                <a:latin typeface="Arial Narrow" panose="020B0606020202030204" pitchFamily="34" charset="0"/>
              </a:rPr>
              <a:t>convolution</a:t>
            </a:r>
            <a:r>
              <a:rPr lang="pl-PL" sz="2000">
                <a:latin typeface="Arial Narrow" panose="020B0606020202030204" pitchFamily="34" charset="0"/>
              </a:rPr>
              <a:t>)</a:t>
            </a:r>
          </a:p>
          <a:p>
            <a:pPr marL="180975" indent="-180975">
              <a:buFont typeface="Arial" panose="020B0604020202020204" pitchFamily="34" charset="0"/>
              <a:buChar char="•"/>
            </a:pPr>
            <a:r>
              <a:rPr lang="pl-PL" sz="2000">
                <a:latin typeface="Arial Narrow" panose="020B0606020202030204" pitchFamily="34" charset="0"/>
              </a:rPr>
              <a:t>ReLU</a:t>
            </a:r>
          </a:p>
          <a:p>
            <a:pPr marL="180975" indent="-180975">
              <a:buFont typeface="Arial" panose="020B0604020202020204" pitchFamily="34" charset="0"/>
              <a:buChar char="•"/>
            </a:pPr>
            <a:r>
              <a:rPr lang="pl-PL" sz="2000">
                <a:latin typeface="Arial Narrow" panose="020B0606020202030204" pitchFamily="34" charset="0"/>
              </a:rPr>
              <a:t>łącząca (</a:t>
            </a:r>
            <a:r>
              <a:rPr lang="pl-PL" sz="2000" i="1">
                <a:latin typeface="Arial Narrow" panose="020B0606020202030204" pitchFamily="34" charset="0"/>
              </a:rPr>
              <a:t>pooling</a:t>
            </a:r>
            <a:r>
              <a:rPr lang="pl-PL" sz="2000">
                <a:latin typeface="Arial Narrow" panose="020B0606020202030204" pitchFamily="34" charset="0"/>
              </a:rPr>
              <a:t>)</a:t>
            </a:r>
          </a:p>
          <a:p>
            <a:pPr marL="180975" indent="-180975">
              <a:buFont typeface="Arial" panose="020B0604020202020204" pitchFamily="34" charset="0"/>
              <a:buChar char="•"/>
            </a:pPr>
            <a:r>
              <a:rPr lang="pl-PL" sz="2000">
                <a:latin typeface="Arial Narrow" panose="020B0606020202030204" pitchFamily="34" charset="0"/>
              </a:rPr>
              <a:t>porzucania (</a:t>
            </a:r>
            <a:r>
              <a:rPr lang="pl-PL" sz="2000" i="1">
                <a:latin typeface="Arial Narrow" panose="020B0606020202030204" pitchFamily="34" charset="0"/>
              </a:rPr>
              <a:t>dropout</a:t>
            </a:r>
            <a:r>
              <a:rPr lang="pl-PL" sz="2000">
                <a:latin typeface="Arial Narrow" panose="020B0606020202030204" pitchFamily="34" charset="0"/>
              </a:rPr>
              <a:t>)</a:t>
            </a:r>
          </a:p>
          <a:p>
            <a:pPr marL="180975" indent="-180975">
              <a:buFont typeface="Arial" panose="020B0604020202020204" pitchFamily="34" charset="0"/>
              <a:buChar char="•"/>
            </a:pPr>
            <a:r>
              <a:rPr lang="pl-PL" sz="2000">
                <a:latin typeface="Arial Narrow" panose="020B0606020202030204" pitchFamily="34" charset="0"/>
              </a:rPr>
              <a:t>spłaszczająca (</a:t>
            </a:r>
            <a:r>
              <a:rPr lang="pl-PL" sz="2000" i="1">
                <a:latin typeface="Arial Narrow" panose="020B0606020202030204" pitchFamily="34" charset="0"/>
              </a:rPr>
              <a:t>flatten</a:t>
            </a:r>
            <a:r>
              <a:rPr lang="pl-PL" sz="2000">
                <a:latin typeface="Arial Narrow" panose="020B0606020202030204" pitchFamily="34" charset="0"/>
              </a:rPr>
              <a:t>)</a:t>
            </a:r>
          </a:p>
          <a:p>
            <a:pPr marL="180975" indent="-180975">
              <a:buFont typeface="Arial" panose="020B0604020202020204" pitchFamily="34" charset="0"/>
              <a:buChar char="•"/>
            </a:pPr>
            <a:r>
              <a:rPr lang="pl-PL" sz="2000">
                <a:latin typeface="Arial Narrow" panose="020B0606020202030204" pitchFamily="34" charset="0"/>
              </a:rPr>
              <a:t>gęsta (</a:t>
            </a:r>
            <a:r>
              <a:rPr lang="pl-PL" sz="2000" i="1">
                <a:latin typeface="Arial Narrow" panose="020B0606020202030204" pitchFamily="34" charset="0"/>
              </a:rPr>
              <a:t>fully connected</a:t>
            </a:r>
            <a:r>
              <a:rPr lang="pl-PL" sz="2000">
                <a:latin typeface="Arial Narrow" panose="020B0606020202030204" pitchFamily="34" charset="0"/>
              </a:rPr>
              <a:t>, </a:t>
            </a:r>
            <a:r>
              <a:rPr lang="pl-PL" sz="2000" i="1">
                <a:latin typeface="Arial Narrow" panose="020B0606020202030204" pitchFamily="34" charset="0"/>
              </a:rPr>
              <a:t>dense</a:t>
            </a:r>
            <a:r>
              <a:rPr lang="pl-PL" sz="2000">
                <a:latin typeface="Arial Narrow" panose="020B0606020202030204" pitchFamily="34" charset="0"/>
              </a:rPr>
              <a:t>)</a:t>
            </a:r>
          </a:p>
        </p:txBody>
      </p:sp>
      <p:pic>
        <p:nvPicPr>
          <p:cNvPr id="6" name="Picture 5"/>
          <p:cNvPicPr>
            <a:picLocks noChangeAspect="1"/>
          </p:cNvPicPr>
          <p:nvPr/>
        </p:nvPicPr>
        <p:blipFill>
          <a:blip r:embed="rId2"/>
          <a:stretch>
            <a:fillRect/>
          </a:stretch>
        </p:blipFill>
        <p:spPr>
          <a:xfrm>
            <a:off x="1488098" y="3947517"/>
            <a:ext cx="8613164" cy="2232144"/>
          </a:xfrm>
          <a:prstGeom prst="rect">
            <a:avLst/>
          </a:prstGeom>
        </p:spPr>
      </p:pic>
      <p:sp>
        <p:nvSpPr>
          <p:cNvPr id="7" name="Rectangle 6"/>
          <p:cNvSpPr/>
          <p:nvPr/>
        </p:nvSpPr>
        <p:spPr>
          <a:xfrm>
            <a:off x="0" y="2895600"/>
            <a:ext cx="10668000" cy="707886"/>
          </a:xfrm>
          <a:prstGeom prst="rect">
            <a:avLst/>
          </a:prstGeom>
        </p:spPr>
        <p:txBody>
          <a:bodyPr wrap="square">
            <a:spAutoFit/>
          </a:bodyPr>
          <a:lstStyle/>
          <a:p>
            <a:r>
              <a:rPr lang="pl-PL" sz="2000">
                <a:latin typeface="Arial Narrow" panose="020B0606020202030204" pitchFamily="34" charset="0"/>
              </a:rPr>
              <a:t>Wykorzystując je, tworzymy głęboką sieć neuronową </a:t>
            </a:r>
            <a:r>
              <a:rPr lang="pl-PL" sz="2000" dirty="0">
                <a:latin typeface="Arial Narrow" panose="020B0606020202030204" pitchFamily="34" charset="0"/>
              </a:rPr>
              <a:t>CNN, która zbiór pikseli przekształca w </a:t>
            </a:r>
            <a:r>
              <a:rPr lang="pl-PL" sz="2000">
                <a:latin typeface="Arial Narrow" panose="020B0606020202030204" pitchFamily="34" charset="0"/>
              </a:rPr>
              <a:t>zbiór „głosów” </a:t>
            </a:r>
            <a:r>
              <a:rPr lang="pl-PL" sz="2000" dirty="0">
                <a:latin typeface="Arial Narrow" panose="020B0606020202030204" pitchFamily="34" charset="0"/>
              </a:rPr>
              <a:t>wskazujących prawdopodobieństwo tego, że dany obraz należy do danej kategorii.</a:t>
            </a:r>
            <a:endParaRPr lang="en-US" sz="2000" dirty="0"/>
          </a:p>
        </p:txBody>
      </p:sp>
      <p:sp>
        <p:nvSpPr>
          <p:cNvPr id="3" name="Rectangle 2">
            <a:extLst>
              <a:ext uri="{FF2B5EF4-FFF2-40B4-BE49-F238E27FC236}">
                <a16:creationId xmlns:a16="http://schemas.microsoft.com/office/drawing/2014/main" id="{DE062319-4517-71FB-D78B-8F44E4281D2D}"/>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71771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1"/>
          </p:nvPr>
        </p:nvSpPr>
        <p:spPr/>
        <p:txBody>
          <a:bodyPr/>
          <a:lstStyle/>
          <a:p>
            <a:fld id="{1934D22F-1F04-4BF8-AF4B-817408F2A286}" type="slidenum">
              <a:rPr lang="pl-PL" smtClean="0"/>
              <a:pPr/>
              <a:t>5</a:t>
            </a:fld>
            <a:endParaRPr lang="pl-PL" dirty="0"/>
          </a:p>
        </p:txBody>
      </p:sp>
      <p:sp>
        <p:nvSpPr>
          <p:cNvPr id="6" name="TextBox 6"/>
          <p:cNvSpPr txBox="1"/>
          <p:nvPr/>
        </p:nvSpPr>
        <p:spPr>
          <a:xfrm>
            <a:off x="13200" y="304799"/>
            <a:ext cx="12165600" cy="1295401"/>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Sieci konwolucyjne działają na trójwymiarowych tensorach określanych mianem </a:t>
            </a:r>
            <a:r>
              <a:rPr lang="pl-PL" sz="2000" b="1" dirty="0">
                <a:latin typeface="Arial Narrow" panose="020B0606020202030204" pitchFamily="34" charset="0"/>
              </a:rPr>
              <a:t>map cech</a:t>
            </a:r>
            <a:r>
              <a:rPr lang="pl-PL" sz="2000" dirty="0">
                <a:latin typeface="Arial Narrow" panose="020B0606020202030204" pitchFamily="34" charset="0"/>
              </a:rPr>
              <a:t>. Dwie osie reprezentują wysokość i szerokość, trzecia to </a:t>
            </a:r>
            <a:r>
              <a:rPr lang="pl-PL" sz="2000" b="1" dirty="0">
                <a:latin typeface="Arial Narrow" panose="020B0606020202030204" pitchFamily="34" charset="0"/>
              </a:rPr>
              <a:t>oś głębi</a:t>
            </a:r>
            <a:r>
              <a:rPr lang="pl-PL" sz="2000" dirty="0">
                <a:latin typeface="Arial Narrow" panose="020B0606020202030204" pitchFamily="34" charset="0"/>
              </a:rPr>
              <a:t> (zwana też osią kanałów).</a:t>
            </a:r>
          </a:p>
          <a:p>
            <a:r>
              <a:rPr lang="pl-PL" sz="2000" dirty="0">
                <a:latin typeface="Arial Narrow" panose="020B0606020202030204" pitchFamily="34" charset="0"/>
              </a:rPr>
              <a:t>W przypadku obrazu monochromatycznego oś głębi ma jeden wymiar (nasycenie odcieni szarości), w przypadku obrazu RGB – trzy wymiary (kanały kolorów R, G i B).</a:t>
            </a: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Na wyjściu warstwy konwolucyjnej znajduje się trójwymiarowy tensor, w którym są różne szerokości i wysokości oraz głębia, która po przetworzeniu staje się filtrem. Filtry kodują określone cechy danych wejściowych – na wysokim poziomie pojedynczy filtr może kodować np. obecność twarzy na obrazie.</a:t>
            </a:r>
          </a:p>
        </p:txBody>
      </p:sp>
      <p:pic>
        <p:nvPicPr>
          <p:cNvPr id="2" name="Obraz 1"/>
          <p:cNvPicPr>
            <a:picLocks noChangeAspect="1"/>
          </p:cNvPicPr>
          <p:nvPr/>
        </p:nvPicPr>
        <p:blipFill>
          <a:blip r:embed="rId2"/>
          <a:stretch>
            <a:fillRect/>
          </a:stretch>
        </p:blipFill>
        <p:spPr>
          <a:xfrm>
            <a:off x="3609975" y="1600201"/>
            <a:ext cx="4667250" cy="3782851"/>
          </a:xfrm>
          <a:prstGeom prst="rect">
            <a:avLst/>
          </a:prstGeom>
        </p:spPr>
      </p:pic>
      <p:sp>
        <p:nvSpPr>
          <p:cNvPr id="3" name="Rectangle 2">
            <a:extLst>
              <a:ext uri="{FF2B5EF4-FFF2-40B4-BE49-F238E27FC236}">
                <a16:creationId xmlns:a16="http://schemas.microsoft.com/office/drawing/2014/main" id="{081DA41C-EA0C-D5E3-D33B-E13F9ACAD7C5}"/>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884927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1"/>
          </p:nvPr>
        </p:nvSpPr>
        <p:spPr/>
        <p:txBody>
          <a:bodyPr/>
          <a:lstStyle/>
          <a:p>
            <a:fld id="{1934D22F-1F04-4BF8-AF4B-817408F2A286}" type="slidenum">
              <a:rPr lang="pl-PL" smtClean="0"/>
              <a:pPr/>
              <a:t>6</a:t>
            </a:fld>
            <a:endParaRPr lang="pl-PL" dirty="0"/>
          </a:p>
        </p:txBody>
      </p:sp>
      <p:sp>
        <p:nvSpPr>
          <p:cNvPr id="6" name="TextBox 6"/>
          <p:cNvSpPr txBox="1"/>
          <p:nvPr/>
        </p:nvSpPr>
        <p:spPr>
          <a:xfrm>
            <a:off x="13200" y="304800"/>
            <a:ext cx="12178800" cy="990600"/>
          </a:xfrm>
          <a:prstGeom prst="rect">
            <a:avLst/>
          </a:prstGeom>
          <a:noFill/>
        </p:spPr>
        <p:txBody>
          <a:bodyPr wrap="square" lIns="36000" tIns="36000" rIns="36000" bIns="36000" rtlCol="0">
            <a:noAutofit/>
          </a:bodyPr>
          <a:lstStyle/>
          <a:p>
            <a:r>
              <a:rPr lang="pl-PL" sz="2000">
                <a:latin typeface="Arial Narrow" panose="020B0606020202030204" pitchFamily="34" charset="0"/>
              </a:rPr>
              <a:t>Operacja </a:t>
            </a:r>
            <a:r>
              <a:rPr lang="pl-PL" sz="2000" b="1">
                <a:latin typeface="Arial Narrow" panose="020B0606020202030204" pitchFamily="34" charset="0"/>
              </a:rPr>
              <a:t>splotu</a:t>
            </a:r>
            <a:r>
              <a:rPr lang="pl-PL" sz="2000">
                <a:latin typeface="Arial Narrow" panose="020B0606020202030204" pitchFamily="34" charset="0"/>
              </a:rPr>
              <a:t> (konwolucji) polega na przesuwaniu jednego elementu, tzw. jądra (ang. </a:t>
            </a:r>
            <a:r>
              <a:rPr lang="pl-PL" sz="2000" i="1">
                <a:latin typeface="Arial Narrow" panose="020B0606020202030204" pitchFamily="34" charset="0"/>
              </a:rPr>
              <a:t>kernel</a:t>
            </a:r>
            <a:r>
              <a:rPr lang="pl-PL" sz="2000">
                <a:latin typeface="Arial Narrow" panose="020B0606020202030204" pitchFamily="34" charset="0"/>
              </a:rPr>
              <a:t>) po innym elemencie (fragmencie analizowanego obrazu).</a:t>
            </a:r>
          </a:p>
          <a:p>
            <a:endParaRPr lang="pl-PL" sz="2000">
              <a:latin typeface="Arial Narrow" panose="020B0606020202030204" pitchFamily="34" charset="0"/>
            </a:endParaRPr>
          </a:p>
          <a:p>
            <a:r>
              <a:rPr lang="pl-PL" sz="2000" b="1">
                <a:latin typeface="Arial Narrow" panose="020B0606020202030204" pitchFamily="34" charset="0"/>
              </a:rPr>
              <a:t>Jądro splotowe</a:t>
            </a:r>
            <a:r>
              <a:rPr lang="pl-PL" sz="2000">
                <a:latin typeface="Arial Narrow" panose="020B0606020202030204" pitchFamily="34" charset="0"/>
              </a:rPr>
              <a:t> to macierz wag. Jest to zwykle mała, dwuwymiarowa tablica. Wagi jądra są mnożone element po elemencie przez odpowiadające im liczby w lokalnym polu recepcyjnym, a wyniki mnożenia są sumowane.</a:t>
            </a:r>
            <a:endParaRPr lang="pl-PL" sz="2000"/>
          </a:p>
          <a:p>
            <a:r>
              <a:rPr lang="pl-PL" sz="2000">
                <a:latin typeface="Arial Narrow" panose="020B0606020202030204" pitchFamily="34" charset="0"/>
              </a:rPr>
              <a:t>W ten sposób następuje transformacja obrazu i powstaje mapa cech o zredukowanym rozmiarze.</a:t>
            </a:r>
          </a:p>
          <a:p>
            <a:endParaRPr lang="pl-PL" sz="2000">
              <a:latin typeface="Arial Narrow" panose="020B0606020202030204" pitchFamily="34" charset="0"/>
            </a:endParaRPr>
          </a:p>
        </p:txBody>
      </p:sp>
      <p:pic>
        <p:nvPicPr>
          <p:cNvPr id="8" name="Obraz 7"/>
          <p:cNvPicPr>
            <a:picLocks noChangeAspect="1"/>
          </p:cNvPicPr>
          <p:nvPr/>
        </p:nvPicPr>
        <p:blipFill>
          <a:blip r:embed="rId2"/>
          <a:stretch>
            <a:fillRect/>
          </a:stretch>
        </p:blipFill>
        <p:spPr>
          <a:xfrm>
            <a:off x="2743201" y="3171826"/>
            <a:ext cx="6334125" cy="2924175"/>
          </a:xfrm>
          <a:prstGeom prst="rect">
            <a:avLst/>
          </a:prstGeom>
        </p:spPr>
      </p:pic>
      <p:sp>
        <p:nvSpPr>
          <p:cNvPr id="2" name="Rectangle 2">
            <a:extLst>
              <a:ext uri="{FF2B5EF4-FFF2-40B4-BE49-F238E27FC236}">
                <a16:creationId xmlns:a16="http://schemas.microsoft.com/office/drawing/2014/main" id="{38571CA1-B47C-114C-B6B0-D48A4884F444}"/>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261953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1"/>
          </p:nvPr>
        </p:nvSpPr>
        <p:spPr/>
        <p:txBody>
          <a:bodyPr/>
          <a:lstStyle/>
          <a:p>
            <a:fld id="{1934D22F-1F04-4BF8-AF4B-817408F2A286}" type="slidenum">
              <a:rPr lang="pl-PL" smtClean="0"/>
              <a:pPr/>
              <a:t>7</a:t>
            </a:fld>
            <a:endParaRPr lang="pl-PL" dirty="0"/>
          </a:p>
        </p:txBody>
      </p:sp>
      <p:sp>
        <p:nvSpPr>
          <p:cNvPr id="7" name="pole tekstowe 6"/>
          <p:cNvSpPr txBox="1"/>
          <p:nvPr/>
        </p:nvSpPr>
        <p:spPr>
          <a:xfrm>
            <a:off x="7010400" y="4377888"/>
            <a:ext cx="3505200" cy="1477328"/>
          </a:xfrm>
          <a:prstGeom prst="rect">
            <a:avLst/>
          </a:prstGeom>
          <a:noFill/>
        </p:spPr>
        <p:txBody>
          <a:bodyPr wrap="square" rtlCol="0">
            <a:spAutoFit/>
          </a:bodyPr>
          <a:lstStyle/>
          <a:p>
            <a:r>
              <a:rPr lang="pl-PL" b="1" dirty="0">
                <a:latin typeface="Arial Narrow" panose="020B0606020202030204" pitchFamily="34" charset="0"/>
              </a:rPr>
              <a:t>(</a:t>
            </a:r>
            <a:r>
              <a:rPr lang="pl-PL" b="1">
                <a:latin typeface="Arial Narrow" panose="020B0606020202030204" pitchFamily="34" charset="0"/>
              </a:rPr>
              <a:t>50*30)+(</a:t>
            </a:r>
            <a:r>
              <a:rPr lang="pl-PL" b="1" dirty="0">
                <a:latin typeface="Arial Narrow" panose="020B0606020202030204" pitchFamily="34" charset="0"/>
              </a:rPr>
              <a:t>50*30)+ (50*30)+(20*30)+(50*30) =6600 Fragment bardzo pasuje do wzorca – wynikiem mnożenia i dodawania jest duża liczba.</a:t>
            </a:r>
            <a:endParaRPr lang="en-GB" b="1" dirty="0">
              <a:latin typeface="Arial Narrow" panose="020B0606020202030204" pitchFamily="34" charset="0"/>
            </a:endParaRPr>
          </a:p>
        </p:txBody>
      </p:sp>
      <p:pic>
        <p:nvPicPr>
          <p:cNvPr id="9" name="Obraz 8"/>
          <p:cNvPicPr>
            <a:picLocks noChangeAspect="1"/>
          </p:cNvPicPr>
          <p:nvPr/>
        </p:nvPicPr>
        <p:blipFill>
          <a:blip r:embed="rId2"/>
          <a:stretch>
            <a:fillRect/>
          </a:stretch>
        </p:blipFill>
        <p:spPr>
          <a:xfrm>
            <a:off x="3200400" y="381000"/>
            <a:ext cx="4572000" cy="1809750"/>
          </a:xfrm>
          <a:prstGeom prst="rect">
            <a:avLst/>
          </a:prstGeom>
        </p:spPr>
      </p:pic>
      <p:pic>
        <p:nvPicPr>
          <p:cNvPr id="11" name="Obraz 10"/>
          <p:cNvPicPr>
            <a:picLocks noChangeAspect="1"/>
          </p:cNvPicPr>
          <p:nvPr/>
        </p:nvPicPr>
        <p:blipFill>
          <a:blip r:embed="rId3"/>
          <a:stretch>
            <a:fillRect/>
          </a:stretch>
        </p:blipFill>
        <p:spPr>
          <a:xfrm>
            <a:off x="1828800" y="4238626"/>
            <a:ext cx="5181600" cy="1781175"/>
          </a:xfrm>
          <a:prstGeom prst="rect">
            <a:avLst/>
          </a:prstGeom>
        </p:spPr>
      </p:pic>
      <p:sp>
        <p:nvSpPr>
          <p:cNvPr id="13" name="pole tekstowe 12"/>
          <p:cNvSpPr txBox="1"/>
          <p:nvPr/>
        </p:nvSpPr>
        <p:spPr>
          <a:xfrm>
            <a:off x="8009612" y="1066801"/>
            <a:ext cx="1210588" cy="461665"/>
          </a:xfrm>
          <a:prstGeom prst="rect">
            <a:avLst/>
          </a:prstGeom>
          <a:noFill/>
        </p:spPr>
        <p:txBody>
          <a:bodyPr wrap="none" rtlCol="0">
            <a:spAutoFit/>
          </a:bodyPr>
          <a:lstStyle/>
          <a:p>
            <a:r>
              <a:rPr lang="pl-PL" sz="2400" b="1" dirty="0">
                <a:solidFill>
                  <a:srgbClr val="00B050"/>
                </a:solidFill>
                <a:latin typeface="Arial Narrow" panose="020B0606020202030204" pitchFamily="34" charset="0"/>
              </a:rPr>
              <a:t>Wzorzec</a:t>
            </a:r>
            <a:endParaRPr lang="en-GB" b="1" dirty="0">
              <a:solidFill>
                <a:srgbClr val="00B050"/>
              </a:solidFill>
              <a:latin typeface="Arial Narrow" panose="020B0606020202030204" pitchFamily="34" charset="0"/>
            </a:endParaRPr>
          </a:p>
        </p:txBody>
      </p:sp>
      <p:pic>
        <p:nvPicPr>
          <p:cNvPr id="14" name="Obraz 13"/>
          <p:cNvPicPr>
            <a:picLocks noChangeAspect="1"/>
          </p:cNvPicPr>
          <p:nvPr/>
        </p:nvPicPr>
        <p:blipFill>
          <a:blip r:embed="rId4"/>
          <a:stretch>
            <a:fillRect/>
          </a:stretch>
        </p:blipFill>
        <p:spPr>
          <a:xfrm>
            <a:off x="1828801" y="3152775"/>
            <a:ext cx="2085975" cy="1095375"/>
          </a:xfrm>
          <a:prstGeom prst="rect">
            <a:avLst/>
          </a:prstGeom>
        </p:spPr>
      </p:pic>
      <p:sp>
        <p:nvSpPr>
          <p:cNvPr id="10" name="pole tekstowe 9"/>
          <p:cNvSpPr txBox="1"/>
          <p:nvPr/>
        </p:nvSpPr>
        <p:spPr>
          <a:xfrm>
            <a:off x="1676400" y="2730321"/>
            <a:ext cx="2667000" cy="369332"/>
          </a:xfrm>
          <a:prstGeom prst="rect">
            <a:avLst/>
          </a:prstGeom>
          <a:noFill/>
        </p:spPr>
        <p:txBody>
          <a:bodyPr wrap="square" rtlCol="0">
            <a:spAutoFit/>
          </a:bodyPr>
          <a:lstStyle/>
          <a:p>
            <a:r>
              <a:rPr lang="pl-PL">
                <a:solidFill>
                  <a:srgbClr val="FF0000"/>
                </a:solidFill>
                <a:latin typeface="Arial Narrow" panose="020B0606020202030204" pitchFamily="34" charset="0"/>
              </a:rPr>
              <a:t>Analizowany fragment obrazu</a:t>
            </a:r>
            <a:endParaRPr lang="en-GB" dirty="0">
              <a:solidFill>
                <a:srgbClr val="FF0000"/>
              </a:solidFill>
              <a:latin typeface="Arial Narrow" panose="020B0606020202030204" pitchFamily="34" charset="0"/>
            </a:endParaRPr>
          </a:p>
        </p:txBody>
      </p:sp>
      <p:sp>
        <p:nvSpPr>
          <p:cNvPr id="2" name="Rectangle 2">
            <a:extLst>
              <a:ext uri="{FF2B5EF4-FFF2-40B4-BE49-F238E27FC236}">
                <a16:creationId xmlns:a16="http://schemas.microsoft.com/office/drawing/2014/main" id="{8251454E-18B9-2015-AF99-DDE70FB8E671}"/>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803639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1"/>
          </p:nvPr>
        </p:nvSpPr>
        <p:spPr/>
        <p:txBody>
          <a:bodyPr/>
          <a:lstStyle/>
          <a:p>
            <a:fld id="{1934D22F-1F04-4BF8-AF4B-817408F2A286}" type="slidenum">
              <a:rPr lang="pl-PL" smtClean="0"/>
              <a:pPr/>
              <a:t>8</a:t>
            </a:fld>
            <a:endParaRPr lang="pl-PL" dirty="0"/>
          </a:p>
        </p:txBody>
      </p:sp>
      <p:pic>
        <p:nvPicPr>
          <p:cNvPr id="6" name="Obraz 5"/>
          <p:cNvPicPr>
            <a:picLocks noChangeAspect="1"/>
          </p:cNvPicPr>
          <p:nvPr/>
        </p:nvPicPr>
        <p:blipFill>
          <a:blip r:embed="rId2"/>
          <a:stretch>
            <a:fillRect/>
          </a:stretch>
        </p:blipFill>
        <p:spPr>
          <a:xfrm>
            <a:off x="3200400" y="381000"/>
            <a:ext cx="4572000" cy="1809750"/>
          </a:xfrm>
          <a:prstGeom prst="rect">
            <a:avLst/>
          </a:prstGeom>
        </p:spPr>
      </p:pic>
      <p:sp>
        <p:nvSpPr>
          <p:cNvPr id="7" name="pole tekstowe 6"/>
          <p:cNvSpPr txBox="1"/>
          <p:nvPr/>
        </p:nvSpPr>
        <p:spPr>
          <a:xfrm>
            <a:off x="8009612" y="1066801"/>
            <a:ext cx="1210588" cy="461665"/>
          </a:xfrm>
          <a:prstGeom prst="rect">
            <a:avLst/>
          </a:prstGeom>
          <a:noFill/>
        </p:spPr>
        <p:txBody>
          <a:bodyPr wrap="none" rtlCol="0">
            <a:spAutoFit/>
          </a:bodyPr>
          <a:lstStyle/>
          <a:p>
            <a:r>
              <a:rPr lang="pl-PL" sz="2400" b="1" dirty="0">
                <a:solidFill>
                  <a:srgbClr val="00B050"/>
                </a:solidFill>
                <a:latin typeface="Arial Narrow" panose="020B0606020202030204" pitchFamily="34" charset="0"/>
              </a:rPr>
              <a:t>Wzorzec</a:t>
            </a:r>
            <a:endParaRPr lang="en-GB" b="1" dirty="0">
              <a:solidFill>
                <a:srgbClr val="00B050"/>
              </a:solidFill>
              <a:latin typeface="Arial Narrow" panose="020B0606020202030204" pitchFamily="34" charset="0"/>
            </a:endParaRPr>
          </a:p>
        </p:txBody>
      </p:sp>
      <p:sp>
        <p:nvSpPr>
          <p:cNvPr id="10" name="pole tekstowe 9"/>
          <p:cNvSpPr txBox="1"/>
          <p:nvPr/>
        </p:nvSpPr>
        <p:spPr>
          <a:xfrm>
            <a:off x="6934200" y="4580572"/>
            <a:ext cx="3505200" cy="923330"/>
          </a:xfrm>
          <a:prstGeom prst="rect">
            <a:avLst/>
          </a:prstGeom>
          <a:noFill/>
        </p:spPr>
        <p:txBody>
          <a:bodyPr wrap="square" rtlCol="0">
            <a:spAutoFit/>
          </a:bodyPr>
          <a:lstStyle/>
          <a:p>
            <a:r>
              <a:rPr lang="pl-PL" b="1" dirty="0">
                <a:latin typeface="Arial Narrow" panose="020B0606020202030204" pitchFamily="34" charset="0"/>
              </a:rPr>
              <a:t>Fragment nie pasuje do wzorca – wynikiem mnożenia i dodawania jest mała liczba (tu równa 0).</a:t>
            </a:r>
            <a:endParaRPr lang="en-GB" b="1" dirty="0">
              <a:latin typeface="Arial Narrow" panose="020B0606020202030204" pitchFamily="34" charset="0"/>
            </a:endParaRPr>
          </a:p>
        </p:txBody>
      </p:sp>
      <p:pic>
        <p:nvPicPr>
          <p:cNvPr id="12" name="Obraz 11"/>
          <p:cNvPicPr>
            <a:picLocks noChangeAspect="1"/>
          </p:cNvPicPr>
          <p:nvPr/>
        </p:nvPicPr>
        <p:blipFill>
          <a:blip r:embed="rId3"/>
          <a:stretch>
            <a:fillRect/>
          </a:stretch>
        </p:blipFill>
        <p:spPr>
          <a:xfrm>
            <a:off x="1781176" y="3142297"/>
            <a:ext cx="5153025" cy="2876550"/>
          </a:xfrm>
          <a:prstGeom prst="rect">
            <a:avLst/>
          </a:prstGeom>
        </p:spPr>
      </p:pic>
      <p:sp>
        <p:nvSpPr>
          <p:cNvPr id="8" name="pole tekstowe 7"/>
          <p:cNvSpPr txBox="1"/>
          <p:nvPr/>
        </p:nvSpPr>
        <p:spPr>
          <a:xfrm>
            <a:off x="1676400" y="2730321"/>
            <a:ext cx="2667000" cy="369332"/>
          </a:xfrm>
          <a:prstGeom prst="rect">
            <a:avLst/>
          </a:prstGeom>
          <a:noFill/>
        </p:spPr>
        <p:txBody>
          <a:bodyPr wrap="square" rtlCol="0">
            <a:spAutoFit/>
          </a:bodyPr>
          <a:lstStyle/>
          <a:p>
            <a:r>
              <a:rPr lang="pl-PL">
                <a:solidFill>
                  <a:srgbClr val="0000FF"/>
                </a:solidFill>
                <a:latin typeface="Arial Narrow" panose="020B0606020202030204" pitchFamily="34" charset="0"/>
              </a:rPr>
              <a:t>Analizowany fragment obrazu</a:t>
            </a:r>
            <a:endParaRPr lang="en-GB" dirty="0">
              <a:solidFill>
                <a:srgbClr val="0000FF"/>
              </a:solidFill>
              <a:latin typeface="Arial Narrow" panose="020B0606020202030204" pitchFamily="34" charset="0"/>
            </a:endParaRPr>
          </a:p>
        </p:txBody>
      </p:sp>
      <p:sp>
        <p:nvSpPr>
          <p:cNvPr id="2" name="Rectangle 2">
            <a:extLst>
              <a:ext uri="{FF2B5EF4-FFF2-40B4-BE49-F238E27FC236}">
                <a16:creationId xmlns:a16="http://schemas.microsoft.com/office/drawing/2014/main" id="{1A32B498-2D38-1506-CB01-974819747FC0}"/>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115035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1"/>
          </p:nvPr>
        </p:nvSpPr>
        <p:spPr/>
        <p:txBody>
          <a:bodyPr/>
          <a:lstStyle/>
          <a:p>
            <a:fld id="{1934D22F-1F04-4BF8-AF4B-817408F2A286}" type="slidenum">
              <a:rPr lang="pl-PL" smtClean="0"/>
              <a:pPr/>
              <a:t>9</a:t>
            </a:fld>
            <a:endParaRPr lang="pl-PL" dirty="0"/>
          </a:p>
        </p:txBody>
      </p:sp>
      <p:sp>
        <p:nvSpPr>
          <p:cNvPr id="6" name="TextBox 6"/>
          <p:cNvSpPr txBox="1"/>
          <p:nvPr/>
        </p:nvSpPr>
        <p:spPr>
          <a:xfrm>
            <a:off x="0" y="304800"/>
            <a:ext cx="12178800" cy="990600"/>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Konwolucje są definiowane przez dwa główne parametry:</a:t>
            </a:r>
          </a:p>
          <a:p>
            <a:pPr marL="269875" indent="-269875">
              <a:buAutoNum type="arabicPeriod"/>
            </a:pPr>
            <a:r>
              <a:rPr lang="pl-PL" sz="2000">
                <a:latin typeface="Arial Narrow" panose="020B0606020202030204" pitchFamily="34" charset="0"/>
              </a:rPr>
              <a:t>Rozmiar jądra (zwanego także łatą lub oknem): najczęściej 3x3, rzadziej 5x5 lub  </a:t>
            </a:r>
            <a:r>
              <a:rPr lang="pl-PL" sz="2000" dirty="0">
                <a:latin typeface="Arial Narrow" panose="020B0606020202030204" pitchFamily="34" charset="0"/>
              </a:rPr>
              <a:t>7x7</a:t>
            </a:r>
          </a:p>
          <a:p>
            <a:pPr marL="269875" indent="-269875">
              <a:buAutoNum type="arabicPeriod"/>
            </a:pPr>
            <a:r>
              <a:rPr lang="pl-PL" sz="2000" dirty="0">
                <a:latin typeface="Arial Narrow" panose="020B0606020202030204" pitchFamily="34" charset="0"/>
              </a:rPr>
              <a:t>Głębia wyjściowej mapy cech – liczba filtrów obliczana przez </a:t>
            </a:r>
            <a:r>
              <a:rPr lang="pl-PL" sz="2000" dirty="0" err="1">
                <a:latin typeface="Arial Narrow" panose="020B0606020202030204" pitchFamily="34" charset="0"/>
              </a:rPr>
              <a:t>konwolucję</a:t>
            </a:r>
            <a:endParaRPr lang="pl-PL" sz="2000" dirty="0">
              <a:latin typeface="Arial Narrow" panose="020B0606020202030204" pitchFamily="34" charset="0"/>
            </a:endParaRPr>
          </a:p>
          <a:p>
            <a:pPr marL="269875" indent="-269875">
              <a:buAutoNum type="arabicPeriod"/>
            </a:pPr>
            <a:endParaRPr lang="pl-PL" sz="2000" dirty="0">
              <a:latin typeface="Arial Narrow" panose="020B0606020202030204" pitchFamily="34" charset="0"/>
            </a:endParaRPr>
          </a:p>
          <a:p>
            <a:r>
              <a:rPr lang="pl-PL" sz="2000" dirty="0">
                <a:latin typeface="Arial Narrow" panose="020B0606020202030204" pitchFamily="34" charset="0"/>
              </a:rPr>
              <a:t>W pakiecie </a:t>
            </a:r>
            <a:r>
              <a:rPr lang="pl-PL" sz="2000">
                <a:latin typeface="Arial Narrow" panose="020B0606020202030204" pitchFamily="34" charset="0"/>
              </a:rPr>
              <a:t>Keras warstwa konwolucyjna (Conv2D) wymaga </a:t>
            </a:r>
            <a:r>
              <a:rPr lang="pl-PL" sz="2000" dirty="0">
                <a:latin typeface="Arial Narrow" panose="020B0606020202030204" pitchFamily="34" charset="0"/>
              </a:rPr>
              <a:t>podania tych parametrów w następujący sposób:</a:t>
            </a:r>
          </a:p>
          <a:p>
            <a:r>
              <a:rPr lang="pl-PL" sz="2000" dirty="0">
                <a:latin typeface="Arial Narrow" panose="020B0606020202030204" pitchFamily="34" charset="0"/>
              </a:rPr>
              <a:t>Conv2D(głębia_wyjścia, (wysokość_okna, </a:t>
            </a:r>
            <a:r>
              <a:rPr lang="pl-PL" sz="2000" dirty="0" err="1">
                <a:latin typeface="Arial Narrow" panose="020B0606020202030204" pitchFamily="34" charset="0"/>
              </a:rPr>
              <a:t>szerokość_okna</a:t>
            </a:r>
            <a:r>
              <a:rPr lang="pl-PL" sz="2000" dirty="0">
                <a:latin typeface="Arial Narrow" panose="020B0606020202030204" pitchFamily="34" charset="0"/>
              </a:rPr>
              <a:t>))</a:t>
            </a:r>
          </a:p>
          <a:p>
            <a:endParaRPr lang="pl-PL" sz="2000" dirty="0">
              <a:latin typeface="Arial Narrow" panose="020B0606020202030204" pitchFamily="34" charset="0"/>
            </a:endParaRPr>
          </a:p>
          <a:p>
            <a:r>
              <a:rPr lang="pl-PL" sz="2000" dirty="0">
                <a:latin typeface="Arial Narrow" panose="020B0606020202030204" pitchFamily="34" charset="0"/>
              </a:rPr>
              <a:t>np.:</a:t>
            </a:r>
          </a:p>
          <a:p>
            <a:r>
              <a:rPr lang="pl-PL" sz="2000" b="1" dirty="0">
                <a:latin typeface="Arial Narrow" panose="020B0606020202030204" pitchFamily="34" charset="0"/>
                <a:cs typeface="Calibri" panose="020F0502020204030204" pitchFamily="34" charset="0"/>
              </a:rPr>
              <a:t>Conv2D(32, (3,3</a:t>
            </a:r>
            <a:r>
              <a:rPr lang="pl-PL" sz="2000" b="1">
                <a:latin typeface="Arial Narrow" panose="020B0606020202030204" pitchFamily="34" charset="0"/>
                <a:cs typeface="Calibri" panose="020F0502020204030204" pitchFamily="34" charset="0"/>
              </a:rPr>
              <a:t>), …</a:t>
            </a:r>
          </a:p>
          <a:p>
            <a:r>
              <a:rPr lang="pl-PL" sz="2000">
                <a:latin typeface="Arial Narrow" panose="020B0606020202030204" pitchFamily="34" charset="0"/>
                <a:cs typeface="Calibri" panose="020F0502020204030204" pitchFamily="34" charset="0"/>
              </a:rPr>
              <a:t>gdzie:</a:t>
            </a:r>
          </a:p>
          <a:p>
            <a:r>
              <a:rPr lang="pl-PL" sz="2000">
                <a:latin typeface="Arial Narrow" panose="020B0606020202030204" pitchFamily="34" charset="0"/>
                <a:cs typeface="Calibri" panose="020F0502020204030204" pitchFamily="34" charset="0"/>
              </a:rPr>
              <a:t>32 – liczba filtrów obliczana przez konwolucję</a:t>
            </a:r>
          </a:p>
          <a:p>
            <a:r>
              <a:rPr lang="pl-PL" sz="2000">
                <a:latin typeface="Arial Narrow" panose="020B0606020202030204" pitchFamily="34" charset="0"/>
                <a:cs typeface="Calibri" panose="020F0502020204030204" pitchFamily="34" charset="0"/>
              </a:rPr>
              <a:t>(3,3) – rozmiar okna</a:t>
            </a:r>
          </a:p>
          <a:p>
            <a:endParaRPr lang="pl-PL" sz="2000" b="1">
              <a:latin typeface="Arial Narrow" panose="020B0606020202030204" pitchFamily="34" charset="0"/>
              <a:cs typeface="Calibri" panose="020F0502020204030204" pitchFamily="34" charset="0"/>
            </a:endParaRPr>
          </a:p>
          <a:p>
            <a:r>
              <a:rPr lang="pl-PL" sz="2000">
                <a:latin typeface="Arial Narrow" panose="020B0606020202030204" pitchFamily="34" charset="0"/>
                <a:cs typeface="Calibri" panose="020F0502020204030204" pitchFamily="34" charset="0"/>
              </a:rPr>
              <a:t>Do wyznaczenia wag jąder przez sieć splotową wykorzystywana jest metoda propagacji wstecznej, podobnie, jak w tradycyjnej sieci neuronowej.</a:t>
            </a:r>
          </a:p>
          <a:p>
            <a:r>
              <a:rPr lang="pl-PL" sz="2000">
                <a:latin typeface="Arial Narrow" panose="020B0606020202030204" pitchFamily="34" charset="0"/>
                <a:cs typeface="Calibri" panose="020F0502020204030204" pitchFamily="34" charset="0"/>
              </a:rPr>
              <a:t>Do inicjalizowania wartości wag jąder wykorzystywane są te same metody, co do inicjalizowania wag neuronów w tradycyjnych sieciach neuronowych (np. w pakiecie keras jest to inicjalizacja Glorota).</a:t>
            </a:r>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p:txBody>
      </p:sp>
      <p:sp>
        <p:nvSpPr>
          <p:cNvPr id="2" name="Rectangle 2">
            <a:extLst>
              <a:ext uri="{FF2B5EF4-FFF2-40B4-BE49-F238E27FC236}">
                <a16:creationId xmlns:a16="http://schemas.microsoft.com/office/drawing/2014/main" id="{9933366F-FC2E-3463-F3DE-421A847F6994}"/>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774859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1"/>
          </p:nvPr>
        </p:nvSpPr>
        <p:spPr/>
        <p:txBody>
          <a:bodyPr/>
          <a:lstStyle/>
          <a:p>
            <a:fld id="{1934D22F-1F04-4BF8-AF4B-817408F2A286}" type="slidenum">
              <a:rPr lang="pl-PL" smtClean="0"/>
              <a:pPr/>
              <a:t>10</a:t>
            </a:fld>
            <a:endParaRPr lang="pl-PL" dirty="0"/>
          </a:p>
        </p:txBody>
      </p:sp>
      <p:pic>
        <p:nvPicPr>
          <p:cNvPr id="5" name="Obraz 4"/>
          <p:cNvPicPr>
            <a:picLocks noChangeAspect="1"/>
          </p:cNvPicPr>
          <p:nvPr/>
        </p:nvPicPr>
        <p:blipFill>
          <a:blip r:embed="rId2"/>
          <a:stretch>
            <a:fillRect/>
          </a:stretch>
        </p:blipFill>
        <p:spPr>
          <a:xfrm>
            <a:off x="2971800" y="2744704"/>
            <a:ext cx="5181600" cy="2360696"/>
          </a:xfrm>
          <a:prstGeom prst="rect">
            <a:avLst/>
          </a:prstGeom>
        </p:spPr>
      </p:pic>
      <p:sp>
        <p:nvSpPr>
          <p:cNvPr id="6" name="Prostokąt 5"/>
          <p:cNvSpPr/>
          <p:nvPr/>
        </p:nvSpPr>
        <p:spPr>
          <a:xfrm>
            <a:off x="0" y="304800"/>
            <a:ext cx="12192000" cy="1938992"/>
          </a:xfrm>
          <a:prstGeom prst="rect">
            <a:avLst/>
          </a:prstGeom>
        </p:spPr>
        <p:txBody>
          <a:bodyPr wrap="square">
            <a:spAutoFit/>
          </a:bodyPr>
          <a:lstStyle/>
          <a:p>
            <a:r>
              <a:rPr lang="pl-PL" sz="2000" dirty="0">
                <a:latin typeface="Arial Narrow" panose="020B0606020202030204" pitchFamily="34" charset="0"/>
              </a:rPr>
              <a:t>Konwolucja polega na przesuwaniu okna po mapie cech. Szerokość i wysokość obiektu wyjściowego może się różnić od szerokości i wysokości obiektu wejściowego. </a:t>
            </a:r>
            <a:br>
              <a:rPr lang="pl-PL" sz="2000" dirty="0">
                <a:latin typeface="Arial Narrow" panose="020B0606020202030204" pitchFamily="34" charset="0"/>
              </a:rPr>
            </a:br>
            <a:r>
              <a:rPr lang="pl-PL" sz="2000" dirty="0">
                <a:latin typeface="Arial Narrow" panose="020B0606020202030204" pitchFamily="34" charset="0"/>
              </a:rPr>
              <a:t>Może to wynikać z dwóch czynników:</a:t>
            </a:r>
          </a:p>
          <a:p>
            <a:pPr marL="177800" indent="-177800">
              <a:buFont typeface="Arial" panose="020B0604020202020204" pitchFamily="34" charset="0"/>
              <a:buChar char="•"/>
            </a:pPr>
            <a:r>
              <a:rPr lang="pl-PL" sz="2000" dirty="0">
                <a:latin typeface="Arial Narrow" panose="020B0606020202030204" pitchFamily="34" charset="0"/>
              </a:rPr>
              <a:t>efektów granicznych, którym można przeciwdziałać dopełniając mapę cech wyjściowych,</a:t>
            </a:r>
          </a:p>
          <a:p>
            <a:pPr marL="177800" indent="-177800">
              <a:buFont typeface="Arial" panose="020B0604020202020204" pitchFamily="34" charset="0"/>
              <a:buChar char="•"/>
            </a:pPr>
            <a:r>
              <a:rPr lang="pl-PL" sz="2000" dirty="0">
                <a:latin typeface="Arial Narrow" panose="020B0606020202030204" pitchFamily="34" charset="0"/>
              </a:rPr>
              <a:t>użycia </a:t>
            </a:r>
            <a:r>
              <a:rPr lang="pl-PL" sz="2000" b="1" dirty="0">
                <a:latin typeface="Arial Narrow" panose="020B0606020202030204" pitchFamily="34" charset="0"/>
              </a:rPr>
              <a:t>rozmiaru kroku</a:t>
            </a:r>
            <a:r>
              <a:rPr lang="pl-PL" sz="2000" dirty="0">
                <a:latin typeface="Arial Narrow" panose="020B0606020202030204" pitchFamily="34" charset="0"/>
              </a:rPr>
              <a:t> (ang. </a:t>
            </a:r>
            <a:r>
              <a:rPr lang="pl-PL" sz="2000" i="1" dirty="0" err="1">
                <a:latin typeface="Arial Narrow" panose="020B0606020202030204" pitchFamily="34" charset="0"/>
              </a:rPr>
              <a:t>stride</a:t>
            </a:r>
            <a:r>
              <a:rPr lang="pl-PL" sz="2000" i="1" dirty="0">
                <a:latin typeface="Arial Narrow" panose="020B0606020202030204" pitchFamily="34" charset="0"/>
              </a:rPr>
              <a:t> </a:t>
            </a:r>
            <a:r>
              <a:rPr lang="pl-PL" sz="2000" i="1" dirty="0" err="1">
                <a:latin typeface="Arial Narrow" panose="020B0606020202030204" pitchFamily="34" charset="0"/>
              </a:rPr>
              <a:t>size</a:t>
            </a:r>
            <a:r>
              <a:rPr lang="pl-PL" sz="2000" dirty="0">
                <a:latin typeface="Arial Narrow" panose="020B0606020202030204" pitchFamily="34" charset="0"/>
              </a:rPr>
              <a:t>) oznaczającego, co ile mają się przesuwać okna (zwykle 1). Jeśli wartość ta jest większa od 1, otrzymujemy efekt tzw. konwolucji kroczących.</a:t>
            </a:r>
            <a:endParaRPr lang="pl-PL" sz="2000" dirty="0"/>
          </a:p>
        </p:txBody>
      </p:sp>
      <p:sp>
        <p:nvSpPr>
          <p:cNvPr id="8" name="Prostokąt 7"/>
          <p:cNvSpPr/>
          <p:nvPr/>
        </p:nvSpPr>
        <p:spPr>
          <a:xfrm>
            <a:off x="2590800" y="2438400"/>
            <a:ext cx="4572000" cy="369332"/>
          </a:xfrm>
          <a:prstGeom prst="rect">
            <a:avLst/>
          </a:prstGeom>
        </p:spPr>
        <p:txBody>
          <a:bodyPr>
            <a:spAutoFit/>
          </a:bodyPr>
          <a:lstStyle/>
          <a:p>
            <a:r>
              <a:rPr lang="pl-PL" dirty="0">
                <a:latin typeface="Arial Narrow" panose="020B0606020202030204" pitchFamily="34" charset="0"/>
              </a:rPr>
              <a:t>Łaty konwolucji 3x3 przy kroku 2x2</a:t>
            </a:r>
            <a:endParaRPr lang="pl-PL" dirty="0"/>
          </a:p>
        </p:txBody>
      </p:sp>
      <p:sp>
        <p:nvSpPr>
          <p:cNvPr id="9" name="Prostokąt 8"/>
          <p:cNvSpPr/>
          <p:nvPr/>
        </p:nvSpPr>
        <p:spPr>
          <a:xfrm>
            <a:off x="1524000" y="5223808"/>
            <a:ext cx="9144000" cy="400110"/>
          </a:xfrm>
          <a:prstGeom prst="rect">
            <a:avLst/>
          </a:prstGeom>
        </p:spPr>
        <p:txBody>
          <a:bodyPr wrap="square">
            <a:spAutoFit/>
          </a:bodyPr>
          <a:lstStyle/>
          <a:p>
            <a:r>
              <a:rPr lang="pl-PL" sz="2000" dirty="0">
                <a:latin typeface="Arial Narrow" panose="020B0606020202030204" pitchFamily="34" charset="0"/>
              </a:rPr>
              <a:t>Wzrost kroku prowadzi do zmniejszania rozmiarów </a:t>
            </a:r>
            <a:r>
              <a:rPr lang="pl-PL" sz="2000">
                <a:latin typeface="Arial Narrow" panose="020B0606020202030204" pitchFamily="34" charset="0"/>
              </a:rPr>
              <a:t>mapy cech wyjściowych.</a:t>
            </a:r>
            <a:endParaRPr lang="pl-PL" sz="2000" dirty="0">
              <a:latin typeface="Arial Narrow" panose="020B0606020202030204" pitchFamily="34" charset="0"/>
            </a:endParaRPr>
          </a:p>
        </p:txBody>
      </p:sp>
      <p:sp>
        <p:nvSpPr>
          <p:cNvPr id="11" name="Prostokąt 10"/>
          <p:cNvSpPr/>
          <p:nvPr/>
        </p:nvSpPr>
        <p:spPr>
          <a:xfrm>
            <a:off x="1552575" y="3571109"/>
            <a:ext cx="1066800" cy="707886"/>
          </a:xfrm>
          <a:prstGeom prst="rect">
            <a:avLst/>
          </a:prstGeom>
        </p:spPr>
        <p:txBody>
          <a:bodyPr wrap="square">
            <a:spAutoFit/>
          </a:bodyPr>
          <a:lstStyle/>
          <a:p>
            <a:pPr algn="ctr"/>
            <a:r>
              <a:rPr lang="pl-PL" sz="2000">
                <a:latin typeface="Arial Narrow" panose="020B0606020202030204" pitchFamily="34" charset="0"/>
              </a:rPr>
              <a:t>wejście:</a:t>
            </a:r>
          </a:p>
          <a:p>
            <a:pPr algn="ctr"/>
            <a:r>
              <a:rPr lang="pl-PL" sz="2000">
                <a:latin typeface="Arial Narrow" panose="020B0606020202030204" pitchFamily="34" charset="0"/>
              </a:rPr>
              <a:t>5x5</a:t>
            </a:r>
            <a:endParaRPr lang="pl-PL" sz="2000" dirty="0">
              <a:latin typeface="Arial Narrow" panose="020B0606020202030204" pitchFamily="34" charset="0"/>
            </a:endParaRPr>
          </a:p>
        </p:txBody>
      </p:sp>
      <p:sp>
        <p:nvSpPr>
          <p:cNvPr id="12" name="Prostokąt 11"/>
          <p:cNvSpPr/>
          <p:nvPr/>
        </p:nvSpPr>
        <p:spPr>
          <a:xfrm>
            <a:off x="8382000" y="3571109"/>
            <a:ext cx="1066800" cy="707886"/>
          </a:xfrm>
          <a:prstGeom prst="rect">
            <a:avLst/>
          </a:prstGeom>
        </p:spPr>
        <p:txBody>
          <a:bodyPr wrap="square">
            <a:spAutoFit/>
          </a:bodyPr>
          <a:lstStyle/>
          <a:p>
            <a:pPr algn="ctr"/>
            <a:r>
              <a:rPr lang="pl-PL" sz="2000">
                <a:latin typeface="Arial Narrow" panose="020B0606020202030204" pitchFamily="34" charset="0"/>
              </a:rPr>
              <a:t>wyjście:</a:t>
            </a:r>
          </a:p>
          <a:p>
            <a:pPr algn="ctr"/>
            <a:r>
              <a:rPr lang="pl-PL" sz="2000">
                <a:latin typeface="Arial Narrow" panose="020B0606020202030204" pitchFamily="34" charset="0"/>
              </a:rPr>
              <a:t>2x2</a:t>
            </a:r>
            <a:endParaRPr lang="pl-PL" sz="2000" dirty="0">
              <a:latin typeface="Arial Narrow" panose="020B0606020202030204" pitchFamily="34" charset="0"/>
            </a:endParaRPr>
          </a:p>
        </p:txBody>
      </p:sp>
      <p:sp>
        <p:nvSpPr>
          <p:cNvPr id="2" name="Rectangle 2">
            <a:extLst>
              <a:ext uri="{FF2B5EF4-FFF2-40B4-BE49-F238E27FC236}">
                <a16:creationId xmlns:a16="http://schemas.microsoft.com/office/drawing/2014/main" id="{7056A597-DAB2-F116-E604-96EA6B42245C}"/>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314797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1934D22F-1F04-4BF8-AF4B-817408F2A286}" type="slidenum">
              <a:rPr lang="pl-PL" smtClean="0"/>
              <a:pPr/>
              <a:t>11</a:t>
            </a:fld>
            <a:endParaRPr lang="pl-PL" dirty="0"/>
          </a:p>
        </p:txBody>
      </p:sp>
      <p:pic>
        <p:nvPicPr>
          <p:cNvPr id="5" name="Picture 4"/>
          <p:cNvPicPr>
            <a:picLocks noChangeAspect="1"/>
          </p:cNvPicPr>
          <p:nvPr/>
        </p:nvPicPr>
        <p:blipFill>
          <a:blip r:embed="rId2"/>
          <a:stretch>
            <a:fillRect/>
          </a:stretch>
        </p:blipFill>
        <p:spPr>
          <a:xfrm>
            <a:off x="4114800" y="1066800"/>
            <a:ext cx="3276600" cy="1891124"/>
          </a:xfrm>
          <a:prstGeom prst="rect">
            <a:avLst/>
          </a:prstGeom>
        </p:spPr>
      </p:pic>
      <p:sp>
        <p:nvSpPr>
          <p:cNvPr id="6" name="TextBox 5"/>
          <p:cNvSpPr txBox="1"/>
          <p:nvPr/>
        </p:nvSpPr>
        <p:spPr>
          <a:xfrm>
            <a:off x="13200" y="304800"/>
            <a:ext cx="10350000" cy="609600"/>
          </a:xfrm>
          <a:prstGeom prst="rect">
            <a:avLst/>
          </a:prstGeom>
          <a:noFill/>
        </p:spPr>
        <p:txBody>
          <a:bodyPr wrap="square" lIns="36000" tIns="36000" rIns="36000" bIns="36000" rtlCol="0">
            <a:noAutofit/>
          </a:bodyPr>
          <a:lstStyle/>
          <a:p>
            <a:r>
              <a:rPr lang="pl-PL" sz="2000">
                <a:latin typeface="Arial Narrow" panose="020B0606020202030204" pitchFamily="34" charset="0"/>
              </a:rPr>
              <a:t>Przykład klasyfikacji </a:t>
            </a:r>
            <a:r>
              <a:rPr lang="pl-PL" sz="2000" dirty="0">
                <a:latin typeface="Arial Narrow" panose="020B0606020202030204" pitchFamily="34" charset="0"/>
              </a:rPr>
              <a:t>binarnej:</a:t>
            </a:r>
          </a:p>
          <a:p>
            <a:r>
              <a:rPr lang="pl-PL" sz="2000" dirty="0">
                <a:latin typeface="Arial Narrow" panose="020B0606020202030204" pitchFamily="34" charset="0"/>
              </a:rPr>
              <a:t>zadaniem jest rozpoznanie, czy na rysunku jest kółko, czy krzyżyk.</a:t>
            </a:r>
            <a:endParaRPr lang="en-GB" sz="2000" dirty="0">
              <a:latin typeface="Arial Narrow" panose="020B0606020202030204" pitchFamily="34" charset="0"/>
            </a:endParaRPr>
          </a:p>
        </p:txBody>
      </p:sp>
      <p:sp>
        <p:nvSpPr>
          <p:cNvPr id="8" name="TextBox 7"/>
          <p:cNvSpPr txBox="1"/>
          <p:nvPr/>
        </p:nvSpPr>
        <p:spPr>
          <a:xfrm>
            <a:off x="3505200" y="3429000"/>
            <a:ext cx="3657600" cy="399340"/>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Rysunki mają różną formę:</a:t>
            </a:r>
            <a:endParaRPr lang="en-GB" sz="2000" dirty="0">
              <a:latin typeface="Arial Narrow" panose="020B0606020202030204" pitchFamily="34" charset="0"/>
            </a:endParaRPr>
          </a:p>
        </p:txBody>
      </p:sp>
      <p:pic>
        <p:nvPicPr>
          <p:cNvPr id="10" name="Picture 9"/>
          <p:cNvPicPr>
            <a:picLocks noChangeAspect="1"/>
          </p:cNvPicPr>
          <p:nvPr/>
        </p:nvPicPr>
        <p:blipFill>
          <a:blip r:embed="rId3"/>
          <a:stretch>
            <a:fillRect/>
          </a:stretch>
        </p:blipFill>
        <p:spPr>
          <a:xfrm flipV="1">
            <a:off x="3609392" y="3828340"/>
            <a:ext cx="4533903" cy="1091804"/>
          </a:xfrm>
          <a:prstGeom prst="rect">
            <a:avLst/>
          </a:prstGeom>
        </p:spPr>
      </p:pic>
      <p:pic>
        <p:nvPicPr>
          <p:cNvPr id="11" name="Picture 10"/>
          <p:cNvPicPr>
            <a:picLocks noChangeAspect="1"/>
          </p:cNvPicPr>
          <p:nvPr/>
        </p:nvPicPr>
        <p:blipFill>
          <a:blip r:embed="rId4"/>
          <a:stretch>
            <a:fillRect/>
          </a:stretch>
        </p:blipFill>
        <p:spPr>
          <a:xfrm flipV="1">
            <a:off x="3609392" y="5638799"/>
            <a:ext cx="4533902" cy="1066800"/>
          </a:xfrm>
          <a:prstGeom prst="rect">
            <a:avLst/>
          </a:prstGeom>
        </p:spPr>
      </p:pic>
      <p:sp>
        <p:nvSpPr>
          <p:cNvPr id="12" name="TextBox 11"/>
          <p:cNvSpPr txBox="1"/>
          <p:nvPr/>
        </p:nvSpPr>
        <p:spPr>
          <a:xfrm>
            <a:off x="3602482" y="4953000"/>
            <a:ext cx="4557228" cy="609600"/>
          </a:xfrm>
          <a:prstGeom prst="rect">
            <a:avLst/>
          </a:prstGeom>
          <a:noFill/>
        </p:spPr>
        <p:txBody>
          <a:bodyPr wrap="square" lIns="18000" tIns="18000" rIns="18000" bIns="18000" rtlCol="0">
            <a:noAutofit/>
          </a:bodyPr>
          <a:lstStyle/>
          <a:p>
            <a:pPr>
              <a:tabLst>
                <a:tab pos="541338" algn="ctr"/>
                <a:tab pos="1670050" algn="ctr"/>
                <a:tab pos="2808288" algn="ctr"/>
                <a:tab pos="3900488" algn="ctr"/>
              </a:tabLst>
            </a:pPr>
            <a:r>
              <a:rPr lang="pl-PL" dirty="0">
                <a:latin typeface="Arial Narrow" panose="020B0606020202030204" pitchFamily="34" charset="0"/>
              </a:rPr>
              <a:t>	translation	scaling	rotation	weight</a:t>
            </a:r>
          </a:p>
          <a:p>
            <a:pPr>
              <a:tabLst>
                <a:tab pos="541338" algn="ctr"/>
                <a:tab pos="1670050" algn="ctr"/>
                <a:tab pos="2808288" algn="ctr"/>
                <a:tab pos="3900488" algn="ctr"/>
              </a:tabLst>
            </a:pPr>
            <a:r>
              <a:rPr lang="pl-PL" dirty="0">
                <a:latin typeface="Arial Narrow" panose="020B0606020202030204" pitchFamily="34" charset="0"/>
              </a:rPr>
              <a:t>	przesunięcie	rozmiar	obrót	grubość</a:t>
            </a:r>
            <a:endParaRPr lang="en-GB" dirty="0">
              <a:latin typeface="Arial Narrow" panose="020B0606020202030204" pitchFamily="34" charset="0"/>
            </a:endParaRPr>
          </a:p>
        </p:txBody>
      </p:sp>
      <p:sp>
        <p:nvSpPr>
          <p:cNvPr id="2" name="Rectangle 2">
            <a:extLst>
              <a:ext uri="{FF2B5EF4-FFF2-40B4-BE49-F238E27FC236}">
                <a16:creationId xmlns:a16="http://schemas.microsoft.com/office/drawing/2014/main" id="{AD95931C-71E8-6A28-6E2A-10DADB070637}"/>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401335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1934D22F-1F04-4BF8-AF4B-817408F2A286}" type="slidenum">
              <a:rPr lang="pl-PL" smtClean="0"/>
              <a:pPr/>
              <a:t>12</a:t>
            </a:fld>
            <a:endParaRPr lang="pl-PL" dirty="0"/>
          </a:p>
        </p:txBody>
      </p:sp>
      <p:sp>
        <p:nvSpPr>
          <p:cNvPr id="5" name="TextBox 4"/>
          <p:cNvSpPr txBox="1"/>
          <p:nvPr/>
        </p:nvSpPr>
        <p:spPr>
          <a:xfrm>
            <a:off x="13200" y="304800"/>
            <a:ext cx="10350000" cy="914400"/>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Komputer porównuje piksele. Na rysunku z prawej liczba pikseli niezgodnych z wzorcem </a:t>
            </a:r>
            <a:br>
              <a:rPr lang="pl-PL" sz="2000" dirty="0">
                <a:latin typeface="Arial Narrow" panose="020B0606020202030204" pitchFamily="34" charset="0"/>
              </a:rPr>
            </a:br>
            <a:r>
              <a:rPr lang="pl-PL" sz="2000" dirty="0">
                <a:latin typeface="Arial Narrow" panose="020B0606020202030204" pitchFamily="34" charset="0"/>
              </a:rPr>
              <a:t>(z lewej) jest większa, niż zgodnych. Człowiek potrafi rozpoznać, że na rysunku z prawej jest krzyżyk. Komputer niekoniecznie. CNN pozwalają mu „zmądrzeć”.</a:t>
            </a:r>
            <a:endParaRPr lang="en-GB" sz="2000" dirty="0">
              <a:latin typeface="Arial Narrow" panose="020B0606020202030204" pitchFamily="34" charset="0"/>
            </a:endParaRPr>
          </a:p>
        </p:txBody>
      </p:sp>
      <p:pic>
        <p:nvPicPr>
          <p:cNvPr id="6" name="Picture 5"/>
          <p:cNvPicPr>
            <a:picLocks noChangeAspect="1"/>
          </p:cNvPicPr>
          <p:nvPr/>
        </p:nvPicPr>
        <p:blipFill>
          <a:blip r:embed="rId2"/>
          <a:stretch>
            <a:fillRect/>
          </a:stretch>
        </p:blipFill>
        <p:spPr>
          <a:xfrm>
            <a:off x="3581401" y="1447800"/>
            <a:ext cx="4162425" cy="1842194"/>
          </a:xfrm>
          <a:prstGeom prst="rect">
            <a:avLst/>
          </a:prstGeom>
        </p:spPr>
      </p:pic>
      <p:sp>
        <p:nvSpPr>
          <p:cNvPr id="7" name="TextBox 6"/>
          <p:cNvSpPr txBox="1"/>
          <p:nvPr/>
        </p:nvSpPr>
        <p:spPr>
          <a:xfrm>
            <a:off x="3581400" y="3289994"/>
            <a:ext cx="4267200" cy="596206"/>
          </a:xfrm>
          <a:prstGeom prst="rect">
            <a:avLst/>
          </a:prstGeom>
          <a:noFill/>
        </p:spPr>
        <p:txBody>
          <a:bodyPr wrap="square" lIns="18000" tIns="18000" rIns="18000" bIns="18000" rtlCol="0">
            <a:noAutofit/>
          </a:bodyPr>
          <a:lstStyle/>
          <a:p>
            <a:pPr>
              <a:tabLst>
                <a:tab pos="895350" algn="ctr"/>
                <a:tab pos="3181350" algn="ctr"/>
              </a:tabLst>
            </a:pPr>
            <a:r>
              <a:rPr lang="pl-PL" dirty="0">
                <a:latin typeface="Arial Narrow" panose="020B0606020202030204" pitchFamily="34" charset="0"/>
              </a:rPr>
              <a:t>	wzorzec	rozpoznawany obraz</a:t>
            </a:r>
            <a:endParaRPr lang="en-GB" dirty="0">
              <a:latin typeface="Arial Narrow" panose="020B0606020202030204" pitchFamily="34" charset="0"/>
            </a:endParaRPr>
          </a:p>
        </p:txBody>
      </p:sp>
      <p:sp>
        <p:nvSpPr>
          <p:cNvPr id="8" name="TextBox 7"/>
          <p:cNvSpPr txBox="1"/>
          <p:nvPr/>
        </p:nvSpPr>
        <p:spPr>
          <a:xfrm>
            <a:off x="1682620" y="4204394"/>
            <a:ext cx="8839200" cy="596206"/>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Liczba pikseli zgodnych:	5 (kolor biały)</a:t>
            </a:r>
          </a:p>
          <a:p>
            <a:r>
              <a:rPr lang="pl-PL" sz="2000" dirty="0">
                <a:latin typeface="Arial Narrow" panose="020B0606020202030204" pitchFamily="34" charset="0"/>
              </a:rPr>
              <a:t>Liczba pikseli niezgodnych:	8 (kolor żółty)</a:t>
            </a:r>
            <a:endParaRPr lang="en-GB" sz="2000" dirty="0">
              <a:latin typeface="Arial Narrow" panose="020B0606020202030204" pitchFamily="34" charset="0"/>
            </a:endParaRPr>
          </a:p>
        </p:txBody>
      </p:sp>
      <p:sp>
        <p:nvSpPr>
          <p:cNvPr id="2" name="Rectangle 2">
            <a:extLst>
              <a:ext uri="{FF2B5EF4-FFF2-40B4-BE49-F238E27FC236}">
                <a16:creationId xmlns:a16="http://schemas.microsoft.com/office/drawing/2014/main" id="{56F9B271-25CF-FE42-A512-593B69F1A114}"/>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809065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13</a:t>
            </a:fld>
            <a:endParaRPr lang="pl-PL" dirty="0"/>
          </a:p>
        </p:txBody>
      </p:sp>
      <p:pic>
        <p:nvPicPr>
          <p:cNvPr id="3" name="Picture 2"/>
          <p:cNvPicPr>
            <a:picLocks noChangeAspect="1"/>
          </p:cNvPicPr>
          <p:nvPr/>
        </p:nvPicPr>
        <p:blipFill>
          <a:blip r:embed="rId2"/>
          <a:stretch>
            <a:fillRect/>
          </a:stretch>
        </p:blipFill>
        <p:spPr>
          <a:xfrm>
            <a:off x="3276600" y="1249017"/>
            <a:ext cx="4876800" cy="2011547"/>
          </a:xfrm>
          <a:prstGeom prst="rect">
            <a:avLst/>
          </a:prstGeom>
        </p:spPr>
      </p:pic>
      <p:sp>
        <p:nvSpPr>
          <p:cNvPr id="4" name="TextBox 3"/>
          <p:cNvSpPr txBox="1"/>
          <p:nvPr/>
        </p:nvSpPr>
        <p:spPr>
          <a:xfrm>
            <a:off x="0" y="304800"/>
            <a:ext cx="10363200" cy="791816"/>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Komputer rozróżnia tylko 0 i 1. </a:t>
            </a:r>
            <a:br>
              <a:rPr lang="pl-PL" sz="2000" dirty="0">
                <a:latin typeface="Arial Narrow" panose="020B0606020202030204" pitchFamily="34" charset="0"/>
              </a:rPr>
            </a:br>
            <a:r>
              <a:rPr lang="pl-PL" sz="2000" dirty="0">
                <a:latin typeface="Arial Narrow" panose="020B0606020202030204" pitchFamily="34" charset="0"/>
              </a:rPr>
              <a:t>Załóżmy, że piksel biały jest reprezentowany przez 1 a czarny przez -1:</a:t>
            </a:r>
            <a:endParaRPr lang="en-GB" sz="2000" dirty="0">
              <a:latin typeface="Arial Narrow" panose="020B0606020202030204" pitchFamily="34" charset="0"/>
            </a:endParaRPr>
          </a:p>
        </p:txBody>
      </p:sp>
      <p:sp>
        <p:nvSpPr>
          <p:cNvPr id="5" name="TextBox 4"/>
          <p:cNvSpPr txBox="1"/>
          <p:nvPr/>
        </p:nvSpPr>
        <p:spPr>
          <a:xfrm>
            <a:off x="3200400" y="3213794"/>
            <a:ext cx="5029200" cy="596206"/>
          </a:xfrm>
          <a:prstGeom prst="rect">
            <a:avLst/>
          </a:prstGeom>
          <a:noFill/>
        </p:spPr>
        <p:txBody>
          <a:bodyPr wrap="square" lIns="18000" tIns="18000" rIns="18000" bIns="18000" rtlCol="0">
            <a:noAutofit/>
          </a:bodyPr>
          <a:lstStyle/>
          <a:p>
            <a:pPr>
              <a:tabLst>
                <a:tab pos="895350" algn="ctr"/>
                <a:tab pos="4049713" algn="ctr"/>
              </a:tabLst>
            </a:pPr>
            <a:r>
              <a:rPr lang="pl-PL" dirty="0">
                <a:latin typeface="Arial Narrow" panose="020B0606020202030204" pitchFamily="34" charset="0"/>
              </a:rPr>
              <a:t>	wzorzec	rozpoznawany obraz</a:t>
            </a:r>
            <a:endParaRPr lang="en-GB" dirty="0">
              <a:latin typeface="Arial Narrow" panose="020B0606020202030204" pitchFamily="34" charset="0"/>
            </a:endParaRPr>
          </a:p>
        </p:txBody>
      </p:sp>
      <p:sp>
        <p:nvSpPr>
          <p:cNvPr id="6" name="Rectangle 2">
            <a:extLst>
              <a:ext uri="{FF2B5EF4-FFF2-40B4-BE49-F238E27FC236}">
                <a16:creationId xmlns:a16="http://schemas.microsoft.com/office/drawing/2014/main" id="{E599A794-D28B-0C62-1386-52A04FB7E7AC}"/>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660288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83D82602-3ACC-4341-B614-755528165B64}" type="slidenum">
              <a:rPr lang="pl-PL" smtClean="0"/>
              <a:pPr/>
              <a:t>14</a:t>
            </a:fld>
            <a:endParaRPr lang="pl-PL" dirty="0"/>
          </a:p>
        </p:txBody>
      </p:sp>
      <p:sp>
        <p:nvSpPr>
          <p:cNvPr id="7" name="TextBox 6"/>
          <p:cNvSpPr txBox="1"/>
          <p:nvPr/>
        </p:nvSpPr>
        <p:spPr>
          <a:xfrm>
            <a:off x="1524000" y="304800"/>
            <a:ext cx="9144000" cy="381000"/>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Konwolucyjne sieci neuronowe (CNN) dopasowują fragmenty obrazów.</a:t>
            </a:r>
            <a:endParaRPr lang="en-GB" sz="2000" dirty="0">
              <a:latin typeface="Arial Narrow" panose="020B0606020202030204" pitchFamily="34" charset="0"/>
            </a:endParaRPr>
          </a:p>
        </p:txBody>
      </p:sp>
      <p:pic>
        <p:nvPicPr>
          <p:cNvPr id="2" name="Picture 1"/>
          <p:cNvPicPr>
            <a:picLocks noChangeAspect="1"/>
          </p:cNvPicPr>
          <p:nvPr/>
        </p:nvPicPr>
        <p:blipFill>
          <a:blip r:embed="rId3"/>
          <a:stretch>
            <a:fillRect/>
          </a:stretch>
        </p:blipFill>
        <p:spPr>
          <a:xfrm>
            <a:off x="2667000" y="808514"/>
            <a:ext cx="6119812" cy="3230086"/>
          </a:xfrm>
          <a:prstGeom prst="rect">
            <a:avLst/>
          </a:prstGeom>
        </p:spPr>
      </p:pic>
      <p:sp>
        <p:nvSpPr>
          <p:cNvPr id="3" name="Rectangle 2">
            <a:extLst>
              <a:ext uri="{FF2B5EF4-FFF2-40B4-BE49-F238E27FC236}">
                <a16:creationId xmlns:a16="http://schemas.microsoft.com/office/drawing/2014/main" id="{59BF144E-F47D-22DF-517A-78809D426AC7}"/>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9A7A7B9F-A4E2-478E-88C0-8808838EDADE}" type="slidenum">
              <a:rPr lang="pl-PL" smtClean="0"/>
              <a:pPr/>
              <a:t>15</a:t>
            </a:fld>
            <a:endParaRPr lang="pl-PL" dirty="0"/>
          </a:p>
        </p:txBody>
      </p:sp>
      <p:sp>
        <p:nvSpPr>
          <p:cNvPr id="14" name="TextBox 13"/>
          <p:cNvSpPr txBox="1"/>
          <p:nvPr/>
        </p:nvSpPr>
        <p:spPr>
          <a:xfrm>
            <a:off x="13200" y="304800"/>
            <a:ext cx="12165600" cy="6096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Zajmijmy się problemem rozpoznania, czy na rysunku jest </a:t>
            </a:r>
            <a:r>
              <a:rPr lang="pl-PL" sz="2000" b="1" dirty="0">
                <a:latin typeface="Arial Narrow" panose="020B0606020202030204" pitchFamily="34" charset="0"/>
              </a:rPr>
              <a:t>krzyżyk</a:t>
            </a:r>
            <a:r>
              <a:rPr lang="pl-PL" sz="2000" dirty="0">
                <a:latin typeface="Arial Narrow" panose="020B0606020202030204" pitchFamily="34" charset="0"/>
              </a:rPr>
              <a:t>. Będziemy poszukiwali trzech wzorców – będą to nasze </a:t>
            </a:r>
            <a:r>
              <a:rPr lang="pl-PL" sz="2000" b="1" dirty="0">
                <a:latin typeface="Arial Narrow" panose="020B0606020202030204" pitchFamily="34" charset="0"/>
              </a:rPr>
              <a:t>filtry</a:t>
            </a:r>
            <a:r>
              <a:rPr lang="pl-PL" sz="2000" dirty="0">
                <a:latin typeface="Arial Narrow" panose="020B0606020202030204" pitchFamily="34" charset="0"/>
              </a:rPr>
              <a:t>:</a:t>
            </a:r>
          </a:p>
          <a:p>
            <a:endParaRPr lang="en-GB" dirty="0">
              <a:latin typeface="Arial Narrow" panose="020B0606020202030204" pitchFamily="34" charset="0"/>
            </a:endParaRPr>
          </a:p>
        </p:txBody>
      </p:sp>
      <p:sp>
        <p:nvSpPr>
          <p:cNvPr id="15" name="TextBox 14"/>
          <p:cNvSpPr txBox="1"/>
          <p:nvPr/>
        </p:nvSpPr>
        <p:spPr>
          <a:xfrm>
            <a:off x="3309209" y="2529762"/>
            <a:ext cx="5268782" cy="349680"/>
          </a:xfrm>
          <a:prstGeom prst="rect">
            <a:avLst/>
          </a:prstGeom>
          <a:noFill/>
        </p:spPr>
        <p:txBody>
          <a:bodyPr wrap="square" lIns="18000" tIns="18000" rIns="18000" bIns="18000" rtlCol="0">
            <a:noAutofit/>
          </a:bodyPr>
          <a:lstStyle/>
          <a:p>
            <a:pPr>
              <a:tabLst>
                <a:tab pos="784225" algn="ctr"/>
                <a:tab pos="2640013" algn="ctr"/>
                <a:tab pos="4506913" algn="ctr"/>
              </a:tabLst>
            </a:pPr>
            <a:r>
              <a:rPr lang="pl-PL" dirty="0">
                <a:latin typeface="Arial Narrow" panose="020B0606020202030204" pitchFamily="34" charset="0"/>
              </a:rPr>
              <a:t>	</a:t>
            </a:r>
            <a:r>
              <a:rPr lang="pl-PL" sz="2400" b="1" dirty="0">
                <a:latin typeface="Arial Narrow" panose="020B0606020202030204" pitchFamily="34" charset="0"/>
              </a:rPr>
              <a:t>\	X	/</a:t>
            </a:r>
            <a:endParaRPr lang="en-GB" sz="2400" b="1" dirty="0">
              <a:latin typeface="Arial Narrow" panose="020B0606020202030204" pitchFamily="34" charset="0"/>
            </a:endParaRPr>
          </a:p>
        </p:txBody>
      </p:sp>
      <p:pic>
        <p:nvPicPr>
          <p:cNvPr id="5" name="Picture 4"/>
          <p:cNvPicPr>
            <a:picLocks noChangeAspect="1"/>
          </p:cNvPicPr>
          <p:nvPr/>
        </p:nvPicPr>
        <p:blipFill>
          <a:blip r:embed="rId3"/>
          <a:stretch>
            <a:fillRect/>
          </a:stretch>
        </p:blipFill>
        <p:spPr>
          <a:xfrm>
            <a:off x="4433888" y="3305176"/>
            <a:ext cx="3019425" cy="2943225"/>
          </a:xfrm>
          <a:prstGeom prst="rect">
            <a:avLst/>
          </a:prstGeom>
        </p:spPr>
      </p:pic>
      <p:pic>
        <p:nvPicPr>
          <p:cNvPr id="16" name="Picture 15"/>
          <p:cNvPicPr>
            <a:picLocks noChangeAspect="1"/>
          </p:cNvPicPr>
          <p:nvPr/>
        </p:nvPicPr>
        <p:blipFill>
          <a:blip r:embed="rId4"/>
          <a:stretch>
            <a:fillRect/>
          </a:stretch>
        </p:blipFill>
        <p:spPr>
          <a:xfrm>
            <a:off x="3352800" y="1095376"/>
            <a:ext cx="5181600" cy="1400175"/>
          </a:xfrm>
          <a:prstGeom prst="rect">
            <a:avLst/>
          </a:prstGeom>
        </p:spPr>
      </p:pic>
      <p:sp>
        <p:nvSpPr>
          <p:cNvPr id="2" name="Rectangle 2">
            <a:extLst>
              <a:ext uri="{FF2B5EF4-FFF2-40B4-BE49-F238E27FC236}">
                <a16:creationId xmlns:a16="http://schemas.microsoft.com/office/drawing/2014/main" id="{8FB52860-66DA-A87D-04E7-702453679AFD}"/>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A7A7B9F-A4E2-478E-88C0-8808838EDADE}" type="slidenum">
              <a:rPr lang="pl-PL" smtClean="0"/>
              <a:pPr/>
              <a:t>16</a:t>
            </a:fld>
            <a:endParaRPr lang="pl-PL" dirty="0"/>
          </a:p>
        </p:txBody>
      </p:sp>
      <p:sp>
        <p:nvSpPr>
          <p:cNvPr id="5" name="TextBox 4"/>
          <p:cNvSpPr txBox="1"/>
          <p:nvPr/>
        </p:nvSpPr>
        <p:spPr>
          <a:xfrm>
            <a:off x="13200" y="304800"/>
            <a:ext cx="12165600" cy="17526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Algorytm postępowania:</a:t>
            </a:r>
          </a:p>
          <a:p>
            <a:pPr marL="266700" indent="-266700">
              <a:buFont typeface="+mj-lt"/>
              <a:buAutoNum type="arabicPeriod"/>
            </a:pPr>
            <a:r>
              <a:rPr lang="pl-PL" sz="2000" dirty="0">
                <a:latin typeface="Arial Narrow" panose="020B0606020202030204" pitchFamily="34" charset="0"/>
              </a:rPr>
              <a:t>Sprowadź filtr i analizowany fragment do postaci liniowej.</a:t>
            </a:r>
          </a:p>
          <a:p>
            <a:pPr marL="266700" indent="-266700">
              <a:buFont typeface="+mj-lt"/>
              <a:buAutoNum type="arabicPeriod"/>
            </a:pPr>
            <a:r>
              <a:rPr lang="pl-PL" sz="2000" dirty="0">
                <a:latin typeface="Arial Narrow" panose="020B0606020202030204" pitchFamily="34" charset="0"/>
              </a:rPr>
              <a:t>Pomnóż korespondujące piksele.</a:t>
            </a:r>
          </a:p>
          <a:p>
            <a:pPr marL="266700" indent="-266700">
              <a:buFont typeface="+mj-lt"/>
              <a:buAutoNum type="arabicPeriod"/>
            </a:pPr>
            <a:r>
              <a:rPr lang="pl-PL" sz="2000" dirty="0">
                <a:latin typeface="Arial Narrow" panose="020B0606020202030204" pitchFamily="34" charset="0"/>
              </a:rPr>
              <a:t>Zsumuj iloczyny.</a:t>
            </a:r>
          </a:p>
          <a:p>
            <a:pPr marL="266700" indent="-266700">
              <a:buFont typeface="+mj-lt"/>
              <a:buAutoNum type="arabicPeriod"/>
            </a:pPr>
            <a:r>
              <a:rPr lang="pl-PL" sz="2000" dirty="0">
                <a:latin typeface="Arial Narrow" panose="020B0606020202030204" pitchFamily="34" charset="0"/>
              </a:rPr>
              <a:t>Podziel otrzymany wynik przez liczbę pikseli, otrzymasz prawdopodobieństwo tego, że analizowany fragment pasuje do wzorca.</a:t>
            </a:r>
            <a:endParaRPr lang="en-GB" sz="2000" dirty="0">
              <a:latin typeface="Arial Narrow" panose="020B0606020202030204" pitchFamily="34" charset="0"/>
            </a:endParaRPr>
          </a:p>
        </p:txBody>
      </p:sp>
      <p:pic>
        <p:nvPicPr>
          <p:cNvPr id="11" name="Picture 10"/>
          <p:cNvPicPr>
            <a:picLocks noChangeAspect="1"/>
          </p:cNvPicPr>
          <p:nvPr/>
        </p:nvPicPr>
        <p:blipFill>
          <a:blip r:embed="rId2"/>
          <a:stretch>
            <a:fillRect/>
          </a:stretch>
        </p:blipFill>
        <p:spPr>
          <a:xfrm>
            <a:off x="2819401" y="2524187"/>
            <a:ext cx="1190625" cy="1123950"/>
          </a:xfrm>
          <a:prstGeom prst="rect">
            <a:avLst/>
          </a:prstGeom>
        </p:spPr>
      </p:pic>
      <p:sp>
        <p:nvSpPr>
          <p:cNvPr id="13" name="TextBox 12"/>
          <p:cNvSpPr txBox="1"/>
          <p:nvPr/>
        </p:nvSpPr>
        <p:spPr>
          <a:xfrm>
            <a:off x="1981200" y="3781425"/>
            <a:ext cx="7467600" cy="349680"/>
          </a:xfrm>
          <a:prstGeom prst="rect">
            <a:avLst/>
          </a:prstGeom>
          <a:noFill/>
        </p:spPr>
        <p:txBody>
          <a:bodyPr wrap="square" lIns="18000" tIns="18000" rIns="18000" bIns="18000" rtlCol="0">
            <a:noAutofit/>
          </a:bodyPr>
          <a:lstStyle/>
          <a:p>
            <a:pPr>
              <a:tabLst>
                <a:tab pos="1381125" algn="ctr"/>
                <a:tab pos="6596063" algn="ctr"/>
              </a:tabLst>
            </a:pPr>
            <a:r>
              <a:rPr lang="pl-PL" sz="2000" dirty="0">
                <a:latin typeface="Arial Narrow" panose="020B0606020202030204" pitchFamily="34" charset="0"/>
              </a:rPr>
              <a:t>	analizowany fragment</a:t>
            </a:r>
            <a:r>
              <a:rPr lang="pl-PL" sz="2000">
                <a:latin typeface="Arial Narrow" panose="020B0606020202030204" pitchFamily="34" charset="0"/>
              </a:rPr>
              <a:t>	wzorzec (filtr)</a:t>
            </a:r>
            <a:endParaRPr lang="en-GB" sz="2000" dirty="0">
              <a:latin typeface="Arial Narrow" panose="020B0606020202030204" pitchFamily="34" charset="0"/>
            </a:endParaRPr>
          </a:p>
        </p:txBody>
      </p:sp>
      <p:pic>
        <p:nvPicPr>
          <p:cNvPr id="14" name="Picture 13"/>
          <p:cNvPicPr>
            <a:picLocks noChangeAspect="1"/>
          </p:cNvPicPr>
          <p:nvPr/>
        </p:nvPicPr>
        <p:blipFill>
          <a:blip r:embed="rId3"/>
          <a:stretch>
            <a:fillRect/>
          </a:stretch>
        </p:blipFill>
        <p:spPr>
          <a:xfrm>
            <a:off x="7947389" y="2447987"/>
            <a:ext cx="1299210" cy="1257300"/>
          </a:xfrm>
          <a:prstGeom prst="rect">
            <a:avLst/>
          </a:prstGeom>
        </p:spPr>
      </p:pic>
      <p:sp>
        <p:nvSpPr>
          <p:cNvPr id="2" name="Rectangle 2">
            <a:extLst>
              <a:ext uri="{FF2B5EF4-FFF2-40B4-BE49-F238E27FC236}">
                <a16:creationId xmlns:a16="http://schemas.microsoft.com/office/drawing/2014/main" id="{E9A249FC-04FF-7C51-14C2-0BC2DDEACA27}"/>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902795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A7A7B9F-A4E2-478E-88C0-8808838EDADE}" type="slidenum">
              <a:rPr lang="pl-PL" smtClean="0"/>
              <a:pPr/>
              <a:t>17</a:t>
            </a:fld>
            <a:endParaRPr lang="pl-PL" dirty="0"/>
          </a:p>
        </p:txBody>
      </p:sp>
      <p:sp>
        <p:nvSpPr>
          <p:cNvPr id="6" name="TextBox 5"/>
          <p:cNvSpPr txBox="1"/>
          <p:nvPr/>
        </p:nvSpPr>
        <p:spPr>
          <a:xfrm>
            <a:off x="5080128" y="2292351"/>
            <a:ext cx="1945432" cy="349680"/>
          </a:xfrm>
          <a:prstGeom prst="rect">
            <a:avLst/>
          </a:prstGeom>
          <a:noFill/>
        </p:spPr>
        <p:txBody>
          <a:bodyPr wrap="square" lIns="18000" tIns="18000" rIns="18000" bIns="18000" rtlCol="0">
            <a:noAutofit/>
          </a:bodyPr>
          <a:lstStyle/>
          <a:p>
            <a:pPr algn="ctr">
              <a:tabLst>
                <a:tab pos="6596063" algn="ctr"/>
              </a:tabLst>
            </a:pPr>
            <a:r>
              <a:rPr lang="pl-PL" sz="2000" b="1" dirty="0">
                <a:latin typeface="Arial Narrow" panose="020B0606020202030204" pitchFamily="34" charset="0"/>
              </a:rPr>
              <a:t>1. Postać liniowa</a:t>
            </a:r>
            <a:endParaRPr lang="en-GB" sz="2000" b="1" dirty="0">
              <a:latin typeface="Arial Narrow" panose="020B0606020202030204" pitchFamily="34" charset="0"/>
            </a:endParaRPr>
          </a:p>
        </p:txBody>
      </p:sp>
      <p:pic>
        <p:nvPicPr>
          <p:cNvPr id="7" name="Picture 6"/>
          <p:cNvPicPr>
            <a:picLocks noChangeAspect="1"/>
          </p:cNvPicPr>
          <p:nvPr/>
        </p:nvPicPr>
        <p:blipFill>
          <a:blip r:embed="rId2"/>
          <a:stretch>
            <a:fillRect/>
          </a:stretch>
        </p:blipFill>
        <p:spPr>
          <a:xfrm>
            <a:off x="1698754" y="2219326"/>
            <a:ext cx="3381375" cy="523875"/>
          </a:xfrm>
          <a:prstGeom prst="rect">
            <a:avLst/>
          </a:prstGeom>
        </p:spPr>
      </p:pic>
      <p:pic>
        <p:nvPicPr>
          <p:cNvPr id="8" name="Picture 7"/>
          <p:cNvPicPr>
            <a:picLocks noChangeAspect="1"/>
          </p:cNvPicPr>
          <p:nvPr/>
        </p:nvPicPr>
        <p:blipFill>
          <a:blip r:embed="rId3"/>
          <a:stretch>
            <a:fillRect/>
          </a:stretch>
        </p:blipFill>
        <p:spPr>
          <a:xfrm>
            <a:off x="7010400" y="2237407"/>
            <a:ext cx="3352800" cy="485775"/>
          </a:xfrm>
          <a:prstGeom prst="rect">
            <a:avLst/>
          </a:prstGeom>
        </p:spPr>
      </p:pic>
      <p:sp>
        <p:nvSpPr>
          <p:cNvPr id="11" name="TextBox 10"/>
          <p:cNvSpPr txBox="1"/>
          <p:nvPr/>
        </p:nvSpPr>
        <p:spPr>
          <a:xfrm>
            <a:off x="4498128" y="3123154"/>
            <a:ext cx="3121872" cy="349680"/>
          </a:xfrm>
          <a:prstGeom prst="rect">
            <a:avLst/>
          </a:prstGeom>
          <a:noFill/>
        </p:spPr>
        <p:txBody>
          <a:bodyPr wrap="square" lIns="18000" tIns="18000" rIns="18000" bIns="18000" rtlCol="0">
            <a:noAutofit/>
          </a:bodyPr>
          <a:lstStyle/>
          <a:p>
            <a:pPr algn="ctr">
              <a:tabLst>
                <a:tab pos="6596063" algn="ctr"/>
              </a:tabLst>
            </a:pPr>
            <a:r>
              <a:rPr lang="pl-PL" sz="2000" b="1" dirty="0">
                <a:latin typeface="Arial Narrow" panose="020B0606020202030204" pitchFamily="34" charset="0"/>
              </a:rPr>
              <a:t>2-3. Mnożenie i dodawanie</a:t>
            </a:r>
            <a:endParaRPr lang="en-GB" sz="2000" b="1" dirty="0">
              <a:latin typeface="Arial Narrow" panose="020B0606020202030204" pitchFamily="34" charset="0"/>
            </a:endParaRPr>
          </a:p>
        </p:txBody>
      </p:sp>
      <p:sp>
        <p:nvSpPr>
          <p:cNvPr id="12" name="TextBox 11"/>
          <p:cNvSpPr txBox="1"/>
          <p:nvPr/>
        </p:nvSpPr>
        <p:spPr>
          <a:xfrm>
            <a:off x="1524000" y="4648200"/>
            <a:ext cx="9144000" cy="349680"/>
          </a:xfrm>
          <a:prstGeom prst="rect">
            <a:avLst/>
          </a:prstGeom>
          <a:noFill/>
        </p:spPr>
        <p:txBody>
          <a:bodyPr wrap="square" lIns="18000" tIns="18000" rIns="18000" bIns="18000" rtlCol="0">
            <a:noAutofit/>
          </a:bodyPr>
          <a:lstStyle/>
          <a:p>
            <a:pPr algn="ctr">
              <a:tabLst>
                <a:tab pos="6596063" algn="ctr"/>
              </a:tabLst>
            </a:pPr>
            <a:r>
              <a:rPr lang="pl-PL" sz="1600" dirty="0">
                <a:latin typeface="Arial Narrow" panose="020B0606020202030204" pitchFamily="34" charset="0"/>
              </a:rPr>
              <a:t>(-1)*1 + (-1)*(-1) + </a:t>
            </a:r>
            <a:r>
              <a:rPr lang="pl-PL" sz="1600" dirty="0">
                <a:solidFill>
                  <a:srgbClr val="0000FF"/>
                </a:solidFill>
                <a:latin typeface="Arial Narrow" panose="020B0606020202030204" pitchFamily="34" charset="0"/>
              </a:rPr>
              <a:t>(-1)*1</a:t>
            </a:r>
            <a:r>
              <a:rPr lang="pl-PL" sz="1600" dirty="0">
                <a:latin typeface="Arial Narrow" panose="020B0606020202030204" pitchFamily="34" charset="0"/>
              </a:rPr>
              <a:t> + (-1)*(-1) + 1*1 + </a:t>
            </a:r>
            <a:r>
              <a:rPr lang="pl-PL" sz="1600" dirty="0">
                <a:solidFill>
                  <a:srgbClr val="FF0000"/>
                </a:solidFill>
                <a:latin typeface="Arial Narrow" panose="020B0606020202030204" pitchFamily="34" charset="0"/>
              </a:rPr>
              <a:t>(-1)*(-1)</a:t>
            </a:r>
            <a:r>
              <a:rPr lang="pl-PL" sz="1600" dirty="0">
                <a:latin typeface="Arial Narrow" panose="020B0606020202030204" pitchFamily="34" charset="0"/>
              </a:rPr>
              <a:t> + (-1)*1 + (-1)*(-1) + </a:t>
            </a:r>
            <a:r>
              <a:rPr lang="pl-PL" sz="1600" dirty="0">
                <a:solidFill>
                  <a:srgbClr val="C00000"/>
                </a:solidFill>
                <a:latin typeface="Arial Narrow" panose="020B0606020202030204" pitchFamily="34" charset="0"/>
              </a:rPr>
              <a:t>1*1</a:t>
            </a:r>
            <a:r>
              <a:rPr lang="pl-PL" sz="1600" dirty="0">
                <a:latin typeface="Arial Narrow" panose="020B0606020202030204" pitchFamily="34" charset="0"/>
              </a:rPr>
              <a:t> = -1 + 1 - 1 + 1 + 1 + 1 - 1 + 1 + 1 = 3</a:t>
            </a:r>
            <a:endParaRPr lang="en-GB" sz="1600" dirty="0">
              <a:latin typeface="Arial Narrow" panose="020B0606020202030204" pitchFamily="34" charset="0"/>
            </a:endParaRPr>
          </a:p>
        </p:txBody>
      </p:sp>
      <p:pic>
        <p:nvPicPr>
          <p:cNvPr id="2" name="Picture 1"/>
          <p:cNvPicPr>
            <a:picLocks noChangeAspect="1"/>
          </p:cNvPicPr>
          <p:nvPr/>
        </p:nvPicPr>
        <p:blipFill>
          <a:blip r:embed="rId4"/>
          <a:stretch>
            <a:fillRect/>
          </a:stretch>
        </p:blipFill>
        <p:spPr>
          <a:xfrm>
            <a:off x="4414838" y="3413493"/>
            <a:ext cx="3362325" cy="1181100"/>
          </a:xfrm>
          <a:prstGeom prst="rect">
            <a:avLst/>
          </a:prstGeom>
        </p:spPr>
      </p:pic>
      <p:sp>
        <p:nvSpPr>
          <p:cNvPr id="13" name="TextBox 12"/>
          <p:cNvSpPr txBox="1"/>
          <p:nvPr/>
        </p:nvSpPr>
        <p:spPr>
          <a:xfrm>
            <a:off x="4193328" y="5305413"/>
            <a:ext cx="3731472" cy="349680"/>
          </a:xfrm>
          <a:prstGeom prst="rect">
            <a:avLst/>
          </a:prstGeom>
          <a:noFill/>
        </p:spPr>
        <p:txBody>
          <a:bodyPr wrap="square" lIns="18000" tIns="18000" rIns="18000" bIns="18000" rtlCol="0">
            <a:noAutofit/>
          </a:bodyPr>
          <a:lstStyle/>
          <a:p>
            <a:pPr algn="ctr">
              <a:tabLst>
                <a:tab pos="6596063" algn="ctr"/>
              </a:tabLst>
            </a:pPr>
            <a:r>
              <a:rPr lang="pl-PL" sz="2000" b="1" dirty="0">
                <a:latin typeface="Arial Narrow" panose="020B0606020202030204" pitchFamily="34" charset="0"/>
              </a:rPr>
              <a:t>4. Obliczanie prawdopodobieństwa</a:t>
            </a:r>
            <a:endParaRPr lang="en-GB" sz="2000" b="1" dirty="0">
              <a:latin typeface="Arial Narrow" panose="020B0606020202030204" pitchFamily="34" charset="0"/>
            </a:endParaRPr>
          </a:p>
        </p:txBody>
      </p:sp>
      <p:sp>
        <p:nvSpPr>
          <p:cNvPr id="14" name="TextBox 13"/>
          <p:cNvSpPr txBox="1"/>
          <p:nvPr/>
        </p:nvSpPr>
        <p:spPr>
          <a:xfrm>
            <a:off x="1524000" y="5670120"/>
            <a:ext cx="9144000" cy="349680"/>
          </a:xfrm>
          <a:prstGeom prst="rect">
            <a:avLst/>
          </a:prstGeom>
          <a:noFill/>
        </p:spPr>
        <p:txBody>
          <a:bodyPr wrap="square" lIns="18000" tIns="18000" rIns="18000" bIns="18000" rtlCol="0">
            <a:noAutofit/>
          </a:bodyPr>
          <a:lstStyle/>
          <a:p>
            <a:pPr algn="ctr">
              <a:tabLst>
                <a:tab pos="6596063" algn="ctr"/>
              </a:tabLst>
            </a:pPr>
            <a:r>
              <a:rPr lang="pl-PL" dirty="0">
                <a:latin typeface="Arial Narrow" panose="020B0606020202030204" pitchFamily="34" charset="0"/>
              </a:rPr>
              <a:t>3 / 9 = 0.3333</a:t>
            </a:r>
            <a:endParaRPr lang="en-GB" dirty="0">
              <a:latin typeface="Arial Narrow" panose="020B0606020202030204" pitchFamily="34" charset="0"/>
            </a:endParaRPr>
          </a:p>
        </p:txBody>
      </p:sp>
      <p:pic>
        <p:nvPicPr>
          <p:cNvPr id="15" name="Picture 14"/>
          <p:cNvPicPr>
            <a:picLocks noChangeAspect="1"/>
          </p:cNvPicPr>
          <p:nvPr/>
        </p:nvPicPr>
        <p:blipFill>
          <a:blip r:embed="rId5"/>
          <a:stretch>
            <a:fillRect/>
          </a:stretch>
        </p:blipFill>
        <p:spPr>
          <a:xfrm>
            <a:off x="2771776" y="323850"/>
            <a:ext cx="1190625" cy="1123950"/>
          </a:xfrm>
          <a:prstGeom prst="rect">
            <a:avLst/>
          </a:prstGeom>
        </p:spPr>
      </p:pic>
      <p:sp>
        <p:nvSpPr>
          <p:cNvPr id="16" name="TextBox 15"/>
          <p:cNvSpPr txBox="1"/>
          <p:nvPr/>
        </p:nvSpPr>
        <p:spPr>
          <a:xfrm>
            <a:off x="1981200" y="1390262"/>
            <a:ext cx="7467600" cy="349680"/>
          </a:xfrm>
          <a:prstGeom prst="rect">
            <a:avLst/>
          </a:prstGeom>
          <a:noFill/>
        </p:spPr>
        <p:txBody>
          <a:bodyPr wrap="square" lIns="18000" tIns="18000" rIns="18000" bIns="18000" rtlCol="0">
            <a:noAutofit/>
          </a:bodyPr>
          <a:lstStyle/>
          <a:p>
            <a:pPr>
              <a:tabLst>
                <a:tab pos="1381125" algn="ctr"/>
                <a:tab pos="6596063" algn="ctr"/>
              </a:tabLst>
            </a:pPr>
            <a:r>
              <a:rPr lang="pl-PL" sz="2000" dirty="0">
                <a:latin typeface="Arial Narrow" panose="020B0606020202030204" pitchFamily="34" charset="0"/>
              </a:rPr>
              <a:t>	analizowany fragment	wzorzec</a:t>
            </a:r>
            <a:endParaRPr lang="en-GB" sz="2000" dirty="0">
              <a:latin typeface="Arial Narrow" panose="020B0606020202030204" pitchFamily="34" charset="0"/>
            </a:endParaRPr>
          </a:p>
        </p:txBody>
      </p:sp>
      <p:pic>
        <p:nvPicPr>
          <p:cNvPr id="17" name="Picture 16"/>
          <p:cNvPicPr>
            <a:picLocks noChangeAspect="1"/>
          </p:cNvPicPr>
          <p:nvPr/>
        </p:nvPicPr>
        <p:blipFill>
          <a:blip r:embed="rId6"/>
          <a:stretch>
            <a:fillRect/>
          </a:stretch>
        </p:blipFill>
        <p:spPr>
          <a:xfrm>
            <a:off x="7987782" y="304800"/>
            <a:ext cx="1181100" cy="1143000"/>
          </a:xfrm>
          <a:prstGeom prst="rect">
            <a:avLst/>
          </a:prstGeom>
        </p:spPr>
      </p:pic>
      <p:sp>
        <p:nvSpPr>
          <p:cNvPr id="18" name="TextBox 17"/>
          <p:cNvSpPr txBox="1"/>
          <p:nvPr/>
        </p:nvSpPr>
        <p:spPr>
          <a:xfrm>
            <a:off x="1524000" y="6127320"/>
            <a:ext cx="9144000" cy="349680"/>
          </a:xfrm>
          <a:prstGeom prst="rect">
            <a:avLst/>
          </a:prstGeom>
          <a:noFill/>
        </p:spPr>
        <p:txBody>
          <a:bodyPr wrap="square" lIns="18000" tIns="18000" rIns="18000" bIns="18000" rtlCol="0">
            <a:noAutofit/>
          </a:bodyPr>
          <a:lstStyle/>
          <a:p>
            <a:pPr algn="ctr">
              <a:tabLst>
                <a:tab pos="6596063" algn="ctr"/>
              </a:tabLst>
            </a:pPr>
            <a:r>
              <a:rPr lang="pl-PL" dirty="0">
                <a:latin typeface="Arial Narrow" panose="020B0606020202030204" pitchFamily="34" charset="0"/>
              </a:rPr>
              <a:t>Prawdopodobieństwo, że analizowany fragment pasuje do wzorca wynosi 0.3333</a:t>
            </a:r>
            <a:endParaRPr lang="en-GB" dirty="0">
              <a:latin typeface="Arial Narrow" panose="020B0606020202030204" pitchFamily="34" charset="0"/>
            </a:endParaRPr>
          </a:p>
        </p:txBody>
      </p:sp>
      <p:sp>
        <p:nvSpPr>
          <p:cNvPr id="3" name="Rectangle 2">
            <a:extLst>
              <a:ext uri="{FF2B5EF4-FFF2-40B4-BE49-F238E27FC236}">
                <a16:creationId xmlns:a16="http://schemas.microsoft.com/office/drawing/2014/main" id="{C5083570-F26C-3122-0108-E5BCFF8E14BE}"/>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4004796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4"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18</a:t>
            </a:fld>
            <a:endParaRPr lang="pl-PL" dirty="0"/>
          </a:p>
        </p:txBody>
      </p:sp>
      <p:pic>
        <p:nvPicPr>
          <p:cNvPr id="4" name="Picture 3"/>
          <p:cNvPicPr>
            <a:picLocks noChangeAspect="1"/>
          </p:cNvPicPr>
          <p:nvPr/>
        </p:nvPicPr>
        <p:blipFill>
          <a:blip r:embed="rId2"/>
          <a:stretch>
            <a:fillRect/>
          </a:stretch>
        </p:blipFill>
        <p:spPr>
          <a:xfrm>
            <a:off x="1752601" y="1328881"/>
            <a:ext cx="2414527" cy="2362200"/>
          </a:xfrm>
          <a:prstGeom prst="rect">
            <a:avLst/>
          </a:prstGeom>
        </p:spPr>
      </p:pic>
      <p:sp>
        <p:nvSpPr>
          <p:cNvPr id="8" name="TextBox 7"/>
          <p:cNvSpPr txBox="1"/>
          <p:nvPr/>
        </p:nvSpPr>
        <p:spPr>
          <a:xfrm>
            <a:off x="0" y="304800"/>
            <a:ext cx="12192000" cy="349680"/>
          </a:xfrm>
          <a:prstGeom prst="rect">
            <a:avLst/>
          </a:prstGeom>
          <a:noFill/>
        </p:spPr>
        <p:txBody>
          <a:bodyPr wrap="square" lIns="18000" tIns="18000" rIns="18000" bIns="18000" rtlCol="0">
            <a:noAutofit/>
          </a:bodyPr>
          <a:lstStyle/>
          <a:p>
            <a:pPr>
              <a:tabLst>
                <a:tab pos="6596063" algn="ctr"/>
              </a:tabLst>
            </a:pPr>
            <a:r>
              <a:rPr lang="pl-PL" sz="2000">
                <a:latin typeface="Arial Narrow" panose="020B0606020202030204" pitchFamily="34" charset="0"/>
              </a:rPr>
              <a:t>Operację tę </a:t>
            </a:r>
            <a:r>
              <a:rPr lang="pl-PL" sz="2000" dirty="0">
                <a:latin typeface="Arial Narrow" panose="020B0606020202030204" pitchFamily="34" charset="0"/>
              </a:rPr>
              <a:t>wykonujemy dla każdego fragmentu analizowanego obrazu i otrzymujemy </a:t>
            </a:r>
            <a:br>
              <a:rPr lang="pl-PL" sz="2000" dirty="0">
                <a:latin typeface="Arial Narrow" panose="020B0606020202030204" pitchFamily="34" charset="0"/>
              </a:rPr>
            </a:br>
            <a:r>
              <a:rPr lang="pl-PL" sz="2000" b="1" dirty="0">
                <a:latin typeface="Arial Narrow" panose="020B0606020202030204" pitchFamily="34" charset="0"/>
              </a:rPr>
              <a:t>mapę dopasowania</a:t>
            </a:r>
            <a:r>
              <a:rPr lang="pl-PL" sz="2000" dirty="0">
                <a:latin typeface="Arial Narrow" panose="020B0606020202030204" pitchFamily="34" charset="0"/>
              </a:rPr>
              <a:t>.</a:t>
            </a:r>
            <a:endParaRPr lang="en-GB" sz="2000" dirty="0">
              <a:latin typeface="Arial Narrow" panose="020B0606020202030204" pitchFamily="34" charset="0"/>
            </a:endParaRPr>
          </a:p>
        </p:txBody>
      </p:sp>
      <p:pic>
        <p:nvPicPr>
          <p:cNvPr id="9" name="Picture 8"/>
          <p:cNvPicPr>
            <a:picLocks noChangeAspect="1"/>
          </p:cNvPicPr>
          <p:nvPr/>
        </p:nvPicPr>
        <p:blipFill>
          <a:blip r:embed="rId3"/>
          <a:stretch>
            <a:fillRect/>
          </a:stretch>
        </p:blipFill>
        <p:spPr>
          <a:xfrm>
            <a:off x="6629400" y="1336657"/>
            <a:ext cx="2438400" cy="2386702"/>
          </a:xfrm>
          <a:prstGeom prst="rect">
            <a:avLst/>
          </a:prstGeom>
        </p:spPr>
      </p:pic>
      <p:sp>
        <p:nvSpPr>
          <p:cNvPr id="10" name="TextBox 9"/>
          <p:cNvSpPr txBox="1"/>
          <p:nvPr/>
        </p:nvSpPr>
        <p:spPr>
          <a:xfrm>
            <a:off x="6649616" y="3812000"/>
            <a:ext cx="3942184" cy="1293400"/>
          </a:xfrm>
          <a:prstGeom prst="rect">
            <a:avLst/>
          </a:prstGeom>
          <a:noFill/>
        </p:spPr>
        <p:txBody>
          <a:bodyPr wrap="square" lIns="18000" tIns="18000" rIns="18000" bIns="18000" rtlCol="0">
            <a:noAutofit/>
          </a:bodyPr>
          <a:lstStyle/>
          <a:p>
            <a:pPr>
              <a:tabLst>
                <a:tab pos="6596063" algn="ctr"/>
              </a:tabLst>
            </a:pPr>
            <a:r>
              <a:rPr lang="pl-PL" b="1" dirty="0">
                <a:latin typeface="Arial Narrow" panose="020B0606020202030204" pitchFamily="34" charset="0"/>
              </a:rPr>
              <a:t>Mapa dopasowania</a:t>
            </a:r>
            <a:r>
              <a:rPr lang="pl-PL" dirty="0">
                <a:latin typeface="Arial Narrow" panose="020B0606020202030204" pitchFamily="34" charset="0"/>
              </a:rPr>
              <a:t>:</a:t>
            </a:r>
          </a:p>
          <a:p>
            <a:pPr>
              <a:tabLst>
                <a:tab pos="177800" algn="r"/>
                <a:tab pos="354013" algn="l"/>
                <a:tab pos="6596063" algn="ctr"/>
              </a:tabLst>
            </a:pPr>
            <a:r>
              <a:rPr lang="pl-PL" dirty="0">
                <a:latin typeface="Arial Narrow" panose="020B0606020202030204" pitchFamily="34" charset="0"/>
              </a:rPr>
              <a:t>	1 	– maksymalne dopasowanie</a:t>
            </a:r>
          </a:p>
          <a:p>
            <a:pPr>
              <a:tabLst>
                <a:tab pos="177800" algn="r"/>
                <a:tab pos="354013" algn="l"/>
                <a:tab pos="6596063" algn="ctr"/>
              </a:tabLst>
            </a:pPr>
            <a:r>
              <a:rPr lang="pl-PL" dirty="0">
                <a:latin typeface="Arial Narrow" panose="020B0606020202030204" pitchFamily="34" charset="0"/>
              </a:rPr>
              <a:t>	-1 	– maksymalne dopasowanie w negatywie</a:t>
            </a:r>
          </a:p>
          <a:p>
            <a:pPr>
              <a:tabLst>
                <a:tab pos="177800" algn="r"/>
                <a:tab pos="354013" algn="l"/>
                <a:tab pos="6596063" algn="ctr"/>
              </a:tabLst>
            </a:pPr>
            <a:r>
              <a:rPr lang="pl-PL" dirty="0">
                <a:latin typeface="Arial Narrow" panose="020B0606020202030204" pitchFamily="34" charset="0"/>
              </a:rPr>
              <a:t>	0 	– brak dopasowania</a:t>
            </a:r>
            <a:endParaRPr lang="en-GB" dirty="0">
              <a:latin typeface="Arial Narrow" panose="020B0606020202030204" pitchFamily="34" charset="0"/>
            </a:endParaRPr>
          </a:p>
        </p:txBody>
      </p:sp>
      <p:sp>
        <p:nvSpPr>
          <p:cNvPr id="3" name="Rectangle 2">
            <a:extLst>
              <a:ext uri="{FF2B5EF4-FFF2-40B4-BE49-F238E27FC236}">
                <a16:creationId xmlns:a16="http://schemas.microsoft.com/office/drawing/2014/main" id="{1CE999DE-360C-BE68-3338-8092158FB4AF}"/>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64464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19</a:t>
            </a:fld>
            <a:endParaRPr lang="pl-PL" dirty="0"/>
          </a:p>
        </p:txBody>
      </p:sp>
      <p:sp>
        <p:nvSpPr>
          <p:cNvPr id="5" name="Rectangle 4"/>
          <p:cNvSpPr/>
          <p:nvPr/>
        </p:nvSpPr>
        <p:spPr>
          <a:xfrm>
            <a:off x="0" y="304800"/>
            <a:ext cx="12178800" cy="707886"/>
          </a:xfrm>
          <a:prstGeom prst="rect">
            <a:avLst/>
          </a:prstGeom>
        </p:spPr>
        <p:txBody>
          <a:bodyPr wrap="square">
            <a:spAutoFit/>
          </a:bodyPr>
          <a:lstStyle/>
          <a:p>
            <a:r>
              <a:rPr lang="pl-PL" sz="2000" dirty="0">
                <a:latin typeface="Arial Narrow" panose="020B0606020202030204" pitchFamily="34" charset="0"/>
              </a:rPr>
              <a:t>Jeśli tą samą operację wykonamy dla wszystkich wzorców, otrzymamy trzy mapy dopasowania. Jeden obraz staje się na wyjściu zbiorem przefiltrowanych obrazów.</a:t>
            </a:r>
            <a:endParaRPr lang="en-US" sz="2000" dirty="0">
              <a:latin typeface="Arial Narrow" panose="020B0606020202030204" pitchFamily="34" charset="0"/>
            </a:endParaRPr>
          </a:p>
        </p:txBody>
      </p:sp>
      <p:pic>
        <p:nvPicPr>
          <p:cNvPr id="7" name="Picture 6"/>
          <p:cNvPicPr>
            <a:picLocks noChangeAspect="1"/>
          </p:cNvPicPr>
          <p:nvPr/>
        </p:nvPicPr>
        <p:blipFill>
          <a:blip r:embed="rId2"/>
          <a:stretch>
            <a:fillRect/>
          </a:stretch>
        </p:blipFill>
        <p:spPr>
          <a:xfrm>
            <a:off x="2128838" y="990600"/>
            <a:ext cx="7929562" cy="4844370"/>
          </a:xfrm>
          <a:prstGeom prst="rect">
            <a:avLst/>
          </a:prstGeom>
        </p:spPr>
      </p:pic>
      <p:sp>
        <p:nvSpPr>
          <p:cNvPr id="8" name="Rectangle 7"/>
          <p:cNvSpPr/>
          <p:nvPr/>
        </p:nvSpPr>
        <p:spPr>
          <a:xfrm>
            <a:off x="0" y="5934214"/>
            <a:ext cx="12178800" cy="707886"/>
          </a:xfrm>
          <a:prstGeom prst="rect">
            <a:avLst/>
          </a:prstGeom>
        </p:spPr>
        <p:txBody>
          <a:bodyPr wrap="square">
            <a:spAutoFit/>
          </a:bodyPr>
          <a:lstStyle/>
          <a:p>
            <a:r>
              <a:rPr lang="pl-PL" sz="2000" dirty="0">
                <a:latin typeface="Arial Narrow" panose="020B0606020202030204" pitchFamily="34" charset="0"/>
              </a:rPr>
              <a:t>W przypadku dużej liczby wzorców (filtrów) na wyjściu będzie generowana duża liczba obrazów, co może powodować problemy z wydajnością.</a:t>
            </a:r>
            <a:endParaRPr lang="en-US" sz="2000" dirty="0">
              <a:latin typeface="Arial Narrow" panose="020B0606020202030204" pitchFamily="34" charset="0"/>
            </a:endParaRPr>
          </a:p>
        </p:txBody>
      </p:sp>
      <p:sp>
        <p:nvSpPr>
          <p:cNvPr id="3" name="Rectangle 2">
            <a:extLst>
              <a:ext uri="{FF2B5EF4-FFF2-40B4-BE49-F238E27FC236}">
                <a16:creationId xmlns:a16="http://schemas.microsoft.com/office/drawing/2014/main" id="{F1F9658A-39F8-D1C8-CE20-6E2D9CB1897D}"/>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788588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A7A7B9F-A4E2-478E-88C0-8808838EDADE}" type="slidenum">
              <a:rPr lang="pl-PL" smtClean="0"/>
              <a:pPr/>
              <a:t>20</a:t>
            </a:fld>
            <a:endParaRPr lang="pl-PL" dirty="0"/>
          </a:p>
        </p:txBody>
      </p:sp>
      <p:sp>
        <p:nvSpPr>
          <p:cNvPr id="7" name="Rectangle 6"/>
          <p:cNvSpPr/>
          <p:nvPr/>
        </p:nvSpPr>
        <p:spPr>
          <a:xfrm>
            <a:off x="1524000" y="261878"/>
            <a:ext cx="9144000" cy="400110"/>
          </a:xfrm>
          <a:prstGeom prst="rect">
            <a:avLst/>
          </a:prstGeom>
        </p:spPr>
        <p:txBody>
          <a:bodyPr wrap="square">
            <a:spAutoFit/>
          </a:bodyPr>
          <a:lstStyle/>
          <a:p>
            <a:r>
              <a:rPr lang="pl-PL" sz="2000" b="1" dirty="0">
                <a:latin typeface="Arial Narrow" panose="020B0606020202030204" pitchFamily="34" charset="0"/>
              </a:rPr>
              <a:t>Normalizacja</a:t>
            </a:r>
            <a:r>
              <a:rPr lang="pl-PL" sz="2000" dirty="0">
                <a:latin typeface="Arial Narrow" panose="020B0606020202030204" pitchFamily="34" charset="0"/>
              </a:rPr>
              <a:t> – przekształcanie danych zgodnie z wybraną funkcją normalizacyjną.</a:t>
            </a:r>
          </a:p>
        </p:txBody>
      </p:sp>
      <p:sp>
        <p:nvSpPr>
          <p:cNvPr id="9" name="Rectangle 8"/>
          <p:cNvSpPr/>
          <p:nvPr/>
        </p:nvSpPr>
        <p:spPr>
          <a:xfrm>
            <a:off x="4371393" y="3784938"/>
            <a:ext cx="3200400" cy="1015663"/>
          </a:xfrm>
          <a:prstGeom prst="rect">
            <a:avLst/>
          </a:prstGeom>
        </p:spPr>
        <p:txBody>
          <a:bodyPr wrap="square">
            <a:spAutoFit/>
          </a:bodyPr>
          <a:lstStyle/>
          <a:p>
            <a:pPr algn="ctr"/>
            <a:r>
              <a:rPr lang="pl-PL" sz="2000" dirty="0">
                <a:latin typeface="Arial Narrow" panose="020B0606020202030204" pitchFamily="34" charset="0"/>
              </a:rPr>
              <a:t>Funkcja logistyczna</a:t>
            </a:r>
          </a:p>
          <a:p>
            <a:pPr algn="ctr"/>
            <a:r>
              <a:rPr lang="pl-PL" sz="2000" dirty="0">
                <a:latin typeface="Arial Narrow" panose="020B0606020202030204" pitchFamily="34" charset="0"/>
              </a:rPr>
              <a:t>(sigmoidalna – </a:t>
            </a:r>
            <a:r>
              <a:rPr lang="pl-PL" sz="2000" b="1" dirty="0">
                <a:latin typeface="Arial Narrow" panose="020B0606020202030204" pitchFamily="34" charset="0"/>
              </a:rPr>
              <a:t>Sigmoid</a:t>
            </a:r>
            <a:r>
              <a:rPr lang="pl-PL" sz="2000" dirty="0">
                <a:latin typeface="Arial Narrow" panose="020B0606020202030204" pitchFamily="34" charset="0"/>
              </a:rPr>
              <a:t>)</a:t>
            </a:r>
          </a:p>
          <a:p>
            <a:pPr algn="ctr"/>
            <a:r>
              <a:rPr lang="pl-PL" sz="2000" dirty="0">
                <a:latin typeface="Arial Narrow" panose="020B0606020202030204" pitchFamily="34" charset="0"/>
              </a:rPr>
              <a:t>standaryzacja do zakresu &lt;0; 1&gt;</a:t>
            </a:r>
          </a:p>
        </p:txBody>
      </p:sp>
      <p:sp>
        <p:nvSpPr>
          <p:cNvPr id="10" name="Rectangle 9"/>
          <p:cNvSpPr/>
          <p:nvPr/>
        </p:nvSpPr>
        <p:spPr>
          <a:xfrm>
            <a:off x="7200990" y="1023904"/>
            <a:ext cx="3467010" cy="707886"/>
          </a:xfrm>
          <a:prstGeom prst="rect">
            <a:avLst/>
          </a:prstGeom>
        </p:spPr>
        <p:txBody>
          <a:bodyPr wrap="square">
            <a:spAutoFit/>
          </a:bodyPr>
          <a:lstStyle/>
          <a:p>
            <a:pPr algn="ctr"/>
            <a:r>
              <a:rPr lang="pl-PL" sz="2000" dirty="0">
                <a:latin typeface="Arial Narrow" panose="020B0606020202030204" pitchFamily="34" charset="0"/>
              </a:rPr>
              <a:t>Tangens hiperboliczny (</a:t>
            </a:r>
            <a:r>
              <a:rPr lang="pl-PL" sz="2000" b="1" dirty="0">
                <a:latin typeface="Arial Narrow" panose="020B0606020202030204" pitchFamily="34" charset="0"/>
              </a:rPr>
              <a:t>Tanh</a:t>
            </a:r>
            <a:r>
              <a:rPr lang="pl-PL" sz="2000" dirty="0">
                <a:latin typeface="Arial Narrow" panose="020B0606020202030204" pitchFamily="34" charset="0"/>
              </a:rPr>
              <a:t>) </a:t>
            </a:r>
            <a:br>
              <a:rPr lang="pl-PL" sz="2000" dirty="0">
                <a:latin typeface="Arial Narrow" panose="020B0606020202030204" pitchFamily="34" charset="0"/>
              </a:rPr>
            </a:br>
            <a:r>
              <a:rPr lang="pl-PL" sz="2000" dirty="0">
                <a:latin typeface="Arial Narrow" panose="020B0606020202030204" pitchFamily="34" charset="0"/>
              </a:rPr>
              <a:t>– standaryzacja do zakresu &lt;-1; 1&gt;</a:t>
            </a:r>
          </a:p>
        </p:txBody>
      </p:sp>
      <p:pic>
        <p:nvPicPr>
          <p:cNvPr id="12" name="Picture 11"/>
          <p:cNvPicPr>
            <a:picLocks noChangeAspect="1"/>
          </p:cNvPicPr>
          <p:nvPr/>
        </p:nvPicPr>
        <p:blipFill>
          <a:blip r:embed="rId2"/>
          <a:stretch>
            <a:fillRect/>
          </a:stretch>
        </p:blipFill>
        <p:spPr>
          <a:xfrm>
            <a:off x="1847850" y="1622640"/>
            <a:ext cx="2343150" cy="1838325"/>
          </a:xfrm>
          <a:prstGeom prst="rect">
            <a:avLst/>
          </a:prstGeom>
        </p:spPr>
      </p:pic>
      <p:pic>
        <p:nvPicPr>
          <p:cNvPr id="13" name="Picture 12"/>
          <p:cNvPicPr>
            <a:picLocks noChangeAspect="1"/>
          </p:cNvPicPr>
          <p:nvPr/>
        </p:nvPicPr>
        <p:blipFill>
          <a:blip r:embed="rId3"/>
          <a:stretch>
            <a:fillRect/>
          </a:stretch>
        </p:blipFill>
        <p:spPr>
          <a:xfrm>
            <a:off x="4695722" y="4800601"/>
            <a:ext cx="2543279" cy="1648045"/>
          </a:xfrm>
          <a:prstGeom prst="rect">
            <a:avLst/>
          </a:prstGeom>
        </p:spPr>
      </p:pic>
      <p:pic>
        <p:nvPicPr>
          <p:cNvPr id="14" name="Picture 13"/>
          <p:cNvPicPr>
            <a:picLocks noChangeAspect="1"/>
          </p:cNvPicPr>
          <p:nvPr/>
        </p:nvPicPr>
        <p:blipFill>
          <a:blip r:embed="rId4"/>
          <a:stretch>
            <a:fillRect/>
          </a:stretch>
        </p:blipFill>
        <p:spPr>
          <a:xfrm>
            <a:off x="7839076" y="1828800"/>
            <a:ext cx="2371725" cy="1524000"/>
          </a:xfrm>
          <a:prstGeom prst="rect">
            <a:avLst/>
          </a:prstGeom>
        </p:spPr>
      </p:pic>
      <p:sp>
        <p:nvSpPr>
          <p:cNvPr id="15" name="Rectangle 14"/>
          <p:cNvSpPr/>
          <p:nvPr/>
        </p:nvSpPr>
        <p:spPr>
          <a:xfrm>
            <a:off x="1600200" y="1000038"/>
            <a:ext cx="3429000" cy="707886"/>
          </a:xfrm>
          <a:prstGeom prst="rect">
            <a:avLst/>
          </a:prstGeom>
        </p:spPr>
        <p:txBody>
          <a:bodyPr wrap="square">
            <a:spAutoFit/>
          </a:bodyPr>
          <a:lstStyle/>
          <a:p>
            <a:pPr algn="ctr"/>
            <a:r>
              <a:rPr lang="pl-PL" sz="2000" b="1" dirty="0">
                <a:latin typeface="Arial Narrow" panose="020B0606020202030204" pitchFamily="34" charset="0"/>
              </a:rPr>
              <a:t>ReLU</a:t>
            </a:r>
            <a:r>
              <a:rPr lang="pl-PL" sz="2000" dirty="0">
                <a:latin typeface="Arial Narrow" panose="020B0606020202030204" pitchFamily="34" charset="0"/>
              </a:rPr>
              <a:t> (Rectified Linear Unit)</a:t>
            </a:r>
          </a:p>
          <a:p>
            <a:pPr algn="ctr"/>
            <a:r>
              <a:rPr lang="pl-PL" sz="2000" dirty="0">
                <a:latin typeface="Arial Narrow" panose="020B0606020202030204" pitchFamily="34" charset="0"/>
              </a:rPr>
              <a:t>(zamiana wartości ujemnych na 0)</a:t>
            </a:r>
          </a:p>
        </p:txBody>
      </p:sp>
      <p:sp>
        <p:nvSpPr>
          <p:cNvPr id="2" name="Rectangle 2">
            <a:extLst>
              <a:ext uri="{FF2B5EF4-FFF2-40B4-BE49-F238E27FC236}">
                <a16:creationId xmlns:a16="http://schemas.microsoft.com/office/drawing/2014/main" id="{DCC98B91-8B52-693A-507C-A746CC1FF958}"/>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752574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A7A7B9F-A4E2-478E-88C0-8808838EDADE}" type="slidenum">
              <a:rPr lang="pl-PL" smtClean="0"/>
              <a:pPr/>
              <a:t>21</a:t>
            </a:fld>
            <a:endParaRPr lang="pl-PL" dirty="0"/>
          </a:p>
        </p:txBody>
      </p:sp>
      <p:sp>
        <p:nvSpPr>
          <p:cNvPr id="40" name="Rectangle 39"/>
          <p:cNvSpPr/>
          <p:nvPr/>
        </p:nvSpPr>
        <p:spPr>
          <a:xfrm>
            <a:off x="1524000" y="261878"/>
            <a:ext cx="9144000" cy="400110"/>
          </a:xfrm>
          <a:prstGeom prst="rect">
            <a:avLst/>
          </a:prstGeom>
        </p:spPr>
        <p:txBody>
          <a:bodyPr wrap="square">
            <a:spAutoFit/>
          </a:bodyPr>
          <a:lstStyle/>
          <a:p>
            <a:r>
              <a:rPr lang="pl-PL" sz="2000" dirty="0">
                <a:latin typeface="Arial Narrow" panose="020B0606020202030204" pitchFamily="34" charset="0"/>
              </a:rPr>
              <a:t>Przykład normalizacji z wykorzystaniem funkcji ReLU:</a:t>
            </a:r>
          </a:p>
        </p:txBody>
      </p:sp>
      <p:pic>
        <p:nvPicPr>
          <p:cNvPr id="2" name="Picture 1"/>
          <p:cNvPicPr>
            <a:picLocks noChangeAspect="1"/>
          </p:cNvPicPr>
          <p:nvPr/>
        </p:nvPicPr>
        <p:blipFill>
          <a:blip r:embed="rId2"/>
          <a:stretch>
            <a:fillRect/>
          </a:stretch>
        </p:blipFill>
        <p:spPr>
          <a:xfrm>
            <a:off x="2819401" y="609600"/>
            <a:ext cx="5595937" cy="2700878"/>
          </a:xfrm>
          <a:prstGeom prst="rect">
            <a:avLst/>
          </a:prstGeom>
        </p:spPr>
      </p:pic>
      <p:pic>
        <p:nvPicPr>
          <p:cNvPr id="3" name="Picture 2"/>
          <p:cNvPicPr>
            <a:picLocks noChangeAspect="1"/>
          </p:cNvPicPr>
          <p:nvPr/>
        </p:nvPicPr>
        <p:blipFill>
          <a:blip r:embed="rId3"/>
          <a:stretch>
            <a:fillRect/>
          </a:stretch>
        </p:blipFill>
        <p:spPr>
          <a:xfrm>
            <a:off x="2819400" y="4093710"/>
            <a:ext cx="5595937" cy="2078491"/>
          </a:xfrm>
          <a:prstGeom prst="rect">
            <a:avLst/>
          </a:prstGeom>
        </p:spPr>
      </p:pic>
      <p:sp>
        <p:nvSpPr>
          <p:cNvPr id="42" name="Rectangle 41"/>
          <p:cNvSpPr/>
          <p:nvPr/>
        </p:nvSpPr>
        <p:spPr>
          <a:xfrm>
            <a:off x="1524000" y="3712649"/>
            <a:ext cx="9144000" cy="400110"/>
          </a:xfrm>
          <a:prstGeom prst="rect">
            <a:avLst/>
          </a:prstGeom>
        </p:spPr>
        <p:txBody>
          <a:bodyPr wrap="square">
            <a:spAutoFit/>
          </a:bodyPr>
          <a:lstStyle/>
          <a:p>
            <a:r>
              <a:rPr lang="pl-PL" sz="2000" dirty="0">
                <a:latin typeface="Arial Narrow" panose="020B0606020202030204" pitchFamily="34" charset="0"/>
              </a:rPr>
              <a:t>Efekt końcowy – wszystkie ujemne wartości zostały wyzerowane.</a:t>
            </a:r>
          </a:p>
        </p:txBody>
      </p:sp>
      <p:sp>
        <p:nvSpPr>
          <p:cNvPr id="5" name="Rectangle 2">
            <a:extLst>
              <a:ext uri="{FF2B5EF4-FFF2-40B4-BE49-F238E27FC236}">
                <a16:creationId xmlns:a16="http://schemas.microsoft.com/office/drawing/2014/main" id="{1F300619-1E45-3C4C-CEC7-D96ECB78EE5F}"/>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981810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22</a:t>
            </a:fld>
            <a:endParaRPr lang="pl-PL" dirty="0"/>
          </a:p>
        </p:txBody>
      </p:sp>
      <p:sp>
        <p:nvSpPr>
          <p:cNvPr id="13" name="Rectangle 12"/>
          <p:cNvSpPr/>
          <p:nvPr/>
        </p:nvSpPr>
        <p:spPr>
          <a:xfrm>
            <a:off x="1524000" y="261878"/>
            <a:ext cx="9144000" cy="400110"/>
          </a:xfrm>
          <a:prstGeom prst="rect">
            <a:avLst/>
          </a:prstGeom>
        </p:spPr>
        <p:txBody>
          <a:bodyPr wrap="square">
            <a:spAutoFit/>
          </a:bodyPr>
          <a:lstStyle/>
          <a:p>
            <a:r>
              <a:rPr lang="pl-PL" sz="2000" dirty="0">
                <a:latin typeface="Arial Narrow" panose="020B0606020202030204" pitchFamily="34" charset="0"/>
              </a:rPr>
              <a:t>Po zastosowaniu normalizacji ReLU otrzymujemy mapy dopasowania bez wartości ujemnych.</a:t>
            </a:r>
          </a:p>
        </p:txBody>
      </p:sp>
      <p:pic>
        <p:nvPicPr>
          <p:cNvPr id="3" name="Picture 2"/>
          <p:cNvPicPr>
            <a:picLocks noChangeAspect="1"/>
          </p:cNvPicPr>
          <p:nvPr/>
        </p:nvPicPr>
        <p:blipFill>
          <a:blip r:embed="rId2"/>
          <a:stretch>
            <a:fillRect/>
          </a:stretch>
        </p:blipFill>
        <p:spPr>
          <a:xfrm>
            <a:off x="3326710" y="685800"/>
            <a:ext cx="5512490" cy="4114800"/>
          </a:xfrm>
          <a:prstGeom prst="rect">
            <a:avLst/>
          </a:prstGeom>
        </p:spPr>
      </p:pic>
      <p:sp>
        <p:nvSpPr>
          <p:cNvPr id="2" name="Rectangle 2">
            <a:extLst>
              <a:ext uri="{FF2B5EF4-FFF2-40B4-BE49-F238E27FC236}">
                <a16:creationId xmlns:a16="http://schemas.microsoft.com/office/drawing/2014/main" id="{54E80942-6D67-BF06-5A9E-C69201B9DFF6}"/>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679676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23</a:t>
            </a:fld>
            <a:endParaRPr lang="pl-PL" dirty="0"/>
          </a:p>
        </p:txBody>
      </p:sp>
      <p:sp>
        <p:nvSpPr>
          <p:cNvPr id="3" name="Rectangle 2"/>
          <p:cNvSpPr/>
          <p:nvPr/>
        </p:nvSpPr>
        <p:spPr>
          <a:xfrm>
            <a:off x="0" y="319416"/>
            <a:ext cx="10668000" cy="707886"/>
          </a:xfrm>
          <a:prstGeom prst="rect">
            <a:avLst/>
          </a:prstGeom>
        </p:spPr>
        <p:txBody>
          <a:bodyPr wrap="square">
            <a:spAutoFit/>
          </a:bodyPr>
          <a:lstStyle/>
          <a:p>
            <a:r>
              <a:rPr lang="pl-PL" sz="2000" dirty="0">
                <a:latin typeface="Arial Narrow" panose="020B0606020202030204" pitchFamily="34" charset="0"/>
              </a:rPr>
              <a:t>W sieciach neuronowych po warstwie konwolucyjnej występuje często warstwa </a:t>
            </a:r>
            <a:r>
              <a:rPr lang="pl-PL" sz="2000" b="1" dirty="0">
                <a:latin typeface="Arial Narrow" panose="020B0606020202030204" pitchFamily="34" charset="0"/>
              </a:rPr>
              <a:t>pooling</a:t>
            </a:r>
            <a:r>
              <a:rPr lang="pl-PL" sz="2000" dirty="0">
                <a:latin typeface="Arial Narrow" panose="020B0606020202030204" pitchFamily="34" charset="0"/>
              </a:rPr>
              <a:t> (zwana też warstwą </a:t>
            </a:r>
            <a:r>
              <a:rPr lang="pl-PL" sz="2000" b="1" dirty="0">
                <a:latin typeface="Arial Narrow" panose="020B0606020202030204" pitchFamily="34" charset="0"/>
              </a:rPr>
              <a:t>sub-sampling</a:t>
            </a:r>
            <a:r>
              <a:rPr lang="pl-PL" sz="2000" dirty="0">
                <a:latin typeface="Arial Narrow" panose="020B0606020202030204" pitchFamily="34" charset="0"/>
              </a:rPr>
              <a:t>).</a:t>
            </a:r>
          </a:p>
        </p:txBody>
      </p:sp>
      <p:pic>
        <p:nvPicPr>
          <p:cNvPr id="7" name="Picture 6"/>
          <p:cNvPicPr>
            <a:picLocks noChangeAspect="1"/>
          </p:cNvPicPr>
          <p:nvPr/>
        </p:nvPicPr>
        <p:blipFill>
          <a:blip r:embed="rId2"/>
          <a:stretch>
            <a:fillRect/>
          </a:stretch>
        </p:blipFill>
        <p:spPr>
          <a:xfrm>
            <a:off x="3467100" y="1041918"/>
            <a:ext cx="5257800" cy="3718132"/>
          </a:xfrm>
          <a:prstGeom prst="rect">
            <a:avLst/>
          </a:prstGeom>
        </p:spPr>
      </p:pic>
      <p:sp>
        <p:nvSpPr>
          <p:cNvPr id="8" name="Rectangle 2"/>
          <p:cNvSpPr/>
          <p:nvPr/>
        </p:nvSpPr>
        <p:spPr>
          <a:xfrm>
            <a:off x="0" y="5181600"/>
            <a:ext cx="12178800" cy="1323439"/>
          </a:xfrm>
          <a:prstGeom prst="rect">
            <a:avLst/>
          </a:prstGeom>
        </p:spPr>
        <p:txBody>
          <a:bodyPr wrap="square">
            <a:spAutoFit/>
          </a:bodyPr>
          <a:lstStyle/>
          <a:p>
            <a:r>
              <a:rPr lang="pl-PL" sz="2000" dirty="0">
                <a:latin typeface="Arial Narrow" panose="020B0606020202030204" pitchFamily="34" charset="0"/>
              </a:rPr>
              <a:t>Operacja </a:t>
            </a:r>
            <a:r>
              <a:rPr lang="pl-PL" sz="2000" b="1" dirty="0">
                <a:latin typeface="Arial Narrow" panose="020B0606020202030204" pitchFamily="34" charset="0"/>
              </a:rPr>
              <a:t>poolingu </a:t>
            </a:r>
            <a:r>
              <a:rPr lang="pl-PL" sz="2000" dirty="0">
                <a:latin typeface="Arial Narrow" panose="020B0606020202030204" pitchFamily="34" charset="0"/>
              </a:rPr>
              <a:t>ma na celu zmniejszenie rozmiarów map dopasowania poprzez uogólnienie informacji wydobytych przez warstwę konwolucyjną. Obchodzi się w ten sposób problem zbyt literalnego podchodzenia przez komputer do porównywania obrazów. Traci się część informacji, ale okazuje się, że nie ma to znaczenia dla efektów końcowych, natomiast zwiększa się szybkość </a:t>
            </a:r>
            <a:r>
              <a:rPr lang="pl-PL" sz="2000">
                <a:latin typeface="Arial Narrow" panose="020B0606020202030204" pitchFamily="34" charset="0"/>
              </a:rPr>
              <a:t>uczenia.</a:t>
            </a:r>
            <a:endParaRPr lang="pl-PL" sz="2000" dirty="0">
              <a:latin typeface="Arial Narrow" panose="020B0606020202030204" pitchFamily="34" charset="0"/>
            </a:endParaRPr>
          </a:p>
        </p:txBody>
      </p:sp>
      <p:sp>
        <p:nvSpPr>
          <p:cNvPr id="4" name="Rectangle 2">
            <a:extLst>
              <a:ext uri="{FF2B5EF4-FFF2-40B4-BE49-F238E27FC236}">
                <a16:creationId xmlns:a16="http://schemas.microsoft.com/office/drawing/2014/main" id="{BA5034BE-B97D-4E5A-6905-1642570950B5}"/>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988238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24</a:t>
            </a:fld>
            <a:endParaRPr lang="pl-PL" dirty="0"/>
          </a:p>
        </p:txBody>
      </p:sp>
      <p:sp>
        <p:nvSpPr>
          <p:cNvPr id="3" name="Rectangle 2"/>
          <p:cNvSpPr/>
          <p:nvPr/>
        </p:nvSpPr>
        <p:spPr>
          <a:xfrm>
            <a:off x="0" y="319416"/>
            <a:ext cx="10668000" cy="1631216"/>
          </a:xfrm>
          <a:prstGeom prst="rect">
            <a:avLst/>
          </a:prstGeom>
        </p:spPr>
        <p:txBody>
          <a:bodyPr wrap="square">
            <a:spAutoFit/>
          </a:bodyPr>
          <a:lstStyle/>
          <a:p>
            <a:pPr>
              <a:spcBef>
                <a:spcPts val="600"/>
              </a:spcBef>
            </a:pPr>
            <a:r>
              <a:rPr lang="pl-PL" sz="2000" b="1">
                <a:latin typeface="Arial Narrow" panose="020B0606020202030204" pitchFamily="34" charset="0"/>
              </a:rPr>
              <a:t>Pooling</a:t>
            </a:r>
            <a:r>
              <a:rPr lang="pl-PL" sz="2000">
                <a:latin typeface="Arial Narrow" panose="020B0606020202030204" pitchFamily="34" charset="0"/>
              </a:rPr>
              <a:t> </a:t>
            </a:r>
            <a:r>
              <a:rPr lang="pl-PL" sz="2000" dirty="0">
                <a:latin typeface="Arial Narrow" panose="020B0606020202030204" pitchFamily="34" charset="0"/>
              </a:rPr>
              <a:t>przebiega według następującego algorytmu:</a:t>
            </a:r>
          </a:p>
          <a:p>
            <a:pPr marL="266700" indent="-266700">
              <a:buFont typeface="+mj-lt"/>
              <a:buAutoNum type="arabicPeriod"/>
            </a:pPr>
            <a:r>
              <a:rPr lang="pl-PL" sz="2000" dirty="0">
                <a:latin typeface="Arial Narrow" panose="020B0606020202030204" pitchFamily="34" charset="0"/>
              </a:rPr>
              <a:t>Wybierz rozmiar okna (zwykle 2 lub 3).</a:t>
            </a:r>
          </a:p>
          <a:p>
            <a:pPr marL="266700" indent="-266700">
              <a:buFont typeface="+mj-lt"/>
              <a:buAutoNum type="arabicPeriod"/>
            </a:pPr>
            <a:r>
              <a:rPr lang="pl-PL" sz="2000" dirty="0">
                <a:latin typeface="Arial Narrow" panose="020B0606020202030204" pitchFamily="34" charset="0"/>
              </a:rPr>
              <a:t>Wybierz krok (zwykle 2).</a:t>
            </a:r>
          </a:p>
          <a:p>
            <a:pPr marL="266700" indent="-266700">
              <a:buFont typeface="+mj-lt"/>
              <a:buAutoNum type="arabicPeriod"/>
            </a:pPr>
            <a:r>
              <a:rPr lang="pl-PL" sz="2000" dirty="0">
                <a:latin typeface="Arial Narrow" panose="020B0606020202030204" pitchFamily="34" charset="0"/>
              </a:rPr>
              <a:t>Przejdź oknem przez całą mapę przesuwając je o tyle pól, ile wynosi krok.</a:t>
            </a:r>
          </a:p>
          <a:p>
            <a:pPr marL="266700" indent="-266700">
              <a:buFont typeface="+mj-lt"/>
              <a:buAutoNum type="arabicPeriod"/>
            </a:pPr>
            <a:r>
              <a:rPr lang="pl-PL" sz="2000" dirty="0">
                <a:latin typeface="Arial Narrow" panose="020B0606020202030204" pitchFamily="34" charset="0"/>
              </a:rPr>
              <a:t>Z każdego okna wybierz wartość maksymalną (dlatego ta warstwa nazywana jest </a:t>
            </a:r>
            <a:r>
              <a:rPr lang="pl-PL" sz="2000" b="1" dirty="0">
                <a:latin typeface="Arial Narrow" panose="020B0606020202030204" pitchFamily="34" charset="0"/>
              </a:rPr>
              <a:t>max pooling layer</a:t>
            </a:r>
            <a:r>
              <a:rPr lang="pl-PL" sz="2000" dirty="0">
                <a:latin typeface="Arial Narrow" panose="020B0606020202030204" pitchFamily="34" charset="0"/>
              </a:rPr>
              <a:t>).</a:t>
            </a:r>
          </a:p>
        </p:txBody>
      </p:sp>
      <p:pic>
        <p:nvPicPr>
          <p:cNvPr id="4" name="Picture 3"/>
          <p:cNvPicPr>
            <a:picLocks noChangeAspect="1"/>
          </p:cNvPicPr>
          <p:nvPr/>
        </p:nvPicPr>
        <p:blipFill>
          <a:blip r:embed="rId2"/>
          <a:stretch>
            <a:fillRect/>
          </a:stretch>
        </p:blipFill>
        <p:spPr>
          <a:xfrm>
            <a:off x="2895600" y="2667000"/>
            <a:ext cx="6553200" cy="3132858"/>
          </a:xfrm>
          <a:prstGeom prst="rect">
            <a:avLst/>
          </a:prstGeom>
        </p:spPr>
      </p:pic>
      <p:sp>
        <p:nvSpPr>
          <p:cNvPr id="6" name="Rectangle 2">
            <a:extLst>
              <a:ext uri="{FF2B5EF4-FFF2-40B4-BE49-F238E27FC236}">
                <a16:creationId xmlns:a16="http://schemas.microsoft.com/office/drawing/2014/main" id="{4B2D7E9A-2CF9-7B6C-7BEF-9A77221EB6B4}"/>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1170006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25</a:t>
            </a:fld>
            <a:endParaRPr lang="pl-PL" dirty="0"/>
          </a:p>
        </p:txBody>
      </p:sp>
      <p:pic>
        <p:nvPicPr>
          <p:cNvPr id="4" name="Picture 3"/>
          <p:cNvPicPr>
            <a:picLocks noChangeAspect="1"/>
          </p:cNvPicPr>
          <p:nvPr/>
        </p:nvPicPr>
        <p:blipFill>
          <a:blip r:embed="rId2"/>
          <a:stretch>
            <a:fillRect/>
          </a:stretch>
        </p:blipFill>
        <p:spPr>
          <a:xfrm>
            <a:off x="2700338" y="819150"/>
            <a:ext cx="6791325" cy="5219700"/>
          </a:xfrm>
          <a:prstGeom prst="rect">
            <a:avLst/>
          </a:prstGeom>
        </p:spPr>
      </p:pic>
      <p:sp>
        <p:nvSpPr>
          <p:cNvPr id="5" name="Rectangle 4"/>
          <p:cNvSpPr/>
          <p:nvPr/>
        </p:nvSpPr>
        <p:spPr>
          <a:xfrm>
            <a:off x="1524000" y="261878"/>
            <a:ext cx="9144000" cy="400110"/>
          </a:xfrm>
          <a:prstGeom prst="rect">
            <a:avLst/>
          </a:prstGeom>
        </p:spPr>
        <p:txBody>
          <a:bodyPr wrap="square">
            <a:spAutoFit/>
          </a:bodyPr>
          <a:lstStyle/>
          <a:p>
            <a:r>
              <a:rPr lang="pl-PL" sz="2000" dirty="0">
                <a:latin typeface="Arial Narrow" panose="020B0606020202030204" pitchFamily="34" charset="0"/>
              </a:rPr>
              <a:t>Efekt operacji poolingu dla trzech map dopasowania (rozmiar okna: 2, krok: 2).</a:t>
            </a:r>
          </a:p>
        </p:txBody>
      </p:sp>
      <p:sp>
        <p:nvSpPr>
          <p:cNvPr id="3" name="Rectangle 2">
            <a:extLst>
              <a:ext uri="{FF2B5EF4-FFF2-40B4-BE49-F238E27FC236}">
                <a16:creationId xmlns:a16="http://schemas.microsoft.com/office/drawing/2014/main" id="{701F27E2-C3B4-6B66-0803-3CE7CF4748E6}"/>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833813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26</a:t>
            </a:fld>
            <a:endParaRPr lang="pl-PL" dirty="0"/>
          </a:p>
        </p:txBody>
      </p:sp>
      <p:pic>
        <p:nvPicPr>
          <p:cNvPr id="3" name="Picture 2"/>
          <p:cNvPicPr>
            <a:picLocks noChangeAspect="1"/>
          </p:cNvPicPr>
          <p:nvPr/>
        </p:nvPicPr>
        <p:blipFill>
          <a:blip r:embed="rId2"/>
          <a:stretch>
            <a:fillRect/>
          </a:stretch>
        </p:blipFill>
        <p:spPr>
          <a:xfrm>
            <a:off x="1615071" y="762000"/>
            <a:ext cx="8948737" cy="3117278"/>
          </a:xfrm>
          <a:prstGeom prst="rect">
            <a:avLst/>
          </a:prstGeom>
        </p:spPr>
      </p:pic>
      <p:sp>
        <p:nvSpPr>
          <p:cNvPr id="6" name="Rectangle 5"/>
          <p:cNvSpPr/>
          <p:nvPr/>
        </p:nvSpPr>
        <p:spPr>
          <a:xfrm>
            <a:off x="1524000" y="261878"/>
            <a:ext cx="9144000" cy="400110"/>
          </a:xfrm>
          <a:prstGeom prst="rect">
            <a:avLst/>
          </a:prstGeom>
        </p:spPr>
        <p:txBody>
          <a:bodyPr wrap="square">
            <a:spAutoFit/>
          </a:bodyPr>
          <a:lstStyle/>
          <a:p>
            <a:r>
              <a:rPr lang="pl-PL" sz="2000" dirty="0">
                <a:latin typeface="Arial Narrow" panose="020B0606020202030204" pitchFamily="34" charset="0"/>
              </a:rPr>
              <a:t>Połączenie wszystkich trzech technik. Wyjście z jednej operacji staje się wejściem dla drugiej.</a:t>
            </a:r>
          </a:p>
        </p:txBody>
      </p:sp>
      <p:sp>
        <p:nvSpPr>
          <p:cNvPr id="4" name="Rectangle 2">
            <a:extLst>
              <a:ext uri="{FF2B5EF4-FFF2-40B4-BE49-F238E27FC236}">
                <a16:creationId xmlns:a16="http://schemas.microsoft.com/office/drawing/2014/main" id="{AC6EAC9B-71EA-D30C-44BF-1DB81ED79FB5}"/>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805309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27</a:t>
            </a:fld>
            <a:endParaRPr lang="pl-PL" dirty="0"/>
          </a:p>
        </p:txBody>
      </p:sp>
      <p:sp>
        <p:nvSpPr>
          <p:cNvPr id="6" name="Rectangle 5"/>
          <p:cNvSpPr/>
          <p:nvPr/>
        </p:nvSpPr>
        <p:spPr>
          <a:xfrm>
            <a:off x="13200" y="261878"/>
            <a:ext cx="12165600" cy="1631216"/>
          </a:xfrm>
          <a:prstGeom prst="rect">
            <a:avLst/>
          </a:prstGeom>
        </p:spPr>
        <p:txBody>
          <a:bodyPr wrap="square">
            <a:spAutoFit/>
          </a:bodyPr>
          <a:lstStyle/>
          <a:p>
            <a:r>
              <a:rPr lang="pl-PL" sz="2000" dirty="0">
                <a:latin typeface="Arial Narrow" panose="020B0606020202030204" pitchFamily="34" charset="0"/>
              </a:rPr>
              <a:t>Zaletą sieci wielowarstwowych jest to, że mogą się uczyć szczegółów na różnym poziomie abstrakcji.</a:t>
            </a:r>
            <a:r>
              <a:rPr lang="en-US" sz="2000" dirty="0">
                <a:latin typeface="Arial Narrow" panose="020B0606020202030204" pitchFamily="34" charset="0"/>
              </a:rPr>
              <a:t> </a:t>
            </a:r>
            <a:r>
              <a:rPr lang="pl-PL" sz="2000" dirty="0">
                <a:latin typeface="Arial Narrow" panose="020B0606020202030204" pitchFamily="34" charset="0"/>
              </a:rPr>
              <a:t>Na przykład, jeśli będziemy trenować sieć</a:t>
            </a:r>
            <a:r>
              <a:rPr lang="en-US" sz="2000" dirty="0">
                <a:latin typeface="Arial Narrow" panose="020B0606020202030204" pitchFamily="34" charset="0"/>
              </a:rPr>
              <a:t> CNN </a:t>
            </a:r>
            <a:r>
              <a:rPr lang="pl-PL" sz="2000" dirty="0">
                <a:latin typeface="Arial Narrow" panose="020B0606020202030204" pitchFamily="34" charset="0"/>
              </a:rPr>
              <a:t>do klasyfikacji obrazów</a:t>
            </a:r>
            <a:r>
              <a:rPr lang="en-US" sz="2000" dirty="0">
                <a:latin typeface="Arial Narrow" panose="020B0606020202030204" pitchFamily="34" charset="0"/>
              </a:rPr>
              <a:t>,</a:t>
            </a:r>
            <a:r>
              <a:rPr lang="pl-PL" sz="2000" dirty="0">
                <a:latin typeface="Arial Narrow" panose="020B0606020202030204" pitchFamily="34" charset="0"/>
              </a:rPr>
              <a:t> pierwsza warstwa zostanie wytrenowania do rozpoznania podstawowych elementów, takich jak krawędzie, następna będzie rozpoznawać kolekcje krawędzi</a:t>
            </a:r>
            <a:r>
              <a:rPr lang="en-US" sz="2000" dirty="0">
                <a:latin typeface="Arial Narrow" panose="020B0606020202030204" pitchFamily="34" charset="0"/>
              </a:rPr>
              <a:t>, </a:t>
            </a:r>
            <a:r>
              <a:rPr lang="pl-PL" sz="2000" dirty="0">
                <a:latin typeface="Arial Narrow" panose="020B0606020202030204" pitchFamily="34" charset="0"/>
              </a:rPr>
              <a:t>kolejna kształty, takie jak koła</a:t>
            </a:r>
            <a:r>
              <a:rPr lang="en-US" sz="2000" dirty="0">
                <a:latin typeface="Arial Narrow" panose="020B0606020202030204" pitchFamily="34" charset="0"/>
              </a:rPr>
              <a:t>, </a:t>
            </a:r>
            <a:r>
              <a:rPr lang="pl-PL" sz="2000" dirty="0">
                <a:latin typeface="Arial Narrow" panose="020B0606020202030204" pitchFamily="34" charset="0"/>
              </a:rPr>
              <a:t>nogi</a:t>
            </a:r>
            <a:r>
              <a:rPr lang="en-US" sz="2000" dirty="0">
                <a:latin typeface="Arial Narrow" panose="020B0606020202030204" pitchFamily="34" charset="0"/>
              </a:rPr>
              <a:t>, </a:t>
            </a:r>
            <a:r>
              <a:rPr lang="pl-PL" sz="2000" dirty="0">
                <a:latin typeface="Arial Narrow" panose="020B0606020202030204" pitchFamily="34" charset="0"/>
              </a:rPr>
              <a:t>ogony</a:t>
            </a:r>
            <a:r>
              <a:rPr lang="en-US" sz="2000" dirty="0">
                <a:latin typeface="Arial Narrow" panose="020B0606020202030204" pitchFamily="34" charset="0"/>
              </a:rPr>
              <a:t>, </a:t>
            </a:r>
            <a:r>
              <a:rPr lang="pl-PL" sz="2000" dirty="0">
                <a:latin typeface="Arial Narrow" panose="020B0606020202030204" pitchFamily="34" charset="0"/>
              </a:rPr>
              <a:t>twarze</a:t>
            </a:r>
            <a:r>
              <a:rPr lang="en-US" sz="2000" dirty="0">
                <a:latin typeface="Arial Narrow" panose="020B0606020202030204" pitchFamily="34" charset="0"/>
              </a:rPr>
              <a:t> </a:t>
            </a:r>
            <a:r>
              <a:rPr lang="pl-PL" sz="2000" dirty="0">
                <a:latin typeface="Arial Narrow" panose="020B0606020202030204" pitchFamily="34" charset="0"/>
              </a:rPr>
              <a:t>a następna całe obiekty </a:t>
            </a:r>
            <a:r>
              <a:rPr lang="en-US" sz="2000" dirty="0">
                <a:latin typeface="Arial Narrow" panose="020B0606020202030204" pitchFamily="34" charset="0"/>
              </a:rPr>
              <a:t>(</a:t>
            </a:r>
            <a:r>
              <a:rPr lang="pl-PL" sz="2000" dirty="0">
                <a:latin typeface="Arial Narrow" panose="020B0606020202030204" pitchFamily="34" charset="0"/>
              </a:rPr>
              <a:t>samochody, okręty</a:t>
            </a:r>
            <a:r>
              <a:rPr lang="en-US" sz="2000" dirty="0">
                <a:latin typeface="Arial Narrow" panose="020B0606020202030204" pitchFamily="34" charset="0"/>
              </a:rPr>
              <a:t>, </a:t>
            </a:r>
            <a:r>
              <a:rPr lang="pl-PL" sz="2000" dirty="0">
                <a:latin typeface="Arial Narrow" panose="020B0606020202030204" pitchFamily="34" charset="0"/>
              </a:rPr>
              <a:t>psy</a:t>
            </a:r>
            <a:r>
              <a:rPr lang="en-US" sz="2000" dirty="0">
                <a:latin typeface="Arial Narrow" panose="020B0606020202030204" pitchFamily="34" charset="0"/>
              </a:rPr>
              <a:t>, </a:t>
            </a:r>
            <a:r>
              <a:rPr lang="pl-PL" sz="2000" dirty="0">
                <a:latin typeface="Arial Narrow" panose="020B0606020202030204" pitchFamily="34" charset="0"/>
              </a:rPr>
              <a:t>ptaki, itp.</a:t>
            </a:r>
            <a:r>
              <a:rPr lang="en-US" sz="2000" dirty="0">
                <a:latin typeface="Arial Narrow" panose="020B0606020202030204" pitchFamily="34" charset="0"/>
              </a:rPr>
              <a:t>). </a:t>
            </a:r>
            <a:endParaRPr lang="pl-PL" sz="2000" dirty="0">
              <a:latin typeface="Arial Narrow" panose="020B0606020202030204" pitchFamily="34" charset="0"/>
            </a:endParaRPr>
          </a:p>
          <a:p>
            <a:endParaRPr lang="pl-PL" sz="2000" dirty="0">
              <a:latin typeface="Arial Narrow" panose="020B0606020202030204" pitchFamily="34" charset="0"/>
            </a:endParaRPr>
          </a:p>
        </p:txBody>
      </p:sp>
      <p:pic>
        <p:nvPicPr>
          <p:cNvPr id="3" name="Picture 2"/>
          <p:cNvPicPr>
            <a:picLocks noChangeAspect="1"/>
          </p:cNvPicPr>
          <p:nvPr/>
        </p:nvPicPr>
        <p:blipFill>
          <a:blip r:embed="rId2"/>
          <a:stretch>
            <a:fillRect/>
          </a:stretch>
        </p:blipFill>
        <p:spPr>
          <a:xfrm>
            <a:off x="1052416" y="2286001"/>
            <a:ext cx="9920384" cy="2209799"/>
          </a:xfrm>
          <a:prstGeom prst="rect">
            <a:avLst/>
          </a:prstGeom>
        </p:spPr>
      </p:pic>
      <p:sp>
        <p:nvSpPr>
          <p:cNvPr id="4" name="Rectangle 2">
            <a:extLst>
              <a:ext uri="{FF2B5EF4-FFF2-40B4-BE49-F238E27FC236}">
                <a16:creationId xmlns:a16="http://schemas.microsoft.com/office/drawing/2014/main" id="{1A749237-62CC-A16B-9D87-5B4CFFDD2AC9}"/>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4172660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28</a:t>
            </a:fld>
            <a:endParaRPr lang="pl-PL" dirty="0"/>
          </a:p>
        </p:txBody>
      </p:sp>
      <p:sp>
        <p:nvSpPr>
          <p:cNvPr id="3" name="Rectangle 2"/>
          <p:cNvSpPr/>
          <p:nvPr/>
        </p:nvSpPr>
        <p:spPr>
          <a:xfrm>
            <a:off x="1676400" y="2438400"/>
            <a:ext cx="3810000" cy="707886"/>
          </a:xfrm>
          <a:prstGeom prst="rect">
            <a:avLst/>
          </a:prstGeom>
        </p:spPr>
        <p:txBody>
          <a:bodyPr wrap="square">
            <a:spAutoFit/>
          </a:bodyPr>
          <a:lstStyle/>
          <a:p>
            <a:pPr algn="r"/>
            <a:r>
              <a:rPr lang="pl-PL" sz="2000" dirty="0">
                <a:latin typeface="Arial Narrow" panose="020B0606020202030204" pitchFamily="34" charset="0"/>
              </a:rPr>
              <a:t>Następnie obrazy wyjściowe </a:t>
            </a:r>
            <a:br>
              <a:rPr lang="pl-PL" sz="2000" dirty="0">
                <a:latin typeface="Arial Narrow" panose="020B0606020202030204" pitchFamily="34" charset="0"/>
              </a:rPr>
            </a:br>
            <a:r>
              <a:rPr lang="pl-PL" sz="2000" dirty="0">
                <a:latin typeface="Arial Narrow" panose="020B0606020202030204" pitchFamily="34" charset="0"/>
              </a:rPr>
              <a:t>są przekształcane do postaci wektora. </a:t>
            </a:r>
          </a:p>
        </p:txBody>
      </p:sp>
      <p:pic>
        <p:nvPicPr>
          <p:cNvPr id="4" name="Picture 3"/>
          <p:cNvPicPr>
            <a:picLocks noChangeAspect="1"/>
          </p:cNvPicPr>
          <p:nvPr/>
        </p:nvPicPr>
        <p:blipFill>
          <a:blip r:embed="rId2"/>
          <a:stretch>
            <a:fillRect/>
          </a:stretch>
        </p:blipFill>
        <p:spPr>
          <a:xfrm>
            <a:off x="5486400" y="838200"/>
            <a:ext cx="2057400" cy="4103370"/>
          </a:xfrm>
          <a:prstGeom prst="rect">
            <a:avLst/>
          </a:prstGeom>
        </p:spPr>
      </p:pic>
      <p:sp>
        <p:nvSpPr>
          <p:cNvPr id="6" name="Rectangle 2"/>
          <p:cNvSpPr/>
          <p:nvPr/>
        </p:nvSpPr>
        <p:spPr>
          <a:xfrm>
            <a:off x="5695950" y="5159514"/>
            <a:ext cx="3276600" cy="923330"/>
          </a:xfrm>
          <a:prstGeom prst="rect">
            <a:avLst/>
          </a:prstGeom>
        </p:spPr>
        <p:txBody>
          <a:bodyPr wrap="square">
            <a:spAutoFit/>
          </a:bodyPr>
          <a:lstStyle/>
          <a:p>
            <a:pPr algn="ctr"/>
            <a:r>
              <a:rPr lang="pl-PL">
                <a:latin typeface="Arial Narrow" panose="020B0606020202030204" pitchFamily="34" charset="0"/>
              </a:rPr>
              <a:t>Spłaszczone wyjście dla obrazu, na którym jest </a:t>
            </a:r>
            <a:r>
              <a:rPr lang="pl-PL" b="1">
                <a:latin typeface="Arial Narrow" panose="020B0606020202030204" pitchFamily="34" charset="0"/>
              </a:rPr>
              <a:t>krzyżyk</a:t>
            </a:r>
            <a:r>
              <a:rPr lang="pl-PL" dirty="0">
                <a:latin typeface="Arial Narrow" panose="020B0606020202030204" pitchFamily="34" charset="0"/>
              </a:rPr>
              <a:t>. </a:t>
            </a:r>
            <a:br>
              <a:rPr lang="pl-PL" dirty="0">
                <a:latin typeface="Arial Narrow" panose="020B0606020202030204" pitchFamily="34" charset="0"/>
              </a:rPr>
            </a:br>
            <a:r>
              <a:rPr lang="pl-PL" dirty="0">
                <a:latin typeface="Arial Narrow" panose="020B0606020202030204" pitchFamily="34" charset="0"/>
              </a:rPr>
              <a:t>Pięć neuronów ma wysokie wartości.</a:t>
            </a:r>
          </a:p>
        </p:txBody>
      </p:sp>
      <p:sp>
        <p:nvSpPr>
          <p:cNvPr id="7" name="Rectangle 2">
            <a:extLst>
              <a:ext uri="{FF2B5EF4-FFF2-40B4-BE49-F238E27FC236}">
                <a16:creationId xmlns:a16="http://schemas.microsoft.com/office/drawing/2014/main" id="{D3678D2D-1D52-89BB-48E1-599B933D2593}"/>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08827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29</a:t>
            </a:fld>
            <a:endParaRPr lang="pl-PL" dirty="0"/>
          </a:p>
        </p:txBody>
      </p:sp>
      <p:sp>
        <p:nvSpPr>
          <p:cNvPr id="6" name="Rectangle 5"/>
          <p:cNvSpPr/>
          <p:nvPr/>
        </p:nvSpPr>
        <p:spPr>
          <a:xfrm>
            <a:off x="0" y="261878"/>
            <a:ext cx="12178800" cy="1938992"/>
          </a:xfrm>
          <a:prstGeom prst="rect">
            <a:avLst/>
          </a:prstGeom>
        </p:spPr>
        <p:txBody>
          <a:bodyPr wrap="square">
            <a:spAutoFit/>
          </a:bodyPr>
          <a:lstStyle/>
          <a:p>
            <a:r>
              <a:rPr lang="pl-PL" sz="2000" dirty="0">
                <a:latin typeface="Arial Narrow" panose="020B0606020202030204" pitchFamily="34" charset="0"/>
              </a:rPr>
              <a:t>Warstwa w pełni połączona (</a:t>
            </a:r>
            <a:r>
              <a:rPr lang="pl-PL" sz="2000" b="1" dirty="0">
                <a:latin typeface="Arial Narrow" panose="020B0606020202030204" pitchFamily="34" charset="0"/>
              </a:rPr>
              <a:t>fully connected layer</a:t>
            </a:r>
            <a:r>
              <a:rPr lang="pl-PL" sz="2000" dirty="0">
                <a:latin typeface="Arial Narrow" panose="020B0606020202030204" pitchFamily="34" charset="0"/>
              </a:rPr>
              <a:t>) to warstwa, która posiada wszystkie możliwe połączenia między jej neuronami a wyjściami neuronów warstwy poprzedniej.</a:t>
            </a:r>
            <a:endParaRPr lang="pl-PL" sz="24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Warstwa w pełni połączona pobiera przefiltrowane dane, i każdemu elementowi przypisuje wagę oznaczającą, z jakim prawdopodobieństwem ten element wskazuje poprawny wynik.</a:t>
            </a:r>
          </a:p>
          <a:p>
            <a:r>
              <a:rPr lang="pl-PL" sz="2000" dirty="0">
                <a:latin typeface="Arial Narrow" panose="020B0606020202030204" pitchFamily="34" charset="0"/>
              </a:rPr>
              <a:t>Np. prawdopodobieństwo, że obraz jest krzyżykiem wynosi (0.9+0.87+0.96+0.89+0.94)/5=</a:t>
            </a:r>
            <a:r>
              <a:rPr lang="pl-PL" sz="2000" b="1" dirty="0">
                <a:solidFill>
                  <a:srgbClr val="FF0000"/>
                </a:solidFill>
                <a:latin typeface="Arial Narrow" panose="020B0606020202030204" pitchFamily="34" charset="0"/>
              </a:rPr>
              <a:t>0.92</a:t>
            </a:r>
            <a:r>
              <a:rPr lang="pl-PL" sz="2000" dirty="0">
                <a:latin typeface="Arial Narrow" panose="020B0606020202030204" pitchFamily="34" charset="0"/>
              </a:rPr>
              <a:t>:</a:t>
            </a:r>
          </a:p>
        </p:txBody>
      </p:sp>
      <p:pic>
        <p:nvPicPr>
          <p:cNvPr id="4" name="Picture 3"/>
          <p:cNvPicPr>
            <a:picLocks noChangeAspect="1"/>
          </p:cNvPicPr>
          <p:nvPr/>
        </p:nvPicPr>
        <p:blipFill>
          <a:blip r:embed="rId3"/>
          <a:stretch>
            <a:fillRect/>
          </a:stretch>
        </p:blipFill>
        <p:spPr>
          <a:xfrm>
            <a:off x="4005263" y="2309814"/>
            <a:ext cx="4181475" cy="3381375"/>
          </a:xfrm>
          <a:prstGeom prst="rect">
            <a:avLst/>
          </a:prstGeom>
        </p:spPr>
      </p:pic>
      <p:pic>
        <p:nvPicPr>
          <p:cNvPr id="8" name="Picture 7"/>
          <p:cNvPicPr>
            <a:picLocks noChangeAspect="1"/>
          </p:cNvPicPr>
          <p:nvPr/>
        </p:nvPicPr>
        <p:blipFill>
          <a:blip r:embed="rId4"/>
          <a:stretch>
            <a:fillRect/>
          </a:stretch>
        </p:blipFill>
        <p:spPr>
          <a:xfrm>
            <a:off x="3505200" y="2286000"/>
            <a:ext cx="381000" cy="3429000"/>
          </a:xfrm>
          <a:prstGeom prst="rect">
            <a:avLst/>
          </a:prstGeom>
        </p:spPr>
      </p:pic>
      <p:sp>
        <p:nvSpPr>
          <p:cNvPr id="7" name="Rectangle 5"/>
          <p:cNvSpPr/>
          <p:nvPr/>
        </p:nvSpPr>
        <p:spPr>
          <a:xfrm>
            <a:off x="4038601" y="6019801"/>
            <a:ext cx="5181601" cy="646331"/>
          </a:xfrm>
          <a:prstGeom prst="rect">
            <a:avLst/>
          </a:prstGeom>
        </p:spPr>
        <p:txBody>
          <a:bodyPr wrap="square">
            <a:spAutoFit/>
          </a:bodyPr>
          <a:lstStyle/>
          <a:p>
            <a:pPr algn="ctr"/>
            <a:r>
              <a:rPr lang="pl-PL" dirty="0">
                <a:latin typeface="Arial Narrow" panose="020B0606020202030204" pitchFamily="34" charset="0"/>
              </a:rPr>
              <a:t>z </a:t>
            </a:r>
            <a:r>
              <a:rPr lang="pl-PL">
                <a:latin typeface="Arial Narrow" panose="020B0606020202030204" pitchFamily="34" charset="0"/>
              </a:rPr>
              <a:t>poprzedniego slajdu (dla krzyżyka) – tak się nauczył model na podstawie rysunków krzyżyków</a:t>
            </a:r>
            <a:endParaRPr lang="pl-PL" dirty="0">
              <a:latin typeface="Arial Narrow" panose="020B0606020202030204" pitchFamily="34" charset="0"/>
            </a:endParaRPr>
          </a:p>
        </p:txBody>
      </p:sp>
      <p:sp>
        <p:nvSpPr>
          <p:cNvPr id="10" name="Rectangle 5"/>
          <p:cNvSpPr/>
          <p:nvPr/>
        </p:nvSpPr>
        <p:spPr>
          <a:xfrm>
            <a:off x="1524000" y="5934670"/>
            <a:ext cx="2743200" cy="923330"/>
          </a:xfrm>
          <a:prstGeom prst="rect">
            <a:avLst/>
          </a:prstGeom>
        </p:spPr>
        <p:txBody>
          <a:bodyPr wrap="square">
            <a:spAutoFit/>
          </a:bodyPr>
          <a:lstStyle/>
          <a:p>
            <a:r>
              <a:rPr lang="pl-PL">
                <a:latin typeface="Arial Narrow" panose="020B0606020202030204" pitchFamily="34" charset="0"/>
              </a:rPr>
              <a:t>analizowany obraz </a:t>
            </a:r>
            <a:r>
              <a:rPr lang="pl-PL" dirty="0">
                <a:latin typeface="Arial Narrow" panose="020B0606020202030204" pitchFamily="34" charset="0"/>
              </a:rPr>
              <a:t>(nie wiemy </a:t>
            </a:r>
            <a:br>
              <a:rPr lang="pl-PL" dirty="0">
                <a:latin typeface="Arial Narrow" panose="020B0606020202030204" pitchFamily="34" charset="0"/>
              </a:rPr>
            </a:br>
            <a:r>
              <a:rPr lang="pl-PL" dirty="0">
                <a:latin typeface="Arial Narrow" panose="020B0606020202030204" pitchFamily="34" charset="0"/>
              </a:rPr>
              <a:t>co na </a:t>
            </a:r>
            <a:r>
              <a:rPr lang="pl-PL">
                <a:latin typeface="Arial Narrow" panose="020B0606020202030204" pitchFamily="34" charset="0"/>
              </a:rPr>
              <a:t>nim jest, sprawdzamy, czy jest to krzyżyk)</a:t>
            </a:r>
            <a:endParaRPr lang="pl-PL" dirty="0">
              <a:latin typeface="Arial Narrow" panose="020B0606020202030204" pitchFamily="34" charset="0"/>
            </a:endParaRPr>
          </a:p>
        </p:txBody>
      </p:sp>
      <p:cxnSp>
        <p:nvCxnSpPr>
          <p:cNvPr id="11" name="Łącznik prosty ze strzałką 10"/>
          <p:cNvCxnSpPr/>
          <p:nvPr/>
        </p:nvCxnSpPr>
        <p:spPr>
          <a:xfrm flipV="1">
            <a:off x="2743200" y="5562600"/>
            <a:ext cx="742950" cy="421918"/>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Łącznik prosty ze strzałką 11"/>
          <p:cNvCxnSpPr/>
          <p:nvPr/>
        </p:nvCxnSpPr>
        <p:spPr>
          <a:xfrm flipH="1" flipV="1">
            <a:off x="4371975" y="5629275"/>
            <a:ext cx="742950" cy="421918"/>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CE8F903-9EDF-6460-81F1-66B2F925AA0F}"/>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018700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83D82602-3ACC-4341-B614-755528165B64}" type="slidenum">
              <a:rPr lang="pl-PL" smtClean="0"/>
              <a:pPr/>
              <a:t>30</a:t>
            </a:fld>
            <a:endParaRPr lang="pl-PL" dirty="0"/>
          </a:p>
        </p:txBody>
      </p:sp>
      <p:pic>
        <p:nvPicPr>
          <p:cNvPr id="2" name="Picture 1"/>
          <p:cNvPicPr>
            <a:picLocks noChangeAspect="1"/>
          </p:cNvPicPr>
          <p:nvPr/>
        </p:nvPicPr>
        <p:blipFill>
          <a:blip r:embed="rId3"/>
          <a:stretch>
            <a:fillRect/>
          </a:stretch>
        </p:blipFill>
        <p:spPr>
          <a:xfrm>
            <a:off x="4019550" y="1747838"/>
            <a:ext cx="4152900" cy="3362325"/>
          </a:xfrm>
          <a:prstGeom prst="rect">
            <a:avLst/>
          </a:prstGeom>
        </p:spPr>
      </p:pic>
      <p:sp>
        <p:nvSpPr>
          <p:cNvPr id="3" name="Rectangle 2"/>
          <p:cNvSpPr/>
          <p:nvPr/>
        </p:nvSpPr>
        <p:spPr>
          <a:xfrm>
            <a:off x="13200" y="304800"/>
            <a:ext cx="10654800" cy="707886"/>
          </a:xfrm>
          <a:prstGeom prst="rect">
            <a:avLst/>
          </a:prstGeom>
        </p:spPr>
        <p:txBody>
          <a:bodyPr wrap="square">
            <a:spAutoFit/>
          </a:bodyPr>
          <a:lstStyle/>
          <a:p>
            <a:r>
              <a:rPr lang="pl-PL" sz="2000" dirty="0">
                <a:latin typeface="Arial Narrow" panose="020B0606020202030204" pitchFamily="34" charset="0"/>
              </a:rPr>
              <a:t>Prawdopodobieństwo, że obraz jest kółkiem wynosi (0.65+0.45+0.44+0.53)/4=</a:t>
            </a:r>
            <a:r>
              <a:rPr lang="pl-PL" sz="2000" b="1" dirty="0">
                <a:solidFill>
                  <a:srgbClr val="FF0000"/>
                </a:solidFill>
                <a:latin typeface="Arial Narrow" panose="020B0606020202030204" pitchFamily="34" charset="0"/>
              </a:rPr>
              <a:t>0.51</a:t>
            </a:r>
            <a:r>
              <a:rPr lang="pl-PL" sz="2000" dirty="0">
                <a:latin typeface="Arial Narrow" panose="020B0606020202030204" pitchFamily="34" charset="0"/>
              </a:rPr>
              <a:t>. </a:t>
            </a:r>
            <a:br>
              <a:rPr lang="pl-PL" sz="2000" dirty="0">
                <a:latin typeface="Arial Narrow" panose="020B0606020202030204" pitchFamily="34" charset="0"/>
              </a:rPr>
            </a:br>
            <a:r>
              <a:rPr lang="pl-PL" sz="2000" dirty="0">
                <a:latin typeface="Arial Narrow" panose="020B0606020202030204" pitchFamily="34" charset="0"/>
              </a:rPr>
              <a:t>Oczywiście kategorii obrazów może być więcej.</a:t>
            </a:r>
            <a:endParaRPr lang="en-US" sz="2000" dirty="0"/>
          </a:p>
        </p:txBody>
      </p:sp>
      <p:pic>
        <p:nvPicPr>
          <p:cNvPr id="5" name="Picture 4"/>
          <p:cNvPicPr>
            <a:picLocks noChangeAspect="1"/>
          </p:cNvPicPr>
          <p:nvPr/>
        </p:nvPicPr>
        <p:blipFill>
          <a:blip r:embed="rId4"/>
          <a:stretch>
            <a:fillRect/>
          </a:stretch>
        </p:blipFill>
        <p:spPr>
          <a:xfrm>
            <a:off x="3524250" y="1747837"/>
            <a:ext cx="361950" cy="3390900"/>
          </a:xfrm>
          <a:prstGeom prst="rect">
            <a:avLst/>
          </a:prstGeom>
        </p:spPr>
      </p:pic>
      <p:sp>
        <p:nvSpPr>
          <p:cNvPr id="7" name="Rectangle 5"/>
          <p:cNvSpPr/>
          <p:nvPr/>
        </p:nvSpPr>
        <p:spPr>
          <a:xfrm>
            <a:off x="3810001" y="5754470"/>
            <a:ext cx="3429001" cy="646331"/>
          </a:xfrm>
          <a:prstGeom prst="rect">
            <a:avLst/>
          </a:prstGeom>
        </p:spPr>
        <p:txBody>
          <a:bodyPr wrap="square">
            <a:spAutoFit/>
          </a:bodyPr>
          <a:lstStyle/>
          <a:p>
            <a:pPr algn="ctr"/>
            <a:r>
              <a:rPr lang="pl-PL">
                <a:latin typeface="Arial Narrow" panose="020B0606020202030204" pitchFamily="34" charset="0"/>
              </a:rPr>
              <a:t>wzorcem jest kółko (tak się nauczył model na podstawie rysunków kółek)</a:t>
            </a:r>
            <a:endParaRPr lang="pl-PL" dirty="0">
              <a:latin typeface="Arial Narrow" panose="020B0606020202030204" pitchFamily="34" charset="0"/>
            </a:endParaRPr>
          </a:p>
        </p:txBody>
      </p:sp>
      <p:cxnSp>
        <p:nvCxnSpPr>
          <p:cNvPr id="8" name="Łącznik prosty ze strzałką 7"/>
          <p:cNvCxnSpPr/>
          <p:nvPr/>
        </p:nvCxnSpPr>
        <p:spPr>
          <a:xfrm flipH="1" flipV="1">
            <a:off x="4419600" y="5181600"/>
            <a:ext cx="990600" cy="592266"/>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5"/>
          <p:cNvSpPr/>
          <p:nvPr/>
        </p:nvSpPr>
        <p:spPr>
          <a:xfrm>
            <a:off x="1624012" y="5726668"/>
            <a:ext cx="1881188" cy="369332"/>
          </a:xfrm>
          <a:prstGeom prst="rect">
            <a:avLst/>
          </a:prstGeom>
        </p:spPr>
        <p:txBody>
          <a:bodyPr wrap="square">
            <a:spAutoFit/>
          </a:bodyPr>
          <a:lstStyle/>
          <a:p>
            <a:r>
              <a:rPr lang="pl-PL">
                <a:latin typeface="Arial Narrow" panose="020B0606020202030204" pitchFamily="34" charset="0"/>
              </a:rPr>
              <a:t>analizowany obraz</a:t>
            </a:r>
            <a:endParaRPr lang="pl-PL" dirty="0">
              <a:latin typeface="Arial Narrow" panose="020B0606020202030204" pitchFamily="34" charset="0"/>
            </a:endParaRPr>
          </a:p>
        </p:txBody>
      </p:sp>
      <p:cxnSp>
        <p:nvCxnSpPr>
          <p:cNvPr id="12" name="Łącznik prosty ze strzałką 11"/>
          <p:cNvCxnSpPr/>
          <p:nvPr/>
        </p:nvCxnSpPr>
        <p:spPr>
          <a:xfrm flipV="1">
            <a:off x="2514600" y="5181600"/>
            <a:ext cx="990600" cy="592266"/>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2">
            <a:extLst>
              <a:ext uri="{FF2B5EF4-FFF2-40B4-BE49-F238E27FC236}">
                <a16:creationId xmlns:a16="http://schemas.microsoft.com/office/drawing/2014/main" id="{C7793E47-A5F3-E6FC-1720-6009E185025E}"/>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ACBA26D5-2C7C-46A3-93C3-33EAA7CBDF88}"/>
              </a:ext>
            </a:extLst>
          </p:cNvPr>
          <p:cNvSpPr>
            <a:spLocks noGrp="1"/>
          </p:cNvSpPr>
          <p:nvPr>
            <p:ph type="sldNum" sz="quarter" idx="12"/>
          </p:nvPr>
        </p:nvSpPr>
        <p:spPr/>
        <p:txBody>
          <a:bodyPr/>
          <a:lstStyle/>
          <a:p>
            <a:fld id="{83D82602-3ACC-4341-B614-755528165B64}" type="slidenum">
              <a:rPr lang="pl-PL" smtClean="0"/>
              <a:pPr/>
              <a:t>31</a:t>
            </a:fld>
            <a:endParaRPr lang="pl-PL" dirty="0"/>
          </a:p>
        </p:txBody>
      </p:sp>
      <p:sp>
        <p:nvSpPr>
          <p:cNvPr id="3" name="TextBox 7">
            <a:extLst>
              <a:ext uri="{FF2B5EF4-FFF2-40B4-BE49-F238E27FC236}">
                <a16:creationId xmlns:a16="http://schemas.microsoft.com/office/drawing/2014/main" id="{BE5194EA-BD1A-40A0-BC3D-37B5E56D3A48}"/>
              </a:ext>
            </a:extLst>
          </p:cNvPr>
          <p:cNvSpPr txBox="1"/>
          <p:nvPr/>
        </p:nvSpPr>
        <p:spPr>
          <a:xfrm>
            <a:off x="13200" y="304800"/>
            <a:ext cx="10654800" cy="20574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Głębokie</a:t>
            </a:r>
            <a:r>
              <a:rPr lang="en-US" sz="2000" dirty="0">
                <a:latin typeface="Arial Narrow" panose="020B0606020202030204" pitchFamily="34" charset="0"/>
              </a:rPr>
              <a:t> </a:t>
            </a:r>
            <a:r>
              <a:rPr lang="pl-PL" sz="2000" dirty="0">
                <a:latin typeface="Arial Narrow" panose="020B0606020202030204" pitchFamily="34" charset="0"/>
              </a:rPr>
              <a:t>sieci </a:t>
            </a:r>
            <a:r>
              <a:rPr lang="en-US" sz="2000" dirty="0">
                <a:latin typeface="Arial Narrow" panose="020B0606020202030204" pitchFamily="34" charset="0"/>
              </a:rPr>
              <a:t>CNN </a:t>
            </a:r>
            <a:r>
              <a:rPr lang="pl-PL" sz="2000" dirty="0">
                <a:latin typeface="Arial Narrow" panose="020B0606020202030204" pitchFamily="34" charset="0"/>
              </a:rPr>
              <a:t>są trudne do wytrenowania, gdyż</a:t>
            </a:r>
            <a:r>
              <a:rPr lang="en-US" sz="2000" dirty="0">
                <a:latin typeface="Arial Narrow" panose="020B0606020202030204" pitchFamily="34" charset="0"/>
              </a:rPr>
              <a:t>:</a:t>
            </a:r>
          </a:p>
          <a:p>
            <a:pPr marL="177800" indent="-177800">
              <a:buFont typeface="Arial" panose="020B0604020202020204" pitchFamily="34" charset="0"/>
              <a:buChar char="•"/>
            </a:pPr>
            <a:r>
              <a:rPr lang="pl-PL" sz="2000" dirty="0">
                <a:latin typeface="Arial Narrow" panose="020B0606020202030204" pitchFamily="34" charset="0"/>
              </a:rPr>
              <a:t>wymagania odnośnie liczby danych rosną wraz ze wzrostem głębokości sieci (liczby warstw),</a:t>
            </a:r>
          </a:p>
          <a:p>
            <a:pPr marL="177800" indent="-177800">
              <a:buFont typeface="Arial" panose="020B0604020202020204" pitchFamily="34" charset="0"/>
              <a:buChar char="•"/>
            </a:pPr>
            <a:r>
              <a:rPr lang="pl-PL" sz="2000" dirty="0">
                <a:latin typeface="Arial Narrow" panose="020B0606020202030204" pitchFamily="34" charset="0"/>
              </a:rPr>
              <a:t>ze wzrostem liczby parametrów, regularyzacja sieci staje się coraz bardziej istotna, pozwalając na przeniesienie akcentów nauki z pamiętania (</a:t>
            </a:r>
            <a:r>
              <a:rPr lang="en-US" sz="2000" i="1" dirty="0">
                <a:latin typeface="Arial Narrow" panose="020B0606020202030204" pitchFamily="34" charset="0"/>
              </a:rPr>
              <a:t>memorization</a:t>
            </a:r>
            <a:r>
              <a:rPr lang="pl-PL" sz="2000" dirty="0">
                <a:latin typeface="Arial Narrow" panose="020B0606020202030204" pitchFamily="34" charset="0"/>
              </a:rPr>
              <a:t>)</a:t>
            </a:r>
            <a:r>
              <a:rPr lang="en-US" sz="2000" dirty="0">
                <a:latin typeface="Arial Narrow" panose="020B0606020202030204" pitchFamily="34" charset="0"/>
              </a:rPr>
              <a:t> </a:t>
            </a:r>
            <a:r>
              <a:rPr lang="pl-PL" sz="2000" dirty="0">
                <a:latin typeface="Arial Narrow" panose="020B0606020202030204" pitchFamily="34" charset="0"/>
              </a:rPr>
              <a:t>cech</a:t>
            </a:r>
            <a:r>
              <a:rPr lang="en-US" sz="2000" dirty="0">
                <a:latin typeface="Arial Narrow" panose="020B0606020202030204" pitchFamily="34" charset="0"/>
              </a:rPr>
              <a:t> </a:t>
            </a:r>
            <a:r>
              <a:rPr lang="pl-PL" sz="2000" dirty="0">
                <a:latin typeface="Arial Narrow" panose="020B0606020202030204" pitchFamily="34" charset="0"/>
              </a:rPr>
              <a:t>do uogólniania (</a:t>
            </a:r>
            <a:r>
              <a:rPr lang="en-US" sz="2000" i="1" dirty="0">
                <a:latin typeface="Arial Narrow" panose="020B0606020202030204" pitchFamily="34" charset="0"/>
              </a:rPr>
              <a:t>generalization</a:t>
            </a:r>
            <a:r>
              <a:rPr lang="pl-PL" sz="2000" dirty="0">
                <a:latin typeface="Arial Narrow" panose="020B0606020202030204" pitchFamily="34" charset="0"/>
              </a:rPr>
              <a:t>)</a:t>
            </a:r>
            <a:r>
              <a:rPr lang="en-US" sz="2000" dirty="0">
                <a:latin typeface="Arial Narrow" panose="020B0606020202030204" pitchFamily="34" charset="0"/>
              </a:rPr>
              <a:t>.</a:t>
            </a:r>
            <a:r>
              <a:rPr lang="pl-PL" sz="2000" dirty="0">
                <a:latin typeface="Arial Narrow" panose="020B0606020202030204" pitchFamily="34" charset="0"/>
              </a:rPr>
              <a:t> Regularyzacja polega na dodaniu dodatkowej informacji pozwalającej zabezpieczyć sieć przed przeuczeniem.</a:t>
            </a:r>
            <a:endParaRPr lang="en-US" sz="2000" dirty="0">
              <a:latin typeface="Arial Narrow" panose="020B0606020202030204" pitchFamily="34" charset="0"/>
            </a:endParaRPr>
          </a:p>
        </p:txBody>
      </p:sp>
      <p:sp>
        <p:nvSpPr>
          <p:cNvPr id="2" name="Rectangle 2">
            <a:extLst>
              <a:ext uri="{FF2B5EF4-FFF2-40B4-BE49-F238E27FC236}">
                <a16:creationId xmlns:a16="http://schemas.microsoft.com/office/drawing/2014/main" id="{7BB03C8C-0F24-C9C4-2723-F7C1F74D3CED}"/>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314735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32</a:t>
            </a:fld>
            <a:endParaRPr lang="pl-PL" dirty="0"/>
          </a:p>
        </p:txBody>
      </p:sp>
      <p:sp>
        <p:nvSpPr>
          <p:cNvPr id="3" name="TextBox 7">
            <a:extLst>
              <a:ext uri="{FF2B5EF4-FFF2-40B4-BE49-F238E27FC236}">
                <a16:creationId xmlns:a16="http://schemas.microsoft.com/office/drawing/2014/main" id="{BE5194EA-BD1A-40A0-BC3D-37B5E56D3A48}"/>
              </a:ext>
            </a:extLst>
          </p:cNvPr>
          <p:cNvSpPr txBox="1"/>
          <p:nvPr/>
        </p:nvSpPr>
        <p:spPr>
          <a:xfrm>
            <a:off x="0" y="304800"/>
            <a:ext cx="10363200" cy="6858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Przykładowa sieć CNN składająca się z czterech bloków:</a:t>
            </a:r>
          </a:p>
          <a:p>
            <a:r>
              <a:rPr lang="pl-PL" sz="2000" b="1" dirty="0">
                <a:solidFill>
                  <a:srgbClr val="FF0000"/>
                </a:solidFill>
                <a:latin typeface="Arial Narrow" panose="020B0606020202030204" pitchFamily="34" charset="0"/>
              </a:rPr>
              <a:t>(</a:t>
            </a:r>
            <a:r>
              <a:rPr lang="en-US" sz="2000" b="1" dirty="0">
                <a:solidFill>
                  <a:srgbClr val="FF0000"/>
                </a:solidFill>
                <a:latin typeface="Arial Narrow" panose="020B0606020202030204" pitchFamily="34" charset="0"/>
              </a:rPr>
              <a:t>Convolution layer </a:t>
            </a:r>
            <a:r>
              <a:rPr lang="pl-PL" sz="2000" b="1" dirty="0">
                <a:solidFill>
                  <a:srgbClr val="FF0000"/>
                </a:solidFill>
                <a:latin typeface="Arial Narrow" panose="020B0606020202030204" pitchFamily="34" charset="0"/>
                <a:sym typeface="Wingdings" panose="05000000000000000000" pitchFamily="2" charset="2"/>
              </a:rPr>
              <a:t></a:t>
            </a:r>
            <a:r>
              <a:rPr lang="en-US" sz="2000" b="1" dirty="0">
                <a:solidFill>
                  <a:srgbClr val="FF0000"/>
                </a:solidFill>
                <a:latin typeface="Arial Narrow" panose="020B0606020202030204" pitchFamily="34" charset="0"/>
              </a:rPr>
              <a:t> Pooling layer</a:t>
            </a:r>
            <a:r>
              <a:rPr lang="pl-PL" sz="2000" b="1" dirty="0">
                <a:solidFill>
                  <a:srgbClr val="FF0000"/>
                </a:solidFill>
                <a:latin typeface="Arial Narrow" panose="020B0606020202030204" pitchFamily="34" charset="0"/>
              </a:rPr>
              <a:t>) *2</a:t>
            </a:r>
            <a:r>
              <a:rPr lang="en-US" sz="2000" b="1" dirty="0">
                <a:solidFill>
                  <a:srgbClr val="FF0000"/>
                </a:solidFill>
                <a:latin typeface="Arial Narrow" panose="020B0606020202030204" pitchFamily="34" charset="0"/>
              </a:rPr>
              <a:t> </a:t>
            </a:r>
            <a:r>
              <a:rPr lang="pl-PL" sz="2000" b="1" dirty="0">
                <a:latin typeface="Arial Narrow" panose="020B0606020202030204" pitchFamily="34" charset="0"/>
                <a:sym typeface="Wingdings" panose="05000000000000000000" pitchFamily="2" charset="2"/>
              </a:rPr>
              <a:t></a:t>
            </a:r>
            <a:r>
              <a:rPr lang="en-US" sz="2000" b="1" dirty="0">
                <a:latin typeface="Arial Narrow" panose="020B0606020202030204" pitchFamily="34" charset="0"/>
              </a:rPr>
              <a:t> Flattening layer </a:t>
            </a:r>
            <a:r>
              <a:rPr lang="pl-PL" sz="2000" b="1" dirty="0">
                <a:latin typeface="Arial Narrow" panose="020B0606020202030204" pitchFamily="34" charset="0"/>
                <a:sym typeface="Wingdings" panose="05000000000000000000" pitchFamily="2" charset="2"/>
              </a:rPr>
              <a:t></a:t>
            </a:r>
            <a:r>
              <a:rPr lang="en-US" sz="2000" b="1" dirty="0">
                <a:latin typeface="Arial Narrow" panose="020B0606020202030204" pitchFamily="34" charset="0"/>
              </a:rPr>
              <a:t> Dense/Output layer</a:t>
            </a:r>
            <a:endParaRPr lang="pl-PL" sz="2000" b="1" dirty="0">
              <a:latin typeface="Arial Narrow" panose="020B0606020202030204" pitchFamily="34" charset="0"/>
            </a:endParaRPr>
          </a:p>
          <a:p>
            <a:endParaRPr lang="pl-PL" sz="2000" b="1" dirty="0">
              <a:latin typeface="Arial Narrow" panose="020B0606020202030204" pitchFamily="34" charset="0"/>
            </a:endParaRPr>
          </a:p>
          <a:p>
            <a:endParaRPr lang="pl-PL" sz="2000" b="1" dirty="0">
              <a:latin typeface="Arial Narrow" panose="020B0606020202030204" pitchFamily="34" charset="0"/>
            </a:endParaRPr>
          </a:p>
          <a:p>
            <a:endParaRPr lang="en-US" sz="2000" dirty="0"/>
          </a:p>
        </p:txBody>
      </p:sp>
      <p:pic>
        <p:nvPicPr>
          <p:cNvPr id="7" name="Picture 6"/>
          <p:cNvPicPr>
            <a:picLocks noChangeAspect="1"/>
          </p:cNvPicPr>
          <p:nvPr/>
        </p:nvPicPr>
        <p:blipFill>
          <a:blip r:embed="rId2"/>
          <a:stretch>
            <a:fillRect/>
          </a:stretch>
        </p:blipFill>
        <p:spPr>
          <a:xfrm>
            <a:off x="2532438" y="1066801"/>
            <a:ext cx="6382963" cy="2649703"/>
          </a:xfrm>
          <a:prstGeom prst="rect">
            <a:avLst/>
          </a:prstGeom>
        </p:spPr>
      </p:pic>
      <p:sp>
        <p:nvSpPr>
          <p:cNvPr id="8" name="Rectangle 7"/>
          <p:cNvSpPr/>
          <p:nvPr/>
        </p:nvSpPr>
        <p:spPr>
          <a:xfrm>
            <a:off x="1524000" y="3716504"/>
            <a:ext cx="9067800" cy="2554545"/>
          </a:xfrm>
          <a:prstGeom prst="rect">
            <a:avLst/>
          </a:prstGeom>
        </p:spPr>
        <p:txBody>
          <a:bodyPr wrap="square">
            <a:spAutoFit/>
          </a:bodyPr>
          <a:lstStyle/>
          <a:p>
            <a:r>
              <a:rPr lang="pl-PL" sz="2000" dirty="0">
                <a:latin typeface="Arial Narrow" panose="020B0606020202030204" pitchFamily="34" charset="0"/>
              </a:rPr>
              <a:t>Warstwa konwolucyjna składa się z trzech operacji</a:t>
            </a:r>
            <a:r>
              <a:rPr lang="en-US" sz="2000" dirty="0">
                <a:latin typeface="Arial Narrow" panose="020B0606020202030204" pitchFamily="34" charset="0"/>
              </a:rPr>
              <a:t>: </a:t>
            </a:r>
            <a:endParaRPr lang="pl-PL" sz="2000" dirty="0">
              <a:latin typeface="Arial Narrow" panose="020B0606020202030204" pitchFamily="34" charset="0"/>
            </a:endParaRPr>
          </a:p>
          <a:p>
            <a:pPr marL="177800" indent="-177800">
              <a:buFont typeface="Arial" panose="020B0604020202020204" pitchFamily="34" charset="0"/>
              <a:buChar char="•"/>
            </a:pPr>
            <a:r>
              <a:rPr lang="pl-PL" sz="2000" dirty="0">
                <a:latin typeface="Arial Narrow" panose="020B0606020202030204" pitchFamily="34" charset="0"/>
              </a:rPr>
              <a:t>konwolucji (c</a:t>
            </a:r>
            <a:r>
              <a:rPr lang="en-US" sz="2000" i="1">
                <a:latin typeface="Arial Narrow" panose="020B0606020202030204" pitchFamily="34" charset="0"/>
              </a:rPr>
              <a:t>onvolution</a:t>
            </a:r>
            <a:r>
              <a:rPr lang="pl-PL" sz="2000" dirty="0">
                <a:latin typeface="Arial Narrow" panose="020B0606020202030204" pitchFamily="34" charset="0"/>
              </a:rPr>
              <a:t>)</a:t>
            </a:r>
            <a:r>
              <a:rPr lang="en-US" sz="2000" dirty="0">
                <a:latin typeface="Arial Narrow" panose="020B0606020202030204" pitchFamily="34" charset="0"/>
              </a:rPr>
              <a:t>,</a:t>
            </a:r>
            <a:endParaRPr lang="pl-PL" sz="2000" dirty="0">
              <a:latin typeface="Arial Narrow" panose="020B0606020202030204" pitchFamily="34" charset="0"/>
            </a:endParaRPr>
          </a:p>
          <a:p>
            <a:pPr marL="177800" indent="-177800">
              <a:buFont typeface="Arial" panose="020B0604020202020204" pitchFamily="34" charset="0"/>
              <a:buChar char="•"/>
            </a:pPr>
            <a:r>
              <a:rPr lang="pl-PL" sz="2000" dirty="0">
                <a:latin typeface="Arial Narrow" panose="020B0606020202030204" pitchFamily="34" charset="0"/>
              </a:rPr>
              <a:t>aktywacji (</a:t>
            </a:r>
            <a:r>
              <a:rPr lang="pl-PL" sz="2000" i="1" dirty="0">
                <a:latin typeface="Arial Narrow" panose="020B0606020202030204" pitchFamily="34" charset="0"/>
              </a:rPr>
              <a:t>a</a:t>
            </a:r>
            <a:r>
              <a:rPr lang="en-US" sz="2000" i="1">
                <a:latin typeface="Arial Narrow" panose="020B0606020202030204" pitchFamily="34" charset="0"/>
              </a:rPr>
              <a:t>ctivation</a:t>
            </a:r>
            <a:r>
              <a:rPr lang="pl-PL" sz="2000" dirty="0">
                <a:latin typeface="Arial Narrow" panose="020B0606020202030204" pitchFamily="34" charset="0"/>
              </a:rPr>
              <a:t>),</a:t>
            </a:r>
          </a:p>
          <a:p>
            <a:pPr marL="177800" indent="-177800">
              <a:buFont typeface="Arial" panose="020B0604020202020204" pitchFamily="34" charset="0"/>
              <a:buChar char="•"/>
            </a:pPr>
            <a:r>
              <a:rPr lang="pl-PL" sz="2000" dirty="0">
                <a:latin typeface="Arial Narrow" panose="020B0606020202030204" pitchFamily="34" charset="0"/>
              </a:rPr>
              <a:t>normalizacji wsadu</a:t>
            </a:r>
            <a:r>
              <a:rPr lang="en-US" sz="2000" dirty="0">
                <a:latin typeface="Arial Narrow" panose="020B0606020202030204" pitchFamily="34" charset="0"/>
              </a:rPr>
              <a:t> </a:t>
            </a:r>
            <a:r>
              <a:rPr lang="pl-PL" sz="2000" dirty="0">
                <a:latin typeface="Arial Narrow" panose="020B0606020202030204" pitchFamily="34" charset="0"/>
              </a:rPr>
              <a:t>(</a:t>
            </a:r>
            <a:r>
              <a:rPr lang="pl-PL" sz="2000" i="1" dirty="0">
                <a:latin typeface="Arial Narrow" panose="020B0606020202030204" pitchFamily="34" charset="0"/>
              </a:rPr>
              <a:t>b</a:t>
            </a:r>
            <a:r>
              <a:rPr lang="en-US" sz="2000" i="1" dirty="0">
                <a:latin typeface="Arial Narrow" panose="020B0606020202030204" pitchFamily="34" charset="0"/>
              </a:rPr>
              <a:t>atch normalization</a:t>
            </a:r>
            <a:r>
              <a:rPr lang="pl-PL" sz="2000" dirty="0">
                <a:latin typeface="Arial Narrow" panose="020B0606020202030204" pitchFamily="34" charset="0"/>
              </a:rPr>
              <a:t>)</a:t>
            </a:r>
            <a:r>
              <a:rPr lang="en-US" sz="2000" dirty="0">
                <a:latin typeface="Arial Narrow" panose="020B0606020202030204" pitchFamily="34" charset="0"/>
              </a:rPr>
              <a:t>.</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Czasami, w celu regularyzacji, po warstwie pooling występuje warstwa </a:t>
            </a:r>
            <a:r>
              <a:rPr lang="en-US" sz="2000" b="1" dirty="0">
                <a:latin typeface="Arial Narrow" panose="020B0606020202030204" pitchFamily="34" charset="0"/>
              </a:rPr>
              <a:t>Dropout</a:t>
            </a:r>
            <a:r>
              <a:rPr lang="en-US" sz="2000" dirty="0">
                <a:latin typeface="Arial Narrow" panose="020B0606020202030204" pitchFamily="34" charset="0"/>
              </a:rPr>
              <a:t>. </a:t>
            </a:r>
            <a:endParaRPr lang="pl-PL" sz="2000" dirty="0">
              <a:latin typeface="Arial Narrow" panose="020B0606020202030204" pitchFamily="34" charset="0"/>
            </a:endParaRPr>
          </a:p>
          <a:p>
            <a:r>
              <a:rPr lang="pl-PL" sz="2000" dirty="0">
                <a:latin typeface="Arial Narrow" panose="020B0606020202030204" pitchFamily="34" charset="0"/>
              </a:rPr>
              <a:t>Po warstwie </a:t>
            </a:r>
            <a:r>
              <a:rPr lang="pl-PL" sz="2000" b="1" dirty="0">
                <a:latin typeface="Arial Narrow" panose="020B0606020202030204" pitchFamily="34" charset="0"/>
              </a:rPr>
              <a:t>F</a:t>
            </a:r>
            <a:r>
              <a:rPr lang="en-US" sz="2000" b="1" dirty="0">
                <a:latin typeface="Arial Narrow" panose="020B0606020202030204" pitchFamily="34" charset="0"/>
              </a:rPr>
              <a:t>lattening</a:t>
            </a:r>
            <a:r>
              <a:rPr lang="en-US" sz="2000" i="1" dirty="0">
                <a:latin typeface="Arial Narrow" panose="020B0606020202030204" pitchFamily="34" charset="0"/>
              </a:rPr>
              <a:t> </a:t>
            </a:r>
            <a:r>
              <a:rPr lang="pl-PL" sz="2000" dirty="0">
                <a:latin typeface="Arial Narrow" panose="020B0606020202030204" pitchFamily="34" charset="0"/>
              </a:rPr>
              <a:t>(przed finalną warstwą Dense) może zostać użytych wiele warstw </a:t>
            </a:r>
            <a:r>
              <a:rPr lang="pl-PL" sz="2000" b="1">
                <a:latin typeface="Arial Narrow" panose="020B0606020202030204" pitchFamily="34" charset="0"/>
              </a:rPr>
              <a:t>Dense</a:t>
            </a:r>
            <a:r>
              <a:rPr lang="en-US" sz="2000" dirty="0">
                <a:latin typeface="Arial Narrow" panose="020B0606020202030204" pitchFamily="34" charset="0"/>
              </a:rPr>
              <a:t>.</a:t>
            </a:r>
            <a:endParaRPr lang="pl-PL" sz="2000">
              <a:latin typeface="Arial Narrow" panose="020B0606020202030204" pitchFamily="34" charset="0"/>
            </a:endParaRPr>
          </a:p>
        </p:txBody>
      </p:sp>
      <p:sp>
        <p:nvSpPr>
          <p:cNvPr id="5" name="Rectangle 2">
            <a:extLst>
              <a:ext uri="{FF2B5EF4-FFF2-40B4-BE49-F238E27FC236}">
                <a16:creationId xmlns:a16="http://schemas.microsoft.com/office/drawing/2014/main" id="{38ECBCCB-F991-7E9E-2E0F-F01A35496DA3}"/>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124108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E1C277-68CB-79EB-530F-59D474494285}"/>
              </a:ext>
            </a:extLst>
          </p:cNvPr>
          <p:cNvSpPr>
            <a:spLocks noGrp="1"/>
          </p:cNvSpPr>
          <p:nvPr>
            <p:ph type="sldNum" sz="quarter" idx="12"/>
          </p:nvPr>
        </p:nvSpPr>
        <p:spPr/>
        <p:txBody>
          <a:bodyPr/>
          <a:lstStyle/>
          <a:p>
            <a:fld id="{8FBA5C85-AAD4-47BE-B152-06EBA5423A95}" type="slidenum">
              <a:rPr lang="pl-PL" smtClean="0"/>
              <a:pPr/>
              <a:t>33</a:t>
            </a:fld>
            <a:endParaRPr lang="pl-PL" dirty="0"/>
          </a:p>
        </p:txBody>
      </p:sp>
      <p:sp>
        <p:nvSpPr>
          <p:cNvPr id="4" name="TextBox 3">
            <a:extLst>
              <a:ext uri="{FF2B5EF4-FFF2-40B4-BE49-F238E27FC236}">
                <a16:creationId xmlns:a16="http://schemas.microsoft.com/office/drawing/2014/main" id="{B562EBEA-DA0F-849E-3422-4AD81B1FB4D4}"/>
              </a:ext>
            </a:extLst>
          </p:cNvPr>
          <p:cNvSpPr txBox="1"/>
          <p:nvPr/>
        </p:nvSpPr>
        <p:spPr>
          <a:xfrm>
            <a:off x="0" y="381000"/>
            <a:ext cx="12192000" cy="4093428"/>
          </a:xfrm>
          <a:prstGeom prst="rect">
            <a:avLst/>
          </a:prstGeom>
          <a:noFill/>
        </p:spPr>
        <p:txBody>
          <a:bodyPr wrap="square">
            <a:spAutoFit/>
          </a:bodyPr>
          <a:lstStyle/>
          <a:p>
            <a:r>
              <a:rPr lang="pl-PL" sz="2000">
                <a:latin typeface="Arial Narrow" panose="020B0606020202030204" pitchFamily="34" charset="0"/>
              </a:rPr>
              <a:t>W sieciach konwolucyjnych czasem </a:t>
            </a:r>
            <a:r>
              <a:rPr lang="pl-PL" sz="2000" b="1">
                <a:latin typeface="Arial Narrow" panose="020B0606020202030204" pitchFamily="34" charset="0"/>
              </a:rPr>
              <a:t>zwiększa się wymiary kanałów warstw sieci</a:t>
            </a:r>
            <a:r>
              <a:rPr lang="pl-PL" sz="2000">
                <a:latin typeface="Arial Narrow" panose="020B0606020202030204" pitchFamily="34" charset="0"/>
              </a:rPr>
              <a:t> (zwiększa się rangi tensorów), co daje kilka korzyści:</a:t>
            </a:r>
          </a:p>
          <a:p>
            <a:pPr marL="265113" indent="-265113">
              <a:buFont typeface="+mj-lt"/>
              <a:buAutoNum type="arabicPeriod"/>
            </a:pPr>
            <a:r>
              <a:rPr lang="pl-PL" sz="2000" b="1">
                <a:latin typeface="Arial Narrow" panose="020B0606020202030204" pitchFamily="34" charset="0"/>
              </a:rPr>
              <a:t>Ekstrakcja cech</a:t>
            </a:r>
            <a:r>
              <a:rPr lang="pl-PL" sz="2000">
                <a:latin typeface="Arial Narrow" panose="020B0606020202030204" pitchFamily="34" charset="0"/>
              </a:rPr>
              <a:t>: Kanały w warstwach konwolucyjnych służą do ekstrakcji różnych cech obrazu. Każdy kanał może reprezentować różne aspekty obrazu, takie jak krawędzie, tekstury, kolory itp. Dzięki większej licznie kanałów sieć może wydobywać większą ilość informacji z obrazów.</a:t>
            </a:r>
          </a:p>
          <a:p>
            <a:pPr marL="265113" indent="-265113">
              <a:buFont typeface="+mj-lt"/>
              <a:buAutoNum type="arabicPeriod"/>
            </a:pPr>
            <a:r>
              <a:rPr lang="pl-PL" sz="2000" b="1">
                <a:latin typeface="Arial Narrow" panose="020B0606020202030204" pitchFamily="34" charset="0"/>
              </a:rPr>
              <a:t>Zwiększona reprezentatywność</a:t>
            </a:r>
            <a:r>
              <a:rPr lang="pl-PL" sz="2000">
                <a:latin typeface="Arial Narrow" panose="020B0606020202030204" pitchFamily="34" charset="0"/>
              </a:rPr>
              <a:t>: W miarę zwiększania liczby kanałów sieć ma możliwość tworzenia bardziej skomplikowanych cech, co z kolei może prowadzić do lepszej reprezentacji danych i poprawy wydajności modelu.</a:t>
            </a:r>
          </a:p>
          <a:p>
            <a:pPr marL="265113" indent="-265113">
              <a:buFont typeface="+mj-lt"/>
              <a:buAutoNum type="arabicPeriod"/>
            </a:pPr>
            <a:r>
              <a:rPr lang="pl-PL" sz="2000" b="1">
                <a:latin typeface="Arial Narrow" panose="020B0606020202030204" pitchFamily="34" charset="0"/>
              </a:rPr>
              <a:t>Regularyzacja</a:t>
            </a:r>
            <a:r>
              <a:rPr lang="pl-PL" sz="2000">
                <a:latin typeface="Arial Narrow" panose="020B0606020202030204" pitchFamily="34" charset="0"/>
              </a:rPr>
              <a:t>: Wielkość kanałów może działać jako rodzaj regularyzacji. Większa liczba kanałów może pomóc w redukcji przetrenowania (overfittingu), ponieważ wymaga to wyuczenia większej liczby parametrów, co z kolei może przeciwdziałać nadmiernemu dopasowaniu do danych treningowych.</a:t>
            </a:r>
          </a:p>
          <a:p>
            <a:pPr marL="265113" indent="-265113">
              <a:buFont typeface="+mj-lt"/>
              <a:buAutoNum type="arabicPeriod"/>
            </a:pPr>
            <a:r>
              <a:rPr lang="pl-PL" sz="2000" b="1">
                <a:latin typeface="Arial Narrow" panose="020B0606020202030204" pitchFamily="34" charset="0"/>
              </a:rPr>
              <a:t>Redukcja wymiarowości</a:t>
            </a:r>
            <a:r>
              <a:rPr lang="pl-PL" sz="2000">
                <a:latin typeface="Arial Narrow" panose="020B0606020202030204" pitchFamily="34" charset="0"/>
              </a:rPr>
              <a:t>: W przypadku zastosowania operacji poolingowych lub warstw konwolucyjnych o większych rozmiarach zwiększenie liczby kanałów pozwala na zachowanie bogactwa informacji przy jednoczesnej redukcji wymiarowości danych.</a:t>
            </a:r>
          </a:p>
        </p:txBody>
      </p:sp>
      <p:sp>
        <p:nvSpPr>
          <p:cNvPr id="3" name="Rectangle 2">
            <a:extLst>
              <a:ext uri="{FF2B5EF4-FFF2-40B4-BE49-F238E27FC236}">
                <a16:creationId xmlns:a16="http://schemas.microsoft.com/office/drawing/2014/main" id="{9BC39C9F-3EE7-3EC0-A180-ED21B702F35E}"/>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495132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25D460-0C89-19F7-14B3-43200541513F}"/>
              </a:ext>
            </a:extLst>
          </p:cNvPr>
          <p:cNvSpPr>
            <a:spLocks noGrp="1"/>
          </p:cNvSpPr>
          <p:nvPr>
            <p:ph type="sldNum" sz="quarter" idx="12"/>
          </p:nvPr>
        </p:nvSpPr>
        <p:spPr/>
        <p:txBody>
          <a:bodyPr/>
          <a:lstStyle/>
          <a:p>
            <a:fld id="{8FBA5C85-AAD4-47BE-B152-06EBA5423A95}" type="slidenum">
              <a:rPr lang="pl-PL" smtClean="0"/>
              <a:pPr/>
              <a:t>34</a:t>
            </a:fld>
            <a:endParaRPr lang="pl-PL" dirty="0"/>
          </a:p>
        </p:txBody>
      </p:sp>
      <p:sp>
        <p:nvSpPr>
          <p:cNvPr id="4" name="TextBox 3">
            <a:extLst>
              <a:ext uri="{FF2B5EF4-FFF2-40B4-BE49-F238E27FC236}">
                <a16:creationId xmlns:a16="http://schemas.microsoft.com/office/drawing/2014/main" id="{F0D1922B-6B3C-A35E-ED60-40CF083E12B6}"/>
              </a:ext>
            </a:extLst>
          </p:cNvPr>
          <p:cNvSpPr txBox="1"/>
          <p:nvPr/>
        </p:nvSpPr>
        <p:spPr>
          <a:xfrm>
            <a:off x="0" y="304800"/>
            <a:ext cx="12192000" cy="5324535"/>
          </a:xfrm>
          <a:prstGeom prst="rect">
            <a:avLst/>
          </a:prstGeom>
          <a:noFill/>
        </p:spPr>
        <p:txBody>
          <a:bodyPr wrap="square">
            <a:spAutoFit/>
          </a:bodyPr>
          <a:lstStyle/>
          <a:p>
            <a:r>
              <a:rPr lang="pl-PL" sz="2000">
                <a:latin typeface="Arial Narrow" panose="020B0606020202030204" pitchFamily="34" charset="0"/>
              </a:rPr>
              <a:t>Wzrost wymiaru kanału w warstwie wejściowej sieci konwolucyjnej ma kilka zastosowań:</a:t>
            </a:r>
          </a:p>
          <a:p>
            <a:pPr marL="265113" indent="-265113">
              <a:buFont typeface="+mj-lt"/>
              <a:buAutoNum type="arabicPeriod"/>
            </a:pPr>
            <a:r>
              <a:rPr lang="pl-PL" sz="2000" b="1">
                <a:latin typeface="Arial Narrow" panose="020B0606020202030204" pitchFamily="34" charset="0"/>
              </a:rPr>
              <a:t>Zróżnicowanie informacji</a:t>
            </a:r>
            <a:r>
              <a:rPr lang="pl-PL" sz="2000">
                <a:latin typeface="Arial Narrow" panose="020B0606020202030204" pitchFamily="34" charset="0"/>
              </a:rPr>
              <a:t>: Obrazy kolorowe mają trzy kanały (RGB), co oznacza, że ​​są traktowane jako zestawy trzech warstw. Zwiększając wymiar kanału na wejściu można wprowadzić dodatkowe informacje, na przykład warstwę alfa w przypadku obrazów RGBA lub dodatkowe informacje o kolorach (na przykład przestrzeń barw CMYK). To pozwala sieci na lepsze wykorzystanie dostępnych danych.</a:t>
            </a:r>
          </a:p>
          <a:p>
            <a:pPr marL="265113" indent="-265113">
              <a:buFont typeface="+mj-lt"/>
              <a:buAutoNum type="arabicPeriod"/>
            </a:pPr>
            <a:r>
              <a:rPr lang="pl-PL" sz="2000" b="1">
                <a:latin typeface="Arial Narrow" panose="020B0606020202030204" pitchFamily="34" charset="0"/>
              </a:rPr>
              <a:t>Wartość semantyczna</a:t>
            </a:r>
            <a:r>
              <a:rPr lang="pl-PL" sz="2000">
                <a:latin typeface="Arial Narrow" panose="020B0606020202030204" pitchFamily="34" charset="0"/>
              </a:rPr>
              <a:t>: W niektórych przypadkach, zamiast dodawania kanałów reprezentujących różne przestrzenie barw, możemy dodać kanały, które mają wartość semantyczną dla konkretnego problemu. Na przykład, jeśli sieć konwolucyjna analizuje obrazy rentgenowskie, jednym z kanałów w warstwie wejściowej może być maska obszaru zainteresowania, który zawiera obszary ciała, na których ma się skupić analiza.</a:t>
            </a:r>
          </a:p>
          <a:p>
            <a:pPr marL="265113" indent="-265113">
              <a:buFont typeface="+mj-lt"/>
              <a:buAutoNum type="arabicPeriod"/>
            </a:pPr>
            <a:r>
              <a:rPr lang="pl-PL" sz="2000" b="1">
                <a:latin typeface="Arial Narrow" panose="020B0606020202030204" pitchFamily="34" charset="0"/>
              </a:rPr>
              <a:t>Uwzględnienie dodatkowych cech</a:t>
            </a:r>
            <a:r>
              <a:rPr lang="pl-PL" sz="2000">
                <a:latin typeface="Arial Narrow" panose="020B0606020202030204" pitchFamily="34" charset="0"/>
              </a:rPr>
              <a:t>: Czasami, oprócz informacji o kolorach, istnieją inne cechy, które mogą być przydatne dla danego problemu. Może to być głębokość obiektu w przypadku obrazów 3D, prędkość w przypadku obrazów sekwencyjnych itp. Zwiększenie wymiaru kanału pozwala na uwzględnienie tych dodatkowych cech w analizie.</a:t>
            </a:r>
          </a:p>
          <a:p>
            <a:endParaRPr lang="pl-PL" sz="2000">
              <a:latin typeface="Arial Narrow" panose="020B0606020202030204" pitchFamily="34" charset="0"/>
            </a:endParaRPr>
          </a:p>
          <a:p>
            <a:endParaRPr lang="pl-PL" sz="2000">
              <a:latin typeface="Arial Narrow" panose="020B0606020202030204" pitchFamily="34" charset="0"/>
            </a:endParaRPr>
          </a:p>
          <a:p>
            <a:r>
              <a:rPr lang="pl-PL" sz="2000">
                <a:latin typeface="Arial Narrow" panose="020B0606020202030204" pitchFamily="34" charset="0"/>
              </a:rPr>
              <a:t>Należy pamiętać, że zwiększenie wymiaru kanału wymaga zwykle większej mocy obliczeniowej i może prowadzić do zwiększenia ilości parametrów modelu, co z kolei może wpłynąć na większe zapotrzebowanie na moc obliczeniową. Dlatego zawsze należy dostosować architekturę sieci do konkretnego problemu i dostępnych zasobów obliczeniowych.</a:t>
            </a:r>
          </a:p>
        </p:txBody>
      </p:sp>
      <p:sp>
        <p:nvSpPr>
          <p:cNvPr id="3" name="Rectangle 2">
            <a:extLst>
              <a:ext uri="{FF2B5EF4-FFF2-40B4-BE49-F238E27FC236}">
                <a16:creationId xmlns:a16="http://schemas.microsoft.com/office/drawing/2014/main" id="{E7C2A313-72C4-5D9F-2261-D9C6B177A216}"/>
              </a:ext>
            </a:extLst>
          </p:cNvPr>
          <p:cNvSpPr txBox="1">
            <a:spLocks noChangeArrowheads="1"/>
          </p:cNvSpPr>
          <p:nvPr/>
        </p:nvSpPr>
        <p:spPr>
          <a:xfrm>
            <a:off x="0" y="0"/>
            <a:ext cx="121788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dirty="0">
                <a:latin typeface="Arial" pitchFamily="34" charset="0"/>
                <a:ea typeface="+mj-lt"/>
                <a:cs typeface="Arial" pitchFamily="34" charset="0"/>
              </a:rPr>
              <a:t>CNN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459791139"/>
      </p:ext>
    </p:extLst>
  </p:cSld>
  <p:clrMapOvr>
    <a:masterClrMapping/>
  </p:clrMapOvr>
</p:sld>
</file>

<file path=ppt/theme/theme1.xml><?xml version="1.0" encoding="utf-8"?>
<a:theme xmlns:a="http://schemas.openxmlformats.org/drawingml/2006/main" name="Projekt niestandardowy">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rojekt niestandardowy">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S">
  <a:themeElements>
    <a:clrScheme name="Niestandardowy 9">
      <a:dk1>
        <a:sysClr val="windowText" lastClr="000000"/>
      </a:dk1>
      <a:lt1>
        <a:sysClr val="window" lastClr="FFFFFF"/>
      </a:lt1>
      <a:dk2>
        <a:srgbClr val="30356E"/>
      </a:dk2>
      <a:lt2>
        <a:srgbClr val="FFF9E5"/>
      </a:lt2>
      <a:accent1>
        <a:srgbClr val="525CB4"/>
      </a:accent1>
      <a:accent2>
        <a:srgbClr val="FF6F61"/>
      </a:accent2>
      <a:accent3>
        <a:srgbClr val="FF953E"/>
      </a:accent3>
      <a:accent4>
        <a:srgbClr val="F8BD52"/>
      </a:accent4>
      <a:accent5>
        <a:srgbClr val="46A6BD"/>
      </a:accent5>
      <a:accent6>
        <a:srgbClr val="5488BC"/>
      </a:accent6>
      <a:hlink>
        <a:srgbClr val="002060"/>
      </a:hlink>
      <a:folHlink>
        <a:srgbClr val="FFCF3E"/>
      </a:folHlink>
    </a:clrScheme>
    <a:fontScheme name="Human">
      <a:majorFont>
        <a:latin typeface="Candara"/>
        <a:ea typeface=""/>
        <a:cs typeface=""/>
        <a:font script="Jpan" typeface="ＭＳ Ｐゴシック"/>
        <a:font script="Hang" typeface="HY견명조"/>
        <a:font script="Hans" typeface="华文新魏"/>
        <a:font script="Hant" typeface="新細明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ndara"/>
        <a:ea typeface=""/>
        <a:cs typeface=""/>
        <a:font script="Jpan" typeface="ＭＳ Ｐゴシック"/>
        <a:font script="Hang" typeface="HY견명조"/>
        <a:font script="Hans" typeface="华文楷体"/>
        <a:font script="Hant" typeface="新細明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tint val="100000"/>
          </a:schemeClr>
        </a:solidFill>
        <a:gradFill flip="none" rotWithShape="1">
          <a:gsLst>
            <a:gs pos="0">
              <a:schemeClr val="phClr">
                <a:tint val="85000"/>
                <a:satMod val="275000"/>
              </a:schemeClr>
            </a:gs>
            <a:gs pos="3000">
              <a:schemeClr val="phClr">
                <a:tint val="87000"/>
                <a:satMod val="275000"/>
              </a:schemeClr>
            </a:gs>
            <a:gs pos="10000">
              <a:schemeClr val="phClr">
                <a:tint val="90000"/>
                <a:satMod val="275000"/>
              </a:schemeClr>
            </a:gs>
            <a:gs pos="70000">
              <a:schemeClr val="phClr">
                <a:shade val="38000"/>
                <a:satMod val="275000"/>
              </a:schemeClr>
            </a:gs>
            <a:gs pos="90000">
              <a:schemeClr val="phClr">
                <a:shade val="25000"/>
                <a:satMod val="300000"/>
              </a:schemeClr>
            </a:gs>
            <a:gs pos="100000">
              <a:schemeClr val="phClr">
                <a:shade val="22000"/>
                <a:satMod val="300000"/>
              </a:schemeClr>
            </a:gs>
          </a:gsLst>
          <a:path path="circle">
            <a:fillToRect l="60000" t="-3300" b="200000"/>
          </a:path>
          <a:tileRect/>
        </a:gradFill>
        <a:gradFill rotWithShape="1">
          <a:gsLst>
            <a:gs pos="0">
              <a:schemeClr val="phClr">
                <a:tint val="57000"/>
                <a:satMod val="400000"/>
              </a:schemeClr>
            </a:gs>
            <a:gs pos="100000">
              <a:schemeClr val="phClr">
                <a:tint val="87000"/>
                <a:shade val="40000"/>
                <a:satMod val="5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EDI</Template>
  <TotalTime>9174</TotalTime>
  <Words>2265</Words>
  <Application>Microsoft Office PowerPoint</Application>
  <PresentationFormat>Widescreen</PresentationFormat>
  <Paragraphs>233</Paragraphs>
  <Slides>34</Slides>
  <Notes>5</Notes>
  <HiddenSlides>1</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34</vt:i4>
      </vt:variant>
    </vt:vector>
  </HeadingPairs>
  <TitlesOfParts>
    <vt:vector size="43" baseType="lpstr">
      <vt:lpstr>Arial</vt:lpstr>
      <vt:lpstr>Arial Narrow</vt:lpstr>
      <vt:lpstr>Calibri</vt:lpstr>
      <vt:lpstr>Candara</vt:lpstr>
      <vt:lpstr>Garamond</vt:lpstr>
      <vt:lpstr>Wingdings 2</vt:lpstr>
      <vt:lpstr>Projekt niestandardowy</vt:lpstr>
      <vt:lpstr>1_Projekt niestandardowy</vt:lpstr>
      <vt:lpstr>IS</vt:lpstr>
      <vt:lpstr>Konwolucyjne sieci neuronowe CNN – Convolutional Neural Networks  Dariusz 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Dariusz Put</cp:lastModifiedBy>
  <cp:revision>1008</cp:revision>
  <cp:lastPrinted>1601-01-01T00:00:00Z</cp:lastPrinted>
  <dcterms:created xsi:type="dcterms:W3CDTF">1601-01-01T00:00:00Z</dcterms:created>
  <dcterms:modified xsi:type="dcterms:W3CDTF">2024-03-18T12:31:08Z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